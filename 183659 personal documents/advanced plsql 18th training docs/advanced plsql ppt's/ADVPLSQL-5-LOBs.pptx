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4.xml" ContentType="application/vnd.openxmlformats-officedocument.them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heme/theme5.xml" ContentType="application/vnd.openxmlformats-officedocument.theme+xml"/>
  <Override PartName="/ppt/theme/theme6.xml" ContentType="application/vnd.openxmlformats-officedocument.theme+xml"/>
  <Override PartName="/ppt/tags/tag31.xml" ContentType="application/vnd.openxmlformats-officedocument.presentationml.tags+xml"/>
  <Override PartName="/ppt/tags/tag3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3" r:id="rId4"/>
    <p:sldMasterId id="2147483728" r:id="rId5"/>
    <p:sldMasterId id="2147483716" r:id="rId6"/>
    <p:sldMasterId id="2147483713" r:id="rId7"/>
  </p:sldMasterIdLst>
  <p:notesMasterIdLst>
    <p:notesMasterId r:id="rId57"/>
  </p:notesMasterIdLst>
  <p:handoutMasterIdLst>
    <p:handoutMasterId r:id="rId58"/>
  </p:handoutMasterIdLst>
  <p:sldIdLst>
    <p:sldId id="265" r:id="rId8"/>
    <p:sldId id="339" r:id="rId9"/>
    <p:sldId id="340" r:id="rId10"/>
    <p:sldId id="370" r:id="rId11"/>
    <p:sldId id="371" r:id="rId12"/>
    <p:sldId id="372" r:id="rId13"/>
    <p:sldId id="373" r:id="rId14"/>
    <p:sldId id="374" r:id="rId15"/>
    <p:sldId id="375" r:id="rId16"/>
    <p:sldId id="376" r:id="rId17"/>
    <p:sldId id="377" r:id="rId18"/>
    <p:sldId id="378" r:id="rId19"/>
    <p:sldId id="379" r:id="rId20"/>
    <p:sldId id="380" r:id="rId21"/>
    <p:sldId id="381" r:id="rId22"/>
    <p:sldId id="382" r:id="rId23"/>
    <p:sldId id="383" r:id="rId24"/>
    <p:sldId id="384" r:id="rId25"/>
    <p:sldId id="385" r:id="rId26"/>
    <p:sldId id="386" r:id="rId27"/>
    <p:sldId id="387" r:id="rId28"/>
    <p:sldId id="388" r:id="rId29"/>
    <p:sldId id="389" r:id="rId30"/>
    <p:sldId id="390" r:id="rId31"/>
    <p:sldId id="391" r:id="rId32"/>
    <p:sldId id="392" r:id="rId33"/>
    <p:sldId id="393" r:id="rId34"/>
    <p:sldId id="394" r:id="rId35"/>
    <p:sldId id="395" r:id="rId36"/>
    <p:sldId id="396" r:id="rId37"/>
    <p:sldId id="397" r:id="rId38"/>
    <p:sldId id="398" r:id="rId39"/>
    <p:sldId id="399" r:id="rId40"/>
    <p:sldId id="400" r:id="rId41"/>
    <p:sldId id="401" r:id="rId42"/>
    <p:sldId id="402" r:id="rId43"/>
    <p:sldId id="403" r:id="rId44"/>
    <p:sldId id="404" r:id="rId45"/>
    <p:sldId id="405" r:id="rId46"/>
    <p:sldId id="406" r:id="rId47"/>
    <p:sldId id="407" r:id="rId48"/>
    <p:sldId id="408" r:id="rId49"/>
    <p:sldId id="409" r:id="rId50"/>
    <p:sldId id="410" r:id="rId51"/>
    <p:sldId id="411" r:id="rId52"/>
    <p:sldId id="412" r:id="rId53"/>
    <p:sldId id="413" r:id="rId54"/>
    <p:sldId id="414" r:id="rId55"/>
    <p:sldId id="415" r:id="rId56"/>
  </p:sldIdLst>
  <p:sldSz cx="9144000" cy="5143500" type="screen16x9"/>
  <p:notesSz cx="6858000" cy="9144000"/>
  <p:defaultTextStyle>
    <a:defPPr>
      <a:defRPr lang="en-US"/>
    </a:defPPr>
    <a:lvl1pPr marL="0" algn="l" defTabSz="779252" rtl="0" eaLnBrk="1" latinLnBrk="0" hangingPunct="1">
      <a:defRPr sz="1500" kern="1200">
        <a:solidFill>
          <a:schemeClr val="tx1"/>
        </a:solidFill>
        <a:latin typeface="+mn-lt"/>
        <a:ea typeface="+mn-ea"/>
        <a:cs typeface="+mn-cs"/>
      </a:defRPr>
    </a:lvl1pPr>
    <a:lvl2pPr marL="389626" algn="l" defTabSz="779252" rtl="0" eaLnBrk="1" latinLnBrk="0" hangingPunct="1">
      <a:defRPr sz="1500" kern="1200">
        <a:solidFill>
          <a:schemeClr val="tx1"/>
        </a:solidFill>
        <a:latin typeface="+mn-lt"/>
        <a:ea typeface="+mn-ea"/>
        <a:cs typeface="+mn-cs"/>
      </a:defRPr>
    </a:lvl2pPr>
    <a:lvl3pPr marL="779252" algn="l" defTabSz="779252" rtl="0" eaLnBrk="1" latinLnBrk="0" hangingPunct="1">
      <a:defRPr sz="1500" kern="1200">
        <a:solidFill>
          <a:schemeClr val="tx1"/>
        </a:solidFill>
        <a:latin typeface="+mn-lt"/>
        <a:ea typeface="+mn-ea"/>
        <a:cs typeface="+mn-cs"/>
      </a:defRPr>
    </a:lvl3pPr>
    <a:lvl4pPr marL="1168878" algn="l" defTabSz="779252" rtl="0" eaLnBrk="1" latinLnBrk="0" hangingPunct="1">
      <a:defRPr sz="1500" kern="1200">
        <a:solidFill>
          <a:schemeClr val="tx1"/>
        </a:solidFill>
        <a:latin typeface="+mn-lt"/>
        <a:ea typeface="+mn-ea"/>
        <a:cs typeface="+mn-cs"/>
      </a:defRPr>
    </a:lvl4pPr>
    <a:lvl5pPr marL="1558503" algn="l" defTabSz="779252" rtl="0" eaLnBrk="1" latinLnBrk="0" hangingPunct="1">
      <a:defRPr sz="1500" kern="1200">
        <a:solidFill>
          <a:schemeClr val="tx1"/>
        </a:solidFill>
        <a:latin typeface="+mn-lt"/>
        <a:ea typeface="+mn-ea"/>
        <a:cs typeface="+mn-cs"/>
      </a:defRPr>
    </a:lvl5pPr>
    <a:lvl6pPr marL="1948129" algn="l" defTabSz="779252" rtl="0" eaLnBrk="1" latinLnBrk="0" hangingPunct="1">
      <a:defRPr sz="1500" kern="1200">
        <a:solidFill>
          <a:schemeClr val="tx1"/>
        </a:solidFill>
        <a:latin typeface="+mn-lt"/>
        <a:ea typeface="+mn-ea"/>
        <a:cs typeface="+mn-cs"/>
      </a:defRPr>
    </a:lvl6pPr>
    <a:lvl7pPr marL="2337755" algn="l" defTabSz="779252" rtl="0" eaLnBrk="1" latinLnBrk="0" hangingPunct="1">
      <a:defRPr sz="1500" kern="1200">
        <a:solidFill>
          <a:schemeClr val="tx1"/>
        </a:solidFill>
        <a:latin typeface="+mn-lt"/>
        <a:ea typeface="+mn-ea"/>
        <a:cs typeface="+mn-cs"/>
      </a:defRPr>
    </a:lvl7pPr>
    <a:lvl8pPr marL="2727381" algn="l" defTabSz="779252" rtl="0" eaLnBrk="1" latinLnBrk="0" hangingPunct="1">
      <a:defRPr sz="1500" kern="1200">
        <a:solidFill>
          <a:schemeClr val="tx1"/>
        </a:solidFill>
        <a:latin typeface="+mn-lt"/>
        <a:ea typeface="+mn-ea"/>
        <a:cs typeface="+mn-cs"/>
      </a:defRPr>
    </a:lvl8pPr>
    <a:lvl9pPr marL="3117007" algn="l" defTabSz="779252" rtl="0" eaLnBrk="1" latinLnBrk="0" hangingPunct="1">
      <a:defRPr sz="15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4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3300"/>
    <a:srgbClr val="BDBD00"/>
    <a:srgbClr val="FF9900"/>
    <a:srgbClr val="598E20"/>
    <a:srgbClr val="00234B"/>
    <a:srgbClr val="ED771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78" autoAdjust="0"/>
    <p:restoredTop sz="93595" autoAdjust="0"/>
  </p:normalViewPr>
  <p:slideViewPr>
    <p:cSldViewPr snapToGrid="0" showGuides="1">
      <p:cViewPr>
        <p:scale>
          <a:sx n="120" d="100"/>
          <a:sy n="120" d="100"/>
        </p:scale>
        <p:origin x="-486" y="-1644"/>
      </p:cViewPr>
      <p:guideLst>
        <p:guide orient="horz" pos="1620"/>
        <p:guide pos="24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9" d="100"/>
        <a:sy n="79" d="100"/>
      </p:scale>
      <p:origin x="0" y="0"/>
    </p:cViewPr>
  </p:sorterViewPr>
  <p:notesViewPr>
    <p:cSldViewPr snapToGrid="0">
      <p:cViewPr varScale="1">
        <p:scale>
          <a:sx n="67" d="100"/>
          <a:sy n="67" d="100"/>
        </p:scale>
        <p:origin x="-3168" y="-8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slide" Target="slides/slide48.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notesMaster" Target="notesMasters/notesMaster1.xml"/><Relationship Id="rId61" Type="http://schemas.openxmlformats.org/officeDocument/2006/relationships/theme" Target="theme/theme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B228672-4337-41E0-A109-2BF6C0A0EED5}" type="datetimeFigureOut">
              <a:rPr lang="en-US" smtClean="0"/>
              <a:pPr/>
              <a:t>11/20/2019</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US"/>
              <a:t>Page XX-#</a:t>
            </a: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381AB50-9623-476D-A480-EBA540222513}" type="slidenum">
              <a:rPr lang="en-US" smtClean="0"/>
              <a:pPr/>
              <a:t>‹#›</a:t>
            </a:fld>
            <a:endParaRPr lang="en-US"/>
          </a:p>
        </p:txBody>
      </p:sp>
    </p:spTree>
    <p:extLst>
      <p:ext uri="{BB962C8B-B14F-4D97-AF65-F5344CB8AC3E}">
        <p14:creationId xmlns:p14="http://schemas.microsoft.com/office/powerpoint/2010/main" val="2812618692"/>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260475" y="685800"/>
            <a:ext cx="6096000" cy="3429000"/>
          </a:xfrm>
          <a:prstGeom prst="rect">
            <a:avLst/>
          </a:prstGeom>
          <a:noFill/>
          <a:ln w="12700">
            <a:solidFill>
              <a:prstClr val="black"/>
            </a:solidFill>
          </a:ln>
        </p:spPr>
        <p:txBody>
          <a:bodyPr vert="horz" lIns="91440" tIns="45720" rIns="91440" bIns="45720" rtlCol="0" anchor="ctr"/>
          <a:lstStyle/>
          <a:p>
            <a:r>
              <a:rPr lang="en-US" dirty="0"/>
              <a:t>text</a:t>
            </a:r>
          </a:p>
        </p:txBody>
      </p:sp>
      <p:sp>
        <p:nvSpPr>
          <p:cNvPr id="5" name="Notes Placeholder 4"/>
          <p:cNvSpPr>
            <a:spLocks noGrp="1"/>
          </p:cNvSpPr>
          <p:nvPr>
            <p:ph type="body" sz="quarter" idx="3"/>
          </p:nvPr>
        </p:nvSpPr>
        <p:spPr>
          <a:xfrm>
            <a:off x="2039550" y="4235826"/>
            <a:ext cx="4586881" cy="41148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Line 8"/>
          <p:cNvSpPr>
            <a:spLocks noChangeShapeType="1"/>
          </p:cNvSpPr>
          <p:nvPr/>
        </p:nvSpPr>
        <p:spPr bwMode="auto">
          <a:xfrm>
            <a:off x="1905000" y="457200"/>
            <a:ext cx="0" cy="8001000"/>
          </a:xfrm>
          <a:prstGeom prst="line">
            <a:avLst/>
          </a:prstGeom>
          <a:noFill/>
          <a:ln w="9525">
            <a:solidFill>
              <a:schemeClr val="tx1"/>
            </a:solidFill>
            <a:round/>
            <a:headEnd/>
            <a:tailEnd/>
          </a:ln>
          <a:effectLst/>
        </p:spPr>
        <p:txBody>
          <a:bodyPr/>
          <a:lstStyle/>
          <a:p>
            <a:endParaRPr lang="en-US"/>
          </a:p>
        </p:txBody>
      </p:sp>
      <p:sp>
        <p:nvSpPr>
          <p:cNvPr id="11" name="Rectangle 14"/>
          <p:cNvSpPr>
            <a:spLocks noChangeArrowheads="1"/>
          </p:cNvSpPr>
          <p:nvPr/>
        </p:nvSpPr>
        <p:spPr bwMode="auto">
          <a:xfrm>
            <a:off x="241300" y="152400"/>
            <a:ext cx="6500813" cy="309563"/>
          </a:xfrm>
          <a:prstGeom prst="rect">
            <a:avLst/>
          </a:prstGeom>
          <a:noFill/>
          <a:ln w="9525">
            <a:noFill/>
            <a:miter lim="800000"/>
            <a:headEnd/>
            <a:tailEnd/>
          </a:ln>
          <a:effectLst/>
        </p:spPr>
        <p:txBody>
          <a:bodyPr lIns="92446" tIns="46223" rIns="92446" bIns="46223"/>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itchFamily="34" charset="0"/>
                <a:cs typeface="Arial" pitchFamily="34" charset="0"/>
              </a:rPr>
              <a:t>&lt;Course Name&gt;				&lt;Lesson Name&gt;		</a:t>
            </a:r>
            <a:endParaRPr lang="en-US" dirty="0">
              <a:latin typeface="Arial" pitchFamily="34" charset="0"/>
              <a:cs typeface="Arial" pitchFamily="34" charset="0"/>
            </a:endParaRPr>
          </a:p>
        </p:txBody>
      </p:sp>
      <p:sp>
        <p:nvSpPr>
          <p:cNvPr id="12" name="Rectangle 14"/>
          <p:cNvSpPr>
            <a:spLocks noChangeArrowheads="1"/>
          </p:cNvSpPr>
          <p:nvPr/>
        </p:nvSpPr>
        <p:spPr bwMode="auto">
          <a:xfrm>
            <a:off x="3962793" y="8591057"/>
            <a:ext cx="2762530" cy="448235"/>
          </a:xfrm>
          <a:prstGeom prst="rect">
            <a:avLst/>
          </a:prstGeom>
          <a:noFill/>
          <a:ln w="9525">
            <a:noFill/>
            <a:miter lim="800000"/>
            <a:headEnd/>
            <a:tailEnd/>
          </a:ln>
          <a:effectLst/>
        </p:spPr>
        <p:txBody>
          <a:bodyPr lIns="92446" tIns="46223" rIns="92446" bIns="46223"/>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a:latin typeface="Arial" pitchFamily="34" charset="0"/>
                <a:cs typeface="Arial" pitchFamily="34" charset="0"/>
              </a:rPr>
              <a:t>		 Page XX-</a:t>
            </a:r>
            <a:fld id="{BD9FB300-F9DC-4669-88F4-967ABA23CC04}" type="slidenum">
              <a:rPr lang="en-US" sz="1000" smtClean="0">
                <a:latin typeface="Arial" pitchFamily="34" charset="0"/>
                <a:cs typeface="Arial" pitchFamily="34" charset="0"/>
              </a:rPr>
              <a:pPr marL="0" marR="0" indent="0" algn="l" defTabSz="914400" rtl="0" eaLnBrk="1" fontAlgn="auto" latinLnBrk="0" hangingPunct="1">
                <a:lnSpc>
                  <a:spcPct val="100000"/>
                </a:lnSpc>
                <a:spcBef>
                  <a:spcPts val="0"/>
                </a:spcBef>
                <a:spcAft>
                  <a:spcPts val="0"/>
                </a:spcAft>
                <a:buClrTx/>
                <a:buSzTx/>
                <a:buFontTx/>
                <a:buNone/>
                <a:tabLst/>
                <a:defRPr/>
              </a:pPr>
              <a:t>‹#›</a:t>
            </a:fld>
            <a:r>
              <a:rPr lang="en-US" sz="1000" dirty="0">
                <a:latin typeface="Arial" pitchFamily="34" charset="0"/>
                <a:cs typeface="Arial" pitchFamily="34" charset="0"/>
              </a:rPr>
              <a:t> </a:t>
            </a:r>
          </a:p>
          <a:p>
            <a:r>
              <a:rPr lang="en-US" sz="1000" dirty="0">
                <a:latin typeface="Arial" pitchFamily="34" charset="0"/>
                <a:cs typeface="Arial" pitchFamily="34" charset="0"/>
              </a:rPr>
              <a:t>  </a:t>
            </a:r>
          </a:p>
        </p:txBody>
      </p:sp>
    </p:spTree>
    <p:extLst>
      <p:ext uri="{BB962C8B-B14F-4D97-AF65-F5344CB8AC3E}">
        <p14:creationId xmlns:p14="http://schemas.microsoft.com/office/powerpoint/2010/main" val="1122094422"/>
      </p:ext>
    </p:extLst>
  </p:cSld>
  <p:clrMap bg1="lt1" tx1="dk1" bg2="lt2" tx2="dk2" accent1="accent1" accent2="accent2" accent3="accent3" accent4="accent4" accent5="accent5" accent6="accent6" hlink="hlink" folHlink="folHlink"/>
  <p:hf dt="0"/>
  <p:notesStyle>
    <a:lvl1pPr marL="0" algn="l" defTabSz="779252" rtl="0" eaLnBrk="1" latinLnBrk="0" hangingPunct="1">
      <a:buClr>
        <a:srgbClr val="BDBD00"/>
      </a:buClr>
      <a:buFont typeface="Wingdings" pitchFamily="2" charset="2"/>
      <a:buChar char="q"/>
      <a:defRPr sz="900" kern="1200">
        <a:solidFill>
          <a:schemeClr val="tx1"/>
        </a:solidFill>
        <a:latin typeface="Arial" pitchFamily="34" charset="0"/>
        <a:ea typeface="+mn-ea"/>
        <a:cs typeface="Arial" pitchFamily="34" charset="0"/>
      </a:defRPr>
    </a:lvl1pPr>
    <a:lvl2pPr marL="389626" algn="l" defTabSz="779252" rtl="0" eaLnBrk="1" latinLnBrk="0" hangingPunct="1">
      <a:buClr>
        <a:srgbClr val="BDBD00"/>
      </a:buClr>
      <a:buFont typeface="Wingdings" pitchFamily="2" charset="2"/>
      <a:buChar char="q"/>
      <a:defRPr sz="900" kern="1200">
        <a:solidFill>
          <a:schemeClr val="tx1"/>
        </a:solidFill>
        <a:latin typeface="Arial" pitchFamily="34" charset="0"/>
        <a:ea typeface="+mn-ea"/>
        <a:cs typeface="Arial" pitchFamily="34" charset="0"/>
      </a:defRPr>
    </a:lvl2pPr>
    <a:lvl3pPr marL="779252" algn="l" defTabSz="779252" rtl="0" eaLnBrk="1" latinLnBrk="0" hangingPunct="1">
      <a:buClr>
        <a:srgbClr val="BDBD00"/>
      </a:buClr>
      <a:buFont typeface="Wingdings" pitchFamily="2" charset="2"/>
      <a:buChar char="q"/>
      <a:defRPr sz="900" kern="1200">
        <a:solidFill>
          <a:schemeClr val="tx1"/>
        </a:solidFill>
        <a:latin typeface="Arial" pitchFamily="34" charset="0"/>
        <a:ea typeface="+mn-ea"/>
        <a:cs typeface="Arial" pitchFamily="34" charset="0"/>
      </a:defRPr>
    </a:lvl3pPr>
    <a:lvl4pPr marL="1168878" algn="l" defTabSz="779252" rtl="0" eaLnBrk="1" latinLnBrk="0" hangingPunct="1">
      <a:buClr>
        <a:srgbClr val="BDBD00"/>
      </a:buClr>
      <a:buFont typeface="Wingdings" pitchFamily="2" charset="2"/>
      <a:buChar char="q"/>
      <a:defRPr sz="900" kern="1200">
        <a:solidFill>
          <a:schemeClr val="tx1"/>
        </a:solidFill>
        <a:latin typeface="Arial" pitchFamily="34" charset="0"/>
        <a:ea typeface="+mn-ea"/>
        <a:cs typeface="Arial" pitchFamily="34" charset="0"/>
      </a:defRPr>
    </a:lvl4pPr>
    <a:lvl5pPr marL="1558503" algn="l" defTabSz="779252" rtl="0" eaLnBrk="1" latinLnBrk="0" hangingPunct="1">
      <a:buClr>
        <a:srgbClr val="BDBD00"/>
      </a:buClr>
      <a:buFont typeface="Wingdings" pitchFamily="2" charset="2"/>
      <a:buChar char="q"/>
      <a:defRPr sz="900" kern="1200">
        <a:solidFill>
          <a:schemeClr val="tx1"/>
        </a:solidFill>
        <a:latin typeface="Arial" pitchFamily="34" charset="0"/>
        <a:ea typeface="+mn-ea"/>
        <a:cs typeface="Arial" pitchFamily="34" charset="0"/>
      </a:defRPr>
    </a:lvl5pPr>
    <a:lvl6pPr marL="1948129" algn="l" defTabSz="779252" rtl="0" eaLnBrk="1" latinLnBrk="0" hangingPunct="1">
      <a:defRPr sz="1000" kern="1200">
        <a:solidFill>
          <a:schemeClr val="tx1"/>
        </a:solidFill>
        <a:latin typeface="+mn-lt"/>
        <a:ea typeface="+mn-ea"/>
        <a:cs typeface="+mn-cs"/>
      </a:defRPr>
    </a:lvl6pPr>
    <a:lvl7pPr marL="2337755" algn="l" defTabSz="779252" rtl="0" eaLnBrk="1" latinLnBrk="0" hangingPunct="1">
      <a:defRPr sz="1000" kern="1200">
        <a:solidFill>
          <a:schemeClr val="tx1"/>
        </a:solidFill>
        <a:latin typeface="+mn-lt"/>
        <a:ea typeface="+mn-ea"/>
        <a:cs typeface="+mn-cs"/>
      </a:defRPr>
    </a:lvl7pPr>
    <a:lvl8pPr marL="2727381" algn="l" defTabSz="779252" rtl="0" eaLnBrk="1" latinLnBrk="0" hangingPunct="1">
      <a:defRPr sz="1000" kern="1200">
        <a:solidFill>
          <a:schemeClr val="tx1"/>
        </a:solidFill>
        <a:latin typeface="+mn-lt"/>
        <a:ea typeface="+mn-ea"/>
        <a:cs typeface="+mn-cs"/>
      </a:defRPr>
    </a:lvl8pPr>
    <a:lvl9pPr marL="3117007" algn="l" defTabSz="779252" rtl="0" eaLnBrk="1" latinLnBrk="0" hangingPunct="1">
      <a:defRPr sz="10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60475" y="685800"/>
            <a:ext cx="6096000" cy="3429000"/>
          </a:xfrm>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Rot="1" noChangeAspect="1" noChangeArrowheads="1" noTextEdit="1"/>
          </p:cNvSpPr>
          <p:nvPr>
            <p:ph type="sldImg"/>
          </p:nvPr>
        </p:nvSpPr>
        <p:spPr>
          <a:xfrm>
            <a:off x="1192213" y="839788"/>
            <a:ext cx="6226175" cy="3503612"/>
          </a:xfrm>
          <a:ln/>
        </p:spPr>
      </p:sp>
      <p:sp>
        <p:nvSpPr>
          <p:cNvPr id="35844" name="Rectangle 4"/>
          <p:cNvSpPr>
            <a:spLocks noGrp="1" noChangeArrowheads="1"/>
          </p:cNvSpPr>
          <p:nvPr>
            <p:ph type="body" idx="1"/>
          </p:nvPr>
        </p:nvSpPr>
        <p:spPr>
          <a:xfrm>
            <a:off x="1981200" y="4572000"/>
            <a:ext cx="4648200" cy="3963988"/>
          </a:xfrm>
          <a:noFill/>
          <a:ln/>
        </p:spPr>
        <p:txBody>
          <a:bodyPr/>
          <a:lstStyle/>
          <a:p>
            <a:pPr eaLnBrk="1" hangingPunct="1"/>
            <a:endParaRPr lang="en-US"/>
          </a:p>
        </p:txBody>
      </p:sp>
      <p:sp>
        <p:nvSpPr>
          <p:cNvPr id="35845" name="Text Box 5"/>
          <p:cNvSpPr txBox="1">
            <a:spLocks noChangeArrowheads="1"/>
          </p:cNvSpPr>
          <p:nvPr/>
        </p:nvSpPr>
        <p:spPr bwMode="auto">
          <a:xfrm>
            <a:off x="152400" y="1295400"/>
            <a:ext cx="1676400" cy="396875"/>
          </a:xfrm>
          <a:prstGeom prst="rect">
            <a:avLst/>
          </a:prstGeom>
          <a:noFill/>
          <a:ln w="9525">
            <a:noFill/>
            <a:miter lim="800000"/>
            <a:headEnd/>
            <a:tailEnd/>
          </a:ln>
        </p:spPr>
        <p:txBody>
          <a:bodyPr>
            <a:spAutoFit/>
          </a:bodyPr>
          <a:lstStyle/>
          <a:p>
            <a:r>
              <a:rPr lang="en-US" sz="1000" dirty="0">
                <a:latin typeface="Trebuchet MS" pitchFamily="34" charset="0"/>
              </a:rPr>
              <a:t>Explain the lesson coverage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buNone/>
            </a:pPr>
            <a:r>
              <a:rPr lang="en-US" dirty="0"/>
              <a:t>Here, opening with </a:t>
            </a:r>
            <a:r>
              <a:rPr lang="en-US" dirty="0" err="1"/>
              <a:t>dbms_lob.fileopen</a:t>
            </a:r>
            <a:r>
              <a:rPr lang="en-US" dirty="0"/>
              <a:t> is mandatory as you cannot load(</a:t>
            </a:r>
            <a:r>
              <a:rPr lang="en-US" dirty="0" err="1"/>
              <a:t>dbms_lob.loadfromfile</a:t>
            </a:r>
            <a:r>
              <a:rPr lang="en-US" dirty="0"/>
              <a:t>) from a </a:t>
            </a:r>
            <a:r>
              <a:rPr lang="en-US" dirty="0" err="1"/>
              <a:t>bfile</a:t>
            </a:r>
            <a:r>
              <a:rPr lang="en-US" dirty="0"/>
              <a:t> until it is open into a blob</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9.xml"/><Relationship Id="rId7" Type="http://schemas.openxmlformats.org/officeDocument/2006/relationships/oleObject" Target="../embeddings/oleObject2.bin"/><Relationship Id="rId2" Type="http://schemas.openxmlformats.org/officeDocument/2006/relationships/tags" Target="../tags/tag8.xml"/><Relationship Id="rId1" Type="http://schemas.openxmlformats.org/officeDocument/2006/relationships/vmlDrawing" Target="../drawings/vmlDrawing2.vml"/><Relationship Id="rId6" Type="http://schemas.openxmlformats.org/officeDocument/2006/relationships/slideMaster" Target="../slideMasters/slideMaster1.xml"/><Relationship Id="rId5" Type="http://schemas.openxmlformats.org/officeDocument/2006/relationships/tags" Target="../tags/tag11.xml"/><Relationship Id="rId10" Type="http://schemas.openxmlformats.org/officeDocument/2006/relationships/image" Target="../media/image4.jpeg"/><Relationship Id="rId4" Type="http://schemas.openxmlformats.org/officeDocument/2006/relationships/tags" Target="../tags/tag10.xml"/><Relationship Id="rId9"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3.xml"/><Relationship Id="rId7" Type="http://schemas.openxmlformats.org/officeDocument/2006/relationships/image" Target="../media/image1.emf"/><Relationship Id="rId2" Type="http://schemas.openxmlformats.org/officeDocument/2006/relationships/tags" Target="../tags/tag12.xml"/><Relationship Id="rId1" Type="http://schemas.openxmlformats.org/officeDocument/2006/relationships/vmlDrawing" Target="../drawings/vmlDrawing3.vml"/><Relationship Id="rId6" Type="http://schemas.openxmlformats.org/officeDocument/2006/relationships/oleObject" Target="../embeddings/oleObject3.bin"/><Relationship Id="rId5" Type="http://schemas.openxmlformats.org/officeDocument/2006/relationships/slideMaster" Target="../slideMasters/slideMaster1.xml"/><Relationship Id="rId4" Type="http://schemas.openxmlformats.org/officeDocument/2006/relationships/tags" Target="../tags/tag14.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6.xml"/><Relationship Id="rId1" Type="http://schemas.openxmlformats.org/officeDocument/2006/relationships/vmlDrawing" Target="../drawings/vmlDrawing4.vml"/><Relationship Id="rId5" Type="http://schemas.openxmlformats.org/officeDocument/2006/relationships/image" Target="../media/image1.emf"/><Relationship Id="rId4" Type="http://schemas.openxmlformats.org/officeDocument/2006/relationships/oleObject" Target="../embeddings/oleObject4.bin"/></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tags" Target="../tags/tag27.xml"/><Relationship Id="rId7" Type="http://schemas.openxmlformats.org/officeDocument/2006/relationships/image" Target="../media/image1.emf"/><Relationship Id="rId2" Type="http://schemas.openxmlformats.org/officeDocument/2006/relationships/tags" Target="../tags/tag26.xml"/><Relationship Id="rId1" Type="http://schemas.openxmlformats.org/officeDocument/2006/relationships/vmlDrawing" Target="../drawings/vmlDrawing6.vml"/><Relationship Id="rId6" Type="http://schemas.openxmlformats.org/officeDocument/2006/relationships/oleObject" Target="../embeddings/oleObject6.bin"/><Relationship Id="rId5" Type="http://schemas.openxmlformats.org/officeDocument/2006/relationships/slideMaster" Target="../slideMasters/slideMaster4.xml"/><Relationship Id="rId4" Type="http://schemas.openxmlformats.org/officeDocument/2006/relationships/tags" Target="../tags/tag28.xml"/><Relationship Id="rId9" Type="http://schemas.openxmlformats.org/officeDocument/2006/relationships/image" Target="../media/image14.png"/></Relationships>
</file>

<file path=ppt/slideLayouts/_rels/slideLayout29.xml.rels><?xml version="1.0" encoding="UTF-8" standalone="yes"?>
<Relationships xmlns="http://schemas.openxmlformats.org/package/2006/relationships"><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vmlDrawing" Target="../drawings/vmlDrawing7.vml"/><Relationship Id="rId6" Type="http://schemas.openxmlformats.org/officeDocument/2006/relationships/image" Target="../media/image1.emf"/><Relationship Id="rId5" Type="http://schemas.openxmlformats.org/officeDocument/2006/relationships/oleObject" Target="../embeddings/oleObject7.bin"/><Relationship Id="rId4"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1">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 y="0"/>
          <a:ext cx="146538" cy="119063"/>
        </p:xfrm>
        <a:graphic>
          <a:graphicData uri="http://schemas.openxmlformats.org/presentationml/2006/ole">
            <mc:AlternateContent xmlns:mc="http://schemas.openxmlformats.org/markup-compatibility/2006">
              <mc:Choice xmlns:v="urn:schemas-microsoft-com:vml" Requires="v">
                <p:oleObj spid="_x0000_s14396" name="think-cell Slide" r:id="rId7" imgW="360" imgH="360" progId="">
                  <p:embed/>
                </p:oleObj>
              </mc:Choice>
              <mc:Fallback>
                <p:oleObj name="think-cell Slide" r:id="rId7" imgW="360" imgH="360" progId="">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 y="0"/>
                        <a:ext cx="146538"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 name="Image 11" descr="GraphicTablet_shutterstock_73936774.jpg"/>
          <p:cNvPicPr>
            <a:picLocks noChangeAspect="1"/>
          </p:cNvPicPr>
          <p:nvPr userDrawn="1"/>
        </p:nvPicPr>
        <p:blipFill>
          <a:blip r:embed="rId9" cstate="print"/>
          <a:srcRect b="14021"/>
          <a:stretch>
            <a:fillRect/>
          </a:stretch>
        </p:blipFill>
        <p:spPr>
          <a:xfrm>
            <a:off x="1588" y="883526"/>
            <a:ext cx="9904413" cy="4259975"/>
          </a:xfrm>
          <a:prstGeom prst="rect">
            <a:avLst/>
          </a:prstGeom>
        </p:spPr>
      </p:pic>
      <p:sp>
        <p:nvSpPr>
          <p:cNvPr id="7" name="Rectangle 7"/>
          <p:cNvSpPr/>
          <p:nvPr userDrawn="1">
            <p:custDataLst>
              <p:tags r:id="rId3"/>
            </p:custDataLst>
          </p:nvPr>
        </p:nvSpPr>
        <p:spPr bwMode="auto">
          <a:xfrm>
            <a:off x="2" y="0"/>
            <a:ext cx="9906318" cy="2012275"/>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2189 w 10562411"/>
              <a:gd name="connsiteY0" fmla="*/ 0 h 2958168"/>
              <a:gd name="connsiteX1" fmla="*/ 10561655 w 10562411"/>
              <a:gd name="connsiteY1" fmla="*/ 0 h 2958168"/>
              <a:gd name="connsiteX2" fmla="*/ 10561157 w 10562411"/>
              <a:gd name="connsiteY2" fmla="*/ 1476338 h 2958168"/>
              <a:gd name="connsiteX3" fmla="*/ 9288594 w 10562411"/>
              <a:gd name="connsiteY3" fmla="*/ 2153103 h 2958168"/>
              <a:gd name="connsiteX4" fmla="*/ 2317558 w 10562411"/>
              <a:gd name="connsiteY4" fmla="*/ 2159512 h 2958168"/>
              <a:gd name="connsiteX5" fmla="*/ 1180889 w 10562411"/>
              <a:gd name="connsiteY5" fmla="*/ 2958168 h 2958168"/>
              <a:gd name="connsiteX6" fmla="*/ 0 w 10562411"/>
              <a:gd name="connsiteY6" fmla="*/ 2174065 h 2958168"/>
              <a:gd name="connsiteX7" fmla="*/ 2189 w 10562411"/>
              <a:gd name="connsiteY7" fmla="*/ 0 h 2958168"/>
              <a:gd name="connsiteX0" fmla="*/ 0 w 10560222"/>
              <a:gd name="connsiteY0" fmla="*/ 0 h 2958168"/>
              <a:gd name="connsiteX1" fmla="*/ 10559466 w 10560222"/>
              <a:gd name="connsiteY1" fmla="*/ 0 h 2958168"/>
              <a:gd name="connsiteX2" fmla="*/ 10558968 w 10560222"/>
              <a:gd name="connsiteY2" fmla="*/ 1476338 h 2958168"/>
              <a:gd name="connsiteX3" fmla="*/ 9286405 w 10560222"/>
              <a:gd name="connsiteY3" fmla="*/ 2153103 h 2958168"/>
              <a:gd name="connsiteX4" fmla="*/ 2315369 w 10560222"/>
              <a:gd name="connsiteY4" fmla="*/ 2159512 h 2958168"/>
              <a:gd name="connsiteX5" fmla="*/ 1178700 w 10560222"/>
              <a:gd name="connsiteY5" fmla="*/ 2958168 h 2958168"/>
              <a:gd name="connsiteX6" fmla="*/ 0 w 10560222"/>
              <a:gd name="connsiteY6" fmla="*/ 2174065 h 2958168"/>
              <a:gd name="connsiteX7" fmla="*/ 0 w 10560222"/>
              <a:gd name="connsiteY7" fmla="*/ 0 h 2958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60222" h="2958168">
                <a:moveTo>
                  <a:pt x="0" y="0"/>
                </a:moveTo>
                <a:lnTo>
                  <a:pt x="10559466" y="0"/>
                </a:lnTo>
                <a:cubicBezTo>
                  <a:pt x="10559979" y="67600"/>
                  <a:pt x="10560222" y="1432923"/>
                  <a:pt x="10558968" y="1476338"/>
                </a:cubicBezTo>
                <a:cubicBezTo>
                  <a:pt x="10081572" y="2148347"/>
                  <a:pt x="9702991" y="2158423"/>
                  <a:pt x="9286405" y="2153103"/>
                </a:cubicBezTo>
                <a:lnTo>
                  <a:pt x="2315369" y="2159512"/>
                </a:lnTo>
                <a:cubicBezTo>
                  <a:pt x="1738155" y="2192654"/>
                  <a:pt x="1370309" y="2495346"/>
                  <a:pt x="1178700" y="2958168"/>
                </a:cubicBezTo>
                <a:cubicBezTo>
                  <a:pt x="880346" y="2254391"/>
                  <a:pt x="278640" y="2173187"/>
                  <a:pt x="0" y="2174065"/>
                </a:cubicBezTo>
                <a:cubicBezTo>
                  <a:pt x="2067" y="2138552"/>
                  <a:pt x="1272" y="95582"/>
                  <a:pt x="0" y="0"/>
                </a:cubicBezTo>
                <a:close/>
              </a:path>
            </a:pathLst>
          </a:custGeom>
          <a:solidFill>
            <a:schemeClr val="bg1"/>
          </a:solidFill>
          <a:ln w="12700" cmpd="sng" algn="ctr">
            <a:noFill/>
            <a:miter lim="800000"/>
            <a:headEnd/>
            <a:tailEnd/>
          </a:ln>
          <a:effectLst>
            <a:outerShdw blurRad="41275" dist="38100" dir="5400000" algn="t" rotWithShape="0">
              <a:schemeClr val="bg1">
                <a:lumMod val="65000"/>
                <a:alpha val="25000"/>
              </a:schemeClr>
            </a:outerShdw>
          </a:effectLst>
        </p:spPr>
        <p:txBody>
          <a:bodyPr wrap="square" lIns="28173" tIns="36624" rIns="28173" bIns="36624" rtlCol="0" anchor="ctr"/>
          <a:lstStyle/>
          <a:p>
            <a:pPr algn="ctr" fontAlgn="auto">
              <a:spcBef>
                <a:spcPts val="0"/>
              </a:spcBef>
              <a:spcAft>
                <a:spcPts val="0"/>
              </a:spcAft>
            </a:pPr>
            <a:endParaRPr lang="en-US" sz="900" dirty="0">
              <a:solidFill>
                <a:schemeClr val="bg1"/>
              </a:solidFill>
              <a:latin typeface="Arial"/>
              <a:cs typeface="Arial"/>
            </a:endParaRPr>
          </a:p>
        </p:txBody>
      </p:sp>
      <p:sp>
        <p:nvSpPr>
          <p:cNvPr id="9" name="Title 1"/>
          <p:cNvSpPr>
            <a:spLocks noGrp="1"/>
          </p:cNvSpPr>
          <p:nvPr>
            <p:ph type="ctrTitle" hasCustomPrompt="1"/>
            <p:custDataLst>
              <p:tags r:id="rId4"/>
            </p:custDataLst>
          </p:nvPr>
        </p:nvSpPr>
        <p:spPr>
          <a:xfrm>
            <a:off x="4943238" y="2208806"/>
            <a:ext cx="4915261" cy="823618"/>
          </a:xfrm>
        </p:spPr>
        <p:txBody>
          <a:bodyPr vert="horz" lIns="0" tIns="28173" rIns="28173" bIns="28173" rtlCol="0" anchor="t">
            <a:noAutofit/>
          </a:bodyPr>
          <a:lstStyle>
            <a:lvl1pPr marL="0" indent="0" algn="l" defTabSz="779202" rtl="0" eaLnBrk="1" latinLnBrk="0" hangingPunct="1">
              <a:lnSpc>
                <a:spcPct val="85000"/>
              </a:lnSpc>
              <a:spcBef>
                <a:spcPct val="0"/>
              </a:spcBef>
              <a:buNone/>
              <a:defRPr lang="en-US" sz="3700" b="0" kern="1200" dirty="0">
                <a:solidFill>
                  <a:schemeClr val="tx1"/>
                </a:solidFill>
                <a:latin typeface="+mj-lt"/>
                <a:ea typeface="+mj-ea"/>
                <a:cs typeface="+mj-cs"/>
              </a:defRPr>
            </a:lvl1pPr>
          </a:lstStyle>
          <a:p>
            <a:r>
              <a:rPr lang="fr-FR" dirty="0"/>
              <a:t>Click to </a:t>
            </a:r>
            <a:r>
              <a:rPr lang="fr-FR" dirty="0" err="1"/>
              <a:t>edit</a:t>
            </a:r>
            <a:r>
              <a:rPr lang="fr-FR" dirty="0"/>
              <a:t> Master </a:t>
            </a:r>
            <a:r>
              <a:rPr lang="fr-FR" dirty="0" err="1"/>
              <a:t>title</a:t>
            </a:r>
            <a:r>
              <a:rPr lang="fr-FR" dirty="0"/>
              <a:t> style</a:t>
            </a:r>
            <a:endParaRPr lang="en-US" dirty="0"/>
          </a:p>
        </p:txBody>
      </p:sp>
      <p:sp>
        <p:nvSpPr>
          <p:cNvPr id="10" name="Subtitle 2"/>
          <p:cNvSpPr>
            <a:spLocks noGrp="1"/>
          </p:cNvSpPr>
          <p:nvPr>
            <p:ph type="subTitle" idx="1" hasCustomPrompt="1"/>
            <p:custDataLst>
              <p:tags r:id="rId5"/>
            </p:custDataLst>
          </p:nvPr>
        </p:nvSpPr>
        <p:spPr>
          <a:xfrm>
            <a:off x="4940137" y="3324784"/>
            <a:ext cx="4918363" cy="710813"/>
          </a:xfrm>
        </p:spPr>
        <p:txBody>
          <a:bodyPr lIns="0" tIns="28173" rIns="28173" bIns="28173"/>
          <a:lstStyle>
            <a:lvl1pPr marL="0" indent="0" algn="l">
              <a:buNone/>
              <a:defRPr sz="1900" b="0">
                <a:solidFill>
                  <a:schemeClr val="tx1"/>
                </a:solidFill>
              </a:defRPr>
            </a:lvl1pPr>
            <a:lvl2pPr marL="389601" indent="0" algn="ctr">
              <a:buNone/>
              <a:defRPr>
                <a:solidFill>
                  <a:schemeClr val="tx1">
                    <a:tint val="75000"/>
                  </a:schemeClr>
                </a:solidFill>
              </a:defRPr>
            </a:lvl2pPr>
            <a:lvl3pPr marL="779202" indent="0" algn="ctr">
              <a:buNone/>
              <a:defRPr>
                <a:solidFill>
                  <a:schemeClr val="tx1">
                    <a:tint val="75000"/>
                  </a:schemeClr>
                </a:solidFill>
              </a:defRPr>
            </a:lvl3pPr>
            <a:lvl4pPr marL="1168803" indent="0" algn="ctr">
              <a:buNone/>
              <a:defRPr>
                <a:solidFill>
                  <a:schemeClr val="tx1">
                    <a:tint val="75000"/>
                  </a:schemeClr>
                </a:solidFill>
              </a:defRPr>
            </a:lvl4pPr>
            <a:lvl5pPr marL="1558405" indent="0" algn="ctr">
              <a:buNone/>
              <a:defRPr>
                <a:solidFill>
                  <a:schemeClr val="tx1">
                    <a:tint val="75000"/>
                  </a:schemeClr>
                </a:solidFill>
              </a:defRPr>
            </a:lvl5pPr>
            <a:lvl6pPr marL="1948006" indent="0" algn="ctr">
              <a:buNone/>
              <a:defRPr>
                <a:solidFill>
                  <a:schemeClr val="tx1">
                    <a:tint val="75000"/>
                  </a:schemeClr>
                </a:solidFill>
              </a:defRPr>
            </a:lvl6pPr>
            <a:lvl7pPr marL="2337607" indent="0" algn="ctr">
              <a:buNone/>
              <a:defRPr>
                <a:solidFill>
                  <a:schemeClr val="tx1">
                    <a:tint val="75000"/>
                  </a:schemeClr>
                </a:solidFill>
              </a:defRPr>
            </a:lvl7pPr>
            <a:lvl8pPr marL="2727209" indent="0" algn="ctr">
              <a:buNone/>
              <a:defRPr>
                <a:solidFill>
                  <a:schemeClr val="tx1">
                    <a:tint val="75000"/>
                  </a:schemeClr>
                </a:solidFill>
              </a:defRPr>
            </a:lvl8pPr>
            <a:lvl9pPr marL="3116810" indent="0" algn="ctr">
              <a:buNone/>
              <a:defRPr>
                <a:solidFill>
                  <a:schemeClr val="tx1">
                    <a:tint val="75000"/>
                  </a:schemeClr>
                </a:solidFill>
              </a:defRPr>
            </a:lvl9pPr>
          </a:lstStyle>
          <a:p>
            <a:r>
              <a:rPr lang="fr-FR" dirty="0"/>
              <a:t>Click to </a:t>
            </a:r>
            <a:r>
              <a:rPr lang="fr-FR" dirty="0" err="1"/>
              <a:t>edit</a:t>
            </a:r>
            <a:r>
              <a:rPr lang="fr-FR" dirty="0"/>
              <a:t> Master </a:t>
            </a:r>
            <a:r>
              <a:rPr lang="fr-FR" dirty="0" err="1"/>
              <a:t>text</a:t>
            </a:r>
            <a:r>
              <a:rPr lang="fr-FR" dirty="0"/>
              <a:t> style</a:t>
            </a:r>
          </a:p>
        </p:txBody>
      </p:sp>
      <p:pic>
        <p:nvPicPr>
          <p:cNvPr id="8" name="Image 10" descr="Capgemini_logo.jpg"/>
          <p:cNvPicPr>
            <a:picLocks noChangeAspect="1"/>
          </p:cNvPicPr>
          <p:nvPr userDrawn="1"/>
        </p:nvPicPr>
        <p:blipFill>
          <a:blip r:embed="rId10" cstate="print"/>
          <a:stretch>
            <a:fillRect/>
          </a:stretch>
        </p:blipFill>
        <p:spPr>
          <a:xfrm>
            <a:off x="735690" y="494028"/>
            <a:ext cx="2880000" cy="514535"/>
          </a:xfrm>
          <a:prstGeom prst="rect">
            <a:avLst/>
          </a:prstGeom>
        </p:spPr>
      </p:pic>
    </p:spTree>
    <p:extLst>
      <p:ext uri="{BB962C8B-B14F-4D97-AF65-F5344CB8AC3E}">
        <p14:creationId xmlns:p14="http://schemas.microsoft.com/office/powerpoint/2010/main" val="36460939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1" y="1"/>
          <a:ext cx="135749" cy="107989"/>
        </p:xfrm>
        <a:graphic>
          <a:graphicData uri="http://schemas.openxmlformats.org/presentationml/2006/ole">
            <mc:AlternateContent xmlns:mc="http://schemas.openxmlformats.org/markup-compatibility/2006">
              <mc:Choice xmlns:v="urn:schemas-microsoft-com:vml" Requires="v">
                <p:oleObj spid="_x0000_s15420" name="think-cell Slide" r:id="rId6" imgW="360" imgH="360" progId="">
                  <p:embed/>
                </p:oleObj>
              </mc:Choice>
              <mc:Fallback>
                <p:oleObj name="think-cell Slide" r:id="rId6" imgW="360" imgH="360" progId="">
                  <p:embed/>
                  <p:pic>
                    <p:nvPicPr>
                      <p:cNvPr id="0"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 y="1"/>
                        <a:ext cx="135749" cy="1079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a:t>Click to edit Master title style</a:t>
            </a:r>
            <a:endParaRPr lang="en-US" dirty="0"/>
          </a:p>
        </p:txBody>
      </p:sp>
      <p:sp>
        <p:nvSpPr>
          <p:cNvPr id="3" name="Content Placeholder 2"/>
          <p:cNvSpPr>
            <a:spLocks noGrp="1"/>
          </p:cNvSpPr>
          <p:nvPr>
            <p:ph idx="1" hasCustomPrompt="1"/>
            <p:custDataLst>
              <p:tags r:id="rId4"/>
            </p:custDataLst>
          </p:nvPr>
        </p:nvSpPr>
        <p:spPr>
          <a:xfrm>
            <a:off x="298516" y="1121076"/>
            <a:ext cx="8845484" cy="3482813"/>
          </a:xfrm>
        </p:spPr>
        <p:txBody>
          <a:bodyPr/>
          <a:lstStyle>
            <a:lvl1pPr>
              <a:defRPr b="0"/>
            </a:lvl1pPr>
            <a:lvl5pPr>
              <a:buNone/>
              <a:defRPr/>
            </a:lvl5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Tree>
    <p:extLst>
      <p:ext uri="{BB962C8B-B14F-4D97-AF65-F5344CB8AC3E}">
        <p14:creationId xmlns:p14="http://schemas.microsoft.com/office/powerpoint/2010/main" val="3905409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ssonObjectiv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2"/>
          <p:cNvSpPr>
            <a:spLocks noGrp="1"/>
          </p:cNvSpPr>
          <p:nvPr>
            <p:ph idx="1" hasCustomPrompt="1"/>
            <p:custDataLst>
              <p:tags r:id="rId1"/>
            </p:custDataLst>
          </p:nvPr>
        </p:nvSpPr>
        <p:spPr>
          <a:xfrm>
            <a:off x="298516" y="1121076"/>
            <a:ext cx="6793764" cy="3482813"/>
          </a:xfrm>
        </p:spPr>
        <p:txBody>
          <a:bodyPr/>
          <a:lstStyle>
            <a:lvl1pPr>
              <a:defRPr b="0"/>
            </a:lvl1pPr>
            <a:lvl5pPr>
              <a:buNone/>
              <a:defRPr/>
            </a:lvl5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10102" y="1371600"/>
            <a:ext cx="1985371" cy="1508760"/>
          </a:xfrm>
          <a:prstGeom prst="rect">
            <a:avLst/>
          </a:prstGeom>
        </p:spPr>
      </p:pic>
    </p:spTree>
    <p:extLst>
      <p:ext uri="{BB962C8B-B14F-4D97-AF65-F5344CB8AC3E}">
        <p14:creationId xmlns:p14="http://schemas.microsoft.com/office/powerpoint/2010/main" val="1257486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1" y="1"/>
          <a:ext cx="135749" cy="107989"/>
        </p:xfrm>
        <a:graphic>
          <a:graphicData uri="http://schemas.openxmlformats.org/presentationml/2006/ole">
            <mc:AlternateContent xmlns:mc="http://schemas.openxmlformats.org/markup-compatibility/2006">
              <mc:Choice xmlns:v="urn:schemas-microsoft-com:vml" Requires="v">
                <p:oleObj spid="_x0000_s20540" name="think-cell Slide" r:id="rId4" imgW="360" imgH="360" progId="">
                  <p:embed/>
                </p:oleObj>
              </mc:Choice>
              <mc:Fallback>
                <p:oleObj name="think-cell Slide" r:id="rId4" imgW="360" imgH="360" progId="">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 y="1"/>
                        <a:ext cx="135749" cy="1079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5390493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p>
        </p:txBody>
      </p:sp>
      <p:sp>
        <p:nvSpPr>
          <p:cNvPr id="3" name="Content Placeholder 2"/>
          <p:cNvSpPr>
            <a:spLocks noGrp="1"/>
          </p:cNvSpPr>
          <p:nvPr>
            <p:ph idx="1"/>
          </p:nvPr>
        </p:nvSpPr>
        <p:spPr/>
        <p:txBody>
          <a:bodyPr/>
          <a:lstStyle>
            <a:lvl1pPr>
              <a:buFont typeface="Wingdings" pitchFamily="2" charset="2"/>
              <a:buChar char="Ø"/>
              <a:defRPr/>
            </a:lvl1pPr>
            <a:lvl4pPr>
              <a:defRPr lang="en-US" sz="1600" kern="1200" dirty="0" smtClean="0">
                <a:solidFill>
                  <a:schemeClr val="bg1">
                    <a:lumMod val="50000"/>
                  </a:schemeClr>
                </a:solidFill>
                <a:latin typeface="Candara" panose="020E0502030303020204" pitchFamily="34" charset="0"/>
                <a:ea typeface="+mn-ea"/>
                <a:cs typeface="+mn-cs"/>
              </a:defRPr>
            </a:lvl4pPr>
            <a:lvl5pPr>
              <a:defRPr lang="en-US" sz="1600" kern="1200" dirty="0">
                <a:solidFill>
                  <a:schemeClr val="bg1">
                    <a:lumMod val="50000"/>
                  </a:schemeClr>
                </a:solidFill>
                <a:latin typeface="Candara" panose="020E0502030303020204" pitchFamily="34" charset="0"/>
                <a:ea typeface="+mn-ea"/>
                <a:cs typeface="+mn-cs"/>
              </a:defRPr>
            </a:lvl5pPr>
          </a:lstStyle>
          <a:p>
            <a:pPr lvl="0"/>
            <a:r>
              <a:rPr lang="en-US" dirty="0"/>
              <a:t>Click to edit Master text styles</a:t>
            </a:r>
          </a:p>
          <a:p>
            <a:pPr lvl="1"/>
            <a:r>
              <a:rPr lang="en-US" dirty="0"/>
              <a:t>Second level</a:t>
            </a:r>
          </a:p>
          <a:p>
            <a:pPr lvl="2"/>
            <a:r>
              <a:rPr lang="en-US" dirty="0"/>
              <a:t>Third level</a:t>
            </a:r>
          </a:p>
        </p:txBody>
      </p:sp>
      <p:sp>
        <p:nvSpPr>
          <p:cNvPr id="4" name="Date Placeholder 3"/>
          <p:cNvSpPr>
            <a:spLocks noGrp="1"/>
          </p:cNvSpPr>
          <p:nvPr>
            <p:ph type="dt" sz="half" idx="10"/>
          </p:nvPr>
        </p:nvSpPr>
        <p:spPr>
          <a:xfrm>
            <a:off x="457200" y="4767263"/>
            <a:ext cx="2133600" cy="273844"/>
          </a:xfrm>
          <a:prstGeom prst="rect">
            <a:avLst/>
          </a:prstGeom>
        </p:spPr>
        <p:txBody>
          <a:bodyPr/>
          <a:lstStyle/>
          <a:p>
            <a:fld id="{2727887C-E3D9-4956-B241-0D7B3E50E8A2}" type="datetime1">
              <a:rPr lang="en-US" smtClean="0"/>
              <a:pPr/>
              <a:t>11/20/2019</a:t>
            </a:fld>
            <a:endParaRPr lang="en-US"/>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4767263"/>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37531576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1"/>
            <a:ext cx="7772400" cy="1102519"/>
          </a:xfrm>
        </p:spPr>
        <p:txBody>
          <a:bodyPr/>
          <a:lstStyle>
            <a:lvl1pPr>
              <a:defRPr b="1"/>
            </a:lvl1pPr>
          </a:lstStyle>
          <a:p>
            <a:r>
              <a:rPr lang="en-US" dirty="0"/>
              <a:t>Click to edit Master title style</a:t>
            </a:r>
          </a:p>
        </p:txBody>
      </p:sp>
      <p:sp>
        <p:nvSpPr>
          <p:cNvPr id="3" name="Subtitle 2"/>
          <p:cNvSpPr>
            <a:spLocks noGrp="1"/>
          </p:cNvSpPr>
          <p:nvPr>
            <p:ph type="subTitle" idx="1"/>
          </p:nvPr>
        </p:nvSpPr>
        <p:spPr>
          <a:xfrm>
            <a:off x="1371600" y="2914650"/>
            <a:ext cx="6400800" cy="1314450"/>
          </a:xfrm>
        </p:spPr>
        <p:txBody>
          <a:bodyPr>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4767264"/>
            <a:ext cx="2133600" cy="273844"/>
          </a:xfrm>
          <a:prstGeom prst="rect">
            <a:avLst/>
          </a:prstGeom>
        </p:spPr>
        <p:txBody>
          <a:bodyPr/>
          <a:lstStyle/>
          <a:p>
            <a:fld id="{1B09E437-E805-4B6F-B83F-3A554894CB63}" type="datetime1">
              <a:rPr lang="en-US" smtClean="0"/>
              <a:pPr/>
              <a:t>11/20/2019</a:t>
            </a:fld>
            <a:endParaRPr lang="en-US"/>
          </a:p>
        </p:txBody>
      </p:sp>
      <p:sp>
        <p:nvSpPr>
          <p:cNvPr id="5" name="Footer Placeholder 4"/>
          <p:cNvSpPr>
            <a:spLocks noGrp="1"/>
          </p:cNvSpPr>
          <p:nvPr>
            <p:ph type="ftr" sz="quarter" idx="11"/>
          </p:nvPr>
        </p:nvSpPr>
        <p:spPr>
          <a:xfrm>
            <a:off x="3124200" y="4767264"/>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398055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p>
        </p:txBody>
      </p:sp>
      <p:sp>
        <p:nvSpPr>
          <p:cNvPr id="3" name="Content Placeholder 2"/>
          <p:cNvSpPr>
            <a:spLocks noGrp="1"/>
          </p:cNvSpPr>
          <p:nvPr>
            <p:ph idx="1"/>
          </p:nvPr>
        </p:nvSpPr>
        <p:spPr/>
        <p:txBody>
          <a:bodyPr/>
          <a:lstStyle>
            <a:lvl1pPr>
              <a:buFont typeface="Wingdings" pitchFamily="2" charset="2"/>
              <a:buChar char="Ø"/>
              <a:defRPr/>
            </a:lvl1pPr>
            <a:lvl4pPr>
              <a:defRPr lang="en-US" sz="1600" kern="1200" dirty="0" smtClean="0">
                <a:solidFill>
                  <a:schemeClr val="bg1">
                    <a:lumMod val="50000"/>
                  </a:schemeClr>
                </a:solidFill>
                <a:latin typeface="Candara" panose="020E0502030303020204" pitchFamily="34" charset="0"/>
                <a:ea typeface="+mn-ea"/>
                <a:cs typeface="+mn-cs"/>
              </a:defRPr>
            </a:lvl4pPr>
            <a:lvl5pPr>
              <a:defRPr lang="en-US" sz="1600" kern="1200" dirty="0">
                <a:solidFill>
                  <a:schemeClr val="bg1">
                    <a:lumMod val="50000"/>
                  </a:schemeClr>
                </a:solidFill>
                <a:latin typeface="Candara" panose="020E0502030303020204" pitchFamily="34" charset="0"/>
                <a:ea typeface="+mn-ea"/>
                <a:cs typeface="+mn-cs"/>
              </a:defRPr>
            </a:lvl5pPr>
          </a:lstStyle>
          <a:p>
            <a:pPr lvl="0"/>
            <a:r>
              <a:rPr lang="en-US" dirty="0"/>
              <a:t>Click to edit Master text styles</a:t>
            </a:r>
          </a:p>
          <a:p>
            <a:pPr lvl="1"/>
            <a:r>
              <a:rPr lang="en-US" dirty="0"/>
              <a:t>Second level</a:t>
            </a:r>
          </a:p>
          <a:p>
            <a:pPr lvl="2"/>
            <a:r>
              <a:rPr lang="en-US" dirty="0"/>
              <a:t>Third level</a:t>
            </a:r>
          </a:p>
        </p:txBody>
      </p:sp>
      <p:sp>
        <p:nvSpPr>
          <p:cNvPr id="4" name="Date Placeholder 3"/>
          <p:cNvSpPr>
            <a:spLocks noGrp="1"/>
          </p:cNvSpPr>
          <p:nvPr>
            <p:ph type="dt" sz="half" idx="10"/>
          </p:nvPr>
        </p:nvSpPr>
        <p:spPr>
          <a:xfrm>
            <a:off x="457200" y="4767264"/>
            <a:ext cx="2133600" cy="273844"/>
          </a:xfrm>
          <a:prstGeom prst="rect">
            <a:avLst/>
          </a:prstGeom>
        </p:spPr>
        <p:txBody>
          <a:bodyPr/>
          <a:lstStyle/>
          <a:p>
            <a:fld id="{2727887C-E3D9-4956-B241-0D7B3E50E8A2}" type="datetime1">
              <a:rPr lang="en-US" smtClean="0"/>
              <a:pPr/>
              <a:t>11/20/2019</a:t>
            </a:fld>
            <a:endParaRPr lang="en-US"/>
          </a:p>
        </p:txBody>
      </p:sp>
      <p:sp>
        <p:nvSpPr>
          <p:cNvPr id="5" name="Footer Placeholder 4"/>
          <p:cNvSpPr>
            <a:spLocks noGrp="1"/>
          </p:cNvSpPr>
          <p:nvPr>
            <p:ph type="ftr" sz="quarter" idx="11"/>
          </p:nvPr>
        </p:nvSpPr>
        <p:spPr>
          <a:xfrm>
            <a:off x="3124200" y="4767264"/>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37531576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4767264"/>
            <a:ext cx="2133600" cy="273844"/>
          </a:xfrm>
          <a:prstGeom prst="rect">
            <a:avLst/>
          </a:prstGeom>
        </p:spPr>
        <p:txBody>
          <a:bodyPr/>
          <a:lstStyle/>
          <a:p>
            <a:fld id="{75850057-C325-4AB0-8C0E-59DC42E45BBA}" type="datetime1">
              <a:rPr lang="en-US" smtClean="0"/>
              <a:pPr/>
              <a:t>11/20/2019</a:t>
            </a:fld>
            <a:endParaRPr lang="en-US"/>
          </a:p>
        </p:txBody>
      </p:sp>
      <p:sp>
        <p:nvSpPr>
          <p:cNvPr id="5" name="Footer Placeholder 4"/>
          <p:cNvSpPr>
            <a:spLocks noGrp="1"/>
          </p:cNvSpPr>
          <p:nvPr>
            <p:ph type="ftr" sz="quarter" idx="11"/>
          </p:nvPr>
        </p:nvSpPr>
        <p:spPr>
          <a:xfrm>
            <a:off x="3124200" y="4767264"/>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21562116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4767264"/>
            <a:ext cx="2133600" cy="273844"/>
          </a:xfrm>
          <a:prstGeom prst="rect">
            <a:avLst/>
          </a:prstGeom>
        </p:spPr>
        <p:txBody>
          <a:bodyPr/>
          <a:lstStyle/>
          <a:p>
            <a:fld id="{BD9E8221-FB7D-4883-86F6-263E75469167}" type="datetime1">
              <a:rPr lang="en-US" smtClean="0"/>
              <a:pPr/>
              <a:t>11/20/2019</a:t>
            </a:fld>
            <a:endParaRPr lang="en-US"/>
          </a:p>
        </p:txBody>
      </p:sp>
      <p:sp>
        <p:nvSpPr>
          <p:cNvPr id="6" name="Footer Placeholder 5"/>
          <p:cNvSpPr>
            <a:spLocks noGrp="1"/>
          </p:cNvSpPr>
          <p:nvPr>
            <p:ph type="ftr" sz="quarter" idx="11"/>
          </p:nvPr>
        </p:nvSpPr>
        <p:spPr>
          <a:xfrm>
            <a:off x="3124200" y="4767264"/>
            <a:ext cx="2895600" cy="273844"/>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18445858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0"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0"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4767264"/>
            <a:ext cx="2133600" cy="273844"/>
          </a:xfrm>
          <a:prstGeom prst="rect">
            <a:avLst/>
          </a:prstGeom>
        </p:spPr>
        <p:txBody>
          <a:bodyPr/>
          <a:lstStyle/>
          <a:p>
            <a:fld id="{E125D57F-D058-4785-AE69-4051EF09BCDE}" type="datetime1">
              <a:rPr lang="en-US" smtClean="0"/>
              <a:pPr/>
              <a:t>11/20/2019</a:t>
            </a:fld>
            <a:endParaRPr lang="en-US"/>
          </a:p>
        </p:txBody>
      </p:sp>
      <p:sp>
        <p:nvSpPr>
          <p:cNvPr id="8" name="Footer Placeholder 7"/>
          <p:cNvSpPr>
            <a:spLocks noGrp="1"/>
          </p:cNvSpPr>
          <p:nvPr>
            <p:ph type="ftr" sz="quarter" idx="11"/>
          </p:nvPr>
        </p:nvSpPr>
        <p:spPr>
          <a:xfrm>
            <a:off x="3124200" y="4767264"/>
            <a:ext cx="2895600" cy="273844"/>
          </a:xfrm>
          <a:prstGeom prst="rect">
            <a:avLst/>
          </a:prstGeom>
        </p:spPr>
        <p:txBody>
          <a:bodyPr/>
          <a:lstStyle/>
          <a:p>
            <a:endParaRPr lang="en-US"/>
          </a:p>
        </p:txBody>
      </p:sp>
      <p:sp>
        <p:nvSpPr>
          <p:cNvPr id="9" name="Slide Number Placeholder 8"/>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6032346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p>
        </p:txBody>
      </p:sp>
      <p:sp>
        <p:nvSpPr>
          <p:cNvPr id="3" name="Date Placeholder 2"/>
          <p:cNvSpPr>
            <a:spLocks noGrp="1"/>
          </p:cNvSpPr>
          <p:nvPr>
            <p:ph type="dt" sz="half" idx="10"/>
          </p:nvPr>
        </p:nvSpPr>
        <p:spPr>
          <a:xfrm>
            <a:off x="457200" y="4767264"/>
            <a:ext cx="2133600" cy="273844"/>
          </a:xfrm>
          <a:prstGeom prst="rect">
            <a:avLst/>
          </a:prstGeom>
        </p:spPr>
        <p:txBody>
          <a:bodyPr/>
          <a:lstStyle/>
          <a:p>
            <a:fld id="{0142EE93-3912-4F7A-A116-AD58C43B6D10}" type="datetime1">
              <a:rPr lang="en-US" smtClean="0"/>
              <a:pPr/>
              <a:t>11/20/2019</a:t>
            </a:fld>
            <a:endParaRPr lang="en-US"/>
          </a:p>
        </p:txBody>
      </p:sp>
      <p:sp>
        <p:nvSpPr>
          <p:cNvPr id="4" name="Footer Placeholder 3"/>
          <p:cNvSpPr>
            <a:spLocks noGrp="1"/>
          </p:cNvSpPr>
          <p:nvPr>
            <p:ph type="ftr" sz="quarter" idx="11"/>
          </p:nvPr>
        </p:nvSpPr>
        <p:spPr>
          <a:xfrm>
            <a:off x="3124200" y="4767264"/>
            <a:ext cx="2895600" cy="273844"/>
          </a:xfrm>
          <a:prstGeom prst="rect">
            <a:avLst/>
          </a:prstGeom>
        </p:spPr>
        <p:txBody>
          <a:bodyPr/>
          <a:lstStyle/>
          <a:p>
            <a:endParaRPr lang="en-US"/>
          </a:p>
        </p:txBody>
      </p:sp>
      <p:sp>
        <p:nvSpPr>
          <p:cNvPr id="5" name="Slide Number Placeholder 4"/>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14690651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4767264"/>
            <a:ext cx="2133600" cy="273844"/>
          </a:xfrm>
          <a:prstGeom prst="rect">
            <a:avLst/>
          </a:prstGeom>
        </p:spPr>
        <p:txBody>
          <a:bodyPr/>
          <a:lstStyle/>
          <a:p>
            <a:fld id="{CACDFF22-B6EA-4CED-A6CA-61C16E5EAB15}" type="datetime1">
              <a:rPr lang="en-US" smtClean="0"/>
              <a:pPr/>
              <a:t>11/20/2019</a:t>
            </a:fld>
            <a:endParaRPr lang="en-US"/>
          </a:p>
        </p:txBody>
      </p:sp>
      <p:sp>
        <p:nvSpPr>
          <p:cNvPr id="3" name="Footer Placeholder 2"/>
          <p:cNvSpPr>
            <a:spLocks noGrp="1"/>
          </p:cNvSpPr>
          <p:nvPr>
            <p:ph type="ftr" sz="quarter" idx="11"/>
          </p:nvPr>
        </p:nvSpPr>
        <p:spPr>
          <a:xfrm>
            <a:off x="3124200" y="4767264"/>
            <a:ext cx="2895600" cy="273844"/>
          </a:xfrm>
          <a:prstGeom prst="rect">
            <a:avLst/>
          </a:prstGeom>
        </p:spPr>
        <p:txBody>
          <a:bodyPr/>
          <a:lstStyle/>
          <a:p>
            <a:endParaRPr lang="en-US"/>
          </a:p>
        </p:txBody>
      </p:sp>
      <p:sp>
        <p:nvSpPr>
          <p:cNvPr id="4" name="Slide Number Placeholder 3"/>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16161237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5"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90"/>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5"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4767264"/>
            <a:ext cx="2133600" cy="273844"/>
          </a:xfrm>
          <a:prstGeom prst="rect">
            <a:avLst/>
          </a:prstGeom>
        </p:spPr>
        <p:txBody>
          <a:bodyPr/>
          <a:lstStyle/>
          <a:p>
            <a:fld id="{A0410464-921E-44DE-8661-BEFE8F21C728}" type="datetime1">
              <a:rPr lang="en-US" smtClean="0"/>
              <a:pPr/>
              <a:t>11/20/2019</a:t>
            </a:fld>
            <a:endParaRPr lang="en-US"/>
          </a:p>
        </p:txBody>
      </p:sp>
      <p:sp>
        <p:nvSpPr>
          <p:cNvPr id="6" name="Footer Placeholder 5"/>
          <p:cNvSpPr>
            <a:spLocks noGrp="1"/>
          </p:cNvSpPr>
          <p:nvPr>
            <p:ph type="ftr" sz="quarter" idx="11"/>
          </p:nvPr>
        </p:nvSpPr>
        <p:spPr>
          <a:xfrm>
            <a:off x="3124200" y="4767264"/>
            <a:ext cx="2895600" cy="273844"/>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40810021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5"/>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4767264"/>
            <a:ext cx="2133600" cy="273844"/>
          </a:xfrm>
          <a:prstGeom prst="rect">
            <a:avLst/>
          </a:prstGeom>
        </p:spPr>
        <p:txBody>
          <a:bodyPr/>
          <a:lstStyle/>
          <a:p>
            <a:fld id="{24E67F5D-EE00-4A60-BE82-D0881C03BA66}" type="datetime1">
              <a:rPr lang="en-US" smtClean="0"/>
              <a:pPr/>
              <a:t>11/20/2019</a:t>
            </a:fld>
            <a:endParaRPr lang="en-US"/>
          </a:p>
        </p:txBody>
      </p:sp>
      <p:sp>
        <p:nvSpPr>
          <p:cNvPr id="6" name="Footer Placeholder 5"/>
          <p:cNvSpPr>
            <a:spLocks noGrp="1"/>
          </p:cNvSpPr>
          <p:nvPr>
            <p:ph type="ftr" sz="quarter" idx="11"/>
          </p:nvPr>
        </p:nvSpPr>
        <p:spPr>
          <a:xfrm>
            <a:off x="3124200" y="4767264"/>
            <a:ext cx="2895600" cy="273844"/>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35028776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4"/>
            <a:ext cx="2133600" cy="273844"/>
          </a:xfrm>
          <a:prstGeom prst="rect">
            <a:avLst/>
          </a:prstGeom>
        </p:spPr>
        <p:txBody>
          <a:bodyPr/>
          <a:lstStyle/>
          <a:p>
            <a:fld id="{92453C69-B6DB-4482-9D7D-A9D66B2576A4}" type="datetime1">
              <a:rPr lang="en-US" smtClean="0"/>
              <a:pPr/>
              <a:t>11/20/2019</a:t>
            </a:fld>
            <a:endParaRPr lang="en-US"/>
          </a:p>
        </p:txBody>
      </p:sp>
      <p:sp>
        <p:nvSpPr>
          <p:cNvPr id="5" name="Footer Placeholder 4"/>
          <p:cNvSpPr>
            <a:spLocks noGrp="1"/>
          </p:cNvSpPr>
          <p:nvPr>
            <p:ph type="ftr" sz="quarter" idx="11"/>
          </p:nvPr>
        </p:nvSpPr>
        <p:spPr>
          <a:xfrm>
            <a:off x="3124200" y="4767264"/>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38249681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0"/>
            <a:ext cx="2057400" cy="4388644"/>
          </a:xfrm>
        </p:spPr>
        <p:txBody>
          <a:bodyPr vert="eaVert"/>
          <a:lstStyle>
            <a:lvl1pPr>
              <a:defRPr b="1"/>
            </a:lvl1pPr>
          </a:lstStyle>
          <a:p>
            <a:r>
              <a:rPr lang="en-US"/>
              <a:t>Click to edit Master title style</a:t>
            </a:r>
          </a:p>
        </p:txBody>
      </p:sp>
      <p:sp>
        <p:nvSpPr>
          <p:cNvPr id="3" name="Vertical Text Placeholder 2"/>
          <p:cNvSpPr>
            <a:spLocks noGrp="1"/>
          </p:cNvSpPr>
          <p:nvPr>
            <p:ph type="body" orient="vert" idx="1"/>
          </p:nvPr>
        </p:nvSpPr>
        <p:spPr>
          <a:xfrm>
            <a:off x="457200" y="205980"/>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4"/>
            <a:ext cx="2133600" cy="273844"/>
          </a:xfrm>
          <a:prstGeom prst="rect">
            <a:avLst/>
          </a:prstGeom>
        </p:spPr>
        <p:txBody>
          <a:bodyPr/>
          <a:lstStyle/>
          <a:p>
            <a:fld id="{CE1D0F29-5A92-4827-9A0E-CF6BC89C19B0}" type="datetime1">
              <a:rPr lang="en-US" smtClean="0"/>
              <a:pPr/>
              <a:t>11/20/2019</a:t>
            </a:fld>
            <a:endParaRPr lang="en-US"/>
          </a:p>
        </p:txBody>
      </p:sp>
      <p:sp>
        <p:nvSpPr>
          <p:cNvPr id="5" name="Footer Placeholder 4"/>
          <p:cNvSpPr>
            <a:spLocks noGrp="1"/>
          </p:cNvSpPr>
          <p:nvPr>
            <p:ph type="ftr" sz="quarter" idx="11"/>
          </p:nvPr>
        </p:nvSpPr>
        <p:spPr>
          <a:xfrm>
            <a:off x="3124200" y="4767264"/>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10749971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0"/>
            <a:ext cx="7772400" cy="1102519"/>
          </a:xfrm>
        </p:spPr>
        <p:txBody>
          <a:bodyPr/>
          <a:lstStyle>
            <a:lvl1pPr>
              <a:defRPr b="1"/>
            </a:lvl1pPr>
          </a:lstStyle>
          <a:p>
            <a:r>
              <a:rPr lang="en-US" dirty="0"/>
              <a:t>Click to edit Master title style</a:t>
            </a:r>
          </a:p>
        </p:txBody>
      </p:sp>
      <p:sp>
        <p:nvSpPr>
          <p:cNvPr id="3" name="Subtitle 2"/>
          <p:cNvSpPr>
            <a:spLocks noGrp="1"/>
          </p:cNvSpPr>
          <p:nvPr>
            <p:ph type="subTitle" idx="1"/>
          </p:nvPr>
        </p:nvSpPr>
        <p:spPr>
          <a:xfrm>
            <a:off x="1371600" y="2914650"/>
            <a:ext cx="6400800" cy="1314450"/>
          </a:xfrm>
        </p:spPr>
        <p:txBody>
          <a:bodyPr>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4767264"/>
            <a:ext cx="2133600" cy="273844"/>
          </a:xfrm>
          <a:prstGeom prst="rect">
            <a:avLst/>
          </a:prstGeom>
        </p:spPr>
        <p:txBody>
          <a:bodyPr/>
          <a:lstStyle/>
          <a:p>
            <a:fld id="{1B09E437-E805-4B6F-B83F-3A554894CB63}" type="datetime1">
              <a:rPr lang="en-US" smtClean="0"/>
              <a:pPr/>
              <a:t>11/20/2019</a:t>
            </a:fld>
            <a:endParaRPr lang="en-US"/>
          </a:p>
        </p:txBody>
      </p:sp>
      <p:sp>
        <p:nvSpPr>
          <p:cNvPr id="5" name="Footer Placeholder 4"/>
          <p:cNvSpPr>
            <a:spLocks noGrp="1"/>
          </p:cNvSpPr>
          <p:nvPr>
            <p:ph type="ftr" sz="quarter" idx="11"/>
          </p:nvPr>
        </p:nvSpPr>
        <p:spPr>
          <a:xfrm>
            <a:off x="3124200" y="4767264"/>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398055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p>
        </p:txBody>
      </p:sp>
      <p:sp>
        <p:nvSpPr>
          <p:cNvPr id="3" name="Content Placeholder 2"/>
          <p:cNvSpPr>
            <a:spLocks noGrp="1"/>
          </p:cNvSpPr>
          <p:nvPr>
            <p:ph idx="1"/>
          </p:nvPr>
        </p:nvSpPr>
        <p:spPr/>
        <p:txBody>
          <a:bodyPr/>
          <a:lstStyle>
            <a:lvl1pPr>
              <a:buFont typeface="Wingdings" pitchFamily="2" charset="2"/>
              <a:buChar char="Ø"/>
              <a:defRPr/>
            </a:lvl1pPr>
            <a:lvl4pPr>
              <a:defRPr lang="en-US" sz="1600" kern="1200" dirty="0" smtClean="0">
                <a:solidFill>
                  <a:schemeClr val="bg1">
                    <a:lumMod val="50000"/>
                  </a:schemeClr>
                </a:solidFill>
                <a:latin typeface="Candara" panose="020E0502030303020204" pitchFamily="34" charset="0"/>
                <a:ea typeface="+mn-ea"/>
                <a:cs typeface="+mn-cs"/>
              </a:defRPr>
            </a:lvl4pPr>
            <a:lvl5pPr>
              <a:defRPr lang="en-US" sz="1600" kern="1200" dirty="0">
                <a:solidFill>
                  <a:schemeClr val="bg1">
                    <a:lumMod val="50000"/>
                  </a:schemeClr>
                </a:solidFill>
                <a:latin typeface="Candara" panose="020E0502030303020204" pitchFamily="34" charset="0"/>
                <a:ea typeface="+mn-ea"/>
                <a:cs typeface="+mn-cs"/>
              </a:defRPr>
            </a:lvl5pPr>
          </a:lstStyle>
          <a:p>
            <a:pPr lvl="0"/>
            <a:r>
              <a:rPr lang="en-US" dirty="0"/>
              <a:t>Click to edit Master text styles</a:t>
            </a:r>
          </a:p>
          <a:p>
            <a:pPr lvl="1"/>
            <a:r>
              <a:rPr lang="en-US" dirty="0"/>
              <a:t>Second level</a:t>
            </a:r>
          </a:p>
          <a:p>
            <a:pPr lvl="2"/>
            <a:r>
              <a:rPr lang="en-US" dirty="0"/>
              <a:t>Third level</a:t>
            </a:r>
          </a:p>
        </p:txBody>
      </p:sp>
      <p:sp>
        <p:nvSpPr>
          <p:cNvPr id="4" name="Date Placeholder 3"/>
          <p:cNvSpPr>
            <a:spLocks noGrp="1"/>
          </p:cNvSpPr>
          <p:nvPr>
            <p:ph type="dt" sz="half" idx="10"/>
          </p:nvPr>
        </p:nvSpPr>
        <p:spPr>
          <a:xfrm>
            <a:off x="457200" y="4767264"/>
            <a:ext cx="2133600" cy="273844"/>
          </a:xfrm>
          <a:prstGeom prst="rect">
            <a:avLst/>
          </a:prstGeom>
        </p:spPr>
        <p:txBody>
          <a:bodyPr/>
          <a:lstStyle/>
          <a:p>
            <a:fld id="{2727887C-E3D9-4956-B241-0D7B3E50E8A2}" type="datetime1">
              <a:rPr lang="en-US" smtClean="0"/>
              <a:pPr/>
              <a:t>11/20/2019</a:t>
            </a:fld>
            <a:endParaRPr lang="en-US"/>
          </a:p>
        </p:txBody>
      </p:sp>
      <p:sp>
        <p:nvSpPr>
          <p:cNvPr id="5" name="Footer Placeholder 4"/>
          <p:cNvSpPr>
            <a:spLocks noGrp="1"/>
          </p:cNvSpPr>
          <p:nvPr>
            <p:ph type="ftr" sz="quarter" idx="11"/>
          </p:nvPr>
        </p:nvSpPr>
        <p:spPr>
          <a:xfrm>
            <a:off x="3124200" y="4767264"/>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37531576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4767264"/>
            <a:ext cx="2133600" cy="273844"/>
          </a:xfrm>
          <a:prstGeom prst="rect">
            <a:avLst/>
          </a:prstGeom>
        </p:spPr>
        <p:txBody>
          <a:bodyPr/>
          <a:lstStyle/>
          <a:p>
            <a:fld id="{75850057-C325-4AB0-8C0E-59DC42E45BBA}" type="datetime1">
              <a:rPr lang="en-US" smtClean="0"/>
              <a:pPr/>
              <a:t>11/20/2019</a:t>
            </a:fld>
            <a:endParaRPr lang="en-US"/>
          </a:p>
        </p:txBody>
      </p:sp>
      <p:sp>
        <p:nvSpPr>
          <p:cNvPr id="5" name="Footer Placeholder 4"/>
          <p:cNvSpPr>
            <a:spLocks noGrp="1"/>
          </p:cNvSpPr>
          <p:nvPr>
            <p:ph type="ftr" sz="quarter" idx="11"/>
          </p:nvPr>
        </p:nvSpPr>
        <p:spPr>
          <a:xfrm>
            <a:off x="3124200" y="4767264"/>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21562116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4767264"/>
            <a:ext cx="2133600" cy="273844"/>
          </a:xfrm>
          <a:prstGeom prst="rect">
            <a:avLst/>
          </a:prstGeom>
        </p:spPr>
        <p:txBody>
          <a:bodyPr/>
          <a:lstStyle/>
          <a:p>
            <a:fld id="{BD9E8221-FB7D-4883-86F6-263E75469167}" type="datetime1">
              <a:rPr lang="en-US" smtClean="0"/>
              <a:pPr/>
              <a:t>11/20/2019</a:t>
            </a:fld>
            <a:endParaRPr lang="en-US"/>
          </a:p>
        </p:txBody>
      </p:sp>
      <p:sp>
        <p:nvSpPr>
          <p:cNvPr id="6" name="Footer Placeholder 5"/>
          <p:cNvSpPr>
            <a:spLocks noGrp="1"/>
          </p:cNvSpPr>
          <p:nvPr>
            <p:ph type="ftr" sz="quarter" idx="11"/>
          </p:nvPr>
        </p:nvSpPr>
        <p:spPr>
          <a:xfrm>
            <a:off x="3124200" y="4767264"/>
            <a:ext cx="2895600" cy="273844"/>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184458589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8"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4767264"/>
            <a:ext cx="2133600" cy="273844"/>
          </a:xfrm>
          <a:prstGeom prst="rect">
            <a:avLst/>
          </a:prstGeom>
        </p:spPr>
        <p:txBody>
          <a:bodyPr/>
          <a:lstStyle/>
          <a:p>
            <a:fld id="{E125D57F-D058-4785-AE69-4051EF09BCDE}" type="datetime1">
              <a:rPr lang="en-US" smtClean="0"/>
              <a:pPr/>
              <a:t>11/20/2019</a:t>
            </a:fld>
            <a:endParaRPr lang="en-US"/>
          </a:p>
        </p:txBody>
      </p:sp>
      <p:sp>
        <p:nvSpPr>
          <p:cNvPr id="8" name="Footer Placeholder 7"/>
          <p:cNvSpPr>
            <a:spLocks noGrp="1"/>
          </p:cNvSpPr>
          <p:nvPr>
            <p:ph type="ftr" sz="quarter" idx="11"/>
          </p:nvPr>
        </p:nvSpPr>
        <p:spPr>
          <a:xfrm>
            <a:off x="3124200" y="4767264"/>
            <a:ext cx="2895600" cy="273844"/>
          </a:xfrm>
          <a:prstGeom prst="rect">
            <a:avLst/>
          </a:prstGeom>
        </p:spPr>
        <p:txBody>
          <a:bodyPr/>
          <a:lstStyle/>
          <a:p>
            <a:endParaRPr lang="en-US"/>
          </a:p>
        </p:txBody>
      </p:sp>
      <p:sp>
        <p:nvSpPr>
          <p:cNvPr id="9" name="Slide Number Placeholder 8"/>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6032346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p>
        </p:txBody>
      </p:sp>
      <p:sp>
        <p:nvSpPr>
          <p:cNvPr id="3" name="Date Placeholder 2"/>
          <p:cNvSpPr>
            <a:spLocks noGrp="1"/>
          </p:cNvSpPr>
          <p:nvPr>
            <p:ph type="dt" sz="half" idx="10"/>
          </p:nvPr>
        </p:nvSpPr>
        <p:spPr>
          <a:xfrm>
            <a:off x="457200" y="4767264"/>
            <a:ext cx="2133600" cy="273844"/>
          </a:xfrm>
          <a:prstGeom prst="rect">
            <a:avLst/>
          </a:prstGeom>
        </p:spPr>
        <p:txBody>
          <a:bodyPr/>
          <a:lstStyle/>
          <a:p>
            <a:fld id="{0142EE93-3912-4F7A-A116-AD58C43B6D10}" type="datetime1">
              <a:rPr lang="en-US" smtClean="0"/>
              <a:pPr/>
              <a:t>11/20/2019</a:t>
            </a:fld>
            <a:endParaRPr lang="en-US"/>
          </a:p>
        </p:txBody>
      </p:sp>
      <p:sp>
        <p:nvSpPr>
          <p:cNvPr id="4" name="Footer Placeholder 3"/>
          <p:cNvSpPr>
            <a:spLocks noGrp="1"/>
          </p:cNvSpPr>
          <p:nvPr>
            <p:ph type="ftr" sz="quarter" idx="11"/>
          </p:nvPr>
        </p:nvSpPr>
        <p:spPr>
          <a:xfrm>
            <a:off x="3124200" y="4767264"/>
            <a:ext cx="2895600" cy="273844"/>
          </a:xfrm>
          <a:prstGeom prst="rect">
            <a:avLst/>
          </a:prstGeom>
        </p:spPr>
        <p:txBody>
          <a:bodyPr/>
          <a:lstStyle/>
          <a:p>
            <a:endParaRPr lang="en-US"/>
          </a:p>
        </p:txBody>
      </p:sp>
      <p:sp>
        <p:nvSpPr>
          <p:cNvPr id="5" name="Slide Number Placeholder 4"/>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14690651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4767264"/>
            <a:ext cx="2133600" cy="273844"/>
          </a:xfrm>
          <a:prstGeom prst="rect">
            <a:avLst/>
          </a:prstGeom>
        </p:spPr>
        <p:txBody>
          <a:bodyPr/>
          <a:lstStyle/>
          <a:p>
            <a:fld id="{CACDFF22-B6EA-4CED-A6CA-61C16E5EAB15}" type="datetime1">
              <a:rPr lang="en-US" smtClean="0"/>
              <a:pPr/>
              <a:t>11/20/2019</a:t>
            </a:fld>
            <a:endParaRPr lang="en-US"/>
          </a:p>
        </p:txBody>
      </p:sp>
      <p:sp>
        <p:nvSpPr>
          <p:cNvPr id="3" name="Footer Placeholder 2"/>
          <p:cNvSpPr>
            <a:spLocks noGrp="1"/>
          </p:cNvSpPr>
          <p:nvPr>
            <p:ph type="ftr" sz="quarter" idx="11"/>
          </p:nvPr>
        </p:nvSpPr>
        <p:spPr>
          <a:xfrm>
            <a:off x="3124200" y="4767264"/>
            <a:ext cx="2895600" cy="273844"/>
          </a:xfrm>
          <a:prstGeom prst="rect">
            <a:avLst/>
          </a:prstGeom>
        </p:spPr>
        <p:txBody>
          <a:bodyPr/>
          <a:lstStyle/>
          <a:p>
            <a:endParaRPr lang="en-US"/>
          </a:p>
        </p:txBody>
      </p:sp>
      <p:sp>
        <p:nvSpPr>
          <p:cNvPr id="4" name="Slide Number Placeholder 3"/>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161612372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3"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3" y="1076327"/>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4767264"/>
            <a:ext cx="2133600" cy="273844"/>
          </a:xfrm>
          <a:prstGeom prst="rect">
            <a:avLst/>
          </a:prstGeom>
        </p:spPr>
        <p:txBody>
          <a:bodyPr/>
          <a:lstStyle/>
          <a:p>
            <a:fld id="{A0410464-921E-44DE-8661-BEFE8F21C728}" type="datetime1">
              <a:rPr lang="en-US" smtClean="0"/>
              <a:pPr/>
              <a:t>11/20/2019</a:t>
            </a:fld>
            <a:endParaRPr lang="en-US"/>
          </a:p>
        </p:txBody>
      </p:sp>
      <p:sp>
        <p:nvSpPr>
          <p:cNvPr id="6" name="Footer Placeholder 5"/>
          <p:cNvSpPr>
            <a:spLocks noGrp="1"/>
          </p:cNvSpPr>
          <p:nvPr>
            <p:ph type="ftr" sz="quarter" idx="11"/>
          </p:nvPr>
        </p:nvSpPr>
        <p:spPr>
          <a:xfrm>
            <a:off x="3124200" y="4767264"/>
            <a:ext cx="2895600" cy="273844"/>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408100214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4"/>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4767264"/>
            <a:ext cx="2133600" cy="273844"/>
          </a:xfrm>
          <a:prstGeom prst="rect">
            <a:avLst/>
          </a:prstGeom>
        </p:spPr>
        <p:txBody>
          <a:bodyPr/>
          <a:lstStyle/>
          <a:p>
            <a:fld id="{24E67F5D-EE00-4A60-BE82-D0881C03BA66}" type="datetime1">
              <a:rPr lang="en-US" smtClean="0"/>
              <a:pPr/>
              <a:t>11/20/2019</a:t>
            </a:fld>
            <a:endParaRPr lang="en-US"/>
          </a:p>
        </p:txBody>
      </p:sp>
      <p:sp>
        <p:nvSpPr>
          <p:cNvPr id="6" name="Footer Placeholder 5"/>
          <p:cNvSpPr>
            <a:spLocks noGrp="1"/>
          </p:cNvSpPr>
          <p:nvPr>
            <p:ph type="ftr" sz="quarter" idx="11"/>
          </p:nvPr>
        </p:nvSpPr>
        <p:spPr>
          <a:xfrm>
            <a:off x="3124200" y="4767264"/>
            <a:ext cx="2895600" cy="273844"/>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35028776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4"/>
            <a:ext cx="2133600" cy="273844"/>
          </a:xfrm>
          <a:prstGeom prst="rect">
            <a:avLst/>
          </a:prstGeom>
        </p:spPr>
        <p:txBody>
          <a:bodyPr/>
          <a:lstStyle/>
          <a:p>
            <a:fld id="{92453C69-B6DB-4482-9D7D-A9D66B2576A4}" type="datetime1">
              <a:rPr lang="en-US" smtClean="0"/>
              <a:pPr/>
              <a:t>11/20/2019</a:t>
            </a:fld>
            <a:endParaRPr lang="en-US"/>
          </a:p>
        </p:txBody>
      </p:sp>
      <p:sp>
        <p:nvSpPr>
          <p:cNvPr id="5" name="Footer Placeholder 4"/>
          <p:cNvSpPr>
            <a:spLocks noGrp="1"/>
          </p:cNvSpPr>
          <p:nvPr>
            <p:ph type="ftr" sz="quarter" idx="11"/>
          </p:nvPr>
        </p:nvSpPr>
        <p:spPr>
          <a:xfrm>
            <a:off x="3124200" y="4767264"/>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382496819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0"/>
            <a:ext cx="2057400" cy="4388644"/>
          </a:xfrm>
        </p:spPr>
        <p:txBody>
          <a:bodyPr vert="eaVert"/>
          <a:lstStyle>
            <a:lvl1pPr>
              <a:defRPr b="1"/>
            </a:lvl1pPr>
          </a:lstStyle>
          <a:p>
            <a:r>
              <a:rPr lang="en-US"/>
              <a:t>Click to edit Master title style</a:t>
            </a:r>
          </a:p>
        </p:txBody>
      </p:sp>
      <p:sp>
        <p:nvSpPr>
          <p:cNvPr id="3" name="Vertical Text Placeholder 2"/>
          <p:cNvSpPr>
            <a:spLocks noGrp="1"/>
          </p:cNvSpPr>
          <p:nvPr>
            <p:ph type="body" orient="vert" idx="1"/>
          </p:nvPr>
        </p:nvSpPr>
        <p:spPr>
          <a:xfrm>
            <a:off x="457200" y="205980"/>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4"/>
            <a:ext cx="2133600" cy="273844"/>
          </a:xfrm>
          <a:prstGeom prst="rect">
            <a:avLst/>
          </a:prstGeom>
        </p:spPr>
        <p:txBody>
          <a:bodyPr/>
          <a:lstStyle/>
          <a:p>
            <a:fld id="{CE1D0F29-5A92-4827-9A0E-CF6BC89C19B0}" type="datetime1">
              <a:rPr lang="en-US" smtClean="0"/>
              <a:pPr/>
              <a:t>11/20/2019</a:t>
            </a:fld>
            <a:endParaRPr lang="en-US"/>
          </a:p>
        </p:txBody>
      </p:sp>
      <p:sp>
        <p:nvSpPr>
          <p:cNvPr id="5" name="Footer Placeholder 4"/>
          <p:cNvSpPr>
            <a:spLocks noGrp="1"/>
          </p:cNvSpPr>
          <p:nvPr>
            <p:ph type="ftr" sz="quarter" idx="11"/>
          </p:nvPr>
        </p:nvSpPr>
        <p:spPr>
          <a:xfrm>
            <a:off x="3124200" y="4767264"/>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107499712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Closing 2">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2"/>
            </p:custDataLst>
          </p:nvPr>
        </p:nvGraphicFramePr>
        <p:xfrm>
          <a:off x="0" y="0"/>
          <a:ext cx="135749" cy="107989"/>
        </p:xfrm>
        <a:graphic>
          <a:graphicData uri="http://schemas.openxmlformats.org/presentationml/2006/ole">
            <mc:AlternateContent xmlns:mc="http://schemas.openxmlformats.org/markup-compatibility/2006">
              <mc:Choice xmlns:v="urn:schemas-microsoft-com:vml" Requires="v">
                <p:oleObj spid="_x0000_s69690" name="think-cell Slide" r:id="rId6" imgW="360" imgH="360" progId="">
                  <p:embed/>
                </p:oleObj>
              </mc:Choice>
              <mc:Fallback>
                <p:oleObj name="think-cell Slide" r:id="rId6" imgW="360" imgH="360" progId="">
                  <p:embed/>
                  <p:pic>
                    <p:nvPicPr>
                      <p:cNvPr id="0"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35749" cy="1079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6"/>
          <p:cNvSpPr/>
          <p:nvPr userDrawn="1">
            <p:custDataLst>
              <p:tags r:id="rId3"/>
            </p:custDataLst>
          </p:nvPr>
        </p:nvSpPr>
        <p:spPr>
          <a:xfrm>
            <a:off x="4527501" y="4785622"/>
            <a:ext cx="4045000" cy="210785"/>
          </a:xfrm>
          <a:prstGeom prst="rect">
            <a:avLst/>
          </a:prstGeom>
        </p:spPr>
        <p:txBody>
          <a:bodyPr wrap="square" lIns="28173" tIns="28173" rIns="0" bIns="28173" anchor="b" anchorCtr="0">
            <a:spAutoFit/>
          </a:bodyPr>
          <a:lstStyle/>
          <a:p>
            <a:pPr algn="r"/>
            <a:r>
              <a:rPr lang="en-US" sz="500" b="0" dirty="0">
                <a:solidFill>
                  <a:schemeClr val="bg1"/>
                </a:solidFill>
                <a:latin typeface="Arial" pitchFamily="34" charset="0"/>
                <a:cs typeface="Arial" pitchFamily="34" charset="0"/>
              </a:rPr>
              <a:t>The information contained in this presentation is proprietary.</a:t>
            </a:r>
          </a:p>
          <a:p>
            <a:pPr marL="0" marR="0" indent="0" algn="r" defTabSz="816200" rtl="0" eaLnBrk="1" fontAlgn="auto" latinLnBrk="0" hangingPunct="1">
              <a:lnSpc>
                <a:spcPct val="100000"/>
              </a:lnSpc>
              <a:spcBef>
                <a:spcPts val="0"/>
              </a:spcBef>
              <a:spcAft>
                <a:spcPts val="0"/>
              </a:spcAft>
              <a:buClrTx/>
              <a:buSzTx/>
              <a:buFontTx/>
              <a:buNone/>
              <a:tabLst/>
              <a:defRPr/>
            </a:pPr>
            <a:r>
              <a:rPr lang="en-US" sz="500" b="0" dirty="0">
                <a:solidFill>
                  <a:schemeClr val="bg1"/>
                </a:solidFill>
                <a:latin typeface="Arial" pitchFamily="34" charset="0"/>
                <a:cs typeface="Arial" pitchFamily="34" charset="0"/>
              </a:rPr>
              <a:t>© 2014 Capgemini. All rights reserved. Rightshore</a:t>
            </a:r>
            <a:r>
              <a:rPr lang="en-US" sz="500" b="0" baseline="30000" dirty="0">
                <a:solidFill>
                  <a:schemeClr val="bg1"/>
                </a:solidFill>
                <a:latin typeface="Arial" pitchFamily="34" charset="0"/>
                <a:cs typeface="Arial" pitchFamily="34" charset="0"/>
              </a:rPr>
              <a:t>®  </a:t>
            </a:r>
            <a:r>
              <a:rPr lang="en-US" sz="500" b="0" baseline="0" dirty="0">
                <a:solidFill>
                  <a:schemeClr val="bg1"/>
                </a:solidFill>
                <a:latin typeface="Arial" pitchFamily="34" charset="0"/>
                <a:cs typeface="Arial" pitchFamily="34" charset="0"/>
              </a:rPr>
              <a:t>is a trademark belonging to Capgemini.</a:t>
            </a:r>
            <a:endParaRPr lang="en-US" sz="500" b="0" kern="0" noProof="1">
              <a:solidFill>
                <a:schemeClr val="bg1"/>
              </a:solidFill>
              <a:latin typeface="Arial" pitchFamily="34" charset="0"/>
              <a:cs typeface="Arial" pitchFamily="34" charset="0"/>
            </a:endParaRPr>
          </a:p>
        </p:txBody>
      </p:sp>
      <p:sp>
        <p:nvSpPr>
          <p:cNvPr id="10" name="Rectangle 9"/>
          <p:cNvSpPr>
            <a:spLocks noChangeArrowheads="1"/>
          </p:cNvSpPr>
          <p:nvPr userDrawn="1">
            <p:custDataLst>
              <p:tags r:id="rId4"/>
            </p:custDataLst>
          </p:nvPr>
        </p:nvSpPr>
        <p:spPr bwMode="gray">
          <a:xfrm>
            <a:off x="1021004" y="2769919"/>
            <a:ext cx="3932160" cy="1511693"/>
          </a:xfrm>
          <a:custGeom>
            <a:avLst/>
            <a:gdLst>
              <a:gd name="connsiteX0" fmla="*/ 0 w 4423977"/>
              <a:gd name="connsiteY0" fmla="*/ 164137 h 2296914"/>
              <a:gd name="connsiteX1" fmla="*/ 48075 w 4423977"/>
              <a:gd name="connsiteY1" fmla="*/ 48075 h 2296914"/>
              <a:gd name="connsiteX2" fmla="*/ 164138 w 4423977"/>
              <a:gd name="connsiteY2" fmla="*/ 1 h 2296914"/>
              <a:gd name="connsiteX3" fmla="*/ 4259840 w 4423977"/>
              <a:gd name="connsiteY3" fmla="*/ 0 h 2296914"/>
              <a:gd name="connsiteX4" fmla="*/ 4375902 w 4423977"/>
              <a:gd name="connsiteY4" fmla="*/ 48075 h 2296914"/>
              <a:gd name="connsiteX5" fmla="*/ 4423976 w 4423977"/>
              <a:gd name="connsiteY5" fmla="*/ 164138 h 2296914"/>
              <a:gd name="connsiteX6" fmla="*/ 4423977 w 4423977"/>
              <a:gd name="connsiteY6" fmla="*/ 2132777 h 2296914"/>
              <a:gd name="connsiteX7" fmla="*/ 4375902 w 4423977"/>
              <a:gd name="connsiteY7" fmla="*/ 2248839 h 2296914"/>
              <a:gd name="connsiteX8" fmla="*/ 4259840 w 4423977"/>
              <a:gd name="connsiteY8" fmla="*/ 2296914 h 2296914"/>
              <a:gd name="connsiteX9" fmla="*/ 164137 w 4423977"/>
              <a:gd name="connsiteY9" fmla="*/ 2296914 h 2296914"/>
              <a:gd name="connsiteX10" fmla="*/ 48075 w 4423977"/>
              <a:gd name="connsiteY10" fmla="*/ 2248839 h 2296914"/>
              <a:gd name="connsiteX11" fmla="*/ 0 w 4423977"/>
              <a:gd name="connsiteY11" fmla="*/ 2132777 h 2296914"/>
              <a:gd name="connsiteX12" fmla="*/ 0 w 4423977"/>
              <a:gd name="connsiteY12" fmla="*/ 164137 h 2296914"/>
              <a:gd name="connsiteX0" fmla="*/ 0 w 4969813"/>
              <a:gd name="connsiteY0" fmla="*/ 164137 h 2488240"/>
              <a:gd name="connsiteX1" fmla="*/ 48075 w 4969813"/>
              <a:gd name="connsiteY1" fmla="*/ 48075 h 2488240"/>
              <a:gd name="connsiteX2" fmla="*/ 164138 w 4969813"/>
              <a:gd name="connsiteY2" fmla="*/ 1 h 2488240"/>
              <a:gd name="connsiteX3" fmla="*/ 4259840 w 4969813"/>
              <a:gd name="connsiteY3" fmla="*/ 0 h 2488240"/>
              <a:gd name="connsiteX4" fmla="*/ 4375902 w 4969813"/>
              <a:gd name="connsiteY4" fmla="*/ 48075 h 2488240"/>
              <a:gd name="connsiteX5" fmla="*/ 4423976 w 4969813"/>
              <a:gd name="connsiteY5" fmla="*/ 164138 h 2488240"/>
              <a:gd name="connsiteX6" fmla="*/ 4423977 w 4969813"/>
              <a:gd name="connsiteY6" fmla="*/ 2132777 h 2488240"/>
              <a:gd name="connsiteX7" fmla="*/ 4259840 w 4969813"/>
              <a:gd name="connsiteY7" fmla="*/ 2296914 h 2488240"/>
              <a:gd name="connsiteX8" fmla="*/ 164137 w 4969813"/>
              <a:gd name="connsiteY8" fmla="*/ 2296914 h 2488240"/>
              <a:gd name="connsiteX9" fmla="*/ 48075 w 4969813"/>
              <a:gd name="connsiteY9" fmla="*/ 2248839 h 2488240"/>
              <a:gd name="connsiteX10" fmla="*/ 0 w 4969813"/>
              <a:gd name="connsiteY10" fmla="*/ 2132777 h 2488240"/>
              <a:gd name="connsiteX11" fmla="*/ 0 w 4969813"/>
              <a:gd name="connsiteY11" fmla="*/ 164137 h 2488240"/>
              <a:gd name="connsiteX0" fmla="*/ 0 w 4969813"/>
              <a:gd name="connsiteY0" fmla="*/ 164137 h 2296914"/>
              <a:gd name="connsiteX1" fmla="*/ 48075 w 4969813"/>
              <a:gd name="connsiteY1" fmla="*/ 48075 h 2296914"/>
              <a:gd name="connsiteX2" fmla="*/ 164138 w 4969813"/>
              <a:gd name="connsiteY2" fmla="*/ 1 h 2296914"/>
              <a:gd name="connsiteX3" fmla="*/ 4259840 w 4969813"/>
              <a:gd name="connsiteY3" fmla="*/ 0 h 2296914"/>
              <a:gd name="connsiteX4" fmla="*/ 4375902 w 4969813"/>
              <a:gd name="connsiteY4" fmla="*/ 48075 h 2296914"/>
              <a:gd name="connsiteX5" fmla="*/ 4423976 w 4969813"/>
              <a:gd name="connsiteY5" fmla="*/ 164138 h 2296914"/>
              <a:gd name="connsiteX6" fmla="*/ 4259840 w 4969813"/>
              <a:gd name="connsiteY6" fmla="*/ 2296914 h 2296914"/>
              <a:gd name="connsiteX7" fmla="*/ 164137 w 4969813"/>
              <a:gd name="connsiteY7" fmla="*/ 2296914 h 2296914"/>
              <a:gd name="connsiteX8" fmla="*/ 48075 w 4969813"/>
              <a:gd name="connsiteY8" fmla="*/ 2248839 h 2296914"/>
              <a:gd name="connsiteX9" fmla="*/ 0 w 4969813"/>
              <a:gd name="connsiteY9" fmla="*/ 2132777 h 2296914"/>
              <a:gd name="connsiteX10" fmla="*/ 0 w 4969813"/>
              <a:gd name="connsiteY10" fmla="*/ 164137 h 2296914"/>
              <a:gd name="connsiteX0" fmla="*/ 0 w 4961801"/>
              <a:gd name="connsiteY0" fmla="*/ 498881 h 2631658"/>
              <a:gd name="connsiteX1" fmla="*/ 48075 w 4961801"/>
              <a:gd name="connsiteY1" fmla="*/ 382819 h 2631658"/>
              <a:gd name="connsiteX2" fmla="*/ 164138 w 4961801"/>
              <a:gd name="connsiteY2" fmla="*/ 334745 h 2631658"/>
              <a:gd name="connsiteX3" fmla="*/ 4259840 w 4961801"/>
              <a:gd name="connsiteY3" fmla="*/ 334744 h 2631658"/>
              <a:gd name="connsiteX4" fmla="*/ 4375902 w 4961801"/>
              <a:gd name="connsiteY4" fmla="*/ 382819 h 2631658"/>
              <a:gd name="connsiteX5" fmla="*/ 4259840 w 4961801"/>
              <a:gd name="connsiteY5" fmla="*/ 2631658 h 2631658"/>
              <a:gd name="connsiteX6" fmla="*/ 164137 w 4961801"/>
              <a:gd name="connsiteY6" fmla="*/ 2631658 h 2631658"/>
              <a:gd name="connsiteX7" fmla="*/ 48075 w 4961801"/>
              <a:gd name="connsiteY7" fmla="*/ 2583583 h 2631658"/>
              <a:gd name="connsiteX8" fmla="*/ 0 w 4961801"/>
              <a:gd name="connsiteY8" fmla="*/ 2467521 h 2631658"/>
              <a:gd name="connsiteX9" fmla="*/ 0 w 4961801"/>
              <a:gd name="connsiteY9" fmla="*/ 498881 h 2631658"/>
              <a:gd name="connsiteX0" fmla="*/ 0 w 4942457"/>
              <a:gd name="connsiteY0" fmla="*/ 164137 h 2296914"/>
              <a:gd name="connsiteX1" fmla="*/ 48075 w 4942457"/>
              <a:gd name="connsiteY1" fmla="*/ 48075 h 2296914"/>
              <a:gd name="connsiteX2" fmla="*/ 164138 w 4942457"/>
              <a:gd name="connsiteY2" fmla="*/ 1 h 2296914"/>
              <a:gd name="connsiteX3" fmla="*/ 4259840 w 4942457"/>
              <a:gd name="connsiteY3" fmla="*/ 0 h 2296914"/>
              <a:gd name="connsiteX4" fmla="*/ 4259840 w 4942457"/>
              <a:gd name="connsiteY4" fmla="*/ 2296914 h 2296914"/>
              <a:gd name="connsiteX5" fmla="*/ 164137 w 4942457"/>
              <a:gd name="connsiteY5" fmla="*/ 2296914 h 2296914"/>
              <a:gd name="connsiteX6" fmla="*/ 48075 w 4942457"/>
              <a:gd name="connsiteY6" fmla="*/ 2248839 h 2296914"/>
              <a:gd name="connsiteX7" fmla="*/ 0 w 4942457"/>
              <a:gd name="connsiteY7" fmla="*/ 2132777 h 2296914"/>
              <a:gd name="connsiteX8" fmla="*/ 0 w 4942457"/>
              <a:gd name="connsiteY8" fmla="*/ 164137 h 2296914"/>
              <a:gd name="connsiteX0" fmla="*/ 4259840 w 4942457"/>
              <a:gd name="connsiteY0" fmla="*/ 0 h 2296914"/>
              <a:gd name="connsiteX1" fmla="*/ 4259840 w 4942457"/>
              <a:gd name="connsiteY1" fmla="*/ 2296914 h 2296914"/>
              <a:gd name="connsiteX2" fmla="*/ 164137 w 4942457"/>
              <a:gd name="connsiteY2" fmla="*/ 2296914 h 2296914"/>
              <a:gd name="connsiteX3" fmla="*/ 48075 w 4942457"/>
              <a:gd name="connsiteY3" fmla="*/ 2248839 h 2296914"/>
              <a:gd name="connsiteX4" fmla="*/ 0 w 4942457"/>
              <a:gd name="connsiteY4" fmla="*/ 2132777 h 2296914"/>
              <a:gd name="connsiteX5" fmla="*/ 0 w 4942457"/>
              <a:gd name="connsiteY5" fmla="*/ 164137 h 2296914"/>
              <a:gd name="connsiteX6" fmla="*/ 48075 w 4942457"/>
              <a:gd name="connsiteY6" fmla="*/ 48075 h 2296914"/>
              <a:gd name="connsiteX7" fmla="*/ 164138 w 4942457"/>
              <a:gd name="connsiteY7" fmla="*/ 1 h 2296914"/>
              <a:gd name="connsiteX8" fmla="*/ 4351280 w 4942457"/>
              <a:gd name="connsiteY8" fmla="*/ 91440 h 2296914"/>
              <a:gd name="connsiteX0" fmla="*/ 4259840 w 4351280"/>
              <a:gd name="connsiteY0" fmla="*/ 2296914 h 2296914"/>
              <a:gd name="connsiteX1" fmla="*/ 164137 w 4351280"/>
              <a:gd name="connsiteY1" fmla="*/ 2296914 h 2296914"/>
              <a:gd name="connsiteX2" fmla="*/ 48075 w 4351280"/>
              <a:gd name="connsiteY2" fmla="*/ 2248839 h 2296914"/>
              <a:gd name="connsiteX3" fmla="*/ 0 w 4351280"/>
              <a:gd name="connsiteY3" fmla="*/ 2132777 h 2296914"/>
              <a:gd name="connsiteX4" fmla="*/ 0 w 4351280"/>
              <a:gd name="connsiteY4" fmla="*/ 164137 h 2296914"/>
              <a:gd name="connsiteX5" fmla="*/ 48075 w 4351280"/>
              <a:gd name="connsiteY5" fmla="*/ 48075 h 2296914"/>
              <a:gd name="connsiteX6" fmla="*/ 164138 w 4351280"/>
              <a:gd name="connsiteY6" fmla="*/ 1 h 2296914"/>
              <a:gd name="connsiteX7" fmla="*/ 4351280 w 4351280"/>
              <a:gd name="connsiteY7" fmla="*/ 91440 h 2296914"/>
              <a:gd name="connsiteX0" fmla="*/ 4259840 w 4330731"/>
              <a:gd name="connsiteY0" fmla="*/ 2297942 h 2297942"/>
              <a:gd name="connsiteX1" fmla="*/ 164137 w 4330731"/>
              <a:gd name="connsiteY1" fmla="*/ 2297942 h 2297942"/>
              <a:gd name="connsiteX2" fmla="*/ 48075 w 4330731"/>
              <a:gd name="connsiteY2" fmla="*/ 2249867 h 2297942"/>
              <a:gd name="connsiteX3" fmla="*/ 0 w 4330731"/>
              <a:gd name="connsiteY3" fmla="*/ 2133805 h 2297942"/>
              <a:gd name="connsiteX4" fmla="*/ 0 w 4330731"/>
              <a:gd name="connsiteY4" fmla="*/ 165165 h 2297942"/>
              <a:gd name="connsiteX5" fmla="*/ 48075 w 4330731"/>
              <a:gd name="connsiteY5" fmla="*/ 49103 h 2297942"/>
              <a:gd name="connsiteX6" fmla="*/ 164138 w 4330731"/>
              <a:gd name="connsiteY6" fmla="*/ 1029 h 2297942"/>
              <a:gd name="connsiteX7" fmla="*/ 4330731 w 4330731"/>
              <a:gd name="connsiteY7" fmla="*/ 0 h 2297942"/>
              <a:gd name="connsiteX0" fmla="*/ 4259840 w 4259840"/>
              <a:gd name="connsiteY0" fmla="*/ 2296914 h 2296914"/>
              <a:gd name="connsiteX1" fmla="*/ 164137 w 4259840"/>
              <a:gd name="connsiteY1" fmla="*/ 2296914 h 2296914"/>
              <a:gd name="connsiteX2" fmla="*/ 48075 w 4259840"/>
              <a:gd name="connsiteY2" fmla="*/ 2248839 h 2296914"/>
              <a:gd name="connsiteX3" fmla="*/ 0 w 4259840"/>
              <a:gd name="connsiteY3" fmla="*/ 2132777 h 2296914"/>
              <a:gd name="connsiteX4" fmla="*/ 0 w 4259840"/>
              <a:gd name="connsiteY4" fmla="*/ 164137 h 2296914"/>
              <a:gd name="connsiteX5" fmla="*/ 48075 w 4259840"/>
              <a:gd name="connsiteY5" fmla="*/ 48075 h 2296914"/>
              <a:gd name="connsiteX6" fmla="*/ 164138 w 4259840"/>
              <a:gd name="connsiteY6" fmla="*/ 1 h 2296914"/>
              <a:gd name="connsiteX0" fmla="*/ 4259840 w 4259840"/>
              <a:gd name="connsiteY0" fmla="*/ 2248839 h 2248839"/>
              <a:gd name="connsiteX1" fmla="*/ 164137 w 4259840"/>
              <a:gd name="connsiteY1" fmla="*/ 2248839 h 2248839"/>
              <a:gd name="connsiteX2" fmla="*/ 48075 w 4259840"/>
              <a:gd name="connsiteY2" fmla="*/ 2200764 h 2248839"/>
              <a:gd name="connsiteX3" fmla="*/ 0 w 4259840"/>
              <a:gd name="connsiteY3" fmla="*/ 2084702 h 2248839"/>
              <a:gd name="connsiteX4" fmla="*/ 0 w 4259840"/>
              <a:gd name="connsiteY4" fmla="*/ 116062 h 2248839"/>
              <a:gd name="connsiteX5" fmla="*/ 48075 w 4259840"/>
              <a:gd name="connsiteY5" fmla="*/ 0 h 2248839"/>
              <a:gd name="connsiteX0" fmla="*/ 4259840 w 4259840"/>
              <a:gd name="connsiteY0" fmla="*/ 2132777 h 2132777"/>
              <a:gd name="connsiteX1" fmla="*/ 164137 w 4259840"/>
              <a:gd name="connsiteY1" fmla="*/ 2132777 h 2132777"/>
              <a:gd name="connsiteX2" fmla="*/ 48075 w 4259840"/>
              <a:gd name="connsiteY2" fmla="*/ 2084702 h 2132777"/>
              <a:gd name="connsiteX3" fmla="*/ 0 w 4259840"/>
              <a:gd name="connsiteY3" fmla="*/ 1968640 h 2132777"/>
              <a:gd name="connsiteX4" fmla="*/ 0 w 4259840"/>
              <a:gd name="connsiteY4" fmla="*/ 0 h 2132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9840" h="2132777">
                <a:moveTo>
                  <a:pt x="4259840" y="2132777"/>
                </a:moveTo>
                <a:lnTo>
                  <a:pt x="164137" y="2132777"/>
                </a:lnTo>
                <a:cubicBezTo>
                  <a:pt x="120605" y="2132777"/>
                  <a:pt x="78856" y="2115484"/>
                  <a:pt x="48075" y="2084702"/>
                </a:cubicBezTo>
                <a:cubicBezTo>
                  <a:pt x="17293" y="2053920"/>
                  <a:pt x="0" y="2012171"/>
                  <a:pt x="0" y="1968640"/>
                </a:cubicBezTo>
                <a:lnTo>
                  <a:pt x="0" y="0"/>
                </a:lnTo>
              </a:path>
            </a:pathLst>
          </a:custGeom>
          <a:noFill/>
          <a:ln w="19050" cap="flat" cmpd="sng" algn="ctr">
            <a:gradFill flip="none" rotWithShape="1">
              <a:gsLst>
                <a:gs pos="0">
                  <a:schemeClr val="accent5"/>
                </a:gs>
                <a:gs pos="100000">
                  <a:schemeClr val="accent5">
                    <a:lumMod val="20000"/>
                    <a:lumOff val="80000"/>
                  </a:schemeClr>
                </a:gs>
              </a:gsLst>
              <a:lin ang="240000" scaled="0"/>
              <a:tileRect/>
            </a:gradFill>
            <a:prstDash val="solid"/>
            <a:round/>
          </a:ln>
          <a:effectLst/>
        </p:spPr>
        <p:txBody>
          <a:bodyPr wrap="square" lIns="306792" tIns="43420" rIns="184075" bIns="122717" rtlCol="0" anchor="b"/>
          <a:lstStyle/>
          <a:p>
            <a:pPr marL="0" marR="0" indent="0" algn="just" defTabSz="888816" rtl="0" eaLnBrk="1" fontAlgn="auto" latinLnBrk="0" hangingPunct="1">
              <a:lnSpc>
                <a:spcPct val="100000"/>
              </a:lnSpc>
              <a:spcBef>
                <a:spcPts val="0"/>
              </a:spcBef>
              <a:spcAft>
                <a:spcPts val="0"/>
              </a:spcAft>
              <a:buClrTx/>
              <a:buSzTx/>
              <a:buFontTx/>
              <a:buNone/>
              <a:tabLst/>
              <a:defRPr/>
            </a:pPr>
            <a:r>
              <a:rPr lang="en-US" sz="1500" b="1" dirty="0">
                <a:solidFill>
                  <a:schemeClr val="bg1"/>
                </a:solidFill>
                <a:latin typeface="Arial"/>
                <a:cs typeface="Arial"/>
              </a:rPr>
              <a:t>About Capgemini</a:t>
            </a:r>
            <a:endParaRPr lang="en-US" sz="900" dirty="0">
              <a:solidFill>
                <a:schemeClr val="bg1"/>
              </a:solidFill>
              <a:latin typeface="Arial" pitchFamily="34" charset="0"/>
              <a:cs typeface="Arial" pitchFamily="34" charset="0"/>
            </a:endParaRPr>
          </a:p>
          <a:p>
            <a:pPr marL="0" indent="0" algn="just"/>
            <a:endParaRPr lang="en-US" sz="900" dirty="0">
              <a:solidFill>
                <a:schemeClr val="bg1"/>
              </a:solidFill>
              <a:latin typeface="Arial" pitchFamily="34" charset="0"/>
              <a:cs typeface="Arial" pitchFamily="34" charset="0"/>
            </a:endParaRPr>
          </a:p>
          <a:p>
            <a:pPr marL="0" indent="0" algn="just"/>
            <a:r>
              <a:rPr lang="en-US" sz="900" dirty="0">
                <a:solidFill>
                  <a:schemeClr val="bg1"/>
                </a:solidFill>
                <a:latin typeface="Arial" pitchFamily="34" charset="0"/>
                <a:cs typeface="Arial" pitchFamily="34" charset="0"/>
              </a:rPr>
              <a:t>With almost 140,000 people in over 40 countries, Capgemini is one of the world's foremost providers of consulting, technology and outsourcing services. The Group reported 2013</a:t>
            </a:r>
            <a:r>
              <a:rPr lang="en-US" sz="900" baseline="0" dirty="0">
                <a:solidFill>
                  <a:schemeClr val="bg1"/>
                </a:solidFill>
                <a:latin typeface="Arial" pitchFamily="34" charset="0"/>
                <a:cs typeface="Arial" pitchFamily="34" charset="0"/>
              </a:rPr>
              <a:t> </a:t>
            </a:r>
            <a:r>
              <a:rPr lang="en-US" sz="900" dirty="0">
                <a:solidFill>
                  <a:schemeClr val="bg1"/>
                </a:solidFill>
                <a:latin typeface="Arial" pitchFamily="34" charset="0"/>
                <a:cs typeface="Arial" pitchFamily="34" charset="0"/>
              </a:rPr>
              <a:t>global revenues of  EUR 10.1 billion.</a:t>
            </a:r>
          </a:p>
          <a:p>
            <a:pPr marL="0" indent="0" algn="just"/>
            <a:r>
              <a:rPr lang="en-US" sz="900" dirty="0">
                <a:solidFill>
                  <a:schemeClr val="bg1"/>
                </a:solidFill>
                <a:latin typeface="Arial" pitchFamily="34" charset="0"/>
                <a:cs typeface="Arial" pitchFamily="34" charset="0"/>
              </a:rPr>
              <a:t>Together with its clients, Capgemini creates and delivers business and technology solutions that fit their needs and drive the results they want. A deeply multicultural organization, Capgemini has developed its own way of working, the Collaborative Business Experience</a:t>
            </a:r>
            <a:r>
              <a:rPr lang="en-US" sz="900" baseline="30000" dirty="0">
                <a:solidFill>
                  <a:schemeClr val="bg1"/>
                </a:solidFill>
                <a:latin typeface="Arial" pitchFamily="34" charset="0"/>
                <a:cs typeface="Arial" pitchFamily="34" charset="0"/>
              </a:rPr>
              <a:t>TM</a:t>
            </a:r>
            <a:r>
              <a:rPr lang="en-US" sz="900" dirty="0">
                <a:solidFill>
                  <a:schemeClr val="bg1"/>
                </a:solidFill>
                <a:latin typeface="Arial" pitchFamily="34" charset="0"/>
                <a:cs typeface="Arial" pitchFamily="34" charset="0"/>
              </a:rPr>
              <a:t>, and draws on Rightshore</a:t>
            </a:r>
            <a:r>
              <a:rPr lang="en-US" sz="900" b="1" baseline="30000" dirty="0">
                <a:solidFill>
                  <a:schemeClr val="bg1"/>
                </a:solidFill>
                <a:latin typeface="Arial" pitchFamily="34" charset="0"/>
                <a:cs typeface="Arial" pitchFamily="34" charset="0"/>
              </a:rPr>
              <a:t> ®</a:t>
            </a:r>
            <a:r>
              <a:rPr lang="en-US" sz="900" dirty="0">
                <a:solidFill>
                  <a:schemeClr val="bg1"/>
                </a:solidFill>
                <a:latin typeface="Arial" pitchFamily="34" charset="0"/>
                <a:cs typeface="Arial" pitchFamily="34" charset="0"/>
              </a:rPr>
              <a:t>, its worldwide delivery model.</a:t>
            </a:r>
          </a:p>
        </p:txBody>
      </p:sp>
      <p:pic>
        <p:nvPicPr>
          <p:cNvPr id="11" name="Image 10" descr="ppt_Label_CBE.png"/>
          <p:cNvPicPr>
            <a:picLocks noChangeAspect="1"/>
          </p:cNvPicPr>
          <p:nvPr userDrawn="1"/>
        </p:nvPicPr>
        <p:blipFill>
          <a:blip r:embed="rId8" cstate="email"/>
          <a:stretch>
            <a:fillRect/>
          </a:stretch>
        </p:blipFill>
        <p:spPr>
          <a:xfrm>
            <a:off x="751798" y="2594015"/>
            <a:ext cx="531692" cy="432000"/>
          </a:xfrm>
          <a:prstGeom prst="rect">
            <a:avLst/>
          </a:prstGeom>
        </p:spPr>
      </p:pic>
      <p:pic>
        <p:nvPicPr>
          <p:cNvPr id="8" name="Image 7" descr="Locations_Map_2014.png"/>
          <p:cNvPicPr>
            <a:picLocks noChangeAspect="1"/>
          </p:cNvPicPr>
          <p:nvPr userDrawn="1"/>
        </p:nvPicPr>
        <p:blipFill>
          <a:blip r:embed="rId9" cstate="print"/>
          <a:stretch>
            <a:fillRect/>
          </a:stretch>
        </p:blipFill>
        <p:spPr>
          <a:xfrm>
            <a:off x="5042446" y="2532039"/>
            <a:ext cx="3595355" cy="1404000"/>
          </a:xfrm>
          <a:prstGeom prst="rect">
            <a:avLst/>
          </a:prstGeom>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losing 3">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0" y="0"/>
          <a:ext cx="146538" cy="119063"/>
        </p:xfrm>
        <a:graphic>
          <a:graphicData uri="http://schemas.openxmlformats.org/presentationml/2006/ole">
            <mc:AlternateContent xmlns:mc="http://schemas.openxmlformats.org/markup-compatibility/2006">
              <mc:Choice xmlns:v="urn:schemas-microsoft-com:vml" Requires="v">
                <p:oleObj spid="_x0000_s70714" name="think-cell Slide" r:id="rId5" imgW="360" imgH="360" progId="">
                  <p:embed/>
                </p:oleObj>
              </mc:Choice>
              <mc:Fallback>
                <p:oleObj name="think-cell Slide" r:id="rId5" imgW="360" imgH="360" progId="">
                  <p:embed/>
                  <p:pic>
                    <p:nvPicPr>
                      <p:cNvPr id="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46538"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tangle 3"/>
          <p:cNvSpPr/>
          <p:nvPr userDrawn="1">
            <p:custDataLst>
              <p:tags r:id="rId3"/>
            </p:custDataLst>
          </p:nvPr>
        </p:nvSpPr>
        <p:spPr>
          <a:xfrm>
            <a:off x="4527501" y="4785622"/>
            <a:ext cx="4045000" cy="210785"/>
          </a:xfrm>
          <a:prstGeom prst="rect">
            <a:avLst/>
          </a:prstGeom>
        </p:spPr>
        <p:txBody>
          <a:bodyPr wrap="square" lIns="28173" tIns="28173" rIns="0" bIns="28173" anchor="b" anchorCtr="0">
            <a:spAutoFit/>
          </a:bodyPr>
          <a:lstStyle/>
          <a:p>
            <a:pPr algn="r"/>
            <a:r>
              <a:rPr lang="en-US" sz="500" b="0" dirty="0">
                <a:solidFill>
                  <a:schemeClr val="bg1"/>
                </a:solidFill>
                <a:latin typeface="Arial" pitchFamily="34" charset="0"/>
                <a:cs typeface="Arial" pitchFamily="34" charset="0"/>
              </a:rPr>
              <a:t>The information contained in this presentation is proprietary.</a:t>
            </a:r>
          </a:p>
          <a:p>
            <a:pPr marL="0" marR="0" indent="0" algn="r" defTabSz="816200" rtl="0" eaLnBrk="1" fontAlgn="auto" latinLnBrk="0" hangingPunct="1">
              <a:lnSpc>
                <a:spcPct val="100000"/>
              </a:lnSpc>
              <a:spcBef>
                <a:spcPts val="0"/>
              </a:spcBef>
              <a:spcAft>
                <a:spcPts val="0"/>
              </a:spcAft>
              <a:buClrTx/>
              <a:buSzTx/>
              <a:buFontTx/>
              <a:buNone/>
              <a:tabLst/>
              <a:defRPr/>
            </a:pPr>
            <a:r>
              <a:rPr lang="en-US" sz="500" b="0" dirty="0">
                <a:solidFill>
                  <a:schemeClr val="bg1"/>
                </a:solidFill>
                <a:latin typeface="Arial" pitchFamily="34" charset="0"/>
                <a:cs typeface="Arial" pitchFamily="34" charset="0"/>
              </a:rPr>
              <a:t>© 2014 Capgemini. All rights reserved.</a:t>
            </a:r>
            <a:r>
              <a:rPr lang="en-US" sz="500" b="0" baseline="0" dirty="0">
                <a:solidFill>
                  <a:schemeClr val="bg1"/>
                </a:solidFill>
                <a:latin typeface="Arial" pitchFamily="34" charset="0"/>
                <a:cs typeface="Arial" pitchFamily="34" charset="0"/>
              </a:rPr>
              <a:t>.</a:t>
            </a:r>
            <a:endParaRPr lang="en-US" sz="500" b="0" kern="0" noProof="1">
              <a:solidFill>
                <a:schemeClr val="bg1"/>
              </a:solidFill>
              <a:latin typeface="Arial" pitchFamily="34" charset="0"/>
              <a:cs typeface="Arial"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1.xml"/><Relationship Id="rId13" Type="http://schemas.openxmlformats.org/officeDocument/2006/relationships/tags" Target="../tags/tag6.xml"/><Relationship Id="rId3" Type="http://schemas.openxmlformats.org/officeDocument/2006/relationships/slideLayout" Target="../slideLayouts/slideLayout3.xml"/><Relationship Id="rId7" Type="http://schemas.openxmlformats.org/officeDocument/2006/relationships/vmlDrawing" Target="../drawings/vmlDrawing1.vml"/><Relationship Id="rId12" Type="http://schemas.openxmlformats.org/officeDocument/2006/relationships/tags" Target="../tags/tag5.xml"/><Relationship Id="rId17" Type="http://schemas.openxmlformats.org/officeDocument/2006/relationships/image" Target="../media/image2.jpeg"/><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theme" Target="../theme/theme1.xml"/><Relationship Id="rId11" Type="http://schemas.openxmlformats.org/officeDocument/2006/relationships/tags" Target="../tags/tag4.xml"/><Relationship Id="rId5" Type="http://schemas.openxmlformats.org/officeDocument/2006/relationships/slideLayout" Target="../slideLayouts/slideLayout5.xml"/><Relationship Id="rId15" Type="http://schemas.openxmlformats.org/officeDocument/2006/relationships/oleObject" Target="../embeddings/oleObject1.bin"/><Relationship Id="rId10" Type="http://schemas.openxmlformats.org/officeDocument/2006/relationships/tags" Target="../tags/tag3.xml"/><Relationship Id="rId4" Type="http://schemas.openxmlformats.org/officeDocument/2006/relationships/slideLayout" Target="../slideLayouts/slideLayout4.xml"/><Relationship Id="rId9" Type="http://schemas.openxmlformats.org/officeDocument/2006/relationships/tags" Target="../tags/tag2.xml"/><Relationship Id="rId14" Type="http://schemas.openxmlformats.org/officeDocument/2006/relationships/tags" Target="../tags/tag7.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image" Target="../media/image6.png"/><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image" Target="../media/image6.png"/><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_rels/slideMaster4.xml.rels><?xml version="1.0" encoding="UTF-8" standalone="yes"?>
<Relationships xmlns="http://schemas.openxmlformats.org/package/2006/relationships"><Relationship Id="rId8" Type="http://schemas.openxmlformats.org/officeDocument/2006/relationships/tags" Target="../tags/tag20.xml"/><Relationship Id="rId13" Type="http://schemas.openxmlformats.org/officeDocument/2006/relationships/tags" Target="../tags/tag25.xml"/><Relationship Id="rId18" Type="http://schemas.openxmlformats.org/officeDocument/2006/relationships/image" Target="../media/image8.png"/><Relationship Id="rId26" Type="http://schemas.openxmlformats.org/officeDocument/2006/relationships/image" Target="../media/image12.gif"/><Relationship Id="rId3" Type="http://schemas.openxmlformats.org/officeDocument/2006/relationships/theme" Target="../theme/theme4.xml"/><Relationship Id="rId21" Type="http://schemas.openxmlformats.org/officeDocument/2006/relationships/hyperlink" Target="http://www.twitter.com/capgemini" TargetMode="External"/><Relationship Id="rId7" Type="http://schemas.openxmlformats.org/officeDocument/2006/relationships/tags" Target="../tags/tag19.xml"/><Relationship Id="rId12" Type="http://schemas.openxmlformats.org/officeDocument/2006/relationships/tags" Target="../tags/tag24.xml"/><Relationship Id="rId17" Type="http://schemas.openxmlformats.org/officeDocument/2006/relationships/hyperlink" Target="http://www.facebook.com/Capgemini" TargetMode="External"/><Relationship Id="rId25" Type="http://schemas.openxmlformats.org/officeDocument/2006/relationships/hyperlink" Target="http://www.slideshare.net/capgemini" TargetMode="External"/><Relationship Id="rId2" Type="http://schemas.openxmlformats.org/officeDocument/2006/relationships/slideLayout" Target="../slideLayouts/slideLayout29.xml"/><Relationship Id="rId16" Type="http://schemas.openxmlformats.org/officeDocument/2006/relationships/image" Target="../media/image7.emf"/><Relationship Id="rId20" Type="http://schemas.openxmlformats.org/officeDocument/2006/relationships/image" Target="../media/image9.png"/><Relationship Id="rId1" Type="http://schemas.openxmlformats.org/officeDocument/2006/relationships/slideLayout" Target="../slideLayouts/slideLayout28.xml"/><Relationship Id="rId6" Type="http://schemas.openxmlformats.org/officeDocument/2006/relationships/tags" Target="../tags/tag18.xml"/><Relationship Id="rId11" Type="http://schemas.openxmlformats.org/officeDocument/2006/relationships/tags" Target="../tags/tag23.xml"/><Relationship Id="rId24" Type="http://schemas.openxmlformats.org/officeDocument/2006/relationships/image" Target="../media/image11.png"/><Relationship Id="rId5" Type="http://schemas.openxmlformats.org/officeDocument/2006/relationships/tags" Target="../tags/tag17.xml"/><Relationship Id="rId15" Type="http://schemas.openxmlformats.org/officeDocument/2006/relationships/image" Target="../media/image1.emf"/><Relationship Id="rId23" Type="http://schemas.openxmlformats.org/officeDocument/2006/relationships/hyperlink" Target="http://www.youtube.com/capgemini" TargetMode="External"/><Relationship Id="rId10" Type="http://schemas.openxmlformats.org/officeDocument/2006/relationships/tags" Target="../tags/tag22.xml"/><Relationship Id="rId19" Type="http://schemas.openxmlformats.org/officeDocument/2006/relationships/hyperlink" Target="http://www.linkedin.com/company/capgemini" TargetMode="External"/><Relationship Id="rId4" Type="http://schemas.openxmlformats.org/officeDocument/2006/relationships/vmlDrawing" Target="../drawings/vmlDrawing5.vml"/><Relationship Id="rId9" Type="http://schemas.openxmlformats.org/officeDocument/2006/relationships/tags" Target="../tags/tag21.xml"/><Relationship Id="rId14" Type="http://schemas.openxmlformats.org/officeDocument/2006/relationships/oleObject" Target="../embeddings/oleObject5.bin"/><Relationship Id="rId22" Type="http://schemas.openxmlformats.org/officeDocument/2006/relationships/image" Target="../media/image10.png"/><Relationship Id="rId27" Type="http://schemas.openxmlformats.org/officeDocument/2006/relationships/image" Target="../media/image4.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8"/>
            </p:custDataLst>
          </p:nvPr>
        </p:nvGraphicFramePr>
        <p:xfrm>
          <a:off x="1" y="0"/>
          <a:ext cx="146538" cy="119063"/>
        </p:xfrm>
        <a:graphic>
          <a:graphicData uri="http://schemas.openxmlformats.org/presentationml/2006/ole">
            <mc:AlternateContent xmlns:mc="http://schemas.openxmlformats.org/markup-compatibility/2006">
              <mc:Choice xmlns:v="urn:schemas-microsoft-com:vml" Requires="v">
                <p:oleObj spid="_x0000_s13372" name="think-cell Slide" r:id="rId15" imgW="360" imgH="360" progId="">
                  <p:embed/>
                </p:oleObj>
              </mc:Choice>
              <mc:Fallback>
                <p:oleObj name="think-cell Slide" r:id="rId15" imgW="360" imgH="360" progId="">
                  <p:embed/>
                  <p:pic>
                    <p:nvPicPr>
                      <p:cNvPr id="0" name="Picture 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 y="0"/>
                        <a:ext cx="146538"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Placeholder 1"/>
          <p:cNvSpPr>
            <a:spLocks noGrp="1"/>
          </p:cNvSpPr>
          <p:nvPr>
            <p:ph type="title"/>
            <p:custDataLst>
              <p:tags r:id="rId9"/>
            </p:custDataLst>
          </p:nvPr>
        </p:nvSpPr>
        <p:spPr>
          <a:xfrm>
            <a:off x="2" y="0"/>
            <a:ext cx="9143999" cy="751601"/>
          </a:xfrm>
          <a:prstGeom prst="rect">
            <a:avLst/>
          </a:prstGeom>
        </p:spPr>
        <p:txBody>
          <a:bodyPr vert="horz" lIns="253554" tIns="28173" rIns="140864" bIns="28173" rtlCol="0" anchor="ctr">
            <a:noAutofit/>
          </a:bodyPr>
          <a:lstStyle/>
          <a:p>
            <a:r>
              <a:rPr lang="fr-FR" noProof="0" dirty="0"/>
              <a:t>Cliquez pour modifier le style du titre</a:t>
            </a:r>
            <a:endParaRPr lang="en-US" noProof="0" dirty="0"/>
          </a:p>
        </p:txBody>
      </p:sp>
      <p:sp>
        <p:nvSpPr>
          <p:cNvPr id="3" name="Text Placeholder 2"/>
          <p:cNvSpPr>
            <a:spLocks noGrp="1"/>
          </p:cNvSpPr>
          <p:nvPr>
            <p:ph type="body" idx="1"/>
            <p:custDataLst>
              <p:tags r:id="rId10"/>
            </p:custDataLst>
          </p:nvPr>
        </p:nvSpPr>
        <p:spPr>
          <a:xfrm>
            <a:off x="298517" y="1126483"/>
            <a:ext cx="8712115" cy="3477405"/>
          </a:xfrm>
          <a:prstGeom prst="rect">
            <a:avLst/>
          </a:prstGeom>
        </p:spPr>
        <p:txBody>
          <a:bodyPr vert="horz" lIns="92038" tIns="61358" rIns="61358" bIns="61358" rtlCol="0">
            <a:noAutofit/>
          </a:body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11" name="TextBox 10"/>
          <p:cNvSpPr txBox="1"/>
          <p:nvPr>
            <p:custDataLst>
              <p:tags r:id="rId11"/>
            </p:custDataLst>
          </p:nvPr>
        </p:nvSpPr>
        <p:spPr>
          <a:xfrm>
            <a:off x="8835291" y="4990498"/>
            <a:ext cx="94578" cy="92333"/>
          </a:xfrm>
          <a:prstGeom prst="rect">
            <a:avLst/>
          </a:prstGeom>
          <a:noFill/>
        </p:spPr>
        <p:txBody>
          <a:bodyPr wrap="none" lIns="0" tIns="0" rIns="0" bIns="0" rtlCol="0" anchor="ctr">
            <a:spAutoFit/>
          </a:bodyPr>
          <a:lstStyle/>
          <a:p>
            <a:pPr algn="ctr"/>
            <a:fld id="{6A895693-0027-4F28-9367-92E39A51F51C}" type="slidenum">
              <a:rPr lang="en-US" sz="600" smtClean="0">
                <a:solidFill>
                  <a:schemeClr val="tx2"/>
                </a:solidFill>
              </a:rPr>
              <a:pPr algn="ctr"/>
              <a:t>‹#›</a:t>
            </a:fld>
            <a:endParaRPr lang="en-US" sz="600" dirty="0">
              <a:solidFill>
                <a:schemeClr val="tx2"/>
              </a:solidFill>
            </a:endParaRPr>
          </a:p>
        </p:txBody>
      </p:sp>
      <p:sp>
        <p:nvSpPr>
          <p:cNvPr id="9" name="Freeform 4"/>
          <p:cNvSpPr>
            <a:spLocks/>
          </p:cNvSpPr>
          <p:nvPr>
            <p:custDataLst>
              <p:tags r:id="rId12"/>
            </p:custDataLst>
          </p:nvPr>
        </p:nvSpPr>
        <p:spPr bwMode="auto">
          <a:xfrm>
            <a:off x="3" y="507301"/>
            <a:ext cx="9143999" cy="546092"/>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headEnd/>
            <a:tailEnd/>
          </a:ln>
          <a:effectLst>
            <a:outerShdw blurRad="50800" dist="25400" dir="5400000" algn="t" rotWithShape="0">
              <a:prstClr val="black">
                <a:alpha val="31000"/>
              </a:prstClr>
            </a:outerShdw>
          </a:effectLst>
        </p:spPr>
        <p:txBody>
          <a:bodyPr vert="horz" wrap="square" lIns="84848" tIns="42424" rIns="84848" bIns="42424" numCol="1" anchor="t" anchorCtr="0" compatLnSpc="1">
            <a:prstTxWarp prst="textNoShape">
              <a:avLst/>
            </a:prstTxWarp>
          </a:bodyPr>
          <a:lstStyle/>
          <a:p>
            <a:endParaRPr lang="fr-FR"/>
          </a:p>
        </p:txBody>
      </p:sp>
      <p:sp>
        <p:nvSpPr>
          <p:cNvPr id="12" name="Rectangle 11"/>
          <p:cNvSpPr>
            <a:spLocks noChangeArrowheads="1"/>
          </p:cNvSpPr>
          <p:nvPr>
            <p:custDataLst>
              <p:tags r:id="rId13"/>
            </p:custDataLst>
          </p:nvPr>
        </p:nvSpPr>
        <p:spPr bwMode="auto">
          <a:xfrm>
            <a:off x="6223229" y="4967554"/>
            <a:ext cx="2455979" cy="137627"/>
          </a:xfrm>
          <a:prstGeom prst="rect">
            <a:avLst/>
          </a:prstGeom>
          <a:noFill/>
          <a:ln w="19050">
            <a:noFill/>
            <a:miter lim="800000"/>
            <a:headEnd/>
            <a:tailEnd/>
          </a:ln>
          <a:effectLst/>
        </p:spPr>
        <p:txBody>
          <a:bodyPr wrap="square" lIns="30677" tIns="30677" rIns="30677" bIns="30677" anchor="b" anchorCtr="0">
            <a:noAutofit/>
          </a:bodyPr>
          <a:lstStyle/>
          <a:p>
            <a:pPr marL="0" marR="0" lvl="0" indent="0" algn="r" defTabSz="848318" rtl="0" eaLnBrk="0" fontAlgn="auto" latinLnBrk="0" hangingPunct="0">
              <a:lnSpc>
                <a:spcPct val="90000"/>
              </a:lnSpc>
              <a:spcBef>
                <a:spcPct val="10000"/>
              </a:spcBef>
              <a:spcAft>
                <a:spcPts val="0"/>
              </a:spcAft>
              <a:buClrTx/>
              <a:buSzTx/>
              <a:buFontTx/>
              <a:buNone/>
              <a:tabLst/>
              <a:defRPr/>
            </a:pPr>
            <a:r>
              <a:rPr lang="en-US" altLang="en-US" sz="500" b="0" i="0" noProof="0" dirty="0">
                <a:solidFill>
                  <a:schemeClr val="tx2"/>
                </a:solidFill>
                <a:latin typeface="+mj-lt"/>
                <a:cs typeface="Helvetica Light"/>
              </a:rPr>
              <a:t>Copyright © </a:t>
            </a:r>
            <a:r>
              <a:rPr lang="en-US" altLang="en-US" sz="500" b="0" i="0" noProof="0" dirty="0" err="1">
                <a:solidFill>
                  <a:schemeClr val="tx2"/>
                </a:solidFill>
                <a:latin typeface="+mj-lt"/>
                <a:cs typeface="Helvetica Light"/>
              </a:rPr>
              <a:t>Capgemini</a:t>
            </a:r>
            <a:r>
              <a:rPr lang="en-US" altLang="en-US" sz="500" b="0" i="0" noProof="0" dirty="0">
                <a:solidFill>
                  <a:schemeClr val="tx2"/>
                </a:solidFill>
                <a:latin typeface="+mj-lt"/>
                <a:cs typeface="Helvetica Light"/>
              </a:rPr>
              <a:t> 2016. All Rights Reserved</a:t>
            </a:r>
          </a:p>
        </p:txBody>
      </p:sp>
      <p:cxnSp>
        <p:nvCxnSpPr>
          <p:cNvPr id="15" name="Straight Connector 5"/>
          <p:cNvCxnSpPr/>
          <p:nvPr>
            <p:custDataLst>
              <p:tags r:id="rId14"/>
            </p:custDataLst>
          </p:nvPr>
        </p:nvCxnSpPr>
        <p:spPr>
          <a:xfrm flipH="1">
            <a:off x="3" y="4772025"/>
            <a:ext cx="9143999"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pic>
        <p:nvPicPr>
          <p:cNvPr id="14" name="Image 13" descr="Capgemini_logo.jpg"/>
          <p:cNvPicPr>
            <a:picLocks noChangeAspect="1"/>
          </p:cNvPicPr>
          <p:nvPr/>
        </p:nvPicPr>
        <p:blipFill>
          <a:blip r:embed="rId17" cstate="print"/>
          <a:stretch>
            <a:fillRect/>
          </a:stretch>
        </p:blipFill>
        <p:spPr>
          <a:xfrm>
            <a:off x="270463" y="4829271"/>
            <a:ext cx="1438102" cy="258734"/>
          </a:xfrm>
          <a:prstGeom prst="rect">
            <a:avLst/>
          </a:prstGeom>
          <a:noFill/>
          <a:ln>
            <a:noFill/>
          </a:ln>
        </p:spPr>
      </p:pic>
    </p:spTree>
    <p:extLst>
      <p:ext uri="{BB962C8B-B14F-4D97-AF65-F5344CB8AC3E}">
        <p14:creationId xmlns:p14="http://schemas.microsoft.com/office/powerpoint/2010/main" val="3136052492"/>
      </p:ext>
    </p:extLst>
  </p:cSld>
  <p:clrMap bg1="lt1" tx1="dk1" bg2="lt2" tx2="dk2" accent1="accent1" accent2="accent2" accent3="accent3" accent4="accent4" accent5="accent5" accent6="accent6" hlink="hlink" folHlink="folHlink"/>
  <p:sldLayoutIdLst>
    <p:sldLayoutId id="2147483694" r:id="rId1"/>
    <p:sldLayoutId id="2147483696" r:id="rId2"/>
    <p:sldLayoutId id="2147483698" r:id="rId3"/>
    <p:sldLayoutId id="2147483710" r:id="rId4"/>
    <p:sldLayoutId id="2147483741" r:id="rId5"/>
  </p:sldLayoutIdLst>
  <p:txStyles>
    <p:titleStyle>
      <a:lvl1pPr marL="0" indent="0" algn="l" defTabSz="779202" rtl="0" eaLnBrk="1" latinLnBrk="0" hangingPunct="1">
        <a:lnSpc>
          <a:spcPct val="85000"/>
        </a:lnSpc>
        <a:spcBef>
          <a:spcPct val="0"/>
        </a:spcBef>
        <a:buNone/>
        <a:defRPr sz="2700" b="0" kern="1200">
          <a:solidFill>
            <a:schemeClr val="tx1"/>
          </a:solidFill>
          <a:latin typeface="+mj-lt"/>
          <a:ea typeface="+mj-ea"/>
          <a:cs typeface="+mj-cs"/>
        </a:defRPr>
      </a:lvl1pPr>
    </p:titleStyle>
    <p:bodyStyle>
      <a:lvl1pPr marL="141626" indent="-141626" algn="l" defTabSz="779202" rtl="0" eaLnBrk="1" latinLnBrk="0" hangingPunct="1">
        <a:lnSpc>
          <a:spcPct val="90000"/>
        </a:lnSpc>
        <a:spcBef>
          <a:spcPts val="0"/>
        </a:spcBef>
        <a:spcAft>
          <a:spcPts val="511"/>
        </a:spcAft>
        <a:buClr>
          <a:schemeClr val="accent5"/>
        </a:buClr>
        <a:buFont typeface="Wingdings" pitchFamily="2" charset="2"/>
        <a:buChar char="§"/>
        <a:defRPr sz="1900" b="0" kern="1200">
          <a:solidFill>
            <a:schemeClr val="bg2">
              <a:lumMod val="50000"/>
            </a:schemeClr>
          </a:solidFill>
          <a:latin typeface="+mn-lt"/>
          <a:ea typeface="+mn-ea"/>
          <a:cs typeface="+mn-cs"/>
        </a:defRPr>
      </a:lvl1pPr>
      <a:lvl2pPr marL="303042" indent="-154227" algn="l" defTabSz="779202" rtl="0" eaLnBrk="1" latinLnBrk="0" hangingPunct="1">
        <a:lnSpc>
          <a:spcPct val="90000"/>
        </a:lnSpc>
        <a:spcBef>
          <a:spcPts val="0"/>
        </a:spcBef>
        <a:spcAft>
          <a:spcPts val="511"/>
        </a:spcAft>
        <a:buClr>
          <a:schemeClr val="accent3"/>
        </a:buClr>
        <a:buFont typeface="Wingdings" pitchFamily="2" charset="2"/>
        <a:buChar char="§"/>
        <a:defRPr sz="1500" kern="1200">
          <a:solidFill>
            <a:schemeClr val="bg2">
              <a:lumMod val="50000"/>
            </a:schemeClr>
          </a:solidFill>
          <a:latin typeface="+mn-lt"/>
          <a:ea typeface="+mn-ea"/>
          <a:cs typeface="+mn-cs"/>
        </a:defRPr>
      </a:lvl2pPr>
      <a:lvl3pPr marL="457269" indent="-140698" algn="l" defTabSz="779202" rtl="0" eaLnBrk="1" latinLnBrk="0" hangingPunct="1">
        <a:lnSpc>
          <a:spcPct val="90000"/>
        </a:lnSpc>
        <a:spcBef>
          <a:spcPts val="0"/>
        </a:spcBef>
        <a:spcAft>
          <a:spcPts val="511"/>
        </a:spcAft>
        <a:buClr>
          <a:schemeClr val="accent2"/>
        </a:buClr>
        <a:buFont typeface="Arial" pitchFamily="34" charset="0"/>
        <a:buChar char="•"/>
        <a:tabLst/>
        <a:defRPr sz="1400" kern="1200">
          <a:solidFill>
            <a:schemeClr val="bg2">
              <a:lumMod val="50000"/>
            </a:schemeClr>
          </a:solidFill>
          <a:latin typeface="+mn-lt"/>
          <a:ea typeface="+mn-ea"/>
          <a:cs typeface="+mn-cs"/>
        </a:defRPr>
      </a:lvl3pPr>
      <a:lvl4pPr marL="606085" indent="-140698" algn="l" defTabSz="779202" rtl="0" eaLnBrk="1" latinLnBrk="0" hangingPunct="1">
        <a:lnSpc>
          <a:spcPct val="90000"/>
        </a:lnSpc>
        <a:spcBef>
          <a:spcPts val="0"/>
        </a:spcBef>
        <a:spcAft>
          <a:spcPts val="511"/>
        </a:spcAft>
        <a:buClr>
          <a:schemeClr val="bg2"/>
        </a:buClr>
        <a:buFont typeface="Arial" pitchFamily="34" charset="0"/>
        <a:buChar char="–"/>
        <a:tabLst/>
        <a:defRPr sz="1200" kern="1200">
          <a:solidFill>
            <a:schemeClr val="bg2">
              <a:lumMod val="50000"/>
            </a:schemeClr>
          </a:solidFill>
          <a:latin typeface="+mn-lt"/>
          <a:ea typeface="+mn-ea"/>
          <a:cs typeface="+mn-cs"/>
        </a:defRPr>
      </a:lvl4pPr>
      <a:lvl5pPr marL="1371722" indent="-165040" algn="l" defTabSz="779202" rtl="0" eaLnBrk="1" latinLnBrk="0" hangingPunct="1">
        <a:spcBef>
          <a:spcPts val="0"/>
        </a:spcBef>
        <a:buClr>
          <a:srgbClr val="B1B1B1"/>
        </a:buClr>
        <a:buFont typeface="Arial" pitchFamily="34" charset="0"/>
        <a:buChar char="–"/>
        <a:defRPr sz="1400" kern="1200">
          <a:solidFill>
            <a:srgbClr val="494949"/>
          </a:solidFill>
          <a:latin typeface="+mn-lt"/>
          <a:ea typeface="+mn-ea"/>
          <a:cs typeface="+mn-cs"/>
        </a:defRPr>
      </a:lvl5pPr>
      <a:lvl6pPr marL="2142807" indent="-194801" algn="l" defTabSz="779202" rtl="0" eaLnBrk="1" latinLnBrk="0" hangingPunct="1">
        <a:spcBef>
          <a:spcPct val="20000"/>
        </a:spcBef>
        <a:buFont typeface="Arial" pitchFamily="34" charset="0"/>
        <a:buChar char="•"/>
        <a:defRPr sz="1700" kern="1200">
          <a:solidFill>
            <a:schemeClr val="tx1"/>
          </a:solidFill>
          <a:latin typeface="+mn-lt"/>
          <a:ea typeface="+mn-ea"/>
          <a:cs typeface="+mn-cs"/>
        </a:defRPr>
      </a:lvl6pPr>
      <a:lvl7pPr marL="2532408" indent="-194801" algn="l" defTabSz="779202" rtl="0" eaLnBrk="1" latinLnBrk="0" hangingPunct="1">
        <a:spcBef>
          <a:spcPct val="20000"/>
        </a:spcBef>
        <a:buFont typeface="Arial" pitchFamily="34" charset="0"/>
        <a:buChar char="•"/>
        <a:defRPr sz="1700" kern="1200">
          <a:solidFill>
            <a:schemeClr val="tx1"/>
          </a:solidFill>
          <a:latin typeface="+mn-lt"/>
          <a:ea typeface="+mn-ea"/>
          <a:cs typeface="+mn-cs"/>
        </a:defRPr>
      </a:lvl7pPr>
      <a:lvl8pPr marL="2922009" indent="-194801" algn="l" defTabSz="779202" rtl="0" eaLnBrk="1" latinLnBrk="0" hangingPunct="1">
        <a:spcBef>
          <a:spcPct val="20000"/>
        </a:spcBef>
        <a:buFont typeface="Arial" pitchFamily="34" charset="0"/>
        <a:buChar char="•"/>
        <a:defRPr sz="1700" kern="1200">
          <a:solidFill>
            <a:schemeClr val="tx1"/>
          </a:solidFill>
          <a:latin typeface="+mn-lt"/>
          <a:ea typeface="+mn-ea"/>
          <a:cs typeface="+mn-cs"/>
        </a:defRPr>
      </a:lvl8pPr>
      <a:lvl9pPr marL="3311610" indent="-194801" algn="l" defTabSz="779202" rtl="0" eaLnBrk="1" latinLnBrk="0" hangingPunct="1">
        <a:spcBef>
          <a:spcPct val="20000"/>
        </a:spcBef>
        <a:buFont typeface="Arial" pitchFamily="34" charset="0"/>
        <a:buChar char="•"/>
        <a:defRPr sz="1700" kern="1200">
          <a:solidFill>
            <a:schemeClr val="tx1"/>
          </a:solidFill>
          <a:latin typeface="+mn-lt"/>
          <a:ea typeface="+mn-ea"/>
          <a:cs typeface="+mn-cs"/>
        </a:defRPr>
      </a:lvl9pPr>
    </p:bodyStyle>
    <p:otherStyle>
      <a:defPPr>
        <a:defRPr lang="fr-FR"/>
      </a:defPPr>
      <a:lvl1pPr marL="0" algn="l" defTabSz="779202" rtl="0" eaLnBrk="1" latinLnBrk="0" hangingPunct="1">
        <a:defRPr sz="1500" kern="1200">
          <a:solidFill>
            <a:schemeClr val="tx1"/>
          </a:solidFill>
          <a:latin typeface="+mn-lt"/>
          <a:ea typeface="+mn-ea"/>
          <a:cs typeface="+mn-cs"/>
        </a:defRPr>
      </a:lvl1pPr>
      <a:lvl2pPr marL="389601" algn="l" defTabSz="779202" rtl="0" eaLnBrk="1" latinLnBrk="0" hangingPunct="1">
        <a:defRPr sz="1500" kern="1200">
          <a:solidFill>
            <a:schemeClr val="tx1"/>
          </a:solidFill>
          <a:latin typeface="+mn-lt"/>
          <a:ea typeface="+mn-ea"/>
          <a:cs typeface="+mn-cs"/>
        </a:defRPr>
      </a:lvl2pPr>
      <a:lvl3pPr marL="779202" algn="l" defTabSz="779202" rtl="0" eaLnBrk="1" latinLnBrk="0" hangingPunct="1">
        <a:defRPr sz="1500" kern="1200">
          <a:solidFill>
            <a:schemeClr val="tx1"/>
          </a:solidFill>
          <a:latin typeface="+mn-lt"/>
          <a:ea typeface="+mn-ea"/>
          <a:cs typeface="+mn-cs"/>
        </a:defRPr>
      </a:lvl3pPr>
      <a:lvl4pPr marL="1168803" algn="l" defTabSz="779202" rtl="0" eaLnBrk="1" latinLnBrk="0" hangingPunct="1">
        <a:defRPr sz="1500" kern="1200">
          <a:solidFill>
            <a:schemeClr val="tx1"/>
          </a:solidFill>
          <a:latin typeface="+mn-lt"/>
          <a:ea typeface="+mn-ea"/>
          <a:cs typeface="+mn-cs"/>
        </a:defRPr>
      </a:lvl4pPr>
      <a:lvl5pPr marL="1558405" algn="l" defTabSz="779202" rtl="0" eaLnBrk="1" latinLnBrk="0" hangingPunct="1">
        <a:defRPr sz="1500" kern="1200">
          <a:solidFill>
            <a:schemeClr val="tx1"/>
          </a:solidFill>
          <a:latin typeface="+mn-lt"/>
          <a:ea typeface="+mn-ea"/>
          <a:cs typeface="+mn-cs"/>
        </a:defRPr>
      </a:lvl5pPr>
      <a:lvl6pPr marL="1948006" algn="l" defTabSz="779202" rtl="0" eaLnBrk="1" latinLnBrk="0" hangingPunct="1">
        <a:defRPr sz="1500" kern="1200">
          <a:solidFill>
            <a:schemeClr val="tx1"/>
          </a:solidFill>
          <a:latin typeface="+mn-lt"/>
          <a:ea typeface="+mn-ea"/>
          <a:cs typeface="+mn-cs"/>
        </a:defRPr>
      </a:lvl6pPr>
      <a:lvl7pPr marL="2337607" algn="l" defTabSz="779202" rtl="0" eaLnBrk="1" latinLnBrk="0" hangingPunct="1">
        <a:defRPr sz="1500" kern="1200">
          <a:solidFill>
            <a:schemeClr val="tx1"/>
          </a:solidFill>
          <a:latin typeface="+mn-lt"/>
          <a:ea typeface="+mn-ea"/>
          <a:cs typeface="+mn-cs"/>
        </a:defRPr>
      </a:lvl7pPr>
      <a:lvl8pPr marL="2727209" algn="l" defTabSz="779202" rtl="0" eaLnBrk="1" latinLnBrk="0" hangingPunct="1">
        <a:defRPr sz="1500" kern="1200">
          <a:solidFill>
            <a:schemeClr val="tx1"/>
          </a:solidFill>
          <a:latin typeface="+mn-lt"/>
          <a:ea typeface="+mn-ea"/>
          <a:cs typeface="+mn-cs"/>
        </a:defRPr>
      </a:lvl8pPr>
      <a:lvl9pPr marL="3116810" algn="l" defTabSz="779202" rtl="0" eaLnBrk="1" latinLnBrk="0" hangingPunct="1">
        <a:defRPr sz="15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5949"/>
            <a:ext cx="8229600" cy="59412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sp>
        <p:nvSpPr>
          <p:cNvPr id="7" name="Rectangle 20"/>
          <p:cNvSpPr txBox="1">
            <a:spLocks noChangeArrowheads="1"/>
          </p:cNvSpPr>
          <p:nvPr/>
        </p:nvSpPr>
        <p:spPr>
          <a:xfrm>
            <a:off x="285720" y="4948186"/>
            <a:ext cx="1219200" cy="171450"/>
          </a:xfrm>
          <a:prstGeom prst="rect">
            <a:avLst/>
          </a:prstGeom>
          <a:noFill/>
        </p:spPr>
        <p:txBody>
          <a:bodyPr/>
          <a:lstStyle/>
          <a:p>
            <a:pPr marL="0" algn="l" defTabSz="914400" rtl="0" eaLnBrk="1" latinLnBrk="0" hangingPunct="1">
              <a:defRPr/>
            </a:pPr>
            <a:fld id="{634B1AA2-1421-4123-B46B-C773544C4A12}" type="datetime4">
              <a:rPr lang="en-US" sz="800" kern="1200">
                <a:solidFill>
                  <a:schemeClr val="bg1">
                    <a:lumMod val="50000"/>
                  </a:schemeClr>
                </a:solidFill>
                <a:latin typeface="Candara" panose="020E0502030303020204" pitchFamily="34" charset="0"/>
                <a:ea typeface="+mn-ea"/>
                <a:cs typeface="+mn-cs"/>
              </a:rPr>
              <a:pPr marL="0" algn="l" defTabSz="914400" rtl="0" eaLnBrk="1" latinLnBrk="0" hangingPunct="1">
                <a:defRPr/>
              </a:pPr>
              <a:t>November 20, 2019</a:t>
            </a:fld>
            <a:endParaRPr lang="en-US" sz="800" kern="1200" dirty="0">
              <a:solidFill>
                <a:schemeClr val="bg1">
                  <a:lumMod val="50000"/>
                </a:schemeClr>
              </a:solidFill>
              <a:latin typeface="Candara" panose="020E0502030303020204" pitchFamily="34" charset="0"/>
              <a:ea typeface="+mn-ea"/>
              <a:cs typeface="+mn-cs"/>
            </a:endParaRPr>
          </a:p>
        </p:txBody>
      </p:sp>
      <p:sp>
        <p:nvSpPr>
          <p:cNvPr id="8" name="Text Box 9"/>
          <p:cNvSpPr txBox="1">
            <a:spLocks noChangeArrowheads="1"/>
          </p:cNvSpPr>
          <p:nvPr/>
        </p:nvSpPr>
        <p:spPr bwMode="auto">
          <a:xfrm>
            <a:off x="1271234" y="4948186"/>
            <a:ext cx="1431802" cy="215444"/>
          </a:xfrm>
          <a:prstGeom prst="rect">
            <a:avLst/>
          </a:prstGeom>
          <a:noFill/>
          <a:ln w="9525">
            <a:noFill/>
            <a:miter lim="800000"/>
            <a:headEnd/>
            <a:tailEnd/>
          </a:ln>
        </p:spPr>
        <p:txBody>
          <a:bodyPr wrap="none">
            <a:spAutoFit/>
          </a:bodyPr>
          <a:lstStyle/>
          <a:p>
            <a:pPr marL="0" algn="l" defTabSz="914400" rtl="0" eaLnBrk="1" latinLnBrk="0" hangingPunct="1">
              <a:defRPr/>
            </a:pPr>
            <a:r>
              <a:rPr lang="en-US" altLang="ja-JP" sz="800" kern="1200" dirty="0">
                <a:solidFill>
                  <a:schemeClr val="bg1">
                    <a:lumMod val="50000"/>
                  </a:schemeClr>
                </a:solidFill>
                <a:latin typeface="Candara" panose="020E0502030303020204" pitchFamily="34" charset="0"/>
                <a:ea typeface="+mn-ea"/>
                <a:cs typeface="+mn-cs"/>
              </a:rPr>
              <a:t>Proprietary and Confidential </a:t>
            </a:r>
          </a:p>
        </p:txBody>
      </p:sp>
      <p:sp>
        <p:nvSpPr>
          <p:cNvPr id="9" name="Text Box 5"/>
          <p:cNvSpPr txBox="1">
            <a:spLocks noChangeArrowheads="1"/>
          </p:cNvSpPr>
          <p:nvPr/>
        </p:nvSpPr>
        <p:spPr bwMode="gray">
          <a:xfrm>
            <a:off x="2750256" y="4939152"/>
            <a:ext cx="237244" cy="138499"/>
          </a:xfrm>
          <a:prstGeom prst="rect">
            <a:avLst/>
          </a:prstGeom>
          <a:noFill/>
          <a:ln w="12700">
            <a:noFill/>
            <a:miter lim="800000"/>
            <a:headEnd/>
            <a:tailEnd/>
          </a:ln>
          <a:effectLst>
            <a:prstShdw prst="shdw17" dist="17961" dir="2700000">
              <a:srgbClr val="DDDDDD">
                <a:gamma/>
                <a:shade val="60000"/>
                <a:invGamma/>
              </a:srgbClr>
            </a:prstShdw>
          </a:effectLst>
        </p:spPr>
        <p:txBody>
          <a:bodyPr wrap="none" lIns="0" tIns="0" rIns="0" bIns="0" anchor="b" anchorCtr="1">
            <a:spAutoFit/>
          </a:bodyPr>
          <a:lstStyle/>
          <a:p>
            <a:pPr algn="ctr" eaLnBrk="0" hangingPunct="0">
              <a:buClr>
                <a:srgbClr val="000000"/>
              </a:buClr>
              <a:buSzPct val="65000"/>
              <a:buFont typeface="Wingdings" pitchFamily="2" charset="2"/>
              <a:buNone/>
              <a:defRPr/>
            </a:pPr>
            <a:r>
              <a:rPr lang="en-US" sz="800" dirty="0">
                <a:solidFill>
                  <a:schemeClr val="tx2"/>
                </a:solidFill>
                <a:latin typeface="Arial" pitchFamily="34" charset="0"/>
                <a:ea typeface="ＭＳ Ｐゴシック"/>
                <a:cs typeface="Arial" pitchFamily="34" charset="0"/>
              </a:rPr>
              <a:t>- </a:t>
            </a:r>
            <a:fld id="{F47D9766-21FB-48EB-955B-1DFC7B4C9F61}" type="slidenum">
              <a:rPr lang="en-US" sz="900" kern="1200">
                <a:solidFill>
                  <a:schemeClr val="bg1">
                    <a:lumMod val="50000"/>
                  </a:schemeClr>
                </a:solidFill>
                <a:latin typeface="Candara" panose="020E0502030303020204" pitchFamily="34" charset="0"/>
                <a:ea typeface="+mn-ea"/>
                <a:cs typeface="+mn-cs"/>
              </a:rPr>
              <a:pPr algn="ctr" eaLnBrk="0" hangingPunct="0">
                <a:buClr>
                  <a:srgbClr val="000000"/>
                </a:buClr>
                <a:buSzPct val="65000"/>
                <a:buFont typeface="Wingdings" pitchFamily="2" charset="2"/>
                <a:buNone/>
                <a:defRPr/>
              </a:pPr>
              <a:t>‹#›</a:t>
            </a:fld>
            <a:r>
              <a:rPr lang="en-US" sz="900" kern="1200" dirty="0">
                <a:solidFill>
                  <a:schemeClr val="bg1">
                    <a:lumMod val="50000"/>
                  </a:schemeClr>
                </a:solidFill>
                <a:latin typeface="Candara" panose="020E0502030303020204" pitchFamily="34" charset="0"/>
                <a:ea typeface="+mn-ea"/>
                <a:cs typeface="+mn-cs"/>
              </a:rPr>
              <a:t> </a:t>
            </a:r>
            <a:r>
              <a:rPr lang="en-US" sz="800" dirty="0">
                <a:solidFill>
                  <a:schemeClr val="tx2"/>
                </a:solidFill>
                <a:latin typeface="Arial" pitchFamily="34" charset="0"/>
                <a:ea typeface="ＭＳ Ｐゴシック"/>
                <a:cs typeface="Arial" pitchFamily="34" charset="0"/>
              </a:rPr>
              <a:t>-</a:t>
            </a:r>
          </a:p>
        </p:txBody>
      </p:sp>
      <p:cxnSp>
        <p:nvCxnSpPr>
          <p:cNvPr id="11" name="Straight Connector 10"/>
          <p:cNvCxnSpPr/>
          <p:nvPr/>
        </p:nvCxnSpPr>
        <p:spPr>
          <a:xfrm flipH="1">
            <a:off x="381000" y="4937149"/>
            <a:ext cx="74676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1260144" y="4937307"/>
            <a:ext cx="0" cy="17356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2679678" y="4937307"/>
            <a:ext cx="0" cy="17356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14" name="Picture 13"/>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0" y="514350"/>
            <a:ext cx="5600700" cy="278606"/>
          </a:xfrm>
          <a:prstGeom prst="rect">
            <a:avLst/>
          </a:prstGeom>
        </p:spPr>
      </p:pic>
    </p:spTree>
    <p:extLst>
      <p:ext uri="{BB962C8B-B14F-4D97-AF65-F5344CB8AC3E}">
        <p14:creationId xmlns:p14="http://schemas.microsoft.com/office/powerpoint/2010/main" val="2428377541"/>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hf sldNum="0" hdr="0" ftr="0" dt="0"/>
  <p:txStyles>
    <p:titleStyle>
      <a:lvl1pPr algn="l" defTabSz="914400" rtl="0" eaLnBrk="1" latinLnBrk="0" hangingPunct="1">
        <a:spcBef>
          <a:spcPct val="0"/>
        </a:spcBef>
        <a:buNone/>
        <a:defRPr sz="2800" kern="1200">
          <a:solidFill>
            <a:schemeClr val="tx1"/>
          </a:solidFill>
          <a:latin typeface="Candara" panose="020E0502030303020204" pitchFamily="34" charset="0"/>
          <a:ea typeface="+mj-ea"/>
          <a:cs typeface="+mj-cs"/>
        </a:defRPr>
      </a:lvl1pPr>
    </p:titleStyle>
    <p:bodyStyle>
      <a:lvl1pPr marL="342900" indent="-342900" algn="l" defTabSz="914400" rtl="0" eaLnBrk="1" latinLnBrk="0" hangingPunct="1">
        <a:spcBef>
          <a:spcPct val="20000"/>
        </a:spcBef>
        <a:buClr>
          <a:srgbClr val="00A1E4"/>
        </a:buClr>
        <a:buFont typeface="Wingdings" pitchFamily="2" charset="2"/>
        <a:buChar char="Ø"/>
        <a:defRPr sz="1800" b="1" kern="1200">
          <a:solidFill>
            <a:schemeClr val="tx1"/>
          </a:solidFill>
          <a:latin typeface="Candara" panose="020E0502030303020204" pitchFamily="34" charset="0"/>
          <a:ea typeface="+mn-ea"/>
          <a:cs typeface="+mn-cs"/>
        </a:defRPr>
      </a:lvl1pPr>
      <a:lvl2pPr marL="742950" indent="-285750" algn="l" defTabSz="914400" rtl="0" eaLnBrk="1" latinLnBrk="0" hangingPunct="1">
        <a:spcBef>
          <a:spcPct val="20000"/>
        </a:spcBef>
        <a:buClr>
          <a:srgbClr val="00A1E4"/>
        </a:buClr>
        <a:buFont typeface="Arial" panose="020B0604020202020204" pitchFamily="34" charset="0"/>
        <a:buChar char="–"/>
        <a:defRPr sz="1600" kern="1200">
          <a:solidFill>
            <a:schemeClr val="tx1"/>
          </a:solidFill>
          <a:latin typeface="Candara" panose="020E0502030303020204" pitchFamily="34" charset="0"/>
          <a:ea typeface="+mn-ea"/>
          <a:cs typeface="+mn-cs"/>
        </a:defRPr>
      </a:lvl2pPr>
      <a:lvl3pPr marL="1143000" indent="-228600" algn="l" defTabSz="914400" rtl="0" eaLnBrk="1" latinLnBrk="0" hangingPunct="1">
        <a:spcBef>
          <a:spcPct val="20000"/>
        </a:spcBef>
        <a:buClr>
          <a:srgbClr val="00A1E4"/>
        </a:buClr>
        <a:buFont typeface="Arial" panose="020B0604020202020204" pitchFamily="34" charset="0"/>
        <a:buChar char="•"/>
        <a:defRPr sz="1200" kern="1200">
          <a:solidFill>
            <a:schemeClr val="tx1"/>
          </a:solidFill>
          <a:latin typeface="Candara" panose="020E0502030303020204" pitchFamily="34" charset="0"/>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Candara" panose="020E0502030303020204" pitchFamily="34" charset="0"/>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Candara" panose="020E0502030303020204" pitchFamily="34" charset="0"/>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5949"/>
            <a:ext cx="8229600" cy="59412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sp>
        <p:nvSpPr>
          <p:cNvPr id="7" name="Rectangle 20"/>
          <p:cNvSpPr txBox="1">
            <a:spLocks noChangeArrowheads="1"/>
          </p:cNvSpPr>
          <p:nvPr/>
        </p:nvSpPr>
        <p:spPr>
          <a:xfrm>
            <a:off x="285720" y="4948186"/>
            <a:ext cx="1219200" cy="171450"/>
          </a:xfrm>
          <a:prstGeom prst="rect">
            <a:avLst/>
          </a:prstGeom>
          <a:noFill/>
        </p:spPr>
        <p:txBody>
          <a:bodyPr/>
          <a:lstStyle/>
          <a:p>
            <a:pPr marL="0" algn="l" defTabSz="914400" rtl="0" eaLnBrk="1" latinLnBrk="0" hangingPunct="1">
              <a:defRPr/>
            </a:pPr>
            <a:fld id="{634B1AA2-1421-4123-B46B-C773544C4A12}" type="datetime4">
              <a:rPr lang="en-US" sz="800" kern="1200">
                <a:solidFill>
                  <a:schemeClr val="bg1">
                    <a:lumMod val="50000"/>
                  </a:schemeClr>
                </a:solidFill>
                <a:latin typeface="Candara" panose="020E0502030303020204" pitchFamily="34" charset="0"/>
                <a:ea typeface="+mn-ea"/>
                <a:cs typeface="+mn-cs"/>
              </a:rPr>
              <a:pPr marL="0" algn="l" defTabSz="914400" rtl="0" eaLnBrk="1" latinLnBrk="0" hangingPunct="1">
                <a:defRPr/>
              </a:pPr>
              <a:t>November 20, 2019</a:t>
            </a:fld>
            <a:endParaRPr lang="en-US" sz="800" kern="1200" dirty="0">
              <a:solidFill>
                <a:schemeClr val="bg1">
                  <a:lumMod val="50000"/>
                </a:schemeClr>
              </a:solidFill>
              <a:latin typeface="Candara" panose="020E0502030303020204" pitchFamily="34" charset="0"/>
              <a:ea typeface="+mn-ea"/>
              <a:cs typeface="+mn-cs"/>
            </a:endParaRPr>
          </a:p>
        </p:txBody>
      </p:sp>
      <p:sp>
        <p:nvSpPr>
          <p:cNvPr id="8" name="Text Box 9"/>
          <p:cNvSpPr txBox="1">
            <a:spLocks noChangeArrowheads="1"/>
          </p:cNvSpPr>
          <p:nvPr/>
        </p:nvSpPr>
        <p:spPr bwMode="auto">
          <a:xfrm>
            <a:off x="1271234" y="4948186"/>
            <a:ext cx="1431802" cy="215444"/>
          </a:xfrm>
          <a:prstGeom prst="rect">
            <a:avLst/>
          </a:prstGeom>
          <a:noFill/>
          <a:ln w="9525">
            <a:noFill/>
            <a:miter lim="800000"/>
            <a:headEnd/>
            <a:tailEnd/>
          </a:ln>
        </p:spPr>
        <p:txBody>
          <a:bodyPr wrap="none">
            <a:spAutoFit/>
          </a:bodyPr>
          <a:lstStyle/>
          <a:p>
            <a:pPr marL="0" algn="l" defTabSz="914400" rtl="0" eaLnBrk="1" latinLnBrk="0" hangingPunct="1">
              <a:defRPr/>
            </a:pPr>
            <a:r>
              <a:rPr lang="en-US" altLang="ja-JP" sz="800" kern="1200" dirty="0">
                <a:solidFill>
                  <a:schemeClr val="bg1">
                    <a:lumMod val="50000"/>
                  </a:schemeClr>
                </a:solidFill>
                <a:latin typeface="Candara" panose="020E0502030303020204" pitchFamily="34" charset="0"/>
                <a:ea typeface="+mn-ea"/>
                <a:cs typeface="+mn-cs"/>
              </a:rPr>
              <a:t>Proprietary and Confidential </a:t>
            </a:r>
          </a:p>
        </p:txBody>
      </p:sp>
      <p:sp>
        <p:nvSpPr>
          <p:cNvPr id="9" name="Text Box 5"/>
          <p:cNvSpPr txBox="1">
            <a:spLocks noChangeArrowheads="1"/>
          </p:cNvSpPr>
          <p:nvPr/>
        </p:nvSpPr>
        <p:spPr bwMode="gray">
          <a:xfrm>
            <a:off x="2750256" y="4939151"/>
            <a:ext cx="237244" cy="138499"/>
          </a:xfrm>
          <a:prstGeom prst="rect">
            <a:avLst/>
          </a:prstGeom>
          <a:noFill/>
          <a:ln w="12700">
            <a:noFill/>
            <a:miter lim="800000"/>
            <a:headEnd/>
            <a:tailEnd/>
          </a:ln>
          <a:effectLst>
            <a:prstShdw prst="shdw17" dist="17961" dir="2700000">
              <a:srgbClr val="DDDDDD">
                <a:gamma/>
                <a:shade val="60000"/>
                <a:invGamma/>
              </a:srgbClr>
            </a:prstShdw>
          </a:effectLst>
        </p:spPr>
        <p:txBody>
          <a:bodyPr wrap="none" lIns="0" tIns="0" rIns="0" bIns="0" anchor="b" anchorCtr="1">
            <a:spAutoFit/>
          </a:bodyPr>
          <a:lstStyle/>
          <a:p>
            <a:pPr algn="ctr" eaLnBrk="0" hangingPunct="0">
              <a:buClr>
                <a:srgbClr val="000000"/>
              </a:buClr>
              <a:buSzPct val="65000"/>
              <a:buFont typeface="Wingdings" pitchFamily="2" charset="2"/>
              <a:buNone/>
              <a:defRPr/>
            </a:pPr>
            <a:r>
              <a:rPr lang="en-US" sz="800" dirty="0">
                <a:solidFill>
                  <a:schemeClr val="tx2"/>
                </a:solidFill>
                <a:latin typeface="Arial" pitchFamily="34" charset="0"/>
                <a:ea typeface="ＭＳ Ｐゴシック"/>
                <a:cs typeface="Arial" pitchFamily="34" charset="0"/>
              </a:rPr>
              <a:t>- </a:t>
            </a:r>
            <a:fld id="{F47D9766-21FB-48EB-955B-1DFC7B4C9F61}" type="slidenum">
              <a:rPr lang="en-US" sz="900" kern="1200">
                <a:solidFill>
                  <a:schemeClr val="bg1">
                    <a:lumMod val="50000"/>
                  </a:schemeClr>
                </a:solidFill>
                <a:latin typeface="Candara" panose="020E0502030303020204" pitchFamily="34" charset="0"/>
                <a:ea typeface="+mn-ea"/>
                <a:cs typeface="+mn-cs"/>
              </a:rPr>
              <a:pPr algn="ctr" eaLnBrk="0" hangingPunct="0">
                <a:buClr>
                  <a:srgbClr val="000000"/>
                </a:buClr>
                <a:buSzPct val="65000"/>
                <a:buFont typeface="Wingdings" pitchFamily="2" charset="2"/>
                <a:buNone/>
                <a:defRPr/>
              </a:pPr>
              <a:t>‹#›</a:t>
            </a:fld>
            <a:r>
              <a:rPr lang="en-US" sz="900" kern="1200" dirty="0">
                <a:solidFill>
                  <a:schemeClr val="bg1">
                    <a:lumMod val="50000"/>
                  </a:schemeClr>
                </a:solidFill>
                <a:latin typeface="Candara" panose="020E0502030303020204" pitchFamily="34" charset="0"/>
                <a:ea typeface="+mn-ea"/>
                <a:cs typeface="+mn-cs"/>
              </a:rPr>
              <a:t> </a:t>
            </a:r>
            <a:r>
              <a:rPr lang="en-US" sz="800" dirty="0">
                <a:solidFill>
                  <a:schemeClr val="tx2"/>
                </a:solidFill>
                <a:latin typeface="Arial" pitchFamily="34" charset="0"/>
                <a:ea typeface="ＭＳ Ｐゴシック"/>
                <a:cs typeface="Arial" pitchFamily="34" charset="0"/>
              </a:rPr>
              <a:t>-</a:t>
            </a:r>
          </a:p>
        </p:txBody>
      </p:sp>
      <p:cxnSp>
        <p:nvCxnSpPr>
          <p:cNvPr id="11" name="Straight Connector 10"/>
          <p:cNvCxnSpPr/>
          <p:nvPr/>
        </p:nvCxnSpPr>
        <p:spPr>
          <a:xfrm flipH="1">
            <a:off x="381000" y="4937149"/>
            <a:ext cx="74676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1260144" y="4937307"/>
            <a:ext cx="0" cy="17356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2679678" y="4937307"/>
            <a:ext cx="0" cy="17356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14" name="Picture 13"/>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0" y="514350"/>
            <a:ext cx="5600700" cy="278606"/>
          </a:xfrm>
          <a:prstGeom prst="rect">
            <a:avLst/>
          </a:prstGeom>
        </p:spPr>
      </p:pic>
    </p:spTree>
    <p:extLst>
      <p:ext uri="{BB962C8B-B14F-4D97-AF65-F5344CB8AC3E}">
        <p14:creationId xmlns:p14="http://schemas.microsoft.com/office/powerpoint/2010/main" val="2428377541"/>
      </p:ext>
    </p:extLst>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Lst>
  <p:hf sldNum="0" hdr="0" ftr="0" dt="0"/>
  <p:txStyles>
    <p:titleStyle>
      <a:lvl1pPr algn="l" defTabSz="914400" rtl="0" eaLnBrk="1" latinLnBrk="0" hangingPunct="1">
        <a:spcBef>
          <a:spcPct val="0"/>
        </a:spcBef>
        <a:buNone/>
        <a:defRPr sz="2800" kern="1200">
          <a:solidFill>
            <a:schemeClr val="tx1"/>
          </a:solidFill>
          <a:latin typeface="Candara" panose="020E0502030303020204" pitchFamily="34" charset="0"/>
          <a:ea typeface="+mj-ea"/>
          <a:cs typeface="+mj-cs"/>
        </a:defRPr>
      </a:lvl1pPr>
    </p:titleStyle>
    <p:bodyStyle>
      <a:lvl1pPr marL="342900" indent="-342900" algn="l" defTabSz="914400" rtl="0" eaLnBrk="1" latinLnBrk="0" hangingPunct="1">
        <a:spcBef>
          <a:spcPct val="20000"/>
        </a:spcBef>
        <a:buClr>
          <a:srgbClr val="00A1E4"/>
        </a:buClr>
        <a:buFont typeface="Wingdings" pitchFamily="2" charset="2"/>
        <a:buChar char="Ø"/>
        <a:defRPr sz="1800" b="1" kern="1200">
          <a:solidFill>
            <a:schemeClr val="tx1"/>
          </a:solidFill>
          <a:latin typeface="Candara" panose="020E0502030303020204" pitchFamily="34" charset="0"/>
          <a:ea typeface="+mn-ea"/>
          <a:cs typeface="+mn-cs"/>
        </a:defRPr>
      </a:lvl1pPr>
      <a:lvl2pPr marL="742950" indent="-285750" algn="l" defTabSz="914400" rtl="0" eaLnBrk="1" latinLnBrk="0" hangingPunct="1">
        <a:spcBef>
          <a:spcPct val="20000"/>
        </a:spcBef>
        <a:buClr>
          <a:srgbClr val="00A1E4"/>
        </a:buClr>
        <a:buFont typeface="Arial" panose="020B0604020202020204" pitchFamily="34" charset="0"/>
        <a:buChar char="–"/>
        <a:defRPr sz="1600" kern="1200">
          <a:solidFill>
            <a:schemeClr val="tx1"/>
          </a:solidFill>
          <a:latin typeface="Candara" panose="020E0502030303020204" pitchFamily="34" charset="0"/>
          <a:ea typeface="+mn-ea"/>
          <a:cs typeface="+mn-cs"/>
        </a:defRPr>
      </a:lvl2pPr>
      <a:lvl3pPr marL="1143000" indent="-228600" algn="l" defTabSz="914400" rtl="0" eaLnBrk="1" latinLnBrk="0" hangingPunct="1">
        <a:spcBef>
          <a:spcPct val="20000"/>
        </a:spcBef>
        <a:buClr>
          <a:srgbClr val="00A1E4"/>
        </a:buClr>
        <a:buFont typeface="Arial" panose="020B0604020202020204" pitchFamily="34" charset="0"/>
        <a:buChar char="•"/>
        <a:defRPr sz="1200" kern="1200">
          <a:solidFill>
            <a:schemeClr val="tx1"/>
          </a:solidFill>
          <a:latin typeface="Candara" panose="020E0502030303020204" pitchFamily="34" charset="0"/>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Candara" panose="020E0502030303020204" pitchFamily="34" charset="0"/>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Candara" panose="020E0502030303020204" pitchFamily="34" charset="0"/>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p:custDataLst>
              <p:tags r:id="rId5"/>
            </p:custDataLst>
          </p:nvPr>
        </p:nvGraphicFramePr>
        <p:xfrm>
          <a:off x="0" y="0"/>
          <a:ext cx="146538" cy="119063"/>
        </p:xfrm>
        <a:graphic>
          <a:graphicData uri="http://schemas.openxmlformats.org/presentationml/2006/ole">
            <mc:AlternateContent xmlns:mc="http://schemas.openxmlformats.org/markup-compatibility/2006">
              <mc:Choice xmlns:v="urn:schemas-microsoft-com:vml" Requires="v">
                <p:oleObj spid="_x0000_s68666" name="think-cell Slide" r:id="rId14" imgW="360" imgH="360" progId="">
                  <p:embed/>
                </p:oleObj>
              </mc:Choice>
              <mc:Fallback>
                <p:oleObj name="think-cell Slide" r:id="rId14" imgW="360" imgH="360" progId="">
                  <p:embed/>
                  <p:pic>
                    <p:nvPicPr>
                      <p:cNvPr id="0" name="Picture 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0"/>
                        <a:ext cx="146538"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7" name="Rectangle 7"/>
          <p:cNvSpPr/>
          <p:nvPr>
            <p:custDataLst>
              <p:tags r:id="rId6"/>
            </p:custDataLst>
          </p:nvPr>
        </p:nvSpPr>
        <p:spPr bwMode="auto">
          <a:xfrm flipV="1">
            <a:off x="-1529" y="1258495"/>
            <a:ext cx="9145530" cy="3885005"/>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411"/>
              <a:gd name="connsiteY0" fmla="*/ 2791 h 3881172"/>
              <a:gd name="connsiteX1" fmla="*/ 10561655 w 10562411"/>
              <a:gd name="connsiteY1" fmla="*/ 0 h 3881172"/>
              <a:gd name="connsiteX2" fmla="*/ 10561157 w 10562411"/>
              <a:gd name="connsiteY2" fmla="*/ 1476338 h 3881172"/>
              <a:gd name="connsiteX3" fmla="*/ 9288594 w 10562411"/>
              <a:gd name="connsiteY3" fmla="*/ 2153103 h 3881172"/>
              <a:gd name="connsiteX4" fmla="*/ 2317558 w 10562411"/>
              <a:gd name="connsiteY4" fmla="*/ 2159512 h 3881172"/>
              <a:gd name="connsiteX5" fmla="*/ 1180889 w 10562411"/>
              <a:gd name="connsiteY5" fmla="*/ 2958168 h 3881172"/>
              <a:gd name="connsiteX6" fmla="*/ 0 w 10562411"/>
              <a:gd name="connsiteY6" fmla="*/ 2174065 h 3881172"/>
              <a:gd name="connsiteX7" fmla="*/ 1331 w 10562411"/>
              <a:gd name="connsiteY7" fmla="*/ 2791 h 3881172"/>
              <a:gd name="connsiteX0" fmla="*/ 1331 w 10562411"/>
              <a:gd name="connsiteY0" fmla="*/ 2791 h 4143392"/>
              <a:gd name="connsiteX1" fmla="*/ 10561655 w 10562411"/>
              <a:gd name="connsiteY1" fmla="*/ 0 h 4143392"/>
              <a:gd name="connsiteX2" fmla="*/ 10561157 w 10562411"/>
              <a:gd name="connsiteY2" fmla="*/ 1476338 h 4143392"/>
              <a:gd name="connsiteX3" fmla="*/ 9288594 w 10562411"/>
              <a:gd name="connsiteY3" fmla="*/ 2153103 h 4143392"/>
              <a:gd name="connsiteX4" fmla="*/ 2317558 w 10562411"/>
              <a:gd name="connsiteY4" fmla="*/ 2159512 h 4143392"/>
              <a:gd name="connsiteX5" fmla="*/ 1180889 w 10562411"/>
              <a:gd name="connsiteY5" fmla="*/ 2958168 h 4143392"/>
              <a:gd name="connsiteX6" fmla="*/ 0 w 10562411"/>
              <a:gd name="connsiteY6" fmla="*/ 2174065 h 4143392"/>
              <a:gd name="connsiteX7" fmla="*/ 1331 w 10562411"/>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336031 w 10580884"/>
              <a:gd name="connsiteY4" fmla="*/ 2159512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013072 w 10580884"/>
              <a:gd name="connsiteY3" fmla="*/ 3716089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641"/>
              <a:gd name="connsiteY0" fmla="*/ 2791 h 4143392"/>
              <a:gd name="connsiteX1" fmla="*/ 10580128 w 10580641"/>
              <a:gd name="connsiteY1" fmla="*/ 0 h 4143392"/>
              <a:gd name="connsiteX2" fmla="*/ 10559884 w 10580641"/>
              <a:gd name="connsiteY2" fmla="*/ 3400831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625733"/>
              <a:gd name="connsiteX1" fmla="*/ 10580128 w 10580641"/>
              <a:gd name="connsiteY1" fmla="*/ 0 h 4625733"/>
              <a:gd name="connsiteX2" fmla="*/ 10559883 w 10580641"/>
              <a:gd name="connsiteY2" fmla="*/ 3953724 h 4625733"/>
              <a:gd name="connsiteX3" fmla="*/ 9013072 w 10580641"/>
              <a:gd name="connsiteY3" fmla="*/ 3716089 h 4625733"/>
              <a:gd name="connsiteX4" fmla="*/ 2283533 w 10580641"/>
              <a:gd name="connsiteY4" fmla="*/ 3711866 h 4625733"/>
              <a:gd name="connsiteX5" fmla="*/ 1199362 w 10580641"/>
              <a:gd name="connsiteY5" fmla="*/ 2958168 h 4625733"/>
              <a:gd name="connsiteX6" fmla="*/ 0 w 10580641"/>
              <a:gd name="connsiteY6" fmla="*/ 3726419 h 4625733"/>
              <a:gd name="connsiteX7" fmla="*/ 19804 w 10580641"/>
              <a:gd name="connsiteY7" fmla="*/ 2791 h 4625733"/>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37052 h 3953724"/>
              <a:gd name="connsiteX7" fmla="*/ 19804 w 10580641"/>
              <a:gd name="connsiteY7" fmla="*/ 2791 h 3953724"/>
              <a:gd name="connsiteX0" fmla="*/ 0 w 10581837"/>
              <a:gd name="connsiteY0" fmla="*/ 13424 h 3953724"/>
              <a:gd name="connsiteX1" fmla="*/ 10581324 w 10581837"/>
              <a:gd name="connsiteY1" fmla="*/ 0 h 3953724"/>
              <a:gd name="connsiteX2" fmla="*/ 10561079 w 10581837"/>
              <a:gd name="connsiteY2" fmla="*/ 3953724 h 3953724"/>
              <a:gd name="connsiteX3" fmla="*/ 9014268 w 10581837"/>
              <a:gd name="connsiteY3" fmla="*/ 3716089 h 3953724"/>
              <a:gd name="connsiteX4" fmla="*/ 2284729 w 10581837"/>
              <a:gd name="connsiteY4" fmla="*/ 3711866 h 3953724"/>
              <a:gd name="connsiteX5" fmla="*/ 1200558 w 10581837"/>
              <a:gd name="connsiteY5" fmla="*/ 2958168 h 3953724"/>
              <a:gd name="connsiteX6" fmla="*/ 1196 w 10581837"/>
              <a:gd name="connsiteY6" fmla="*/ 3737052 h 3953724"/>
              <a:gd name="connsiteX7" fmla="*/ 0 w 10581837"/>
              <a:gd name="connsiteY7" fmla="*/ 13424 h 3953724"/>
              <a:gd name="connsiteX0" fmla="*/ 0 w 10562333"/>
              <a:gd name="connsiteY0" fmla="*/ 24056 h 3964356"/>
              <a:gd name="connsiteX1" fmla="*/ 10549824 w 10562333"/>
              <a:gd name="connsiteY1" fmla="*/ 0 h 3964356"/>
              <a:gd name="connsiteX2" fmla="*/ 10561079 w 10562333"/>
              <a:gd name="connsiteY2" fmla="*/ 3964356 h 3964356"/>
              <a:gd name="connsiteX3" fmla="*/ 9014268 w 10562333"/>
              <a:gd name="connsiteY3" fmla="*/ 3726721 h 3964356"/>
              <a:gd name="connsiteX4" fmla="*/ 2284729 w 10562333"/>
              <a:gd name="connsiteY4" fmla="*/ 3722498 h 3964356"/>
              <a:gd name="connsiteX5" fmla="*/ 1200558 w 10562333"/>
              <a:gd name="connsiteY5" fmla="*/ 2968800 h 3964356"/>
              <a:gd name="connsiteX6" fmla="*/ 1196 w 10562333"/>
              <a:gd name="connsiteY6" fmla="*/ 3747684 h 3964356"/>
              <a:gd name="connsiteX7" fmla="*/ 0 w 10562333"/>
              <a:gd name="connsiteY7" fmla="*/ 24056 h 3964356"/>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10559884 w 10650182"/>
              <a:gd name="connsiteY0" fmla="*/ 18474 h 3993463"/>
              <a:gd name="connsiteX1" fmla="*/ 10561079 w 10650182"/>
              <a:gd name="connsiteY1" fmla="*/ 3993463 h 3993463"/>
              <a:gd name="connsiteX2" fmla="*/ 9024769 w 10650182"/>
              <a:gd name="connsiteY2" fmla="*/ 3734563 h 3993463"/>
              <a:gd name="connsiteX3" fmla="*/ 2295230 w 10650182"/>
              <a:gd name="connsiteY3" fmla="*/ 3719707 h 3993463"/>
              <a:gd name="connsiteX4" fmla="*/ 1200558 w 10650182"/>
              <a:gd name="connsiteY4" fmla="*/ 2997907 h 3993463"/>
              <a:gd name="connsiteX5" fmla="*/ 0 w 10650182"/>
              <a:gd name="connsiteY5" fmla="*/ 3712996 h 3993463"/>
              <a:gd name="connsiteX6" fmla="*/ 0 w 10650182"/>
              <a:gd name="connsiteY6" fmla="*/ 0 h 3993463"/>
              <a:gd name="connsiteX7" fmla="*/ 10650182 w 10650182"/>
              <a:gd name="connsiteY7" fmla="*/ 109914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10285606 w 10562333"/>
              <a:gd name="connsiteY7" fmla="*/ 418258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9991611 w 10562333"/>
              <a:gd name="connsiteY7" fmla="*/ 56751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0 w 10562846"/>
              <a:gd name="connsiteY5" fmla="*/ 3712996 h 3993463"/>
              <a:gd name="connsiteX6" fmla="*/ 0 w 10562846"/>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2449 w 10562846"/>
              <a:gd name="connsiteY5" fmla="*/ 3734261 h 3993463"/>
              <a:gd name="connsiteX6" fmla="*/ 0 w 10562846"/>
              <a:gd name="connsiteY6" fmla="*/ 0 h 3993463"/>
              <a:gd name="connsiteX0" fmla="*/ 10562334 w 10562847"/>
              <a:gd name="connsiteY0" fmla="*/ 1074357 h 5067820"/>
              <a:gd name="connsiteX1" fmla="*/ 10561080 w 10562847"/>
              <a:gd name="connsiteY1" fmla="*/ 5067820 h 5067820"/>
              <a:gd name="connsiteX2" fmla="*/ 9024770 w 10562847"/>
              <a:gd name="connsiteY2" fmla="*/ 4808920 h 5067820"/>
              <a:gd name="connsiteX3" fmla="*/ 2295231 w 10562847"/>
              <a:gd name="connsiteY3" fmla="*/ 4794064 h 5067820"/>
              <a:gd name="connsiteX4" fmla="*/ 1200559 w 10562847"/>
              <a:gd name="connsiteY4" fmla="*/ 4072264 h 5067820"/>
              <a:gd name="connsiteX5" fmla="*/ 2450 w 10562847"/>
              <a:gd name="connsiteY5" fmla="*/ 4808618 h 5067820"/>
              <a:gd name="connsiteX6" fmla="*/ 0 w 10562847"/>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2450 w 10563360"/>
              <a:gd name="connsiteY5" fmla="*/ 4808618 h 5067820"/>
              <a:gd name="connsiteX6" fmla="*/ 0 w 10563360"/>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514 w 10563360"/>
              <a:gd name="connsiteY5" fmla="*/ 4819150 h 5067820"/>
              <a:gd name="connsiteX6" fmla="*/ 0 w 10563360"/>
              <a:gd name="connsiteY6" fmla="*/ 0 h 5067820"/>
              <a:gd name="connsiteX0" fmla="*/ 10562847 w 10564614"/>
              <a:gd name="connsiteY0" fmla="*/ 0 h 5152083"/>
              <a:gd name="connsiteX1" fmla="*/ 10563360 w 10564614"/>
              <a:gd name="connsiteY1" fmla="*/ 5152083 h 5152083"/>
              <a:gd name="connsiteX2" fmla="*/ 9024770 w 10564614"/>
              <a:gd name="connsiteY2" fmla="*/ 4808920 h 5152083"/>
              <a:gd name="connsiteX3" fmla="*/ 2295231 w 10564614"/>
              <a:gd name="connsiteY3" fmla="*/ 4794064 h 5152083"/>
              <a:gd name="connsiteX4" fmla="*/ 1200559 w 10564614"/>
              <a:gd name="connsiteY4" fmla="*/ 4072264 h 5152083"/>
              <a:gd name="connsiteX5" fmla="*/ 514 w 10564614"/>
              <a:gd name="connsiteY5" fmla="*/ 4819150 h 5152083"/>
              <a:gd name="connsiteX6" fmla="*/ 0 w 10564614"/>
              <a:gd name="connsiteY6" fmla="*/ 0 h 5152083"/>
              <a:gd name="connsiteX0" fmla="*/ 10562847 w 10564614"/>
              <a:gd name="connsiteY0" fmla="*/ 0 h 5183681"/>
              <a:gd name="connsiteX1" fmla="*/ 10563360 w 10564614"/>
              <a:gd name="connsiteY1" fmla="*/ 5183681 h 5183681"/>
              <a:gd name="connsiteX2" fmla="*/ 9024770 w 10564614"/>
              <a:gd name="connsiteY2" fmla="*/ 4808920 h 5183681"/>
              <a:gd name="connsiteX3" fmla="*/ 2295231 w 10564614"/>
              <a:gd name="connsiteY3" fmla="*/ 4794064 h 5183681"/>
              <a:gd name="connsiteX4" fmla="*/ 1200559 w 10564614"/>
              <a:gd name="connsiteY4" fmla="*/ 4072264 h 5183681"/>
              <a:gd name="connsiteX5" fmla="*/ 514 w 10564614"/>
              <a:gd name="connsiteY5" fmla="*/ 4819150 h 5183681"/>
              <a:gd name="connsiteX6" fmla="*/ 0 w 10564614"/>
              <a:gd name="connsiteY6" fmla="*/ 0 h 518368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87552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64614" h="5657661">
                <a:moveTo>
                  <a:pt x="10562847" y="0"/>
                </a:moveTo>
                <a:cubicBezTo>
                  <a:pt x="10563360" y="67600"/>
                  <a:pt x="10564614" y="5614246"/>
                  <a:pt x="10563360" y="5657661"/>
                </a:cubicBezTo>
                <a:cubicBezTo>
                  <a:pt x="10190941" y="4920324"/>
                  <a:pt x="9462356" y="4792975"/>
                  <a:pt x="9024770" y="4808920"/>
                </a:cubicBezTo>
                <a:lnTo>
                  <a:pt x="2295231" y="4794064"/>
                </a:lnTo>
                <a:cubicBezTo>
                  <a:pt x="1854598" y="4794612"/>
                  <a:pt x="1423669" y="4544310"/>
                  <a:pt x="1200559" y="4072264"/>
                </a:cubicBezTo>
                <a:cubicBezTo>
                  <a:pt x="965203" y="4750718"/>
                  <a:pt x="279154" y="4797207"/>
                  <a:pt x="514" y="4798085"/>
                </a:cubicBezTo>
                <a:cubicBezTo>
                  <a:pt x="2581" y="4762572"/>
                  <a:pt x="1272" y="95582"/>
                  <a:pt x="0" y="0"/>
                </a:cubicBezTo>
              </a:path>
            </a:pathLst>
          </a:custGeom>
          <a:gradFill flip="none" rotWithShape="1">
            <a:gsLst>
              <a:gs pos="0">
                <a:srgbClr val="005B7C"/>
              </a:gs>
              <a:gs pos="50000">
                <a:srgbClr val="0085B3"/>
              </a:gs>
              <a:gs pos="100000">
                <a:srgbClr val="00A0D6"/>
              </a:gs>
            </a:gsLst>
            <a:lin ang="18900000" scaled="1"/>
            <a:tileRect/>
          </a:gradFill>
          <a:ln w="12700" cmpd="sng" algn="ctr">
            <a:noFill/>
            <a:miter lim="800000"/>
            <a:headEnd/>
            <a:tailEnd/>
          </a:ln>
          <a:effectLst>
            <a:outerShdw blurRad="41275" dist="38100" dir="5400000" algn="t" rotWithShape="0">
              <a:schemeClr val="bg1">
                <a:lumMod val="65000"/>
                <a:alpha val="25000"/>
              </a:schemeClr>
            </a:outerShdw>
          </a:effectLst>
        </p:spPr>
        <p:txBody>
          <a:bodyPr wrap="square" lIns="28173" tIns="36624" rIns="28173" bIns="36624" rtlCol="0" anchor="ctr"/>
          <a:lstStyle/>
          <a:p>
            <a:pPr algn="ctr" fontAlgn="auto">
              <a:spcBef>
                <a:spcPts val="0"/>
              </a:spcBef>
              <a:spcAft>
                <a:spcPts val="0"/>
              </a:spcAft>
            </a:pPr>
            <a:endParaRPr lang="en-US" sz="900" dirty="0">
              <a:solidFill>
                <a:schemeClr val="bg1"/>
              </a:solidFill>
              <a:latin typeface="Arial"/>
              <a:cs typeface="Arial"/>
            </a:endParaRPr>
          </a:p>
        </p:txBody>
      </p:sp>
      <p:pic>
        <p:nvPicPr>
          <p:cNvPr id="9" name="Picture 104" descr="C:\Users\UserSim\Desktop\Capgemini\moto.emf"/>
          <p:cNvPicPr>
            <a:picLocks noChangeAspect="1" noChangeArrowheads="1"/>
          </p:cNvPicPr>
          <p:nvPr>
            <p:custDataLst>
              <p:tags r:id="rId7"/>
            </p:custDataLst>
          </p:nvPr>
        </p:nvPicPr>
        <p:blipFill>
          <a:blip r:embed="rId16" cstate="email"/>
          <a:srcRect/>
          <a:stretch>
            <a:fillRect/>
          </a:stretch>
        </p:blipFill>
        <p:spPr bwMode="auto">
          <a:xfrm>
            <a:off x="5914038" y="906941"/>
            <a:ext cx="2658462" cy="172015"/>
          </a:xfrm>
          <a:prstGeom prst="rect">
            <a:avLst/>
          </a:prstGeom>
          <a:noFill/>
        </p:spPr>
      </p:pic>
      <p:sp>
        <p:nvSpPr>
          <p:cNvPr id="15" name="Rectangle 14"/>
          <p:cNvSpPr/>
          <p:nvPr>
            <p:custDataLst>
              <p:tags r:id="rId8"/>
            </p:custDataLst>
          </p:nvPr>
        </p:nvSpPr>
        <p:spPr>
          <a:xfrm>
            <a:off x="6419731" y="4055244"/>
            <a:ext cx="2152769" cy="323567"/>
          </a:xfrm>
          <a:prstGeom prst="rect">
            <a:avLst/>
          </a:prstGeom>
        </p:spPr>
        <p:txBody>
          <a:bodyPr wrap="none" lIns="0" tIns="30679" rIns="0" bIns="30679" anchor="b" anchorCtr="0">
            <a:spAutoFit/>
          </a:bodyPr>
          <a:lstStyle/>
          <a:p>
            <a:pPr algn="r"/>
            <a:r>
              <a:rPr lang="en-US" sz="1700" b="1" dirty="0">
                <a:solidFill>
                  <a:schemeClr val="bg1"/>
                </a:solidFill>
                <a:latin typeface="Arial" pitchFamily="34" charset="0"/>
                <a:cs typeface="Arial" pitchFamily="34" charset="0"/>
              </a:rPr>
              <a:t>www.capgemini.com</a:t>
            </a:r>
          </a:p>
        </p:txBody>
      </p:sp>
      <p:pic>
        <p:nvPicPr>
          <p:cNvPr id="16" name="Picture 3" descr="C:\Users\UserSim\Desktop\DS_icons\128x128 shadows\facebook.png">
            <a:hlinkClick r:id="rId17"/>
          </p:cNvPr>
          <p:cNvPicPr>
            <a:picLocks noChangeAspect="1" noChangeArrowheads="1"/>
          </p:cNvPicPr>
          <p:nvPr>
            <p:custDataLst>
              <p:tags r:id="rId9"/>
            </p:custDataLst>
          </p:nvPr>
        </p:nvPicPr>
        <p:blipFill>
          <a:blip r:embed="rId18" cstate="email"/>
          <a:srcRect/>
          <a:stretch>
            <a:fillRect/>
          </a:stretch>
        </p:blipFill>
        <p:spPr bwMode="auto">
          <a:xfrm>
            <a:off x="7098349" y="4449410"/>
            <a:ext cx="256821" cy="197828"/>
          </a:xfrm>
          <a:prstGeom prst="rect">
            <a:avLst/>
          </a:prstGeom>
          <a:noFill/>
        </p:spPr>
      </p:pic>
      <p:pic>
        <p:nvPicPr>
          <p:cNvPr id="17" name="Picture 4" descr="C:\Users\UserSim\Desktop\DS_icons\128x128 shadows\linkedin.png">
            <a:hlinkClick r:id="rId19"/>
          </p:cNvPr>
          <p:cNvPicPr>
            <a:picLocks noChangeAspect="1" noChangeArrowheads="1"/>
          </p:cNvPicPr>
          <p:nvPr>
            <p:custDataLst>
              <p:tags r:id="rId10"/>
            </p:custDataLst>
          </p:nvPr>
        </p:nvPicPr>
        <p:blipFill>
          <a:blip r:embed="rId20" cstate="email"/>
          <a:srcRect/>
          <a:stretch>
            <a:fillRect/>
          </a:stretch>
        </p:blipFill>
        <p:spPr bwMode="auto">
          <a:xfrm>
            <a:off x="7407960" y="4449410"/>
            <a:ext cx="259674" cy="200025"/>
          </a:xfrm>
          <a:prstGeom prst="rect">
            <a:avLst/>
          </a:prstGeom>
          <a:noFill/>
        </p:spPr>
      </p:pic>
      <p:pic>
        <p:nvPicPr>
          <p:cNvPr id="18" name="Picture 5" descr="C:\Users\UserSim\Desktop\DS_icons\128x128 shadows\twitter.png">
            <a:hlinkClick r:id="rId21"/>
          </p:cNvPr>
          <p:cNvPicPr>
            <a:picLocks noChangeAspect="1" noChangeArrowheads="1"/>
          </p:cNvPicPr>
          <p:nvPr>
            <p:custDataLst>
              <p:tags r:id="rId11"/>
            </p:custDataLst>
          </p:nvPr>
        </p:nvPicPr>
        <p:blipFill>
          <a:blip r:embed="rId22" cstate="email"/>
          <a:srcRect/>
          <a:stretch>
            <a:fillRect/>
          </a:stretch>
        </p:blipFill>
        <p:spPr bwMode="auto">
          <a:xfrm>
            <a:off x="7988626" y="4449410"/>
            <a:ext cx="259674" cy="200025"/>
          </a:xfrm>
          <a:prstGeom prst="rect">
            <a:avLst/>
          </a:prstGeom>
          <a:noFill/>
        </p:spPr>
      </p:pic>
      <p:pic>
        <p:nvPicPr>
          <p:cNvPr id="19" name="Picture 6" descr="C:\Users\UserSim\Desktop\DS_icons\128x128 shadows\youtube.png">
            <a:hlinkClick r:id="rId23"/>
          </p:cNvPr>
          <p:cNvPicPr>
            <a:picLocks noChangeAspect="1" noChangeArrowheads="1"/>
          </p:cNvPicPr>
          <p:nvPr>
            <p:custDataLst>
              <p:tags r:id="rId12"/>
            </p:custDataLst>
          </p:nvPr>
        </p:nvPicPr>
        <p:blipFill>
          <a:blip r:embed="rId24" cstate="email"/>
          <a:srcRect/>
          <a:stretch>
            <a:fillRect/>
          </a:stretch>
        </p:blipFill>
        <p:spPr bwMode="auto">
          <a:xfrm>
            <a:off x="8301091" y="4449410"/>
            <a:ext cx="259674" cy="200025"/>
          </a:xfrm>
          <a:prstGeom prst="rect">
            <a:avLst/>
          </a:prstGeom>
          <a:noFill/>
        </p:spPr>
      </p:pic>
      <p:pic>
        <p:nvPicPr>
          <p:cNvPr id="20" name="Image 22" descr="Picto_Slideshare.gif">
            <a:hlinkClick r:id="rId25"/>
          </p:cNvPr>
          <p:cNvPicPr preferRelativeResize="0">
            <a:picLocks/>
          </p:cNvPicPr>
          <p:nvPr>
            <p:custDataLst>
              <p:tags r:id="rId13"/>
            </p:custDataLst>
          </p:nvPr>
        </p:nvPicPr>
        <p:blipFill>
          <a:blip r:embed="rId26" cstate="email"/>
          <a:srcRect l="4793" t="6316" r="5718" b="7969"/>
          <a:stretch>
            <a:fillRect/>
          </a:stretch>
        </p:blipFill>
        <p:spPr>
          <a:xfrm>
            <a:off x="7720424" y="4449411"/>
            <a:ext cx="215411" cy="178594"/>
          </a:xfrm>
          <a:prstGeom prst="roundRect">
            <a:avLst/>
          </a:prstGeom>
          <a:effectLst>
            <a:outerShdw blurRad="38100" dist="25400" dir="5400000" sx="98000" sy="98000" algn="t" rotWithShape="0">
              <a:schemeClr val="tx2">
                <a:alpha val="51000"/>
              </a:schemeClr>
            </a:outerShdw>
          </a:effectLst>
        </p:spPr>
      </p:pic>
      <p:pic>
        <p:nvPicPr>
          <p:cNvPr id="13" name="Image 12" descr="Capgemini_logo.jpg"/>
          <p:cNvPicPr>
            <a:picLocks noChangeAspect="1"/>
          </p:cNvPicPr>
          <p:nvPr/>
        </p:nvPicPr>
        <p:blipFill>
          <a:blip r:embed="rId27" cstate="print"/>
          <a:stretch>
            <a:fillRect/>
          </a:stretch>
        </p:blipFill>
        <p:spPr>
          <a:xfrm>
            <a:off x="690062" y="761224"/>
            <a:ext cx="2658462" cy="514535"/>
          </a:xfrm>
          <a:prstGeom prst="rect">
            <a:avLst/>
          </a:prstGeom>
        </p:spPr>
      </p:pic>
    </p:spTree>
  </p:cSld>
  <p:clrMap bg1="lt1" tx1="dk1" bg2="lt2" tx2="dk2" accent1="accent1" accent2="accent2" accent3="accent3" accent4="accent4" accent5="accent5" accent6="accent6" hlink="hlink" folHlink="folHlink"/>
  <p:sldLayoutIdLst>
    <p:sldLayoutId id="2147483714" r:id="rId1"/>
    <p:sldLayoutId id="2147483715" r:id="rId2"/>
  </p:sldLayoutIdLst>
  <p:hf hdr="0" ftr="0" dt="0"/>
  <p:txStyles>
    <p:titleStyle>
      <a:lvl1pPr algn="ctr" defTabSz="715587" rtl="0" eaLnBrk="1" latinLnBrk="0" hangingPunct="1">
        <a:spcBef>
          <a:spcPct val="0"/>
        </a:spcBef>
        <a:buNone/>
        <a:defRPr sz="3400" kern="1200">
          <a:solidFill>
            <a:schemeClr val="tx1"/>
          </a:solidFill>
          <a:latin typeface="+mj-lt"/>
          <a:ea typeface="+mj-ea"/>
          <a:cs typeface="+mj-cs"/>
        </a:defRPr>
      </a:lvl1pPr>
    </p:titleStyle>
    <p:bodyStyle>
      <a:lvl1pPr marL="268345" indent="-268345" algn="l" defTabSz="715587" rtl="0" eaLnBrk="1" latinLnBrk="0" hangingPunct="1">
        <a:spcBef>
          <a:spcPct val="20000"/>
        </a:spcBef>
        <a:buFont typeface="Arial" pitchFamily="34" charset="0"/>
        <a:buChar char="•"/>
        <a:defRPr sz="2500" kern="1200">
          <a:solidFill>
            <a:schemeClr val="tx1"/>
          </a:solidFill>
          <a:latin typeface="+mn-lt"/>
          <a:ea typeface="+mn-ea"/>
          <a:cs typeface="+mn-cs"/>
        </a:defRPr>
      </a:lvl1pPr>
      <a:lvl2pPr marL="581414" indent="-223621" algn="l" defTabSz="715587" rtl="0" eaLnBrk="1" latinLnBrk="0" hangingPunct="1">
        <a:spcBef>
          <a:spcPct val="20000"/>
        </a:spcBef>
        <a:buFont typeface="Arial" pitchFamily="34" charset="0"/>
        <a:buChar char="–"/>
        <a:defRPr sz="2200" kern="1200">
          <a:solidFill>
            <a:schemeClr val="tx1"/>
          </a:solidFill>
          <a:latin typeface="+mn-lt"/>
          <a:ea typeface="+mn-ea"/>
          <a:cs typeface="+mn-cs"/>
        </a:defRPr>
      </a:lvl2pPr>
      <a:lvl3pPr marL="894484" indent="-178896" algn="l" defTabSz="715587" rtl="0" eaLnBrk="1" latinLnBrk="0" hangingPunct="1">
        <a:spcBef>
          <a:spcPct val="20000"/>
        </a:spcBef>
        <a:buFont typeface="Arial" pitchFamily="34" charset="0"/>
        <a:buChar char="•"/>
        <a:defRPr sz="1900" kern="1200">
          <a:solidFill>
            <a:schemeClr val="tx1"/>
          </a:solidFill>
          <a:latin typeface="+mn-lt"/>
          <a:ea typeface="+mn-ea"/>
          <a:cs typeface="+mn-cs"/>
        </a:defRPr>
      </a:lvl3pPr>
      <a:lvl4pPr marL="1252277" indent="-178896" algn="l" defTabSz="715587"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610070" indent="-178896" algn="l" defTabSz="715587"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967864" indent="-178896" algn="l" defTabSz="715587"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325657" indent="-178896" algn="l" defTabSz="715587"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683451" indent="-178896" algn="l" defTabSz="715587"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3041244" indent="-178896" algn="l" defTabSz="71558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fr-FR"/>
      </a:defPPr>
      <a:lvl1pPr marL="0" algn="l" defTabSz="715587" rtl="0" eaLnBrk="1" latinLnBrk="0" hangingPunct="1">
        <a:defRPr sz="1400" kern="1200">
          <a:solidFill>
            <a:schemeClr val="tx1"/>
          </a:solidFill>
          <a:latin typeface="+mn-lt"/>
          <a:ea typeface="+mn-ea"/>
          <a:cs typeface="+mn-cs"/>
        </a:defRPr>
      </a:lvl1pPr>
      <a:lvl2pPr marL="357794" algn="l" defTabSz="715587" rtl="0" eaLnBrk="1" latinLnBrk="0" hangingPunct="1">
        <a:defRPr sz="1400" kern="1200">
          <a:solidFill>
            <a:schemeClr val="tx1"/>
          </a:solidFill>
          <a:latin typeface="+mn-lt"/>
          <a:ea typeface="+mn-ea"/>
          <a:cs typeface="+mn-cs"/>
        </a:defRPr>
      </a:lvl2pPr>
      <a:lvl3pPr marL="715587" algn="l" defTabSz="715587" rtl="0" eaLnBrk="1" latinLnBrk="0" hangingPunct="1">
        <a:defRPr sz="1400" kern="1200">
          <a:solidFill>
            <a:schemeClr val="tx1"/>
          </a:solidFill>
          <a:latin typeface="+mn-lt"/>
          <a:ea typeface="+mn-ea"/>
          <a:cs typeface="+mn-cs"/>
        </a:defRPr>
      </a:lvl3pPr>
      <a:lvl4pPr marL="1073380" algn="l" defTabSz="715587" rtl="0" eaLnBrk="1" latinLnBrk="0" hangingPunct="1">
        <a:defRPr sz="1400" kern="1200">
          <a:solidFill>
            <a:schemeClr val="tx1"/>
          </a:solidFill>
          <a:latin typeface="+mn-lt"/>
          <a:ea typeface="+mn-ea"/>
          <a:cs typeface="+mn-cs"/>
        </a:defRPr>
      </a:lvl4pPr>
      <a:lvl5pPr marL="1431174" algn="l" defTabSz="715587" rtl="0" eaLnBrk="1" latinLnBrk="0" hangingPunct="1">
        <a:defRPr sz="1400" kern="1200">
          <a:solidFill>
            <a:schemeClr val="tx1"/>
          </a:solidFill>
          <a:latin typeface="+mn-lt"/>
          <a:ea typeface="+mn-ea"/>
          <a:cs typeface="+mn-cs"/>
        </a:defRPr>
      </a:lvl5pPr>
      <a:lvl6pPr marL="1788967" algn="l" defTabSz="715587" rtl="0" eaLnBrk="1" latinLnBrk="0" hangingPunct="1">
        <a:defRPr sz="1400" kern="1200">
          <a:solidFill>
            <a:schemeClr val="tx1"/>
          </a:solidFill>
          <a:latin typeface="+mn-lt"/>
          <a:ea typeface="+mn-ea"/>
          <a:cs typeface="+mn-cs"/>
        </a:defRPr>
      </a:lvl6pPr>
      <a:lvl7pPr marL="2146761" algn="l" defTabSz="715587" rtl="0" eaLnBrk="1" latinLnBrk="0" hangingPunct="1">
        <a:defRPr sz="1400" kern="1200">
          <a:solidFill>
            <a:schemeClr val="tx1"/>
          </a:solidFill>
          <a:latin typeface="+mn-lt"/>
          <a:ea typeface="+mn-ea"/>
          <a:cs typeface="+mn-cs"/>
        </a:defRPr>
      </a:lvl7pPr>
      <a:lvl8pPr marL="2504554" algn="l" defTabSz="715587" rtl="0" eaLnBrk="1" latinLnBrk="0" hangingPunct="1">
        <a:defRPr sz="1400" kern="1200">
          <a:solidFill>
            <a:schemeClr val="tx1"/>
          </a:solidFill>
          <a:latin typeface="+mn-lt"/>
          <a:ea typeface="+mn-ea"/>
          <a:cs typeface="+mn-cs"/>
        </a:defRPr>
      </a:lvl8pPr>
      <a:lvl9pPr marL="2862347" algn="l" defTabSz="715587"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2.xml"/><Relationship Id="rId1" Type="http://schemas.openxmlformats.org/officeDocument/2006/relationships/tags" Target="../tags/tag3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custDataLst>
              <p:tags r:id="rId1"/>
            </p:custDataLst>
          </p:nvPr>
        </p:nvSpPr>
        <p:spPr>
          <a:xfrm>
            <a:off x="4943238" y="2208806"/>
            <a:ext cx="4915261" cy="823618"/>
          </a:xfrm>
        </p:spPr>
        <p:txBody>
          <a:bodyPr vert="horz" lIns="0" tIns="28173" rIns="28173" bIns="28173" rtlCol="0" anchor="t">
            <a:noAutofit/>
          </a:bodyPr>
          <a:lstStyle>
            <a:lvl1pPr marL="0" indent="0" algn="l" defTabSz="914342" rtl="0" eaLnBrk="1" latinLnBrk="0" hangingPunct="1">
              <a:lnSpc>
                <a:spcPct val="85000"/>
              </a:lnSpc>
              <a:spcBef>
                <a:spcPct val="0"/>
              </a:spcBef>
              <a:buNone/>
              <a:defRPr lang="en-US" sz="4400" b="0" kern="1200" dirty="0">
                <a:solidFill>
                  <a:schemeClr val="tx1"/>
                </a:solidFill>
                <a:latin typeface="+mj-lt"/>
                <a:ea typeface="+mj-ea"/>
                <a:cs typeface="+mj-cs"/>
              </a:defRPr>
            </a:lvl1pPr>
          </a:lstStyle>
          <a:p>
            <a:r>
              <a:rPr lang="en-US" dirty="0"/>
              <a:t>Advanced PLSQL</a:t>
            </a:r>
          </a:p>
        </p:txBody>
      </p:sp>
      <p:sp>
        <p:nvSpPr>
          <p:cNvPr id="5" name="Subtitle 2"/>
          <p:cNvSpPr>
            <a:spLocks noGrp="1"/>
          </p:cNvSpPr>
          <p:nvPr>
            <p:ph type="subTitle" idx="1"/>
            <p:custDataLst>
              <p:tags r:id="rId2"/>
            </p:custDataLst>
          </p:nvPr>
        </p:nvSpPr>
        <p:spPr>
          <a:xfrm>
            <a:off x="4940137" y="3324784"/>
            <a:ext cx="4918363" cy="710813"/>
          </a:xfrm>
        </p:spPr>
        <p:txBody>
          <a:bodyPr lIns="0" tIns="28173" rIns="28173" bIns="28173"/>
          <a:lstStyle>
            <a:lvl1pPr marL="0" indent="0" algn="l">
              <a:buNone/>
              <a:defRPr sz="2200" b="0">
                <a:solidFill>
                  <a:schemeClr val="tx1"/>
                </a:solidFill>
              </a:defRPr>
            </a:lvl1pPr>
            <a:lvl2pPr marL="457171" indent="0" algn="ctr">
              <a:buNone/>
              <a:defRPr>
                <a:solidFill>
                  <a:schemeClr val="tx1">
                    <a:tint val="75000"/>
                  </a:schemeClr>
                </a:solidFill>
              </a:defRPr>
            </a:lvl2pPr>
            <a:lvl3pPr marL="914342" indent="0" algn="ctr">
              <a:buNone/>
              <a:defRPr>
                <a:solidFill>
                  <a:schemeClr val="tx1">
                    <a:tint val="75000"/>
                  </a:schemeClr>
                </a:solidFill>
              </a:defRPr>
            </a:lvl3pPr>
            <a:lvl4pPr marL="1371513" indent="0" algn="ctr">
              <a:buNone/>
              <a:defRPr>
                <a:solidFill>
                  <a:schemeClr val="tx1">
                    <a:tint val="75000"/>
                  </a:schemeClr>
                </a:solidFill>
              </a:defRPr>
            </a:lvl4pPr>
            <a:lvl5pPr marL="1828684" indent="0" algn="ctr">
              <a:buNone/>
              <a:defRPr>
                <a:solidFill>
                  <a:schemeClr val="tx1">
                    <a:tint val="75000"/>
                  </a:schemeClr>
                </a:solidFill>
              </a:defRPr>
            </a:lvl5pPr>
            <a:lvl6pPr marL="2285855" indent="0" algn="ctr">
              <a:buNone/>
              <a:defRPr>
                <a:solidFill>
                  <a:schemeClr val="tx1">
                    <a:tint val="75000"/>
                  </a:schemeClr>
                </a:solidFill>
              </a:defRPr>
            </a:lvl6pPr>
            <a:lvl7pPr marL="2743026" indent="0" algn="ctr">
              <a:buNone/>
              <a:defRPr>
                <a:solidFill>
                  <a:schemeClr val="tx1">
                    <a:tint val="75000"/>
                  </a:schemeClr>
                </a:solidFill>
              </a:defRPr>
            </a:lvl7pPr>
            <a:lvl8pPr marL="3200198" indent="0" algn="ctr">
              <a:buNone/>
              <a:defRPr>
                <a:solidFill>
                  <a:schemeClr val="tx1">
                    <a:tint val="75000"/>
                  </a:schemeClr>
                </a:solidFill>
              </a:defRPr>
            </a:lvl8pPr>
            <a:lvl9pPr marL="3657369" indent="0" algn="ctr">
              <a:buNone/>
              <a:defRPr>
                <a:solidFill>
                  <a:schemeClr val="tx1">
                    <a:tint val="75000"/>
                  </a:schemeClr>
                </a:solidFill>
              </a:defRPr>
            </a:lvl9pPr>
          </a:lstStyle>
          <a:p>
            <a:r>
              <a:rPr lang="fr-FR" sz="2000" dirty="0" err="1"/>
              <a:t>Lesson</a:t>
            </a:r>
            <a:r>
              <a:rPr lang="fr-FR" sz="2000" dirty="0"/>
              <a:t>  –  Large </a:t>
            </a:r>
            <a:r>
              <a:rPr lang="fr-FR" sz="2000" dirty="0" err="1"/>
              <a:t>Objects</a:t>
            </a:r>
            <a:r>
              <a:rPr lang="fr-FR" sz="2000" dirty="0"/>
              <a:t>(</a:t>
            </a:r>
            <a:r>
              <a:rPr lang="fr-FR" sz="2000" dirty="0" err="1"/>
              <a:t>LOBs</a:t>
            </a:r>
            <a:r>
              <a:rPr lang="fr-FR" sz="2000" dirty="0"/>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p:cNvSpPr>
          <p:nvPr/>
        </p:nvSpPr>
        <p:spPr bwMode="auto">
          <a:xfrm>
            <a:off x="390525" y="129781"/>
            <a:ext cx="8153400" cy="536972"/>
          </a:xfrm>
          <a:prstGeom prst="rect">
            <a:avLst/>
          </a:prstGeom>
          <a:noFill/>
          <a:ln w="9525">
            <a:noFill/>
            <a:miter lim="800000"/>
            <a:headEnd/>
            <a:tailEnd/>
          </a:ln>
        </p:spPr>
        <p:txBody>
          <a:bodyPr anchor="ctr"/>
          <a:lstStyle/>
          <a:p>
            <a:pPr eaLnBrk="0" hangingPunct="0">
              <a:lnSpc>
                <a:spcPct val="80000"/>
              </a:lnSpc>
            </a:pPr>
            <a:r>
              <a:rPr lang="en-US" sz="2800" b="1" dirty="0">
                <a:latin typeface="Candara"/>
                <a:ea typeface="+mj-ea"/>
                <a:cs typeface="Arial" pitchFamily="34" charset="0"/>
              </a:rPr>
              <a:t>Lesson Objectives</a:t>
            </a:r>
          </a:p>
        </p:txBody>
      </p:sp>
      <p:sp>
        <p:nvSpPr>
          <p:cNvPr id="5123" name="Content Placeholder 12"/>
          <p:cNvSpPr>
            <a:spLocks/>
          </p:cNvSpPr>
          <p:nvPr/>
        </p:nvSpPr>
        <p:spPr bwMode="auto">
          <a:xfrm>
            <a:off x="319088" y="925116"/>
            <a:ext cx="6157912" cy="3770709"/>
          </a:xfrm>
          <a:prstGeom prst="rect">
            <a:avLst/>
          </a:prstGeom>
          <a:noFill/>
          <a:ln w="9525">
            <a:noFill/>
            <a:miter lim="800000"/>
            <a:headEnd/>
            <a:tailEnd/>
          </a:ln>
        </p:spPr>
        <p:txBody>
          <a:bodyPr/>
          <a:lstStyle/>
          <a:p>
            <a:r>
              <a:rPr lang="en-US" dirty="0"/>
              <a:t>On completion of this lesson on REF Cursors, you will be able to:</a:t>
            </a:r>
          </a:p>
          <a:p>
            <a:pPr lvl="1"/>
            <a:r>
              <a:rPr lang="en-US" dirty="0"/>
              <a:t>Need for LOBs</a:t>
            </a:r>
          </a:p>
          <a:p>
            <a:pPr lvl="1"/>
            <a:r>
              <a:rPr lang="en-US" dirty="0"/>
              <a:t>Types of LOBs</a:t>
            </a:r>
          </a:p>
          <a:p>
            <a:pPr lvl="1" algn="just"/>
            <a:r>
              <a:rPr lang="en-US" dirty="0"/>
              <a:t>Comparison of LOBs with LONGs</a:t>
            </a:r>
          </a:p>
          <a:p>
            <a:pPr lvl="1"/>
            <a:r>
              <a:rPr lang="en-US" dirty="0"/>
              <a:t>Components of LOBs</a:t>
            </a:r>
          </a:p>
          <a:p>
            <a:pPr lvl="1"/>
            <a:r>
              <a:rPr lang="en-US" dirty="0"/>
              <a:t>Working with BFILEs.</a:t>
            </a:r>
          </a:p>
          <a:p>
            <a:pPr lvl="1"/>
            <a:r>
              <a:rPr lang="en-US" dirty="0"/>
              <a:t>Use of DBMS_LOB for working with LOBs</a:t>
            </a:r>
          </a:p>
          <a:p>
            <a:pPr lvl="1"/>
            <a:r>
              <a:rPr lang="en-US" dirty="0"/>
              <a:t>Initializing and Populating LOB columns</a:t>
            </a:r>
          </a:p>
          <a:p>
            <a:pPr lvl="1"/>
            <a:r>
              <a:rPr lang="en-US" dirty="0"/>
              <a:t>Managing Internal LOBs</a:t>
            </a:r>
          </a:p>
          <a:p>
            <a:pPr lvl="1"/>
            <a:r>
              <a:rPr lang="en-US" dirty="0"/>
              <a:t>Loading BLOB data using BFILE</a:t>
            </a:r>
          </a:p>
          <a:p>
            <a:pPr lvl="1"/>
            <a:r>
              <a:rPr lang="en-US" dirty="0"/>
              <a:t>SQL LOADER support for LOBs</a:t>
            </a:r>
          </a:p>
        </p:txBody>
      </p:sp>
      <p:grpSp>
        <p:nvGrpSpPr>
          <p:cNvPr id="2" name="Group 17"/>
          <p:cNvGrpSpPr>
            <a:grpSpLocks/>
          </p:cNvGrpSpPr>
          <p:nvPr/>
        </p:nvGrpSpPr>
        <p:grpSpPr bwMode="auto">
          <a:xfrm>
            <a:off x="6934200" y="1182291"/>
            <a:ext cx="1716088" cy="1103709"/>
            <a:chOff x="4176" y="993"/>
            <a:chExt cx="1273" cy="1119"/>
          </a:xfrm>
        </p:grpSpPr>
        <p:sp>
          <p:nvSpPr>
            <p:cNvPr id="5125" name="Rectangle 14"/>
            <p:cNvSpPr>
              <a:spLocks noChangeArrowheads="1"/>
            </p:cNvSpPr>
            <p:nvPr/>
          </p:nvSpPr>
          <p:spPr bwMode="auto">
            <a:xfrm>
              <a:off x="4176" y="993"/>
              <a:ext cx="1273" cy="1119"/>
            </a:xfrm>
            <a:prstGeom prst="rect">
              <a:avLst/>
            </a:prstGeom>
            <a:solidFill>
              <a:srgbClr val="FFC979"/>
            </a:solidFill>
            <a:ln w="12700">
              <a:solidFill>
                <a:srgbClr val="408585"/>
              </a:solidFill>
              <a:miter lim="800000"/>
              <a:headEnd/>
              <a:tailEnd/>
            </a:ln>
          </p:spPr>
          <p:txBody>
            <a:bodyPr wrap="none" anchor="ctr"/>
            <a:lstStyle/>
            <a:p>
              <a:endParaRPr lang="en-US"/>
            </a:p>
          </p:txBody>
        </p:sp>
        <p:pic>
          <p:nvPicPr>
            <p:cNvPr id="5126" name="Picture 16" descr="objectives"/>
            <p:cNvPicPr>
              <a:picLocks noChangeAspect="1" noChangeArrowheads="1"/>
            </p:cNvPicPr>
            <p:nvPr/>
          </p:nvPicPr>
          <p:blipFill>
            <a:blip r:embed="rId3" cstate="print"/>
            <a:srcRect/>
            <a:stretch>
              <a:fillRect/>
            </a:stretch>
          </p:blipFill>
          <p:spPr bwMode="auto">
            <a:xfrm>
              <a:off x="4284" y="1080"/>
              <a:ext cx="1056" cy="960"/>
            </a:xfrm>
            <a:prstGeom prst="rect">
              <a:avLst/>
            </a:prstGeom>
            <a:noFill/>
            <a:ln w="9525">
              <a:noFill/>
              <a:miter lim="800000"/>
              <a:headEnd/>
              <a:tailEnd/>
            </a:ln>
          </p:spPr>
        </p:pic>
      </p:grpSp>
    </p:spTree>
    <p:extLst>
      <p:ext uri="{BB962C8B-B14F-4D97-AF65-F5344CB8AC3E}">
        <p14:creationId xmlns:p14="http://schemas.microsoft.com/office/powerpoint/2010/main" val="21053390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926306"/>
            <a:ext cx="8570662" cy="3771900"/>
          </a:xfrm>
        </p:spPr>
        <p:txBody>
          <a:bodyPr>
            <a:normAutofit/>
          </a:bodyPr>
          <a:lstStyle/>
          <a:p>
            <a:pPr algn="just">
              <a:buNone/>
              <a:defRPr/>
            </a:pPr>
            <a:r>
              <a:rPr lang="en-US" dirty="0"/>
              <a:t>LOBs</a:t>
            </a:r>
          </a:p>
          <a:p>
            <a:pPr algn="just"/>
            <a:r>
              <a:rPr lang="en-US" sz="2000" dirty="0"/>
              <a:t>LOBs are used to store large unstructured data such as text, graphics, films, and sound waveforms.</a:t>
            </a:r>
          </a:p>
          <a:p>
            <a:pPr>
              <a:buNone/>
            </a:pPr>
            <a:r>
              <a:rPr lang="en-US" sz="2000" dirty="0"/>
              <a:t> </a:t>
            </a:r>
          </a:p>
          <a:p>
            <a:pPr algn="just"/>
            <a:r>
              <a:rPr lang="en-US" sz="2000" dirty="0"/>
              <a:t>A LOB data-type is a data-type that is used to store such unstructured data.</a:t>
            </a:r>
          </a:p>
          <a:p>
            <a:pPr>
              <a:buNone/>
            </a:pPr>
            <a:r>
              <a:rPr lang="en-US" sz="2000" dirty="0"/>
              <a:t> </a:t>
            </a:r>
          </a:p>
          <a:p>
            <a:pPr algn="just"/>
            <a:r>
              <a:rPr lang="en-US" sz="2000" dirty="0"/>
              <a:t>Normally, structured data(data stored in data-types other than LOB data-types) could be few 100 bytes in length. But data such as video-clippings, images, text, graphics can be thousands of time larger. Also, multimedia data may reside in OS files, which may need to be accessed from a database.</a:t>
            </a:r>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400" b="1" dirty="0">
                <a:latin typeface="Candara"/>
              </a:rPr>
              <a:t>5.1: Introduction to </a:t>
            </a:r>
            <a:r>
              <a:rPr lang="en-US" sz="1400" dirty="0">
                <a:latin typeface="Candara"/>
              </a:rPr>
              <a:t>Large-Objects(LOBs)</a:t>
            </a:r>
            <a:br>
              <a:rPr lang="en-US" sz="1200" b="1" dirty="0">
                <a:latin typeface="Candara"/>
              </a:rPr>
            </a:br>
            <a:r>
              <a:rPr lang="en-US" b="1" dirty="0">
                <a:latin typeface="Candara"/>
              </a:rPr>
              <a:t>What is </a:t>
            </a:r>
            <a:r>
              <a:rPr lang="en-US" dirty="0">
                <a:latin typeface="Candara"/>
              </a:rPr>
              <a:t>a Large-Object</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4" y="926306"/>
            <a:ext cx="8823325" cy="3771900"/>
          </a:xfrm>
        </p:spPr>
        <p:txBody>
          <a:bodyPr>
            <a:normAutofit/>
          </a:bodyPr>
          <a:lstStyle/>
          <a:p>
            <a:pPr algn="just">
              <a:buNone/>
              <a:defRPr/>
            </a:pPr>
            <a:endParaRPr lang="en-US" dirty="0"/>
          </a:p>
          <a:p>
            <a:pPr algn="just">
              <a:buNone/>
              <a:defRPr/>
            </a:pPr>
            <a:r>
              <a:rPr lang="en-US" sz="3200" dirty="0"/>
              <a:t>Categories of LOBs based upon storage-aspect </a:t>
            </a:r>
          </a:p>
          <a:p>
            <a:r>
              <a:rPr lang="en-US" sz="2000" b="1" dirty="0"/>
              <a:t>LOBs can be stored internally(inside the database) or in host files(OS files). There are two categories of LOBs :</a:t>
            </a:r>
          </a:p>
          <a:p>
            <a:pPr>
              <a:buNone/>
            </a:pPr>
            <a:endParaRPr lang="en-US" sz="2000" dirty="0"/>
          </a:p>
          <a:p>
            <a:pPr lvl="1"/>
            <a:r>
              <a:rPr lang="en-US" sz="1600" b="1" dirty="0"/>
              <a:t>Internal LOBs(CLOB, </a:t>
            </a:r>
            <a:r>
              <a:rPr lang="en-US" sz="1600" dirty="0"/>
              <a:t>NCLOB</a:t>
            </a:r>
            <a:r>
              <a:rPr lang="en-US" sz="1600" b="1" dirty="0"/>
              <a:t>, BLOB) : Stored in the database</a:t>
            </a:r>
            <a:endParaRPr lang="en-US" sz="1600" dirty="0"/>
          </a:p>
          <a:p>
            <a:pPr lvl="1"/>
            <a:endParaRPr lang="en-US" sz="1600" b="1" dirty="0"/>
          </a:p>
          <a:p>
            <a:pPr lvl="1"/>
            <a:r>
              <a:rPr lang="en-US" sz="1600" b="1" dirty="0"/>
              <a:t>External LOBs(BFILE) : Stored outside the database as files. BFILEs can be accessed only in read-only mode from an Oracle Server.</a:t>
            </a:r>
            <a:endParaRPr lang="en-US" sz="1600" dirty="0"/>
          </a:p>
          <a:p>
            <a:pPr lvl="1" algn="just">
              <a:buNone/>
            </a:pPr>
            <a:endParaRPr lang="en-US" sz="1600" dirty="0"/>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400" b="1" dirty="0">
                <a:latin typeface="Candara"/>
              </a:rPr>
              <a:t>5.2:  </a:t>
            </a:r>
            <a:r>
              <a:rPr lang="en-US" sz="1400" dirty="0">
                <a:latin typeface="Candara"/>
              </a:rPr>
              <a:t>Types of LOBs</a:t>
            </a:r>
            <a:br>
              <a:rPr lang="en-US" sz="1200" b="1" dirty="0">
                <a:latin typeface="Candara"/>
              </a:rPr>
            </a:br>
            <a:r>
              <a:rPr lang="en-US" dirty="0">
                <a:latin typeface="Candara"/>
              </a:rPr>
              <a:t>Internal and External LOBs</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4" y="926306"/>
            <a:ext cx="8823325" cy="3771900"/>
          </a:xfrm>
        </p:spPr>
        <p:txBody>
          <a:bodyPr>
            <a:normAutofit fontScale="92500" lnSpcReduction="10000"/>
          </a:bodyPr>
          <a:lstStyle/>
          <a:p>
            <a:pPr algn="just">
              <a:defRPr/>
            </a:pPr>
            <a:r>
              <a:rPr lang="en-US" sz="3200" dirty="0"/>
              <a:t>Internal LOBS are categorized as follows based upon their interpretation by Oracle :</a:t>
            </a:r>
          </a:p>
          <a:p>
            <a:pPr lvl="1" algn="just"/>
            <a:r>
              <a:rPr lang="en-US" sz="1600" b="1" dirty="0"/>
              <a:t>The BLOB data-type is interpreted by the Oracle Server as a bit-stream.</a:t>
            </a:r>
            <a:endParaRPr lang="en-US" sz="1600" dirty="0"/>
          </a:p>
          <a:p>
            <a:pPr lvl="1"/>
            <a:endParaRPr lang="en-US" sz="1600" b="1" dirty="0"/>
          </a:p>
          <a:p>
            <a:pPr lvl="1"/>
            <a:r>
              <a:rPr lang="en-US" sz="1600" b="1" dirty="0"/>
              <a:t>The CLOB data-type is interpreted as a single-byte character stream</a:t>
            </a:r>
            <a:endParaRPr lang="en-US" sz="1600" dirty="0"/>
          </a:p>
          <a:p>
            <a:pPr lvl="1">
              <a:buNone/>
            </a:pPr>
            <a:endParaRPr lang="en-US" sz="1600" b="1" dirty="0"/>
          </a:p>
          <a:p>
            <a:pPr lvl="1"/>
            <a:r>
              <a:rPr lang="en-US" sz="1600" b="1" dirty="0"/>
              <a:t>The NCLOB data-type is interpreted as a multi-byte character stream</a:t>
            </a:r>
            <a:endParaRPr lang="en-US" sz="1600" dirty="0"/>
          </a:p>
          <a:p>
            <a:pPr algn="just">
              <a:defRPr/>
            </a:pPr>
            <a:endParaRPr lang="en-US" sz="3200" dirty="0"/>
          </a:p>
          <a:p>
            <a:pPr algn="just">
              <a:defRPr/>
            </a:pPr>
            <a:r>
              <a:rPr lang="en-US" sz="3200" dirty="0"/>
              <a:t>External LOBS are stored outside the Oracle Database, hence Oracle can only point to those file.</a:t>
            </a:r>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400" b="1" dirty="0">
                <a:latin typeface="Candara"/>
              </a:rPr>
              <a:t>5.2:  </a:t>
            </a:r>
            <a:r>
              <a:rPr lang="en-US" sz="1400" dirty="0">
                <a:latin typeface="Candara"/>
              </a:rPr>
              <a:t>Types of LOBs							…….</a:t>
            </a:r>
            <a:r>
              <a:rPr lang="en-US" sz="1400" dirty="0" err="1">
                <a:latin typeface="Candara"/>
              </a:rPr>
              <a:t>contd</a:t>
            </a:r>
            <a:br>
              <a:rPr lang="en-US" sz="1200" b="1" dirty="0">
                <a:latin typeface="Candara"/>
              </a:rPr>
            </a:br>
            <a:r>
              <a:rPr lang="en-US" dirty="0">
                <a:latin typeface="Candara"/>
              </a:rPr>
              <a:t>LOB-interpretations by Oracle</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4" y="926305"/>
            <a:ext cx="8823325" cy="3838199"/>
          </a:xfrm>
        </p:spPr>
        <p:txBody>
          <a:bodyPr>
            <a:normAutofit fontScale="92500" lnSpcReduction="10000"/>
          </a:bodyPr>
          <a:lstStyle/>
          <a:p>
            <a:pPr algn="just">
              <a:defRPr/>
            </a:pPr>
            <a:r>
              <a:rPr lang="en-US" sz="2800" dirty="0"/>
              <a:t>Oracle Database 10G onwards implicit conversion between CLOB and VARCHAR2/Char data types happens.</a:t>
            </a:r>
          </a:p>
          <a:p>
            <a:pPr>
              <a:buNone/>
            </a:pPr>
            <a:r>
              <a:rPr lang="en-US" sz="1300" dirty="0">
                <a:ln>
                  <a:solidFill>
                    <a:srgbClr val="00B0F0"/>
                  </a:solidFill>
                </a:ln>
                <a:solidFill>
                  <a:srgbClr val="00B0F0"/>
                </a:solidFill>
              </a:rPr>
              <a:t>		create table x(c1 varchar2(10));</a:t>
            </a:r>
          </a:p>
          <a:p>
            <a:pPr>
              <a:buNone/>
            </a:pPr>
            <a:r>
              <a:rPr lang="en-US" sz="1300" dirty="0">
                <a:ln>
                  <a:solidFill>
                    <a:srgbClr val="00B0F0"/>
                  </a:solidFill>
                </a:ln>
                <a:solidFill>
                  <a:srgbClr val="00B0F0"/>
                </a:solidFill>
              </a:rPr>
              <a:t>		insert into x values('</a:t>
            </a:r>
            <a:r>
              <a:rPr lang="en-US" sz="1300" dirty="0" err="1">
                <a:ln>
                  <a:solidFill>
                    <a:srgbClr val="00B0F0"/>
                  </a:solidFill>
                </a:ln>
                <a:solidFill>
                  <a:srgbClr val="00B0F0"/>
                </a:solidFill>
              </a:rPr>
              <a:t>abc</a:t>
            </a:r>
            <a:r>
              <a:rPr lang="en-US" sz="1300" dirty="0">
                <a:ln>
                  <a:solidFill>
                    <a:srgbClr val="00B0F0"/>
                  </a:solidFill>
                </a:ln>
                <a:solidFill>
                  <a:srgbClr val="00B0F0"/>
                </a:solidFill>
              </a:rPr>
              <a:t>');</a:t>
            </a:r>
          </a:p>
          <a:p>
            <a:pPr>
              <a:buNone/>
            </a:pPr>
            <a:endParaRPr lang="en-US" sz="1300" dirty="0">
              <a:ln>
                <a:solidFill>
                  <a:srgbClr val="00B0F0"/>
                </a:solidFill>
              </a:ln>
              <a:solidFill>
                <a:srgbClr val="00B0F0"/>
              </a:solidFill>
            </a:endParaRPr>
          </a:p>
          <a:p>
            <a:pPr>
              <a:buNone/>
            </a:pPr>
            <a:r>
              <a:rPr lang="en-US" sz="1300" dirty="0">
                <a:ln>
                  <a:solidFill>
                    <a:srgbClr val="00B0F0"/>
                  </a:solidFill>
                </a:ln>
                <a:solidFill>
                  <a:srgbClr val="00B0F0"/>
                </a:solidFill>
              </a:rPr>
              <a:t>		create table y(c1 </a:t>
            </a:r>
            <a:r>
              <a:rPr lang="en-US" sz="1300" dirty="0" err="1">
                <a:ln>
                  <a:solidFill>
                    <a:srgbClr val="00B0F0"/>
                  </a:solidFill>
                </a:ln>
                <a:solidFill>
                  <a:srgbClr val="00B0F0"/>
                </a:solidFill>
              </a:rPr>
              <a:t>clob</a:t>
            </a:r>
            <a:r>
              <a:rPr lang="en-US" sz="1300" dirty="0">
                <a:ln>
                  <a:solidFill>
                    <a:srgbClr val="00B0F0"/>
                  </a:solidFill>
                </a:ln>
                <a:solidFill>
                  <a:srgbClr val="00B0F0"/>
                </a:solidFill>
              </a:rPr>
              <a:t>);</a:t>
            </a:r>
          </a:p>
          <a:p>
            <a:pPr>
              <a:buNone/>
            </a:pPr>
            <a:r>
              <a:rPr lang="en-US" sz="1300" dirty="0">
                <a:ln>
                  <a:solidFill>
                    <a:srgbClr val="00B0F0"/>
                  </a:solidFill>
                </a:ln>
                <a:solidFill>
                  <a:srgbClr val="00B0F0"/>
                </a:solidFill>
              </a:rPr>
              <a:t>		insert into y values('</a:t>
            </a:r>
            <a:r>
              <a:rPr lang="en-US" sz="1300" dirty="0" err="1">
                <a:ln>
                  <a:solidFill>
                    <a:srgbClr val="00B0F0"/>
                  </a:solidFill>
                </a:ln>
                <a:solidFill>
                  <a:srgbClr val="00B0F0"/>
                </a:solidFill>
              </a:rPr>
              <a:t>abc</a:t>
            </a:r>
            <a:r>
              <a:rPr lang="en-US" sz="1300" dirty="0">
                <a:ln>
                  <a:solidFill>
                    <a:srgbClr val="00B0F0"/>
                  </a:solidFill>
                </a:ln>
                <a:solidFill>
                  <a:srgbClr val="00B0F0"/>
                </a:solidFill>
              </a:rPr>
              <a:t>');</a:t>
            </a:r>
          </a:p>
          <a:p>
            <a:pPr>
              <a:buNone/>
            </a:pPr>
            <a:endParaRPr lang="en-US" sz="1300" dirty="0">
              <a:ln>
                <a:solidFill>
                  <a:srgbClr val="00B0F0"/>
                </a:solidFill>
              </a:ln>
              <a:solidFill>
                <a:srgbClr val="00B0F0"/>
              </a:solidFill>
            </a:endParaRPr>
          </a:p>
          <a:p>
            <a:r>
              <a:rPr lang="en-US" sz="2800" dirty="0"/>
              <a:t>The following implicit conversions are supported :</a:t>
            </a:r>
          </a:p>
          <a:p>
            <a:pPr>
              <a:buNone/>
            </a:pPr>
            <a:r>
              <a:rPr lang="en-US" sz="1300" dirty="0">
                <a:ln>
                  <a:solidFill>
                    <a:srgbClr val="00B0F0"/>
                  </a:solidFill>
                </a:ln>
                <a:solidFill>
                  <a:srgbClr val="00B0F0"/>
                </a:solidFill>
              </a:rPr>
              <a:t>		insert into x select * from y;</a:t>
            </a:r>
          </a:p>
          <a:p>
            <a:pPr>
              <a:buNone/>
            </a:pPr>
            <a:r>
              <a:rPr lang="en-US" sz="1300" dirty="0">
                <a:ln>
                  <a:solidFill>
                    <a:srgbClr val="00B0F0"/>
                  </a:solidFill>
                </a:ln>
                <a:solidFill>
                  <a:srgbClr val="00B0F0"/>
                </a:solidFill>
              </a:rPr>
              <a:t>		insert into y select * from x;</a:t>
            </a:r>
          </a:p>
          <a:p>
            <a:pPr algn="just">
              <a:defRPr/>
            </a:pPr>
            <a:r>
              <a:rPr lang="en-US" sz="2800" dirty="0"/>
              <a:t>The above conversion is subject to size-limit or non-violation of size</a:t>
            </a:r>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400" b="1" dirty="0">
                <a:latin typeface="Candara"/>
              </a:rPr>
              <a:t>5.3:  </a:t>
            </a:r>
            <a:r>
              <a:rPr lang="en-US" sz="1400" dirty="0">
                <a:latin typeface="Candara"/>
              </a:rPr>
              <a:t>Conversion between Char/Varchar and CLOB					</a:t>
            </a:r>
            <a:br>
              <a:rPr lang="en-US" sz="1200" b="1" dirty="0">
                <a:latin typeface="Candara"/>
              </a:rPr>
            </a:br>
            <a:r>
              <a:rPr lang="en-US" dirty="0">
                <a:latin typeface="Candara"/>
              </a:rPr>
              <a:t>Implicit conversion between Char/Varchar and CLOB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4" y="926305"/>
            <a:ext cx="8823325" cy="3838199"/>
          </a:xfrm>
        </p:spPr>
        <p:txBody>
          <a:bodyPr>
            <a:normAutofit lnSpcReduction="10000"/>
          </a:bodyPr>
          <a:lstStyle/>
          <a:p>
            <a:pPr algn="just">
              <a:defRPr/>
            </a:pPr>
            <a:r>
              <a:rPr lang="en-US" sz="2800" dirty="0"/>
              <a:t>Oracle Database 10G does not allow alterations between CLOB and VARCHAR/Char.</a:t>
            </a:r>
          </a:p>
          <a:p>
            <a:pPr>
              <a:buNone/>
            </a:pPr>
            <a:r>
              <a:rPr lang="en-US" sz="1300" dirty="0">
                <a:ln>
                  <a:solidFill>
                    <a:srgbClr val="00B0F0"/>
                  </a:solidFill>
                </a:ln>
                <a:solidFill>
                  <a:srgbClr val="00B0F0"/>
                </a:solidFill>
              </a:rPr>
              <a:t>		create table x(c1 varchar2(10));</a:t>
            </a:r>
          </a:p>
          <a:p>
            <a:pPr>
              <a:buNone/>
            </a:pPr>
            <a:r>
              <a:rPr lang="en-US" sz="1300" dirty="0">
                <a:ln>
                  <a:solidFill>
                    <a:srgbClr val="00B0F0"/>
                  </a:solidFill>
                </a:ln>
                <a:solidFill>
                  <a:srgbClr val="00B0F0"/>
                </a:solidFill>
              </a:rPr>
              <a:t>		insert into x values('</a:t>
            </a:r>
            <a:r>
              <a:rPr lang="en-US" sz="1300" dirty="0" err="1">
                <a:ln>
                  <a:solidFill>
                    <a:srgbClr val="00B0F0"/>
                  </a:solidFill>
                </a:ln>
                <a:solidFill>
                  <a:srgbClr val="00B0F0"/>
                </a:solidFill>
              </a:rPr>
              <a:t>abc</a:t>
            </a:r>
            <a:r>
              <a:rPr lang="en-US" sz="1300" dirty="0">
                <a:ln>
                  <a:solidFill>
                    <a:srgbClr val="00B0F0"/>
                  </a:solidFill>
                </a:ln>
                <a:solidFill>
                  <a:srgbClr val="00B0F0"/>
                </a:solidFill>
              </a:rPr>
              <a:t>');</a:t>
            </a:r>
          </a:p>
          <a:p>
            <a:pPr>
              <a:buNone/>
            </a:pPr>
            <a:endParaRPr lang="en-US" sz="1300" dirty="0">
              <a:ln>
                <a:solidFill>
                  <a:srgbClr val="00B0F0"/>
                </a:solidFill>
              </a:ln>
              <a:solidFill>
                <a:srgbClr val="00B0F0"/>
              </a:solidFill>
            </a:endParaRPr>
          </a:p>
          <a:p>
            <a:pPr>
              <a:buNone/>
            </a:pPr>
            <a:r>
              <a:rPr lang="en-US" sz="1300" dirty="0">
                <a:ln>
                  <a:solidFill>
                    <a:srgbClr val="00B0F0"/>
                  </a:solidFill>
                </a:ln>
                <a:solidFill>
                  <a:srgbClr val="00B0F0"/>
                </a:solidFill>
              </a:rPr>
              <a:t>		create table y(c1 </a:t>
            </a:r>
            <a:r>
              <a:rPr lang="en-US" sz="1300" dirty="0" err="1">
                <a:ln>
                  <a:solidFill>
                    <a:srgbClr val="00B0F0"/>
                  </a:solidFill>
                </a:ln>
                <a:solidFill>
                  <a:srgbClr val="00B0F0"/>
                </a:solidFill>
              </a:rPr>
              <a:t>clob</a:t>
            </a:r>
            <a:r>
              <a:rPr lang="en-US" sz="1300" dirty="0">
                <a:ln>
                  <a:solidFill>
                    <a:srgbClr val="00B0F0"/>
                  </a:solidFill>
                </a:ln>
                <a:solidFill>
                  <a:srgbClr val="00B0F0"/>
                </a:solidFill>
              </a:rPr>
              <a:t>);</a:t>
            </a:r>
          </a:p>
          <a:p>
            <a:pPr>
              <a:buNone/>
            </a:pPr>
            <a:r>
              <a:rPr lang="en-US" sz="1300" dirty="0">
                <a:ln>
                  <a:solidFill>
                    <a:srgbClr val="00B0F0"/>
                  </a:solidFill>
                </a:ln>
                <a:solidFill>
                  <a:srgbClr val="00B0F0"/>
                </a:solidFill>
              </a:rPr>
              <a:t>		insert into y values('</a:t>
            </a:r>
            <a:r>
              <a:rPr lang="en-US" sz="1300" dirty="0" err="1">
                <a:ln>
                  <a:solidFill>
                    <a:srgbClr val="00B0F0"/>
                  </a:solidFill>
                </a:ln>
                <a:solidFill>
                  <a:srgbClr val="00B0F0"/>
                </a:solidFill>
              </a:rPr>
              <a:t>abc</a:t>
            </a:r>
            <a:r>
              <a:rPr lang="en-US" sz="1300" dirty="0">
                <a:ln>
                  <a:solidFill>
                    <a:srgbClr val="00B0F0"/>
                  </a:solidFill>
                </a:ln>
                <a:solidFill>
                  <a:srgbClr val="00B0F0"/>
                </a:solidFill>
              </a:rPr>
              <a:t>');</a:t>
            </a:r>
          </a:p>
          <a:p>
            <a:pPr>
              <a:buNone/>
            </a:pPr>
            <a:endParaRPr lang="en-US" sz="1300" dirty="0">
              <a:ln>
                <a:solidFill>
                  <a:srgbClr val="00B0F0"/>
                </a:solidFill>
              </a:ln>
              <a:solidFill>
                <a:srgbClr val="00B0F0"/>
              </a:solidFill>
            </a:endParaRPr>
          </a:p>
          <a:p>
            <a:r>
              <a:rPr lang="en-US" sz="2800" dirty="0"/>
              <a:t>The following alterations will give errors :</a:t>
            </a:r>
          </a:p>
          <a:p>
            <a:pPr>
              <a:buNone/>
            </a:pPr>
            <a:r>
              <a:rPr lang="en-US" sz="1300" dirty="0">
                <a:ln>
                  <a:solidFill>
                    <a:srgbClr val="00B0F0"/>
                  </a:solidFill>
                </a:ln>
                <a:solidFill>
                  <a:srgbClr val="00B0F0"/>
                </a:solidFill>
              </a:rPr>
              <a:t>		alter table x modify c1 </a:t>
            </a:r>
            <a:r>
              <a:rPr lang="en-US" sz="1300" dirty="0" err="1">
                <a:ln>
                  <a:solidFill>
                    <a:srgbClr val="00B0F0"/>
                  </a:solidFill>
                </a:ln>
                <a:solidFill>
                  <a:srgbClr val="00B0F0"/>
                </a:solidFill>
              </a:rPr>
              <a:t>clob</a:t>
            </a:r>
            <a:r>
              <a:rPr lang="en-US" sz="1500" dirty="0"/>
              <a:t>;</a:t>
            </a:r>
          </a:p>
          <a:p>
            <a:pPr>
              <a:buNone/>
            </a:pPr>
            <a:r>
              <a:rPr lang="en-US" sz="1500" dirty="0"/>
              <a:t>			ORA-22858: invalid alteration of </a:t>
            </a:r>
            <a:r>
              <a:rPr lang="en-US" sz="1500" dirty="0" err="1"/>
              <a:t>datatype</a:t>
            </a:r>
            <a:endParaRPr lang="en-US" sz="1500" dirty="0"/>
          </a:p>
          <a:p>
            <a:pPr>
              <a:buNone/>
            </a:pPr>
            <a:r>
              <a:rPr lang="en-US" sz="1300" dirty="0">
                <a:ln>
                  <a:solidFill>
                    <a:srgbClr val="00B0F0"/>
                  </a:solidFill>
                </a:ln>
                <a:solidFill>
                  <a:srgbClr val="00B0F0"/>
                </a:solidFill>
              </a:rPr>
              <a:t>		alter table y modify c1 varchar2(10);</a:t>
            </a:r>
          </a:p>
          <a:p>
            <a:pPr>
              <a:buNone/>
            </a:pPr>
            <a:r>
              <a:rPr lang="en-US" sz="1500" dirty="0"/>
              <a:t>			ORA-22859: invalid modification of columns</a:t>
            </a:r>
          </a:p>
          <a:p>
            <a:pPr>
              <a:buNone/>
            </a:pPr>
            <a:endParaRPr lang="en-US" sz="2800" dirty="0"/>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400" b="1" dirty="0">
                <a:latin typeface="Candara"/>
              </a:rPr>
              <a:t>5.4:  </a:t>
            </a:r>
            <a:r>
              <a:rPr lang="en-US" sz="1400" dirty="0">
                <a:latin typeface="Candara"/>
              </a:rPr>
              <a:t>Alteration between Char/Varchar and CLOB					</a:t>
            </a:r>
            <a:br>
              <a:rPr lang="en-US" sz="1200" b="1" dirty="0">
                <a:latin typeface="Candara"/>
              </a:rPr>
            </a:br>
            <a:r>
              <a:rPr lang="en-US" dirty="0">
                <a:latin typeface="Candara"/>
              </a:rPr>
              <a:t>Alteration between Char/Varchar and CLOB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4" y="926305"/>
            <a:ext cx="8823325" cy="3838199"/>
          </a:xfrm>
        </p:spPr>
        <p:txBody>
          <a:bodyPr>
            <a:normAutofit fontScale="92500" lnSpcReduction="10000"/>
          </a:bodyPr>
          <a:lstStyle/>
          <a:p>
            <a:pPr algn="just">
              <a:defRPr/>
            </a:pPr>
            <a:r>
              <a:rPr lang="en-US" sz="2800" dirty="0"/>
              <a:t>Implicit conversion from CLOB to LONG happens, but LONG to CLOB is not implicitly possible :</a:t>
            </a:r>
          </a:p>
          <a:p>
            <a:pPr>
              <a:buNone/>
            </a:pPr>
            <a:r>
              <a:rPr lang="en-US" sz="1300" dirty="0">
                <a:ln>
                  <a:solidFill>
                    <a:srgbClr val="00B0F0"/>
                  </a:solidFill>
                </a:ln>
                <a:solidFill>
                  <a:srgbClr val="00B0F0"/>
                </a:solidFill>
              </a:rPr>
              <a:t>		create table x(c1 long);</a:t>
            </a:r>
          </a:p>
          <a:p>
            <a:pPr>
              <a:buNone/>
            </a:pPr>
            <a:r>
              <a:rPr lang="en-US" sz="1300" dirty="0">
                <a:ln>
                  <a:solidFill>
                    <a:srgbClr val="00B0F0"/>
                  </a:solidFill>
                </a:ln>
                <a:solidFill>
                  <a:srgbClr val="00B0F0"/>
                </a:solidFill>
              </a:rPr>
              <a:t>		insert into x values('</a:t>
            </a:r>
            <a:r>
              <a:rPr lang="en-US" sz="1300" dirty="0" err="1">
                <a:ln>
                  <a:solidFill>
                    <a:srgbClr val="00B0F0"/>
                  </a:solidFill>
                </a:ln>
                <a:solidFill>
                  <a:srgbClr val="00B0F0"/>
                </a:solidFill>
              </a:rPr>
              <a:t>abc</a:t>
            </a:r>
            <a:r>
              <a:rPr lang="en-US" sz="1300" dirty="0">
                <a:ln>
                  <a:solidFill>
                    <a:srgbClr val="00B0F0"/>
                  </a:solidFill>
                </a:ln>
                <a:solidFill>
                  <a:srgbClr val="00B0F0"/>
                </a:solidFill>
              </a:rPr>
              <a:t>');</a:t>
            </a:r>
          </a:p>
          <a:p>
            <a:pPr>
              <a:buNone/>
            </a:pPr>
            <a:r>
              <a:rPr lang="en-US" sz="1300" dirty="0">
                <a:ln>
                  <a:solidFill>
                    <a:srgbClr val="00B0F0"/>
                  </a:solidFill>
                </a:ln>
                <a:solidFill>
                  <a:srgbClr val="00B0F0"/>
                </a:solidFill>
              </a:rPr>
              <a:t> </a:t>
            </a:r>
          </a:p>
          <a:p>
            <a:pPr>
              <a:buNone/>
            </a:pPr>
            <a:r>
              <a:rPr lang="en-US" sz="1300" dirty="0">
                <a:ln>
                  <a:solidFill>
                    <a:srgbClr val="00B0F0"/>
                  </a:solidFill>
                </a:ln>
                <a:solidFill>
                  <a:srgbClr val="00B0F0"/>
                </a:solidFill>
              </a:rPr>
              <a:t>		create table y(c1 </a:t>
            </a:r>
            <a:r>
              <a:rPr lang="en-US" sz="1300" dirty="0" err="1">
                <a:ln>
                  <a:solidFill>
                    <a:srgbClr val="00B0F0"/>
                  </a:solidFill>
                </a:ln>
                <a:solidFill>
                  <a:srgbClr val="00B0F0"/>
                </a:solidFill>
              </a:rPr>
              <a:t>clob</a:t>
            </a:r>
            <a:r>
              <a:rPr lang="en-US" sz="1300" dirty="0">
                <a:ln>
                  <a:solidFill>
                    <a:srgbClr val="00B0F0"/>
                  </a:solidFill>
                </a:ln>
                <a:solidFill>
                  <a:srgbClr val="00B0F0"/>
                </a:solidFill>
              </a:rPr>
              <a:t>);</a:t>
            </a:r>
          </a:p>
          <a:p>
            <a:pPr>
              <a:buNone/>
            </a:pPr>
            <a:r>
              <a:rPr lang="en-US" sz="1300" dirty="0">
                <a:ln>
                  <a:solidFill>
                    <a:srgbClr val="00B0F0"/>
                  </a:solidFill>
                </a:ln>
                <a:solidFill>
                  <a:srgbClr val="00B0F0"/>
                </a:solidFill>
              </a:rPr>
              <a:t>		insert into y values('</a:t>
            </a:r>
            <a:r>
              <a:rPr lang="en-US" sz="1300" dirty="0" err="1">
                <a:ln>
                  <a:solidFill>
                    <a:srgbClr val="00B0F0"/>
                  </a:solidFill>
                </a:ln>
                <a:solidFill>
                  <a:srgbClr val="00B0F0"/>
                </a:solidFill>
              </a:rPr>
              <a:t>abc</a:t>
            </a:r>
            <a:r>
              <a:rPr lang="en-US" sz="1300" dirty="0">
                <a:ln>
                  <a:solidFill>
                    <a:srgbClr val="00B0F0"/>
                  </a:solidFill>
                </a:ln>
                <a:solidFill>
                  <a:srgbClr val="00B0F0"/>
                </a:solidFill>
              </a:rPr>
              <a:t>');</a:t>
            </a:r>
          </a:p>
          <a:p>
            <a:pPr>
              <a:buNone/>
            </a:pPr>
            <a:r>
              <a:rPr lang="en-US" sz="1300" dirty="0">
                <a:ln>
                  <a:solidFill>
                    <a:srgbClr val="00B0F0"/>
                  </a:solidFill>
                </a:ln>
                <a:solidFill>
                  <a:srgbClr val="00B0F0"/>
                </a:solidFill>
              </a:rPr>
              <a:t> </a:t>
            </a:r>
          </a:p>
          <a:p>
            <a:r>
              <a:rPr lang="en-US" sz="2800" dirty="0"/>
              <a:t>The following is allowed, subject to size-limit :</a:t>
            </a:r>
          </a:p>
          <a:p>
            <a:pPr>
              <a:buNone/>
            </a:pPr>
            <a:r>
              <a:rPr lang="en-US" sz="1300" dirty="0">
                <a:ln>
                  <a:solidFill>
                    <a:srgbClr val="00B0F0"/>
                  </a:solidFill>
                </a:ln>
                <a:solidFill>
                  <a:srgbClr val="00B0F0"/>
                </a:solidFill>
              </a:rPr>
              <a:t>		insert into x select * from y;</a:t>
            </a:r>
          </a:p>
          <a:p>
            <a:pPr>
              <a:buNone/>
            </a:pPr>
            <a:r>
              <a:rPr lang="en-US" sz="1300" dirty="0">
                <a:ln>
                  <a:solidFill>
                    <a:srgbClr val="00B0F0"/>
                  </a:solidFill>
                </a:ln>
                <a:solidFill>
                  <a:srgbClr val="00B0F0"/>
                </a:solidFill>
              </a:rPr>
              <a:t> </a:t>
            </a:r>
          </a:p>
          <a:p>
            <a:r>
              <a:rPr lang="en-US" sz="2800" dirty="0"/>
              <a:t>But, the following is not allowed :</a:t>
            </a:r>
          </a:p>
          <a:p>
            <a:pPr>
              <a:buNone/>
            </a:pPr>
            <a:r>
              <a:rPr lang="en-US" sz="1300" dirty="0">
                <a:ln>
                  <a:solidFill>
                    <a:srgbClr val="00B0F0"/>
                  </a:solidFill>
                </a:ln>
                <a:solidFill>
                  <a:srgbClr val="00B0F0"/>
                </a:solidFill>
              </a:rPr>
              <a:t>		insert into y select * from x;</a:t>
            </a:r>
          </a:p>
          <a:p>
            <a:pPr>
              <a:buNone/>
            </a:pPr>
            <a:r>
              <a:rPr lang="en-US" sz="1300" dirty="0">
                <a:ln>
                  <a:solidFill>
                    <a:srgbClr val="00B0F0"/>
                  </a:solidFill>
                </a:ln>
                <a:solidFill>
                  <a:srgbClr val="00B0F0"/>
                </a:solidFill>
              </a:rPr>
              <a:t>		</a:t>
            </a:r>
            <a:r>
              <a:rPr lang="en-US" sz="1300" dirty="0"/>
              <a:t>ORA-00997: illegal use of LONG </a:t>
            </a:r>
            <a:r>
              <a:rPr lang="en-US" sz="1300" dirty="0" err="1"/>
              <a:t>datatype</a:t>
            </a:r>
            <a:endParaRPr lang="en-US" sz="1300" dirty="0"/>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400" b="1" dirty="0">
                <a:latin typeface="Candara"/>
              </a:rPr>
              <a:t>5.5:  </a:t>
            </a:r>
            <a:r>
              <a:rPr lang="en-US" sz="1400" dirty="0">
                <a:latin typeface="Candara"/>
              </a:rPr>
              <a:t>Conversion between LONG and CLOB					</a:t>
            </a:r>
            <a:br>
              <a:rPr lang="en-US" sz="1200" b="1" dirty="0">
                <a:latin typeface="Candara"/>
              </a:rPr>
            </a:br>
            <a:r>
              <a:rPr lang="en-US" dirty="0">
                <a:latin typeface="Candara"/>
              </a:rPr>
              <a:t>Implicit conversion from CLOB to LONG</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4" y="926305"/>
            <a:ext cx="8823325" cy="3838199"/>
          </a:xfrm>
        </p:spPr>
        <p:txBody>
          <a:bodyPr>
            <a:normAutofit/>
          </a:bodyPr>
          <a:lstStyle/>
          <a:p>
            <a:pPr algn="just">
              <a:defRPr/>
            </a:pPr>
            <a:r>
              <a:rPr lang="en-US" sz="2800" dirty="0"/>
              <a:t>Direct alteration of </a:t>
            </a:r>
            <a:r>
              <a:rPr lang="en-US" sz="2800" dirty="0" err="1"/>
              <a:t>datatype</a:t>
            </a:r>
            <a:r>
              <a:rPr lang="en-US" sz="2800" dirty="0"/>
              <a:t> from LONG to CLOB is possible :</a:t>
            </a:r>
          </a:p>
          <a:p>
            <a:pPr>
              <a:buNone/>
            </a:pPr>
            <a:r>
              <a:rPr lang="en-US" sz="1300" dirty="0">
                <a:ln>
                  <a:solidFill>
                    <a:srgbClr val="00B0F0"/>
                  </a:solidFill>
                </a:ln>
                <a:solidFill>
                  <a:srgbClr val="00B0F0"/>
                </a:solidFill>
              </a:rPr>
              <a:t>		create table x(c1 long);</a:t>
            </a:r>
          </a:p>
          <a:p>
            <a:pPr>
              <a:buNone/>
            </a:pPr>
            <a:r>
              <a:rPr lang="en-US" sz="1300" dirty="0">
                <a:ln>
                  <a:solidFill>
                    <a:srgbClr val="00B0F0"/>
                  </a:solidFill>
                </a:ln>
                <a:solidFill>
                  <a:srgbClr val="00B0F0"/>
                </a:solidFill>
              </a:rPr>
              <a:t>		insert into x values('</a:t>
            </a:r>
            <a:r>
              <a:rPr lang="en-US" sz="1300" dirty="0" err="1">
                <a:ln>
                  <a:solidFill>
                    <a:srgbClr val="00B0F0"/>
                  </a:solidFill>
                </a:ln>
                <a:solidFill>
                  <a:srgbClr val="00B0F0"/>
                </a:solidFill>
              </a:rPr>
              <a:t>abc</a:t>
            </a:r>
            <a:r>
              <a:rPr lang="en-US" sz="1300" dirty="0">
                <a:ln>
                  <a:solidFill>
                    <a:srgbClr val="00B0F0"/>
                  </a:solidFill>
                </a:ln>
                <a:solidFill>
                  <a:srgbClr val="00B0F0"/>
                </a:solidFill>
              </a:rPr>
              <a:t>');</a:t>
            </a:r>
          </a:p>
          <a:p>
            <a:pPr>
              <a:buNone/>
            </a:pPr>
            <a:r>
              <a:rPr lang="en-US" sz="1300" dirty="0">
                <a:ln>
                  <a:solidFill>
                    <a:srgbClr val="00B0F0"/>
                  </a:solidFill>
                </a:ln>
                <a:solidFill>
                  <a:srgbClr val="00B0F0"/>
                </a:solidFill>
              </a:rPr>
              <a:t>		alter table x modify c1 </a:t>
            </a:r>
            <a:r>
              <a:rPr lang="en-US" sz="1300" dirty="0" err="1">
                <a:ln>
                  <a:solidFill>
                    <a:srgbClr val="00B0F0"/>
                  </a:solidFill>
                </a:ln>
                <a:solidFill>
                  <a:srgbClr val="00B0F0"/>
                </a:solidFill>
              </a:rPr>
              <a:t>clob</a:t>
            </a:r>
            <a:r>
              <a:rPr lang="en-US" sz="1300" dirty="0">
                <a:ln>
                  <a:solidFill>
                    <a:srgbClr val="00B0F0"/>
                  </a:solidFill>
                </a:ln>
                <a:solidFill>
                  <a:srgbClr val="00B0F0"/>
                </a:solidFill>
              </a:rPr>
              <a:t>;</a:t>
            </a:r>
          </a:p>
          <a:p>
            <a:pPr>
              <a:buNone/>
            </a:pPr>
            <a:r>
              <a:rPr lang="en-US" sz="1300" dirty="0">
                <a:ln>
                  <a:solidFill>
                    <a:srgbClr val="00B0F0"/>
                  </a:solidFill>
                </a:ln>
                <a:solidFill>
                  <a:srgbClr val="00B0F0"/>
                </a:solidFill>
              </a:rPr>
              <a:t> </a:t>
            </a:r>
          </a:p>
          <a:p>
            <a:r>
              <a:rPr lang="en-US" sz="2800" dirty="0"/>
              <a:t>But, the following is not allowed :</a:t>
            </a:r>
          </a:p>
          <a:p>
            <a:pPr>
              <a:buNone/>
            </a:pPr>
            <a:r>
              <a:rPr lang="en-US" sz="1300" dirty="0">
                <a:ln>
                  <a:solidFill>
                    <a:srgbClr val="00B0F0"/>
                  </a:solidFill>
                </a:ln>
                <a:solidFill>
                  <a:srgbClr val="00B0F0"/>
                </a:solidFill>
              </a:rPr>
              <a:t>		create table y(c1 </a:t>
            </a:r>
            <a:r>
              <a:rPr lang="en-US" sz="1300" dirty="0" err="1">
                <a:ln>
                  <a:solidFill>
                    <a:srgbClr val="00B0F0"/>
                  </a:solidFill>
                </a:ln>
                <a:solidFill>
                  <a:srgbClr val="00B0F0"/>
                </a:solidFill>
              </a:rPr>
              <a:t>clob</a:t>
            </a:r>
            <a:r>
              <a:rPr lang="en-US" sz="1300" dirty="0">
                <a:ln>
                  <a:solidFill>
                    <a:srgbClr val="00B0F0"/>
                  </a:solidFill>
                </a:ln>
                <a:solidFill>
                  <a:srgbClr val="00B0F0"/>
                </a:solidFill>
              </a:rPr>
              <a:t>);</a:t>
            </a:r>
          </a:p>
          <a:p>
            <a:pPr>
              <a:buNone/>
            </a:pPr>
            <a:r>
              <a:rPr lang="en-US" sz="1300" dirty="0">
                <a:ln>
                  <a:solidFill>
                    <a:srgbClr val="00B0F0"/>
                  </a:solidFill>
                </a:ln>
                <a:solidFill>
                  <a:srgbClr val="00B0F0"/>
                </a:solidFill>
              </a:rPr>
              <a:t>		insert into y values('</a:t>
            </a:r>
            <a:r>
              <a:rPr lang="en-US" sz="1300" dirty="0" err="1">
                <a:ln>
                  <a:solidFill>
                    <a:srgbClr val="00B0F0"/>
                  </a:solidFill>
                </a:ln>
                <a:solidFill>
                  <a:srgbClr val="00B0F0"/>
                </a:solidFill>
              </a:rPr>
              <a:t>abc</a:t>
            </a:r>
            <a:r>
              <a:rPr lang="en-US" sz="1300" dirty="0">
                <a:ln>
                  <a:solidFill>
                    <a:srgbClr val="00B0F0"/>
                  </a:solidFill>
                </a:ln>
                <a:solidFill>
                  <a:srgbClr val="00B0F0"/>
                </a:solidFill>
              </a:rPr>
              <a:t>');</a:t>
            </a:r>
          </a:p>
          <a:p>
            <a:pPr>
              <a:buNone/>
            </a:pPr>
            <a:r>
              <a:rPr lang="en-US" sz="1300" dirty="0">
                <a:ln>
                  <a:solidFill>
                    <a:srgbClr val="00B0F0"/>
                  </a:solidFill>
                </a:ln>
                <a:solidFill>
                  <a:srgbClr val="00B0F0"/>
                </a:solidFill>
              </a:rPr>
              <a:t>		alter table y modify c1 long;</a:t>
            </a:r>
          </a:p>
          <a:p>
            <a:pPr>
              <a:buNone/>
            </a:pPr>
            <a:r>
              <a:rPr lang="en-US" sz="1400" dirty="0"/>
              <a:t>		ORA-22859: invalid modification of columns</a:t>
            </a:r>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400" b="1" dirty="0">
                <a:latin typeface="Candara"/>
              </a:rPr>
              <a:t>5.6:  </a:t>
            </a:r>
            <a:r>
              <a:rPr lang="en-US" sz="1400" dirty="0">
                <a:latin typeface="Candara"/>
              </a:rPr>
              <a:t>Alteration Between CLOB and LONG					</a:t>
            </a:r>
            <a:br>
              <a:rPr lang="en-US" sz="1200" b="1" dirty="0">
                <a:latin typeface="Candara"/>
              </a:rPr>
            </a:br>
            <a:r>
              <a:rPr lang="en-US" dirty="0">
                <a:latin typeface="Candara"/>
              </a:rPr>
              <a:t>Direct alteration from LONG to CLOB</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4" y="926305"/>
            <a:ext cx="8823325" cy="3838199"/>
          </a:xfrm>
        </p:spPr>
        <p:txBody>
          <a:bodyPr>
            <a:normAutofit fontScale="92500" lnSpcReduction="10000"/>
          </a:bodyPr>
          <a:lstStyle/>
          <a:p>
            <a:pPr algn="just">
              <a:defRPr/>
            </a:pPr>
            <a:r>
              <a:rPr lang="en-US" sz="2800" dirty="0"/>
              <a:t>Implicit conversion from BLOB to LONG RAW happens, but LONG RAW to BLOB is not implicitly possible :</a:t>
            </a:r>
          </a:p>
          <a:p>
            <a:pPr>
              <a:buNone/>
            </a:pPr>
            <a:r>
              <a:rPr lang="en-US" sz="1300" dirty="0">
                <a:ln>
                  <a:solidFill>
                    <a:srgbClr val="00B0F0"/>
                  </a:solidFill>
                </a:ln>
                <a:solidFill>
                  <a:srgbClr val="00B0F0"/>
                </a:solidFill>
              </a:rPr>
              <a:t>		create table x(c1 long raw);</a:t>
            </a:r>
          </a:p>
          <a:p>
            <a:pPr>
              <a:buNone/>
            </a:pPr>
            <a:r>
              <a:rPr lang="en-US" sz="1300" dirty="0">
                <a:ln>
                  <a:solidFill>
                    <a:srgbClr val="00B0F0"/>
                  </a:solidFill>
                </a:ln>
                <a:solidFill>
                  <a:srgbClr val="00B0F0"/>
                </a:solidFill>
              </a:rPr>
              <a:t>		insert into x values('</a:t>
            </a:r>
            <a:r>
              <a:rPr lang="en-US" sz="1300" dirty="0" err="1">
                <a:ln>
                  <a:solidFill>
                    <a:srgbClr val="00B0F0"/>
                  </a:solidFill>
                </a:ln>
                <a:solidFill>
                  <a:srgbClr val="00B0F0"/>
                </a:solidFill>
              </a:rPr>
              <a:t>abc</a:t>
            </a:r>
            <a:r>
              <a:rPr lang="en-US" sz="1300" dirty="0">
                <a:ln>
                  <a:solidFill>
                    <a:srgbClr val="00B0F0"/>
                  </a:solidFill>
                </a:ln>
                <a:solidFill>
                  <a:srgbClr val="00B0F0"/>
                </a:solidFill>
              </a:rPr>
              <a:t>');</a:t>
            </a:r>
          </a:p>
          <a:p>
            <a:pPr>
              <a:buNone/>
            </a:pPr>
            <a:r>
              <a:rPr lang="en-US" sz="1300" dirty="0">
                <a:ln>
                  <a:solidFill>
                    <a:srgbClr val="00B0F0"/>
                  </a:solidFill>
                </a:ln>
                <a:solidFill>
                  <a:srgbClr val="00B0F0"/>
                </a:solidFill>
              </a:rPr>
              <a:t> </a:t>
            </a:r>
          </a:p>
          <a:p>
            <a:pPr>
              <a:buNone/>
            </a:pPr>
            <a:r>
              <a:rPr lang="en-US" sz="1300" dirty="0">
                <a:ln>
                  <a:solidFill>
                    <a:srgbClr val="00B0F0"/>
                  </a:solidFill>
                </a:ln>
                <a:solidFill>
                  <a:srgbClr val="00B0F0"/>
                </a:solidFill>
              </a:rPr>
              <a:t>		create table y(c1 blob);</a:t>
            </a:r>
          </a:p>
          <a:p>
            <a:pPr>
              <a:buNone/>
            </a:pPr>
            <a:r>
              <a:rPr lang="en-US" sz="1300" dirty="0">
                <a:ln>
                  <a:solidFill>
                    <a:srgbClr val="00B0F0"/>
                  </a:solidFill>
                </a:ln>
                <a:solidFill>
                  <a:srgbClr val="00B0F0"/>
                </a:solidFill>
              </a:rPr>
              <a:t>		insert into y values('</a:t>
            </a:r>
            <a:r>
              <a:rPr lang="en-US" sz="1300" dirty="0" err="1">
                <a:ln>
                  <a:solidFill>
                    <a:srgbClr val="00B0F0"/>
                  </a:solidFill>
                </a:ln>
                <a:solidFill>
                  <a:srgbClr val="00B0F0"/>
                </a:solidFill>
              </a:rPr>
              <a:t>abc</a:t>
            </a:r>
            <a:r>
              <a:rPr lang="en-US" sz="1300" dirty="0">
                <a:ln>
                  <a:solidFill>
                    <a:srgbClr val="00B0F0"/>
                  </a:solidFill>
                </a:ln>
                <a:solidFill>
                  <a:srgbClr val="00B0F0"/>
                </a:solidFill>
              </a:rPr>
              <a:t>');</a:t>
            </a:r>
          </a:p>
          <a:p>
            <a:pPr>
              <a:buNone/>
            </a:pPr>
            <a:r>
              <a:rPr lang="en-US" sz="1300" dirty="0">
                <a:ln>
                  <a:solidFill>
                    <a:srgbClr val="00B0F0"/>
                  </a:solidFill>
                </a:ln>
                <a:solidFill>
                  <a:srgbClr val="00B0F0"/>
                </a:solidFill>
              </a:rPr>
              <a:t> </a:t>
            </a:r>
          </a:p>
          <a:p>
            <a:r>
              <a:rPr lang="en-US" sz="2800" dirty="0"/>
              <a:t>The following is allowed, subject to size-limit :</a:t>
            </a:r>
          </a:p>
          <a:p>
            <a:pPr>
              <a:buNone/>
            </a:pPr>
            <a:r>
              <a:rPr lang="en-US" sz="1300" dirty="0">
                <a:ln>
                  <a:solidFill>
                    <a:srgbClr val="00B0F0"/>
                  </a:solidFill>
                </a:ln>
                <a:solidFill>
                  <a:srgbClr val="00B0F0"/>
                </a:solidFill>
              </a:rPr>
              <a:t>		insert into x select * from y;</a:t>
            </a:r>
          </a:p>
          <a:p>
            <a:pPr>
              <a:buNone/>
            </a:pPr>
            <a:r>
              <a:rPr lang="en-US" sz="1300" dirty="0">
                <a:ln>
                  <a:solidFill>
                    <a:srgbClr val="00B0F0"/>
                  </a:solidFill>
                </a:ln>
                <a:solidFill>
                  <a:srgbClr val="00B0F0"/>
                </a:solidFill>
              </a:rPr>
              <a:t> </a:t>
            </a:r>
          </a:p>
          <a:p>
            <a:r>
              <a:rPr lang="en-US" sz="2800" dirty="0"/>
              <a:t>But, the following is not allowed :</a:t>
            </a:r>
          </a:p>
          <a:p>
            <a:pPr>
              <a:buNone/>
            </a:pPr>
            <a:r>
              <a:rPr lang="en-US" sz="1300" dirty="0">
                <a:ln>
                  <a:solidFill>
                    <a:srgbClr val="00B0F0"/>
                  </a:solidFill>
                </a:ln>
                <a:solidFill>
                  <a:srgbClr val="00B0F0"/>
                </a:solidFill>
              </a:rPr>
              <a:t>		insert into y select * from x;</a:t>
            </a:r>
          </a:p>
          <a:p>
            <a:pPr>
              <a:buNone/>
            </a:pPr>
            <a:r>
              <a:rPr lang="en-US" sz="1300" dirty="0">
                <a:ln>
                  <a:solidFill>
                    <a:srgbClr val="00B0F0"/>
                  </a:solidFill>
                </a:ln>
                <a:solidFill>
                  <a:srgbClr val="00B0F0"/>
                </a:solidFill>
              </a:rPr>
              <a:t>		</a:t>
            </a:r>
            <a:r>
              <a:rPr lang="en-US" sz="1300" dirty="0"/>
              <a:t>ORA-00997: illegal use of LONG </a:t>
            </a:r>
            <a:r>
              <a:rPr lang="en-US" sz="1300" dirty="0" err="1"/>
              <a:t>datatype</a:t>
            </a:r>
            <a:endParaRPr lang="en-US" sz="1300" dirty="0"/>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400" b="1" dirty="0">
                <a:latin typeface="Candara"/>
              </a:rPr>
              <a:t>5.7:  </a:t>
            </a:r>
            <a:r>
              <a:rPr lang="en-US" sz="1400" dirty="0">
                <a:latin typeface="Candara"/>
              </a:rPr>
              <a:t>Conversion between LONG and CLOB					</a:t>
            </a:r>
            <a:br>
              <a:rPr lang="en-US" sz="1200" b="1" dirty="0">
                <a:latin typeface="Candara"/>
              </a:rPr>
            </a:br>
            <a:r>
              <a:rPr lang="en-US" dirty="0">
                <a:latin typeface="Candara"/>
              </a:rPr>
              <a:t>Implicit conversion from BLOB to LONG RAW</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4" y="926305"/>
            <a:ext cx="8823325" cy="3838199"/>
          </a:xfrm>
        </p:spPr>
        <p:txBody>
          <a:bodyPr>
            <a:normAutofit/>
          </a:bodyPr>
          <a:lstStyle/>
          <a:p>
            <a:pPr algn="just">
              <a:defRPr/>
            </a:pPr>
            <a:r>
              <a:rPr lang="en-US" sz="2800" dirty="0"/>
              <a:t>Direct alteration of </a:t>
            </a:r>
            <a:r>
              <a:rPr lang="en-US" sz="2800" dirty="0" err="1"/>
              <a:t>datatype</a:t>
            </a:r>
            <a:r>
              <a:rPr lang="en-US" sz="2800" dirty="0"/>
              <a:t> from LONG RAW to BLOB is possible :</a:t>
            </a:r>
          </a:p>
          <a:p>
            <a:pPr>
              <a:buNone/>
            </a:pPr>
            <a:r>
              <a:rPr lang="en-US" sz="1300" dirty="0">
                <a:ln>
                  <a:solidFill>
                    <a:srgbClr val="00B0F0"/>
                  </a:solidFill>
                </a:ln>
                <a:solidFill>
                  <a:srgbClr val="00B0F0"/>
                </a:solidFill>
              </a:rPr>
              <a:t>		create table x(c1 long raw);</a:t>
            </a:r>
          </a:p>
          <a:p>
            <a:pPr>
              <a:buNone/>
            </a:pPr>
            <a:r>
              <a:rPr lang="en-US" sz="1300" dirty="0">
                <a:ln>
                  <a:solidFill>
                    <a:srgbClr val="00B0F0"/>
                  </a:solidFill>
                </a:ln>
                <a:solidFill>
                  <a:srgbClr val="00B0F0"/>
                </a:solidFill>
              </a:rPr>
              <a:t>		insert into x values('</a:t>
            </a:r>
            <a:r>
              <a:rPr lang="en-US" sz="1300" dirty="0" err="1">
                <a:ln>
                  <a:solidFill>
                    <a:srgbClr val="00B0F0"/>
                  </a:solidFill>
                </a:ln>
                <a:solidFill>
                  <a:srgbClr val="00B0F0"/>
                </a:solidFill>
              </a:rPr>
              <a:t>abc</a:t>
            </a:r>
            <a:r>
              <a:rPr lang="en-US" sz="1300" dirty="0">
                <a:ln>
                  <a:solidFill>
                    <a:srgbClr val="00B0F0"/>
                  </a:solidFill>
                </a:ln>
                <a:solidFill>
                  <a:srgbClr val="00B0F0"/>
                </a:solidFill>
              </a:rPr>
              <a:t>');</a:t>
            </a:r>
          </a:p>
          <a:p>
            <a:pPr>
              <a:buNone/>
            </a:pPr>
            <a:r>
              <a:rPr lang="en-US" sz="1300" dirty="0">
                <a:ln>
                  <a:solidFill>
                    <a:srgbClr val="00B0F0"/>
                  </a:solidFill>
                </a:ln>
                <a:solidFill>
                  <a:srgbClr val="00B0F0"/>
                </a:solidFill>
              </a:rPr>
              <a:t>		alter table x modify c1 blob;</a:t>
            </a:r>
          </a:p>
          <a:p>
            <a:pPr>
              <a:buNone/>
            </a:pPr>
            <a:r>
              <a:rPr lang="en-US" sz="1300" dirty="0">
                <a:ln>
                  <a:solidFill>
                    <a:srgbClr val="00B0F0"/>
                  </a:solidFill>
                </a:ln>
                <a:solidFill>
                  <a:srgbClr val="00B0F0"/>
                </a:solidFill>
              </a:rPr>
              <a:t> </a:t>
            </a:r>
          </a:p>
          <a:p>
            <a:r>
              <a:rPr lang="en-US" sz="2800" dirty="0"/>
              <a:t>But, the following is not allowed :</a:t>
            </a:r>
          </a:p>
          <a:p>
            <a:pPr>
              <a:buNone/>
            </a:pPr>
            <a:r>
              <a:rPr lang="en-US" sz="1300" dirty="0">
                <a:ln>
                  <a:solidFill>
                    <a:srgbClr val="00B0F0"/>
                  </a:solidFill>
                </a:ln>
                <a:solidFill>
                  <a:srgbClr val="00B0F0"/>
                </a:solidFill>
              </a:rPr>
              <a:t>		create table y(c1 blob);</a:t>
            </a:r>
          </a:p>
          <a:p>
            <a:pPr>
              <a:buNone/>
            </a:pPr>
            <a:r>
              <a:rPr lang="en-US" sz="1300" dirty="0">
                <a:ln>
                  <a:solidFill>
                    <a:srgbClr val="00B0F0"/>
                  </a:solidFill>
                </a:ln>
                <a:solidFill>
                  <a:srgbClr val="00B0F0"/>
                </a:solidFill>
              </a:rPr>
              <a:t>		insert into y values('</a:t>
            </a:r>
            <a:r>
              <a:rPr lang="en-US" sz="1300" dirty="0" err="1">
                <a:ln>
                  <a:solidFill>
                    <a:srgbClr val="00B0F0"/>
                  </a:solidFill>
                </a:ln>
                <a:solidFill>
                  <a:srgbClr val="00B0F0"/>
                </a:solidFill>
              </a:rPr>
              <a:t>abc</a:t>
            </a:r>
            <a:r>
              <a:rPr lang="en-US" sz="1300" dirty="0">
                <a:ln>
                  <a:solidFill>
                    <a:srgbClr val="00B0F0"/>
                  </a:solidFill>
                </a:ln>
                <a:solidFill>
                  <a:srgbClr val="00B0F0"/>
                </a:solidFill>
              </a:rPr>
              <a:t>');</a:t>
            </a:r>
          </a:p>
          <a:p>
            <a:pPr>
              <a:buNone/>
            </a:pPr>
            <a:r>
              <a:rPr lang="en-US" sz="1300" dirty="0">
                <a:ln>
                  <a:solidFill>
                    <a:srgbClr val="00B0F0"/>
                  </a:solidFill>
                </a:ln>
                <a:solidFill>
                  <a:srgbClr val="00B0F0"/>
                </a:solidFill>
              </a:rPr>
              <a:t>		alter table y modify c1 long raw;</a:t>
            </a:r>
          </a:p>
          <a:p>
            <a:pPr>
              <a:buNone/>
            </a:pPr>
            <a:r>
              <a:rPr lang="en-US" sz="1400" dirty="0"/>
              <a:t>		ORA-22859: invalid modification of columns</a:t>
            </a:r>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400" b="1" dirty="0">
                <a:latin typeface="Candara"/>
              </a:rPr>
              <a:t>5.8:  </a:t>
            </a:r>
            <a:r>
              <a:rPr lang="en-US" sz="1400" dirty="0">
                <a:latin typeface="Candara"/>
              </a:rPr>
              <a:t>Alteration Between CLOB and LONG					</a:t>
            </a:r>
            <a:br>
              <a:rPr lang="en-US" sz="1200" b="1" dirty="0">
                <a:latin typeface="Candara"/>
              </a:rPr>
            </a:br>
            <a:r>
              <a:rPr lang="en-US" dirty="0">
                <a:latin typeface="Candara"/>
              </a:rPr>
              <a:t>Direct alteration from LONG RAW to BLOB</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4" y="926305"/>
            <a:ext cx="8823325" cy="4013830"/>
          </a:xfrm>
        </p:spPr>
        <p:txBody>
          <a:bodyPr>
            <a:normAutofit fontScale="77500" lnSpcReduction="20000"/>
          </a:bodyPr>
          <a:lstStyle/>
          <a:p>
            <a:pPr algn="just"/>
            <a:r>
              <a:rPr lang="en-US" sz="2800" dirty="0"/>
              <a:t>Long and Long Raw data-types were previously used for large text and unstructured data respectively. These data-types are now superseded by the LOB data-types. Oracle Database 10G provides functions to migrate from LONG columns to LOB columns.</a:t>
            </a:r>
          </a:p>
          <a:p>
            <a:pPr>
              <a:buNone/>
            </a:pPr>
            <a:r>
              <a:rPr lang="en-US" sz="2800" dirty="0">
                <a:ln>
                  <a:solidFill>
                    <a:srgbClr val="00B0F0"/>
                  </a:solidFill>
                </a:ln>
                <a:solidFill>
                  <a:srgbClr val="00B0F0"/>
                </a:solidFill>
              </a:rPr>
              <a:t> </a:t>
            </a:r>
          </a:p>
          <a:p>
            <a:r>
              <a:rPr lang="en-US" sz="2800" dirty="0"/>
              <a:t>Following is a comparison of LOBs with LONGs :</a:t>
            </a:r>
          </a:p>
          <a:p>
            <a:pPr lvl="1"/>
            <a:r>
              <a:rPr lang="en-US" sz="2400" dirty="0"/>
              <a:t>A table can have multiple LOB columns, but a table can have only one LONG  or LONG RAW column</a:t>
            </a:r>
          </a:p>
          <a:p>
            <a:pPr lvl="1"/>
            <a:r>
              <a:rPr lang="en-US" sz="2400" dirty="0"/>
              <a:t>LOBs can be </a:t>
            </a:r>
            <a:r>
              <a:rPr lang="en-US" sz="2400" dirty="0" err="1"/>
              <a:t>upto</a:t>
            </a:r>
            <a:r>
              <a:rPr lang="en-US" sz="2400" dirty="0"/>
              <a:t> 4GB. LONGs can be </a:t>
            </a:r>
            <a:r>
              <a:rPr lang="en-US" sz="2400" dirty="0" err="1"/>
              <a:t>upto</a:t>
            </a:r>
            <a:r>
              <a:rPr lang="en-US" sz="2400" dirty="0"/>
              <a:t> 2GB.</a:t>
            </a:r>
          </a:p>
          <a:p>
            <a:pPr lvl="1"/>
            <a:r>
              <a:rPr lang="en-US" sz="2400" dirty="0"/>
              <a:t>LOBs can be Object-type attributes. LONGs cannot.</a:t>
            </a:r>
          </a:p>
          <a:p>
            <a:pPr lvl="1"/>
            <a:r>
              <a:rPr lang="en-US" sz="2400" dirty="0"/>
              <a:t>LOBs return the locator. LONGs return data.</a:t>
            </a:r>
          </a:p>
          <a:p>
            <a:pPr>
              <a:buNone/>
            </a:pPr>
            <a:endParaRPr lang="en-US" sz="2800" dirty="0"/>
          </a:p>
          <a:p>
            <a:pPr algn="just"/>
            <a:r>
              <a:rPr lang="en-US" sz="2800" dirty="0"/>
              <a:t>LOBs store a locator in the table and the data in a different LOB segment. LONGs store all the data in the same data block or inline with the table. </a:t>
            </a:r>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400" b="1" dirty="0">
                <a:latin typeface="Candara"/>
              </a:rPr>
              <a:t>5.9:  LOBS versus LONGs</a:t>
            </a:r>
            <a:r>
              <a:rPr lang="en-US" sz="1400" dirty="0">
                <a:latin typeface="Candara"/>
              </a:rPr>
              <a:t>				</a:t>
            </a:r>
            <a:br>
              <a:rPr lang="en-US" sz="1200" b="1" dirty="0">
                <a:latin typeface="Candara"/>
              </a:rPr>
            </a:br>
            <a:r>
              <a:rPr lang="en-US" dirty="0">
                <a:latin typeface="Candara"/>
              </a:rPr>
              <a:t>Comparison of LOB datatypes with the LONG datatypes</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4" y="926305"/>
            <a:ext cx="8823325" cy="3838199"/>
          </a:xfrm>
        </p:spPr>
        <p:txBody>
          <a:bodyPr>
            <a:normAutofit/>
          </a:bodyPr>
          <a:lstStyle/>
          <a:p>
            <a:pPr algn="just">
              <a:defRPr/>
            </a:pPr>
            <a:r>
              <a:rPr lang="en-US" sz="2200" dirty="0"/>
              <a:t>The TO_LOB function can be used to convert a LONG or LONG RAW value in a column to CLOB or BLOB value respectively:</a:t>
            </a:r>
          </a:p>
          <a:p>
            <a:pPr>
              <a:buNone/>
            </a:pPr>
            <a:r>
              <a:rPr lang="en-US" sz="1400" dirty="0"/>
              <a:t>		</a:t>
            </a:r>
            <a:r>
              <a:rPr lang="en-US" sz="1600" dirty="0">
                <a:ln>
                  <a:solidFill>
                    <a:srgbClr val="00B0F0"/>
                  </a:solidFill>
                </a:ln>
                <a:solidFill>
                  <a:srgbClr val="00B0F0"/>
                </a:solidFill>
              </a:rPr>
              <a:t>create table </a:t>
            </a:r>
            <a:r>
              <a:rPr lang="en-US" sz="1600" dirty="0" err="1">
                <a:ln>
                  <a:solidFill>
                    <a:srgbClr val="00B0F0"/>
                  </a:solidFill>
                </a:ln>
                <a:solidFill>
                  <a:srgbClr val="00B0F0"/>
                </a:solidFill>
              </a:rPr>
              <a:t>olddata</a:t>
            </a:r>
            <a:r>
              <a:rPr lang="en-US" sz="1600" dirty="0">
                <a:ln>
                  <a:solidFill>
                    <a:srgbClr val="00B0F0"/>
                  </a:solidFill>
                </a:ln>
                <a:solidFill>
                  <a:srgbClr val="00B0F0"/>
                </a:solidFill>
              </a:rPr>
              <a:t>(c long);</a:t>
            </a:r>
          </a:p>
          <a:p>
            <a:pPr>
              <a:buNone/>
            </a:pPr>
            <a:r>
              <a:rPr lang="en-US" sz="1600" dirty="0">
                <a:ln>
                  <a:solidFill>
                    <a:srgbClr val="00B0F0"/>
                  </a:solidFill>
                </a:ln>
                <a:solidFill>
                  <a:srgbClr val="00B0F0"/>
                </a:solidFill>
              </a:rPr>
              <a:t>		insert into </a:t>
            </a:r>
            <a:r>
              <a:rPr lang="en-US" sz="1600" dirty="0" err="1">
                <a:ln>
                  <a:solidFill>
                    <a:srgbClr val="00B0F0"/>
                  </a:solidFill>
                </a:ln>
                <a:solidFill>
                  <a:srgbClr val="00B0F0"/>
                </a:solidFill>
              </a:rPr>
              <a:t>olddata</a:t>
            </a:r>
            <a:r>
              <a:rPr lang="en-US" sz="1600" dirty="0">
                <a:ln>
                  <a:solidFill>
                    <a:srgbClr val="00B0F0"/>
                  </a:solidFill>
                </a:ln>
                <a:solidFill>
                  <a:srgbClr val="00B0F0"/>
                </a:solidFill>
              </a:rPr>
              <a:t> values('hi how are you?');</a:t>
            </a:r>
          </a:p>
          <a:p>
            <a:pPr>
              <a:buNone/>
            </a:pPr>
            <a:r>
              <a:rPr lang="en-US" sz="1600" dirty="0">
                <a:ln>
                  <a:solidFill>
                    <a:srgbClr val="00B0F0"/>
                  </a:solidFill>
                </a:ln>
                <a:solidFill>
                  <a:srgbClr val="00B0F0"/>
                </a:solidFill>
              </a:rPr>
              <a:t> </a:t>
            </a:r>
          </a:p>
          <a:p>
            <a:pPr>
              <a:buNone/>
            </a:pPr>
            <a:r>
              <a:rPr lang="en-US" sz="1600" dirty="0">
                <a:ln>
                  <a:solidFill>
                    <a:srgbClr val="00B0F0"/>
                  </a:solidFill>
                </a:ln>
                <a:solidFill>
                  <a:srgbClr val="00B0F0"/>
                </a:solidFill>
              </a:rPr>
              <a:t>		create table </a:t>
            </a:r>
            <a:r>
              <a:rPr lang="en-US" sz="1600" dirty="0" err="1">
                <a:ln>
                  <a:solidFill>
                    <a:srgbClr val="00B0F0"/>
                  </a:solidFill>
                </a:ln>
                <a:solidFill>
                  <a:srgbClr val="00B0F0"/>
                </a:solidFill>
              </a:rPr>
              <a:t>newdata</a:t>
            </a:r>
            <a:r>
              <a:rPr lang="en-US" sz="1600" dirty="0">
                <a:ln>
                  <a:solidFill>
                    <a:srgbClr val="00B0F0"/>
                  </a:solidFill>
                </a:ln>
                <a:solidFill>
                  <a:srgbClr val="00B0F0"/>
                </a:solidFill>
              </a:rPr>
              <a:t>(c </a:t>
            </a:r>
            <a:r>
              <a:rPr lang="en-US" sz="1600" dirty="0" err="1">
                <a:ln>
                  <a:solidFill>
                    <a:srgbClr val="00B0F0"/>
                  </a:solidFill>
                </a:ln>
                <a:solidFill>
                  <a:srgbClr val="00B0F0"/>
                </a:solidFill>
              </a:rPr>
              <a:t>clob</a:t>
            </a:r>
            <a:r>
              <a:rPr lang="en-US" sz="1600" dirty="0">
                <a:ln>
                  <a:solidFill>
                    <a:srgbClr val="00B0F0"/>
                  </a:solidFill>
                </a:ln>
                <a:solidFill>
                  <a:srgbClr val="00B0F0"/>
                </a:solidFill>
              </a:rPr>
              <a:t>);</a:t>
            </a:r>
          </a:p>
          <a:p>
            <a:pPr>
              <a:buNone/>
            </a:pPr>
            <a:r>
              <a:rPr lang="en-US" sz="1600" dirty="0">
                <a:ln>
                  <a:solidFill>
                    <a:srgbClr val="00B0F0"/>
                  </a:solidFill>
                </a:ln>
                <a:solidFill>
                  <a:srgbClr val="00B0F0"/>
                </a:solidFill>
              </a:rPr>
              <a:t>		insert into </a:t>
            </a:r>
            <a:r>
              <a:rPr lang="en-US" sz="1600" dirty="0" err="1">
                <a:ln>
                  <a:solidFill>
                    <a:srgbClr val="00B0F0"/>
                  </a:solidFill>
                </a:ln>
                <a:solidFill>
                  <a:srgbClr val="00B0F0"/>
                </a:solidFill>
              </a:rPr>
              <a:t>newdata</a:t>
            </a:r>
            <a:r>
              <a:rPr lang="en-US" sz="1600" dirty="0">
                <a:ln>
                  <a:solidFill>
                    <a:srgbClr val="00B0F0"/>
                  </a:solidFill>
                </a:ln>
                <a:solidFill>
                  <a:srgbClr val="00B0F0"/>
                </a:solidFill>
              </a:rPr>
              <a:t> select c from </a:t>
            </a:r>
            <a:r>
              <a:rPr lang="en-US" sz="1600" dirty="0" err="1">
                <a:ln>
                  <a:solidFill>
                    <a:srgbClr val="00B0F0"/>
                  </a:solidFill>
                </a:ln>
                <a:solidFill>
                  <a:srgbClr val="00B0F0"/>
                </a:solidFill>
              </a:rPr>
              <a:t>olddata</a:t>
            </a:r>
            <a:r>
              <a:rPr lang="en-US" sz="1600" dirty="0">
                <a:ln>
                  <a:solidFill>
                    <a:srgbClr val="00B0F0"/>
                  </a:solidFill>
                </a:ln>
                <a:solidFill>
                  <a:srgbClr val="00B0F0"/>
                </a:solidFill>
              </a:rPr>
              <a:t>;</a:t>
            </a:r>
          </a:p>
          <a:p>
            <a:pPr>
              <a:buNone/>
            </a:pPr>
            <a:r>
              <a:rPr lang="en-US" sz="1600" dirty="0"/>
              <a:t>			This gives an error : ORA-00997: illegal use of LONG </a:t>
            </a:r>
            <a:r>
              <a:rPr lang="en-US" sz="1600" dirty="0" err="1"/>
              <a:t>datatype</a:t>
            </a:r>
            <a:endParaRPr lang="en-US" sz="1600" dirty="0"/>
          </a:p>
          <a:p>
            <a:pPr>
              <a:buNone/>
            </a:pPr>
            <a:r>
              <a:rPr lang="en-US" sz="1600" dirty="0"/>
              <a:t> </a:t>
            </a:r>
          </a:p>
          <a:p>
            <a:pPr>
              <a:buNone/>
            </a:pPr>
            <a:r>
              <a:rPr lang="en-US" sz="1600" dirty="0"/>
              <a:t>		</a:t>
            </a:r>
            <a:r>
              <a:rPr lang="en-US" sz="1600" dirty="0">
                <a:ln>
                  <a:solidFill>
                    <a:srgbClr val="00B0F0"/>
                  </a:solidFill>
                </a:ln>
                <a:solidFill>
                  <a:srgbClr val="00B0F0"/>
                </a:solidFill>
              </a:rPr>
              <a:t>insert into </a:t>
            </a:r>
            <a:r>
              <a:rPr lang="en-US" sz="1600" dirty="0" err="1">
                <a:ln>
                  <a:solidFill>
                    <a:srgbClr val="00B0F0"/>
                  </a:solidFill>
                </a:ln>
                <a:solidFill>
                  <a:srgbClr val="00B0F0"/>
                </a:solidFill>
              </a:rPr>
              <a:t>newdata</a:t>
            </a:r>
            <a:r>
              <a:rPr lang="en-US" sz="1600" dirty="0">
                <a:ln>
                  <a:solidFill>
                    <a:srgbClr val="00B0F0"/>
                  </a:solidFill>
                </a:ln>
                <a:solidFill>
                  <a:srgbClr val="00B0F0"/>
                </a:solidFill>
              </a:rPr>
              <a:t> select </a:t>
            </a:r>
            <a:r>
              <a:rPr lang="en-US" sz="1600" dirty="0" err="1">
                <a:ln>
                  <a:solidFill>
                    <a:srgbClr val="00B0F0"/>
                  </a:solidFill>
                </a:ln>
                <a:solidFill>
                  <a:srgbClr val="00B0F0"/>
                </a:solidFill>
              </a:rPr>
              <a:t>to_lob</a:t>
            </a:r>
            <a:r>
              <a:rPr lang="en-US" sz="1600" dirty="0">
                <a:ln>
                  <a:solidFill>
                    <a:srgbClr val="00B0F0"/>
                  </a:solidFill>
                </a:ln>
                <a:solidFill>
                  <a:srgbClr val="00B0F0"/>
                </a:solidFill>
              </a:rPr>
              <a:t>(c) from </a:t>
            </a:r>
            <a:r>
              <a:rPr lang="en-US" sz="1600" dirty="0" err="1">
                <a:ln>
                  <a:solidFill>
                    <a:srgbClr val="00B0F0"/>
                  </a:solidFill>
                </a:ln>
                <a:solidFill>
                  <a:srgbClr val="00B0F0"/>
                </a:solidFill>
              </a:rPr>
              <a:t>olddata</a:t>
            </a:r>
            <a:r>
              <a:rPr lang="en-US" sz="1600" dirty="0">
                <a:ln>
                  <a:solidFill>
                    <a:srgbClr val="00B0F0"/>
                  </a:solidFill>
                </a:ln>
                <a:solidFill>
                  <a:srgbClr val="00B0F0"/>
                </a:solidFill>
              </a:rPr>
              <a:t>;</a:t>
            </a:r>
          </a:p>
          <a:p>
            <a:pPr>
              <a:buNone/>
            </a:pPr>
            <a:r>
              <a:rPr lang="en-US" sz="1600" dirty="0">
                <a:ln>
                  <a:solidFill>
                    <a:srgbClr val="00B0F0"/>
                  </a:solidFill>
                </a:ln>
                <a:solidFill>
                  <a:srgbClr val="00B0F0"/>
                </a:solidFill>
              </a:rPr>
              <a:t>		This will work through the use of TO_LOB</a:t>
            </a:r>
          </a:p>
          <a:p>
            <a:pPr>
              <a:buNone/>
            </a:pPr>
            <a:r>
              <a:rPr lang="en-US" sz="1600" dirty="0">
                <a:ln>
                  <a:solidFill>
                    <a:srgbClr val="00B0F0"/>
                  </a:solidFill>
                </a:ln>
                <a:solidFill>
                  <a:srgbClr val="00B0F0"/>
                </a:solidFill>
              </a:rPr>
              <a:t> </a:t>
            </a:r>
            <a:endParaRPr lang="en-US" sz="1600" dirty="0"/>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400" b="1" dirty="0">
                <a:latin typeface="Candara"/>
              </a:rPr>
              <a:t>5.10:  </a:t>
            </a:r>
            <a:r>
              <a:rPr lang="en-US" sz="1400" dirty="0">
                <a:latin typeface="Candara"/>
              </a:rPr>
              <a:t>Explicit Conversion					</a:t>
            </a:r>
            <a:br>
              <a:rPr lang="en-US" sz="1200" b="1" dirty="0">
                <a:latin typeface="Candara"/>
              </a:rPr>
            </a:br>
            <a:r>
              <a:rPr lang="en-US" dirty="0">
                <a:latin typeface="Candara"/>
              </a:rPr>
              <a:t>TO_LOB function</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4" y="926305"/>
            <a:ext cx="8823325" cy="3838199"/>
          </a:xfrm>
        </p:spPr>
        <p:txBody>
          <a:bodyPr>
            <a:normAutofit/>
          </a:bodyPr>
          <a:lstStyle/>
          <a:p>
            <a:pPr algn="just">
              <a:defRPr/>
            </a:pPr>
            <a:r>
              <a:rPr lang="en-US" sz="2200" dirty="0"/>
              <a:t>The TO_LOB function can be used to convert a LONG or LONG RAW value in a column to CLOB or BLOB value respectively:</a:t>
            </a:r>
          </a:p>
          <a:p>
            <a:pPr>
              <a:buNone/>
            </a:pPr>
            <a:r>
              <a:rPr lang="en-US" sz="1400" dirty="0"/>
              <a:t>		</a:t>
            </a:r>
            <a:r>
              <a:rPr lang="en-US" sz="1600" dirty="0">
                <a:ln>
                  <a:solidFill>
                    <a:srgbClr val="00B0F0"/>
                  </a:solidFill>
                </a:ln>
                <a:solidFill>
                  <a:srgbClr val="00B0F0"/>
                </a:solidFill>
              </a:rPr>
              <a:t>create table </a:t>
            </a:r>
            <a:r>
              <a:rPr lang="en-US" sz="1600" dirty="0" err="1">
                <a:ln>
                  <a:solidFill>
                    <a:srgbClr val="00B0F0"/>
                  </a:solidFill>
                </a:ln>
                <a:solidFill>
                  <a:srgbClr val="00B0F0"/>
                </a:solidFill>
              </a:rPr>
              <a:t>olddatar</a:t>
            </a:r>
            <a:r>
              <a:rPr lang="en-US" sz="1600" dirty="0">
                <a:ln>
                  <a:solidFill>
                    <a:srgbClr val="00B0F0"/>
                  </a:solidFill>
                </a:ln>
                <a:solidFill>
                  <a:srgbClr val="00B0F0"/>
                </a:solidFill>
              </a:rPr>
              <a:t>(c long raw);</a:t>
            </a:r>
          </a:p>
          <a:p>
            <a:pPr>
              <a:buNone/>
            </a:pPr>
            <a:r>
              <a:rPr lang="en-US" sz="1600" dirty="0">
                <a:ln>
                  <a:solidFill>
                    <a:srgbClr val="00B0F0"/>
                  </a:solidFill>
                </a:ln>
                <a:solidFill>
                  <a:srgbClr val="00B0F0"/>
                </a:solidFill>
              </a:rPr>
              <a:t>		insert into </a:t>
            </a:r>
            <a:r>
              <a:rPr lang="en-US" sz="1600" dirty="0" err="1">
                <a:ln>
                  <a:solidFill>
                    <a:srgbClr val="00B0F0"/>
                  </a:solidFill>
                </a:ln>
                <a:solidFill>
                  <a:srgbClr val="00B0F0"/>
                </a:solidFill>
              </a:rPr>
              <a:t>olddatar</a:t>
            </a:r>
            <a:r>
              <a:rPr lang="en-US" sz="1600" dirty="0">
                <a:ln>
                  <a:solidFill>
                    <a:srgbClr val="00B0F0"/>
                  </a:solidFill>
                </a:ln>
                <a:solidFill>
                  <a:srgbClr val="00B0F0"/>
                </a:solidFill>
              </a:rPr>
              <a:t> values('</a:t>
            </a:r>
            <a:r>
              <a:rPr lang="en-US" sz="1600" dirty="0" err="1">
                <a:ln>
                  <a:solidFill>
                    <a:srgbClr val="00B0F0"/>
                  </a:solidFill>
                </a:ln>
                <a:solidFill>
                  <a:srgbClr val="00B0F0"/>
                </a:solidFill>
              </a:rPr>
              <a:t>abcd</a:t>
            </a:r>
            <a:r>
              <a:rPr lang="en-US" sz="1600" dirty="0">
                <a:ln>
                  <a:solidFill>
                    <a:srgbClr val="00B0F0"/>
                  </a:solidFill>
                </a:ln>
                <a:solidFill>
                  <a:srgbClr val="00B0F0"/>
                </a:solidFill>
              </a:rPr>
              <a:t>');</a:t>
            </a:r>
          </a:p>
          <a:p>
            <a:pPr>
              <a:buNone/>
            </a:pPr>
            <a:r>
              <a:rPr lang="en-US" sz="1600" dirty="0">
                <a:ln>
                  <a:solidFill>
                    <a:srgbClr val="00B0F0"/>
                  </a:solidFill>
                </a:ln>
                <a:solidFill>
                  <a:srgbClr val="00B0F0"/>
                </a:solidFill>
              </a:rPr>
              <a:t> </a:t>
            </a:r>
          </a:p>
          <a:p>
            <a:pPr>
              <a:buNone/>
            </a:pPr>
            <a:r>
              <a:rPr lang="en-US" sz="1600" dirty="0">
                <a:ln>
                  <a:solidFill>
                    <a:srgbClr val="00B0F0"/>
                  </a:solidFill>
                </a:ln>
                <a:solidFill>
                  <a:srgbClr val="00B0F0"/>
                </a:solidFill>
              </a:rPr>
              <a:t>		create table </a:t>
            </a:r>
            <a:r>
              <a:rPr lang="en-US" sz="1600" dirty="0" err="1">
                <a:ln>
                  <a:solidFill>
                    <a:srgbClr val="00B0F0"/>
                  </a:solidFill>
                </a:ln>
                <a:solidFill>
                  <a:srgbClr val="00B0F0"/>
                </a:solidFill>
              </a:rPr>
              <a:t>newdatar</a:t>
            </a:r>
            <a:r>
              <a:rPr lang="en-US" sz="1600" dirty="0">
                <a:ln>
                  <a:solidFill>
                    <a:srgbClr val="00B0F0"/>
                  </a:solidFill>
                </a:ln>
                <a:solidFill>
                  <a:srgbClr val="00B0F0"/>
                </a:solidFill>
              </a:rPr>
              <a:t>(c blob);</a:t>
            </a:r>
          </a:p>
          <a:p>
            <a:pPr>
              <a:buNone/>
            </a:pPr>
            <a:r>
              <a:rPr lang="en-US" sz="1600" dirty="0">
                <a:ln>
                  <a:solidFill>
                    <a:srgbClr val="00B0F0"/>
                  </a:solidFill>
                </a:ln>
                <a:solidFill>
                  <a:srgbClr val="00B0F0"/>
                </a:solidFill>
              </a:rPr>
              <a:t>		insert into </a:t>
            </a:r>
            <a:r>
              <a:rPr lang="en-US" sz="1600" dirty="0" err="1">
                <a:ln>
                  <a:solidFill>
                    <a:srgbClr val="00B0F0"/>
                  </a:solidFill>
                </a:ln>
                <a:solidFill>
                  <a:srgbClr val="00B0F0"/>
                </a:solidFill>
              </a:rPr>
              <a:t>newdatar</a:t>
            </a:r>
            <a:r>
              <a:rPr lang="en-US" sz="1600" dirty="0">
                <a:ln>
                  <a:solidFill>
                    <a:srgbClr val="00B0F0"/>
                  </a:solidFill>
                </a:ln>
                <a:solidFill>
                  <a:srgbClr val="00B0F0"/>
                </a:solidFill>
              </a:rPr>
              <a:t> select c from </a:t>
            </a:r>
            <a:r>
              <a:rPr lang="en-US" sz="1600" dirty="0" err="1">
                <a:ln>
                  <a:solidFill>
                    <a:srgbClr val="00B0F0"/>
                  </a:solidFill>
                </a:ln>
                <a:solidFill>
                  <a:srgbClr val="00B0F0"/>
                </a:solidFill>
              </a:rPr>
              <a:t>olddatar</a:t>
            </a:r>
            <a:r>
              <a:rPr lang="en-US" sz="1600" dirty="0">
                <a:ln>
                  <a:solidFill>
                    <a:srgbClr val="00B0F0"/>
                  </a:solidFill>
                </a:ln>
                <a:solidFill>
                  <a:srgbClr val="00B0F0"/>
                </a:solidFill>
              </a:rPr>
              <a:t>;</a:t>
            </a:r>
          </a:p>
          <a:p>
            <a:pPr>
              <a:buNone/>
            </a:pPr>
            <a:r>
              <a:rPr lang="en-US" sz="1600" dirty="0">
                <a:ln>
                  <a:solidFill>
                    <a:srgbClr val="00B0F0"/>
                  </a:solidFill>
                </a:ln>
                <a:solidFill>
                  <a:srgbClr val="00B0F0"/>
                </a:solidFill>
              </a:rPr>
              <a:t>			</a:t>
            </a:r>
            <a:r>
              <a:rPr lang="en-US" sz="1600" dirty="0"/>
              <a:t>This gives an error : ORA-00997: illegal use of LONG </a:t>
            </a:r>
            <a:r>
              <a:rPr lang="en-US" sz="1600" dirty="0" err="1"/>
              <a:t>datatype</a:t>
            </a:r>
            <a:endParaRPr lang="en-US" sz="1600" dirty="0"/>
          </a:p>
          <a:p>
            <a:pPr>
              <a:buNone/>
            </a:pPr>
            <a:r>
              <a:rPr lang="en-US" sz="1600" dirty="0">
                <a:ln>
                  <a:solidFill>
                    <a:srgbClr val="00B0F0"/>
                  </a:solidFill>
                </a:ln>
                <a:solidFill>
                  <a:srgbClr val="00B0F0"/>
                </a:solidFill>
              </a:rPr>
              <a:t> </a:t>
            </a:r>
          </a:p>
          <a:p>
            <a:pPr>
              <a:buNone/>
            </a:pPr>
            <a:r>
              <a:rPr lang="en-US" sz="1600" dirty="0">
                <a:ln>
                  <a:solidFill>
                    <a:srgbClr val="00B0F0"/>
                  </a:solidFill>
                </a:ln>
                <a:solidFill>
                  <a:srgbClr val="00B0F0"/>
                </a:solidFill>
              </a:rPr>
              <a:t>		insert into </a:t>
            </a:r>
            <a:r>
              <a:rPr lang="en-US" sz="1600" dirty="0" err="1">
                <a:ln>
                  <a:solidFill>
                    <a:srgbClr val="00B0F0"/>
                  </a:solidFill>
                </a:ln>
                <a:solidFill>
                  <a:srgbClr val="00B0F0"/>
                </a:solidFill>
              </a:rPr>
              <a:t>newdatar</a:t>
            </a:r>
            <a:r>
              <a:rPr lang="en-US" sz="1600" dirty="0">
                <a:ln>
                  <a:solidFill>
                    <a:srgbClr val="00B0F0"/>
                  </a:solidFill>
                </a:ln>
                <a:solidFill>
                  <a:srgbClr val="00B0F0"/>
                </a:solidFill>
              </a:rPr>
              <a:t> select </a:t>
            </a:r>
            <a:r>
              <a:rPr lang="en-US" sz="1600" dirty="0" err="1">
                <a:ln>
                  <a:solidFill>
                    <a:srgbClr val="00B0F0"/>
                  </a:solidFill>
                </a:ln>
                <a:solidFill>
                  <a:srgbClr val="00B0F0"/>
                </a:solidFill>
              </a:rPr>
              <a:t>to_lob</a:t>
            </a:r>
            <a:r>
              <a:rPr lang="en-US" sz="1600" dirty="0">
                <a:ln>
                  <a:solidFill>
                    <a:srgbClr val="00B0F0"/>
                  </a:solidFill>
                </a:ln>
                <a:solidFill>
                  <a:srgbClr val="00B0F0"/>
                </a:solidFill>
              </a:rPr>
              <a:t>(c) from </a:t>
            </a:r>
            <a:r>
              <a:rPr lang="en-US" sz="1600" dirty="0" err="1">
                <a:ln>
                  <a:solidFill>
                    <a:srgbClr val="00B0F0"/>
                  </a:solidFill>
                </a:ln>
                <a:solidFill>
                  <a:srgbClr val="00B0F0"/>
                </a:solidFill>
              </a:rPr>
              <a:t>olddatar</a:t>
            </a:r>
            <a:r>
              <a:rPr lang="en-US" sz="1600" dirty="0">
                <a:ln>
                  <a:solidFill>
                    <a:srgbClr val="00B0F0"/>
                  </a:solidFill>
                </a:ln>
                <a:solidFill>
                  <a:srgbClr val="00B0F0"/>
                </a:solidFill>
              </a:rPr>
              <a:t>;</a:t>
            </a:r>
          </a:p>
          <a:p>
            <a:pPr>
              <a:buNone/>
            </a:pPr>
            <a:r>
              <a:rPr lang="en-US" sz="1600" dirty="0"/>
              <a:t>		</a:t>
            </a:r>
            <a:r>
              <a:rPr lang="en-US" sz="1600" dirty="0">
                <a:ln>
                  <a:solidFill>
                    <a:srgbClr val="00B0F0"/>
                  </a:solidFill>
                </a:ln>
                <a:solidFill>
                  <a:srgbClr val="00B0F0"/>
                </a:solidFill>
              </a:rPr>
              <a:t>This will work through the use of TO_LOB</a:t>
            </a:r>
          </a:p>
          <a:p>
            <a:pPr>
              <a:buNone/>
            </a:pPr>
            <a:r>
              <a:rPr lang="en-US" sz="1600" dirty="0">
                <a:ln>
                  <a:solidFill>
                    <a:srgbClr val="00B0F0"/>
                  </a:solidFill>
                </a:ln>
                <a:solidFill>
                  <a:srgbClr val="00B0F0"/>
                </a:solidFill>
              </a:rPr>
              <a:t> </a:t>
            </a:r>
            <a:endParaRPr lang="en-US" sz="1600" dirty="0"/>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400" b="1" dirty="0">
                <a:latin typeface="Candara"/>
              </a:rPr>
              <a:t>5.10:  </a:t>
            </a:r>
            <a:r>
              <a:rPr lang="en-US" sz="1400" dirty="0">
                <a:latin typeface="Candara"/>
              </a:rPr>
              <a:t>Explicit Conversion					</a:t>
            </a:r>
            <a:br>
              <a:rPr lang="en-US" sz="1200" b="1" dirty="0">
                <a:latin typeface="Candara"/>
              </a:rPr>
            </a:br>
            <a:r>
              <a:rPr lang="en-US" dirty="0">
                <a:latin typeface="Candara"/>
              </a:rPr>
              <a:t>TO_LOB function						……</a:t>
            </a:r>
            <a:r>
              <a:rPr lang="en-US" dirty="0" err="1">
                <a:latin typeface="Candara"/>
              </a:rPr>
              <a:t>contd</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4" y="926305"/>
            <a:ext cx="8823325" cy="3838199"/>
          </a:xfrm>
        </p:spPr>
        <p:txBody>
          <a:bodyPr>
            <a:normAutofit/>
          </a:bodyPr>
          <a:lstStyle/>
          <a:p>
            <a:pPr algn="just"/>
            <a:r>
              <a:rPr lang="en-US" sz="2400" dirty="0"/>
              <a:t>LOB value  : 	The data that constitutes the real object being 			stored</a:t>
            </a:r>
          </a:p>
          <a:p>
            <a:pPr algn="just"/>
            <a:r>
              <a:rPr lang="en-US" sz="2400" dirty="0"/>
              <a:t>LOB locator  : 	A pointer to the location of the LOB value 				stored in the database</a:t>
            </a:r>
          </a:p>
          <a:p>
            <a:endParaRPr lang="en-US" sz="2400" dirty="0"/>
          </a:p>
          <a:p>
            <a:pPr algn="just"/>
            <a:r>
              <a:rPr lang="en-US" sz="2400" dirty="0"/>
              <a:t>Regardless of where the value of the LOB is stored, a locator should be stored in the row. The locator is like a pointer to the actual location of the LOB value. Thus, a LOB column does not contain the data, it contains the locator(pointer) to the LOB value.</a:t>
            </a:r>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400" b="1" dirty="0">
                <a:latin typeface="Candara"/>
              </a:rPr>
              <a:t>5.11:  Components of LOB</a:t>
            </a:r>
            <a:r>
              <a:rPr lang="en-US" sz="1400" dirty="0">
                <a:latin typeface="Candara"/>
              </a:rPr>
              <a:t>					</a:t>
            </a:r>
            <a:br>
              <a:rPr lang="en-US" sz="1200" b="1" dirty="0">
                <a:latin typeface="Candara"/>
              </a:rPr>
            </a:br>
            <a:r>
              <a:rPr lang="en-US" dirty="0">
                <a:latin typeface="Candara"/>
              </a:rPr>
              <a:t>LOB Locator and LOB value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4" y="926305"/>
            <a:ext cx="8823325" cy="3838199"/>
          </a:xfrm>
        </p:spPr>
        <p:txBody>
          <a:bodyPr>
            <a:normAutofit fontScale="85000" lnSpcReduction="10000"/>
          </a:bodyPr>
          <a:lstStyle/>
          <a:p>
            <a:r>
              <a:rPr lang="en-US" sz="2400" dirty="0"/>
              <a:t>The internal LOBs are stored in the Oracle Server. A BLOB, CLOB, NCLOB can be :</a:t>
            </a:r>
          </a:p>
          <a:p>
            <a:pPr lvl="1"/>
            <a:r>
              <a:rPr lang="en-US" sz="2000" dirty="0"/>
              <a:t>	An attribute of a user-defined type</a:t>
            </a:r>
          </a:p>
          <a:p>
            <a:pPr lvl="1"/>
            <a:r>
              <a:rPr lang="en-US" sz="2000" dirty="0"/>
              <a:t>	A column in a table</a:t>
            </a:r>
          </a:p>
          <a:p>
            <a:pPr lvl="1"/>
            <a:r>
              <a:rPr lang="en-US" sz="2000" dirty="0"/>
              <a:t>	A bind or host variable(Variable x </a:t>
            </a:r>
            <a:r>
              <a:rPr lang="en-US" sz="2000" dirty="0" err="1"/>
              <a:t>clob</a:t>
            </a:r>
            <a:r>
              <a:rPr lang="en-US" sz="2000" dirty="0"/>
              <a:t>/</a:t>
            </a:r>
            <a:r>
              <a:rPr lang="en-US" sz="2000" dirty="0" err="1"/>
              <a:t>nclob</a:t>
            </a:r>
            <a:r>
              <a:rPr lang="en-US" sz="2000" dirty="0"/>
              <a:t> and NOT blob)</a:t>
            </a:r>
          </a:p>
          <a:p>
            <a:pPr lvl="1"/>
            <a:r>
              <a:rPr lang="en-US" sz="2000" dirty="0"/>
              <a:t>	A PLSQL variable, parameter.</a:t>
            </a:r>
          </a:p>
          <a:p>
            <a:pPr>
              <a:buNone/>
            </a:pPr>
            <a:r>
              <a:rPr lang="en-US" sz="2400" dirty="0"/>
              <a:t> </a:t>
            </a:r>
          </a:p>
          <a:p>
            <a:r>
              <a:rPr lang="en-US" sz="2400" b="1" dirty="0"/>
              <a:t>External LOB : BFILE</a:t>
            </a:r>
            <a:endParaRPr lang="en-US" sz="2400" dirty="0"/>
          </a:p>
          <a:p>
            <a:pPr>
              <a:buNone/>
            </a:pPr>
            <a:r>
              <a:rPr lang="en-US" sz="2400" dirty="0"/>
              <a:t>The BFILE data-type supports an external or file-based large object as :</a:t>
            </a:r>
          </a:p>
          <a:p>
            <a:pPr lvl="1"/>
            <a:r>
              <a:rPr lang="en-US" sz="2400" dirty="0"/>
              <a:t>	</a:t>
            </a:r>
            <a:r>
              <a:rPr lang="en-US" sz="2000" dirty="0"/>
              <a:t>An attribute of a user-defined type</a:t>
            </a:r>
          </a:p>
          <a:p>
            <a:pPr lvl="1"/>
            <a:r>
              <a:rPr lang="en-US" sz="2000" dirty="0"/>
              <a:t>	A column in a table</a:t>
            </a:r>
          </a:p>
          <a:p>
            <a:pPr lvl="1"/>
            <a:r>
              <a:rPr lang="en-US" sz="2000" dirty="0"/>
              <a:t>	A bind or host variable </a:t>
            </a:r>
            <a:r>
              <a:rPr lang="en-US" sz="2000" b="1" dirty="0"/>
              <a:t>NOT allowed </a:t>
            </a:r>
            <a:r>
              <a:rPr lang="en-US" sz="2000" dirty="0"/>
              <a:t>in 10G(Variable x </a:t>
            </a:r>
            <a:r>
              <a:rPr lang="en-US" sz="2000" dirty="0" err="1"/>
              <a:t>bfile</a:t>
            </a:r>
            <a:r>
              <a:rPr lang="en-US" sz="2000" dirty="0"/>
              <a:t>)</a:t>
            </a:r>
          </a:p>
          <a:p>
            <a:pPr lvl="1"/>
            <a:r>
              <a:rPr lang="en-US" sz="2000" dirty="0"/>
              <a:t>	A PLSQL variable, parameter.</a:t>
            </a:r>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400" b="1" dirty="0">
                <a:latin typeface="Candara"/>
              </a:rPr>
              <a:t>5.12:  Features of LOBs</a:t>
            </a:r>
            <a:r>
              <a:rPr lang="en-US" sz="1400" dirty="0">
                <a:latin typeface="Candara"/>
              </a:rPr>
              <a:t>				</a:t>
            </a:r>
            <a:br>
              <a:rPr lang="en-US" sz="1200" b="1" dirty="0">
                <a:latin typeface="Candara"/>
              </a:rPr>
            </a:br>
            <a:r>
              <a:rPr lang="en-US" dirty="0">
                <a:latin typeface="Candara"/>
              </a:rPr>
              <a:t>Applicability on LOBs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4" y="926305"/>
            <a:ext cx="8823325" cy="3838199"/>
          </a:xfrm>
        </p:spPr>
        <p:txBody>
          <a:bodyPr>
            <a:normAutofit/>
          </a:bodyPr>
          <a:lstStyle/>
          <a:p>
            <a:pPr algn="just"/>
            <a:r>
              <a:rPr lang="en-US" sz="1800" dirty="0"/>
              <a:t>The operations that are required for using BFILEs are possible through the DBMS_LOB package. </a:t>
            </a:r>
          </a:p>
          <a:p>
            <a:pPr algn="just"/>
            <a:r>
              <a:rPr lang="en-US" sz="1800" dirty="0"/>
              <a:t>BFILEs are read-only. </a:t>
            </a:r>
          </a:p>
          <a:p>
            <a:pPr algn="just"/>
            <a:r>
              <a:rPr lang="en-US" sz="1800" dirty="0"/>
              <a:t>Integrity and durability must be provided by the OS. </a:t>
            </a:r>
          </a:p>
          <a:p>
            <a:pPr algn="just"/>
            <a:r>
              <a:rPr lang="en-US" sz="1800" dirty="0"/>
              <a:t>The file must be created and placed in appropriate directory, giving the Oracle process privileges to read the file. </a:t>
            </a:r>
          </a:p>
          <a:p>
            <a:pPr algn="just"/>
            <a:r>
              <a:rPr lang="en-US" sz="1800" dirty="0"/>
              <a:t>When the LOB row is deleted, the Oracle Server does not delete the file. </a:t>
            </a:r>
          </a:p>
          <a:p>
            <a:pPr algn="just"/>
            <a:r>
              <a:rPr lang="en-US" sz="1800" dirty="0"/>
              <a:t>The maximum size of an External LOB depends on the OS, but cannot exceed 4 GB. </a:t>
            </a:r>
          </a:p>
          <a:p>
            <a:pPr algn="just"/>
            <a:r>
              <a:rPr lang="en-US" sz="1800" dirty="0"/>
              <a:t>Oracle Backup and Recovery methods support only the LOB locators, not the physical files.</a:t>
            </a:r>
            <a:endParaRPr lang="en-US" sz="2000" dirty="0"/>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400" b="1" dirty="0">
                <a:latin typeface="Candara"/>
              </a:rPr>
              <a:t>5.13:  BFILE type</a:t>
            </a:r>
            <a:r>
              <a:rPr lang="en-US" sz="1400" dirty="0">
                <a:latin typeface="Candara"/>
              </a:rPr>
              <a:t>			</a:t>
            </a:r>
            <a:br>
              <a:rPr lang="en-US" sz="1200" b="1" dirty="0">
                <a:latin typeface="Candara"/>
              </a:rPr>
            </a:br>
            <a:r>
              <a:rPr lang="en-US" dirty="0">
                <a:latin typeface="Candara"/>
              </a:rPr>
              <a:t>Read-only BFILE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4" y="926305"/>
            <a:ext cx="8823325" cy="3838199"/>
          </a:xfrm>
        </p:spPr>
        <p:txBody>
          <a:bodyPr>
            <a:normAutofit fontScale="70000" lnSpcReduction="20000"/>
          </a:bodyPr>
          <a:lstStyle/>
          <a:p>
            <a:r>
              <a:rPr lang="en-US" sz="1800" dirty="0"/>
              <a:t>A DIRECTORY is a non-schema database object that enables the access and usage of BFILEs in Oracle Database.</a:t>
            </a:r>
          </a:p>
          <a:p>
            <a:pPr>
              <a:buNone/>
            </a:pPr>
            <a:endParaRPr lang="en-US" sz="1800" dirty="0"/>
          </a:p>
          <a:p>
            <a:pPr algn="just"/>
            <a:r>
              <a:rPr lang="en-US" sz="1800" dirty="0"/>
              <a:t>A DIRECTORY specifies an alias for a directory on the file system of the server under which a BFILE is located. By granting suitable privileges for a DIRECTORY object, you can provide secure access to files in the corresponding directories on a user-by-user basis(certain directories can be made read-only or  inaccessible to certain users).</a:t>
            </a:r>
          </a:p>
          <a:p>
            <a:pPr algn="just">
              <a:buNone/>
            </a:pPr>
            <a:endParaRPr lang="en-US" sz="1800" dirty="0"/>
          </a:p>
          <a:p>
            <a:pPr algn="just">
              <a:buNone/>
            </a:pPr>
            <a:r>
              <a:rPr lang="en-US" sz="2300" dirty="0">
                <a:ln>
                  <a:solidFill>
                    <a:srgbClr val="00B0F0"/>
                  </a:solidFill>
                </a:ln>
                <a:solidFill>
                  <a:srgbClr val="00B0F0"/>
                </a:solidFill>
              </a:rPr>
              <a:t>GRANT READ ON DIRECTORY &lt;</a:t>
            </a:r>
            <a:r>
              <a:rPr lang="en-US" sz="2300" dirty="0" err="1">
                <a:ln>
                  <a:solidFill>
                    <a:srgbClr val="00B0F0"/>
                  </a:solidFill>
                </a:ln>
                <a:solidFill>
                  <a:srgbClr val="00B0F0"/>
                </a:solidFill>
              </a:rPr>
              <a:t>DIRECTORY_name</a:t>
            </a:r>
            <a:r>
              <a:rPr lang="en-US" sz="2300" dirty="0">
                <a:ln>
                  <a:solidFill>
                    <a:srgbClr val="00B0F0"/>
                  </a:solidFill>
                </a:ln>
                <a:solidFill>
                  <a:srgbClr val="00B0F0"/>
                </a:solidFill>
              </a:rPr>
              <a:t>&gt; to users;</a:t>
            </a:r>
          </a:p>
          <a:p>
            <a:pPr algn="just">
              <a:buNone/>
            </a:pPr>
            <a:r>
              <a:rPr lang="en-US" sz="2300" dirty="0">
                <a:ln>
                  <a:solidFill>
                    <a:srgbClr val="00B0F0"/>
                  </a:solidFill>
                </a:ln>
                <a:solidFill>
                  <a:srgbClr val="00B0F0"/>
                </a:solidFill>
              </a:rPr>
              <a:t>GRANT WRITE ON DIRECTORY &lt;</a:t>
            </a:r>
            <a:r>
              <a:rPr lang="en-US" sz="2300" dirty="0" err="1">
                <a:ln>
                  <a:solidFill>
                    <a:srgbClr val="00B0F0"/>
                  </a:solidFill>
                </a:ln>
                <a:solidFill>
                  <a:srgbClr val="00B0F0"/>
                </a:solidFill>
              </a:rPr>
              <a:t>DIRECTORY_name</a:t>
            </a:r>
            <a:r>
              <a:rPr lang="en-US" sz="2300" dirty="0">
                <a:ln>
                  <a:solidFill>
                    <a:srgbClr val="00B0F0"/>
                  </a:solidFill>
                </a:ln>
                <a:solidFill>
                  <a:srgbClr val="00B0F0"/>
                </a:solidFill>
              </a:rPr>
              <a:t>&gt; to users;</a:t>
            </a:r>
          </a:p>
          <a:p>
            <a:pPr algn="just">
              <a:buNone/>
            </a:pPr>
            <a:r>
              <a:rPr lang="en-US" sz="2300" dirty="0">
                <a:ln>
                  <a:solidFill>
                    <a:srgbClr val="00B0F0"/>
                  </a:solidFill>
                </a:ln>
                <a:solidFill>
                  <a:srgbClr val="00B0F0"/>
                </a:solidFill>
              </a:rPr>
              <a:t>GRANT ALL ON DIRECTORY &lt;</a:t>
            </a:r>
            <a:r>
              <a:rPr lang="en-US" sz="2300" dirty="0" err="1">
                <a:ln>
                  <a:solidFill>
                    <a:srgbClr val="00B0F0"/>
                  </a:solidFill>
                </a:ln>
                <a:solidFill>
                  <a:srgbClr val="00B0F0"/>
                </a:solidFill>
              </a:rPr>
              <a:t>DIRECTORY_name</a:t>
            </a:r>
            <a:r>
              <a:rPr lang="en-US" sz="2300" dirty="0">
                <a:ln>
                  <a:solidFill>
                    <a:srgbClr val="00B0F0"/>
                  </a:solidFill>
                </a:ln>
                <a:solidFill>
                  <a:srgbClr val="00B0F0"/>
                </a:solidFill>
              </a:rPr>
              <a:t>&gt; to users;</a:t>
            </a:r>
          </a:p>
          <a:p>
            <a:pPr algn="just">
              <a:buNone/>
            </a:pPr>
            <a:r>
              <a:rPr lang="en-US" sz="1800" dirty="0"/>
              <a:t> </a:t>
            </a:r>
          </a:p>
          <a:p>
            <a:pPr algn="just"/>
            <a:r>
              <a:rPr lang="en-US" sz="1800" dirty="0"/>
              <a:t>Also, these DIRECTORY objects can be used while referring to files(open, close, read, and so on) in PLSQL. Thus, it provides application abstraction from hard-coded path-names and gives flexibility in managing file-locations.</a:t>
            </a:r>
          </a:p>
          <a:p>
            <a:pPr algn="just">
              <a:buNone/>
            </a:pPr>
            <a:r>
              <a:rPr lang="en-US" sz="1800" dirty="0"/>
              <a:t> </a:t>
            </a:r>
          </a:p>
          <a:p>
            <a:pPr algn="just"/>
            <a:r>
              <a:rPr lang="en-US" sz="1800" dirty="0"/>
              <a:t>The DIRECTORY object is owned by SYS and created by the DBA(or any other user with CREATE ANY DIRECTORY privilege). The DIRECTORY object has object-privileges unlike other non-schema objects. Privileges to DIRECTORY object can be Granted and Revoked.</a:t>
            </a:r>
          </a:p>
          <a:p>
            <a:pPr algn="just">
              <a:buNone/>
            </a:pPr>
            <a:r>
              <a:rPr lang="en-US" sz="1800" dirty="0"/>
              <a:t> </a:t>
            </a:r>
          </a:p>
          <a:p>
            <a:pPr algn="just"/>
            <a:r>
              <a:rPr lang="en-US" sz="1800" dirty="0"/>
              <a:t>The DIRECTORY object information is stored in the DBA_DIRECTORIES and ALL_DIRECTORIES data-dictionary views.</a:t>
            </a:r>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400" b="1" dirty="0">
                <a:latin typeface="Candara"/>
              </a:rPr>
              <a:t>5.14:  Directory Object</a:t>
            </a:r>
            <a:r>
              <a:rPr lang="en-US" sz="1400" dirty="0">
                <a:latin typeface="Candara"/>
              </a:rPr>
              <a:t>			</a:t>
            </a:r>
            <a:br>
              <a:rPr lang="en-US" sz="1200" b="1" dirty="0">
                <a:latin typeface="Candara"/>
              </a:rPr>
            </a:br>
            <a:r>
              <a:rPr lang="en-US" dirty="0">
                <a:latin typeface="Candara"/>
              </a:rPr>
              <a:t>Abstraction for an OS folder path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4" y="926305"/>
            <a:ext cx="8823325" cy="3838199"/>
          </a:xfrm>
        </p:spPr>
        <p:txBody>
          <a:bodyPr>
            <a:noAutofit/>
          </a:bodyPr>
          <a:lstStyle/>
          <a:p>
            <a:r>
              <a:rPr lang="en-US" sz="1600" dirty="0"/>
              <a:t>DIRECTORY objects should not point to paths that contain your database files(data files, log files and/or control files), because tampering with these files could corrupt the database.</a:t>
            </a:r>
          </a:p>
          <a:p>
            <a:pPr>
              <a:buNone/>
            </a:pPr>
            <a:r>
              <a:rPr lang="en-US" sz="1600" dirty="0"/>
              <a:t> </a:t>
            </a:r>
          </a:p>
          <a:p>
            <a:r>
              <a:rPr lang="en-US" sz="1600" dirty="0"/>
              <a:t>The CREATE ANY DIRECTORY and DROP ANY DIRECTORY system privileges should be used carefully and not granted to users indiscriminately.</a:t>
            </a:r>
          </a:p>
          <a:p>
            <a:pPr>
              <a:buNone/>
            </a:pPr>
            <a:r>
              <a:rPr lang="en-US" sz="1600" dirty="0"/>
              <a:t> </a:t>
            </a:r>
          </a:p>
          <a:p>
            <a:r>
              <a:rPr lang="en-US" sz="1600" dirty="0"/>
              <a:t>All DIRECTORY objects are non-schema objects, all are owned by SYS.</a:t>
            </a:r>
          </a:p>
          <a:p>
            <a:pPr>
              <a:buNone/>
            </a:pPr>
            <a:r>
              <a:rPr lang="en-US" sz="1600" dirty="0"/>
              <a:t> </a:t>
            </a:r>
          </a:p>
          <a:p>
            <a:pPr algn="just"/>
            <a:r>
              <a:rPr lang="en-US" sz="1600" dirty="0"/>
              <a:t>First create the OS Directory paths with appropriate permissions and then create the DIRECTORY objects, as Oracle does not create the OS paths.</a:t>
            </a:r>
          </a:p>
          <a:p>
            <a:pPr>
              <a:buNone/>
            </a:pPr>
            <a:r>
              <a:rPr lang="en-US" sz="1600" dirty="0"/>
              <a:t> </a:t>
            </a:r>
          </a:p>
          <a:p>
            <a:r>
              <a:rPr lang="en-US" sz="1600" dirty="0"/>
              <a:t>If you migrate the database to a different OS, you will be required to change the path value of the DIRECTORY object using the REPLACE option</a:t>
            </a:r>
          </a:p>
          <a:p>
            <a:pPr>
              <a:buNone/>
            </a:pPr>
            <a:r>
              <a:rPr lang="en-US" sz="1600" dirty="0"/>
              <a:t>		</a:t>
            </a:r>
            <a:r>
              <a:rPr lang="en-US" sz="1600" dirty="0">
                <a:ln>
                  <a:solidFill>
                    <a:srgbClr val="00B0F0"/>
                  </a:solidFill>
                </a:ln>
                <a:solidFill>
                  <a:srgbClr val="00B0F0"/>
                </a:solidFill>
              </a:rPr>
              <a:t>create or replace directory x as ‘C:\hemant';</a:t>
            </a:r>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400" b="1" dirty="0">
                <a:latin typeface="Candara"/>
              </a:rPr>
              <a:t>5.14:  Directory Object</a:t>
            </a:r>
            <a:r>
              <a:rPr lang="en-US" sz="1400" dirty="0">
                <a:latin typeface="Candara"/>
              </a:rPr>
              <a:t>							…..</a:t>
            </a:r>
            <a:r>
              <a:rPr lang="en-US" sz="1400" dirty="0" err="1">
                <a:latin typeface="Candara"/>
              </a:rPr>
              <a:t>contd</a:t>
            </a:r>
            <a:r>
              <a:rPr lang="en-US" sz="1400" dirty="0">
                <a:latin typeface="Candara"/>
              </a:rPr>
              <a:t>	</a:t>
            </a:r>
            <a:br>
              <a:rPr lang="en-US" sz="1200" b="1" dirty="0">
                <a:latin typeface="Candara"/>
              </a:rPr>
            </a:br>
            <a:r>
              <a:rPr lang="en-US" dirty="0">
                <a:latin typeface="Candara"/>
              </a:rPr>
              <a:t>Guidelines for Directory Object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92506" y="926305"/>
            <a:ext cx="8951494" cy="3838199"/>
          </a:xfrm>
        </p:spPr>
        <p:txBody>
          <a:bodyPr>
            <a:noAutofit/>
          </a:bodyPr>
          <a:lstStyle/>
          <a:p>
            <a:r>
              <a:rPr lang="en-US" sz="2000" dirty="0"/>
              <a:t>Managing BFILEs requires coordination between the Database or System Administrator and between the Developer and the User of the files.</a:t>
            </a:r>
          </a:p>
          <a:p>
            <a:pPr>
              <a:buNone/>
            </a:pPr>
            <a:endParaRPr lang="en-US" sz="2000" dirty="0"/>
          </a:p>
          <a:p>
            <a:pPr algn="just"/>
            <a:r>
              <a:rPr lang="en-US" sz="2000" dirty="0"/>
              <a:t>The Database or System Administrator should perform the following privileged tasks :</a:t>
            </a:r>
          </a:p>
          <a:p>
            <a:pPr lvl="1" algn="just"/>
            <a:r>
              <a:rPr lang="en-US" sz="2000" dirty="0"/>
              <a:t>	Create the OS Directory and set permissions so that the Oracle Server 	can read the  contents of the OS Directory. Place/Load the files in the 	OS 	Directory</a:t>
            </a:r>
          </a:p>
          <a:p>
            <a:pPr lvl="1" algn="just"/>
            <a:r>
              <a:rPr lang="en-US" sz="2000" dirty="0"/>
              <a:t>	Create the database DIRECTORY object that references the OS 	Directory</a:t>
            </a:r>
          </a:p>
          <a:p>
            <a:pPr lvl="1" algn="just"/>
            <a:r>
              <a:rPr lang="en-US" sz="2000" dirty="0"/>
              <a:t>	Grant READ privileges on the database DIRECTORY object to 	database users  requiring access to it.</a:t>
            </a:r>
          </a:p>
          <a:p>
            <a:pPr>
              <a:buNone/>
            </a:pPr>
            <a:r>
              <a:rPr lang="en-US" sz="1800" dirty="0"/>
              <a:t> </a:t>
            </a:r>
            <a:endParaRPr lang="en-US" sz="1800" dirty="0">
              <a:ln>
                <a:solidFill>
                  <a:srgbClr val="00B0F0"/>
                </a:solidFill>
              </a:ln>
              <a:solidFill>
                <a:srgbClr val="00B0F0"/>
              </a:solidFill>
            </a:endParaRPr>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400" b="1" dirty="0">
                <a:latin typeface="Candara"/>
              </a:rPr>
              <a:t>5.14:  Directory Object</a:t>
            </a:r>
            <a:r>
              <a:rPr lang="en-US" sz="1400" dirty="0">
                <a:latin typeface="Candara"/>
              </a:rPr>
              <a:t>							…..</a:t>
            </a:r>
            <a:r>
              <a:rPr lang="en-US" sz="1400" dirty="0" err="1">
                <a:latin typeface="Candara"/>
              </a:rPr>
              <a:t>contd</a:t>
            </a:r>
            <a:r>
              <a:rPr lang="en-US" sz="1400" dirty="0">
                <a:latin typeface="Candara"/>
              </a:rPr>
              <a:t>	</a:t>
            </a:r>
            <a:br>
              <a:rPr lang="en-US" sz="1200" b="1" dirty="0">
                <a:latin typeface="Candara"/>
              </a:rPr>
            </a:br>
            <a:r>
              <a:rPr lang="en-US" dirty="0">
                <a:latin typeface="Candara"/>
              </a:rPr>
              <a:t>Managing BFILEs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4" y="926305"/>
            <a:ext cx="8823325" cy="3838199"/>
          </a:xfrm>
        </p:spPr>
        <p:txBody>
          <a:bodyPr>
            <a:noAutofit/>
          </a:bodyPr>
          <a:lstStyle/>
          <a:p>
            <a:r>
              <a:rPr lang="en-US" sz="2000" dirty="0"/>
              <a:t>The Designer, application developer or user should perform the following tasks :</a:t>
            </a:r>
          </a:p>
          <a:p>
            <a:pPr lvl="1"/>
            <a:r>
              <a:rPr lang="en-US" sz="2000" dirty="0"/>
              <a:t>Create a table containing a column with BFILE data-type</a:t>
            </a:r>
          </a:p>
          <a:p>
            <a:pPr lvl="1" algn="just"/>
            <a:r>
              <a:rPr lang="en-US" sz="2000" dirty="0"/>
              <a:t>Insert rows into the table using the BFILENAME function to populate the BFILE column associating the field to an OS file in the named DIRECTORY</a:t>
            </a:r>
          </a:p>
          <a:p>
            <a:pPr lvl="1"/>
            <a:r>
              <a:rPr lang="en-US" sz="2000" dirty="0"/>
              <a:t>Write PLSQL sub-programs that :</a:t>
            </a:r>
          </a:p>
          <a:p>
            <a:pPr lvl="2"/>
            <a:r>
              <a:rPr lang="en-US" sz="2000" dirty="0"/>
              <a:t>Declare and Initialize the BFILE LOB Locator/Variable</a:t>
            </a:r>
          </a:p>
          <a:p>
            <a:pPr lvl="2" algn="just"/>
            <a:r>
              <a:rPr lang="en-US" sz="2000" dirty="0"/>
              <a:t>Select the row and column containing the BFILE into the LOB locator</a:t>
            </a:r>
          </a:p>
          <a:p>
            <a:pPr lvl="2" algn="just"/>
            <a:r>
              <a:rPr lang="en-US" sz="2000" dirty="0"/>
              <a:t>Read the BFILE with a DBMS_LOB function, using the locator file reference</a:t>
            </a:r>
            <a:endParaRPr lang="en-US" sz="2000" dirty="0">
              <a:ln>
                <a:solidFill>
                  <a:srgbClr val="00B0F0"/>
                </a:solidFill>
              </a:ln>
              <a:solidFill>
                <a:srgbClr val="00B0F0"/>
              </a:solidFill>
            </a:endParaRPr>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400" b="1" dirty="0">
                <a:latin typeface="Candara"/>
              </a:rPr>
              <a:t>5.14:  Directory Object</a:t>
            </a:r>
            <a:r>
              <a:rPr lang="en-US" sz="1400" dirty="0">
                <a:latin typeface="Candara"/>
              </a:rPr>
              <a:t>						</a:t>
            </a:r>
            <a:br>
              <a:rPr lang="en-US" sz="1200" b="1" dirty="0">
                <a:latin typeface="Candara"/>
              </a:rPr>
            </a:br>
            <a:r>
              <a:rPr lang="en-US" dirty="0">
                <a:latin typeface="Candara"/>
              </a:rPr>
              <a:t>Managing BFILEs						….</a:t>
            </a:r>
            <a:r>
              <a:rPr lang="en-US" dirty="0" err="1">
                <a:latin typeface="Candara"/>
              </a:rPr>
              <a:t>contd</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4" y="926305"/>
            <a:ext cx="8823325" cy="3838199"/>
          </a:xfrm>
        </p:spPr>
        <p:txBody>
          <a:bodyPr>
            <a:noAutofit/>
          </a:bodyPr>
          <a:lstStyle/>
          <a:p>
            <a:r>
              <a:rPr lang="en-US" sz="2000" dirty="0"/>
              <a:t>At the OS, create folder ‘D:\Photos’ containing video files ‘video1.mp4’ and ‘video2.mp4’</a:t>
            </a:r>
          </a:p>
          <a:p>
            <a:r>
              <a:rPr lang="en-US" sz="2000" dirty="0"/>
              <a:t>Grant appropriate privileges to </a:t>
            </a:r>
            <a:r>
              <a:rPr lang="en-US" sz="2000" dirty="0" err="1"/>
              <a:t>scott</a:t>
            </a:r>
            <a:r>
              <a:rPr lang="en-US" sz="2000" dirty="0"/>
              <a:t> user : </a:t>
            </a:r>
          </a:p>
          <a:p>
            <a:pPr>
              <a:buNone/>
            </a:pPr>
            <a:r>
              <a:rPr lang="en-US" sz="1600" dirty="0">
                <a:ln>
                  <a:solidFill>
                    <a:srgbClr val="00B0F0"/>
                  </a:solidFill>
                </a:ln>
                <a:solidFill>
                  <a:srgbClr val="00B0F0"/>
                </a:solidFill>
              </a:rPr>
              <a:t>		Connect system/</a:t>
            </a:r>
            <a:r>
              <a:rPr lang="en-US" sz="1600" dirty="0" err="1">
                <a:ln>
                  <a:solidFill>
                    <a:srgbClr val="00B0F0"/>
                  </a:solidFill>
                </a:ln>
                <a:solidFill>
                  <a:srgbClr val="00B0F0"/>
                </a:solidFill>
              </a:rPr>
              <a:t>abc</a:t>
            </a:r>
            <a:r>
              <a:rPr lang="en-US" sz="1600" dirty="0">
                <a:ln>
                  <a:solidFill>
                    <a:srgbClr val="00B0F0"/>
                  </a:solidFill>
                </a:ln>
                <a:solidFill>
                  <a:srgbClr val="00B0F0"/>
                </a:solidFill>
              </a:rPr>
              <a:t>;</a:t>
            </a:r>
          </a:p>
          <a:p>
            <a:pPr>
              <a:buNone/>
            </a:pPr>
            <a:r>
              <a:rPr lang="en-US" sz="1600" dirty="0">
                <a:ln>
                  <a:solidFill>
                    <a:srgbClr val="00B0F0"/>
                  </a:solidFill>
                </a:ln>
                <a:solidFill>
                  <a:srgbClr val="00B0F0"/>
                </a:solidFill>
              </a:rPr>
              <a:t>		Grant CREATE ANY DIRECTORY to </a:t>
            </a:r>
            <a:r>
              <a:rPr lang="en-US" sz="1600" dirty="0" err="1">
                <a:ln>
                  <a:solidFill>
                    <a:srgbClr val="00B0F0"/>
                  </a:solidFill>
                </a:ln>
                <a:solidFill>
                  <a:srgbClr val="00B0F0"/>
                </a:solidFill>
              </a:rPr>
              <a:t>scott</a:t>
            </a:r>
            <a:r>
              <a:rPr lang="en-US" sz="1600" dirty="0">
                <a:ln>
                  <a:solidFill>
                    <a:srgbClr val="00B0F0"/>
                  </a:solidFill>
                </a:ln>
                <a:solidFill>
                  <a:srgbClr val="00B0F0"/>
                </a:solidFill>
              </a:rPr>
              <a:t>;</a:t>
            </a:r>
          </a:p>
          <a:p>
            <a:pPr>
              <a:buNone/>
            </a:pPr>
            <a:r>
              <a:rPr lang="en-US" sz="1600" dirty="0">
                <a:ln>
                  <a:solidFill>
                    <a:srgbClr val="00B0F0"/>
                  </a:solidFill>
                </a:ln>
                <a:solidFill>
                  <a:srgbClr val="00B0F0"/>
                </a:solidFill>
              </a:rPr>
              <a:t>		Grant DROP ANY DIRECTORY to </a:t>
            </a:r>
            <a:r>
              <a:rPr lang="en-US" sz="1600" dirty="0" err="1">
                <a:ln>
                  <a:solidFill>
                    <a:srgbClr val="00B0F0"/>
                  </a:solidFill>
                </a:ln>
                <a:solidFill>
                  <a:srgbClr val="00B0F0"/>
                </a:solidFill>
              </a:rPr>
              <a:t>scott</a:t>
            </a:r>
            <a:r>
              <a:rPr lang="en-US" sz="1600" dirty="0">
                <a:ln>
                  <a:solidFill>
                    <a:srgbClr val="00B0F0"/>
                  </a:solidFill>
                </a:ln>
                <a:solidFill>
                  <a:srgbClr val="00B0F0"/>
                </a:solidFill>
              </a:rPr>
              <a:t>;</a:t>
            </a:r>
          </a:p>
          <a:p>
            <a:r>
              <a:rPr lang="en-US" sz="1600" dirty="0">
                <a:ln>
                  <a:solidFill>
                    <a:srgbClr val="00B0F0"/>
                  </a:solidFill>
                </a:ln>
                <a:solidFill>
                  <a:srgbClr val="00B0F0"/>
                </a:solidFill>
              </a:rPr>
              <a:t> </a:t>
            </a:r>
            <a:r>
              <a:rPr lang="en-US" sz="2000" dirty="0"/>
              <a:t>Connect  as </a:t>
            </a:r>
            <a:r>
              <a:rPr lang="en-US" sz="2000" dirty="0" err="1"/>
              <a:t>scott</a:t>
            </a:r>
            <a:r>
              <a:rPr lang="en-US" sz="2000" dirty="0"/>
              <a:t>  : </a:t>
            </a:r>
          </a:p>
          <a:p>
            <a:pPr>
              <a:buNone/>
            </a:pPr>
            <a:r>
              <a:rPr lang="en-US" sz="1600" dirty="0">
                <a:ln>
                  <a:solidFill>
                    <a:srgbClr val="00B0F0"/>
                  </a:solidFill>
                </a:ln>
                <a:solidFill>
                  <a:srgbClr val="00B0F0"/>
                </a:solidFill>
              </a:rPr>
              <a:t>		Conn </a:t>
            </a:r>
            <a:r>
              <a:rPr lang="en-US" sz="1600" dirty="0" err="1">
                <a:ln>
                  <a:solidFill>
                    <a:srgbClr val="00B0F0"/>
                  </a:solidFill>
                </a:ln>
                <a:solidFill>
                  <a:srgbClr val="00B0F0"/>
                </a:solidFill>
              </a:rPr>
              <a:t>scott</a:t>
            </a:r>
            <a:r>
              <a:rPr lang="en-US" sz="1600" dirty="0">
                <a:ln>
                  <a:solidFill>
                    <a:srgbClr val="00B0F0"/>
                  </a:solidFill>
                </a:ln>
                <a:solidFill>
                  <a:srgbClr val="00B0F0"/>
                </a:solidFill>
              </a:rPr>
              <a:t>/</a:t>
            </a:r>
            <a:r>
              <a:rPr lang="en-US" sz="1600" dirty="0" err="1">
                <a:ln>
                  <a:solidFill>
                    <a:srgbClr val="00B0F0"/>
                  </a:solidFill>
                </a:ln>
                <a:solidFill>
                  <a:srgbClr val="00B0F0"/>
                </a:solidFill>
              </a:rPr>
              <a:t>abc</a:t>
            </a:r>
            <a:r>
              <a:rPr lang="en-US" sz="1600" dirty="0">
                <a:ln>
                  <a:solidFill>
                    <a:srgbClr val="00B0F0"/>
                  </a:solidFill>
                </a:ln>
                <a:solidFill>
                  <a:srgbClr val="00B0F0"/>
                </a:solidFill>
              </a:rPr>
              <a:t>;</a:t>
            </a:r>
          </a:p>
          <a:p>
            <a:pPr>
              <a:buNone/>
            </a:pPr>
            <a:r>
              <a:rPr lang="en-US" sz="1600" dirty="0">
                <a:ln>
                  <a:solidFill>
                    <a:srgbClr val="00B0F0"/>
                  </a:solidFill>
                </a:ln>
                <a:solidFill>
                  <a:srgbClr val="00B0F0"/>
                </a:solidFill>
              </a:rPr>
              <a:t> </a:t>
            </a:r>
          </a:p>
          <a:p>
            <a:pPr>
              <a:buNone/>
            </a:pPr>
            <a:r>
              <a:rPr lang="en-US" sz="1600" dirty="0">
                <a:ln>
                  <a:solidFill>
                    <a:srgbClr val="00B0F0"/>
                  </a:solidFill>
                </a:ln>
                <a:solidFill>
                  <a:srgbClr val="00B0F0"/>
                </a:solidFill>
              </a:rPr>
              <a:t>		Create table employee(</a:t>
            </a:r>
            <a:r>
              <a:rPr lang="en-US" sz="1600" dirty="0" err="1">
                <a:ln>
                  <a:solidFill>
                    <a:srgbClr val="00B0F0"/>
                  </a:solidFill>
                </a:ln>
                <a:solidFill>
                  <a:srgbClr val="00B0F0"/>
                </a:solidFill>
              </a:rPr>
              <a:t>empid</a:t>
            </a:r>
            <a:r>
              <a:rPr lang="en-US" sz="1600" dirty="0">
                <a:ln>
                  <a:solidFill>
                    <a:srgbClr val="00B0F0"/>
                  </a:solidFill>
                </a:ln>
                <a:solidFill>
                  <a:srgbClr val="00B0F0"/>
                </a:solidFill>
              </a:rPr>
              <a:t> number, </a:t>
            </a:r>
            <a:r>
              <a:rPr lang="en-US" sz="1600" dirty="0" err="1">
                <a:ln>
                  <a:solidFill>
                    <a:srgbClr val="00B0F0"/>
                  </a:solidFill>
                </a:ln>
                <a:solidFill>
                  <a:srgbClr val="00B0F0"/>
                </a:solidFill>
              </a:rPr>
              <a:t>empname</a:t>
            </a:r>
            <a:r>
              <a:rPr lang="en-US" sz="1600" dirty="0">
                <a:ln>
                  <a:solidFill>
                    <a:srgbClr val="00B0F0"/>
                  </a:solidFill>
                </a:ln>
                <a:solidFill>
                  <a:srgbClr val="00B0F0"/>
                </a:solidFill>
              </a:rPr>
              <a:t> varchar2(30));</a:t>
            </a:r>
          </a:p>
          <a:p>
            <a:pPr>
              <a:buNone/>
            </a:pPr>
            <a:r>
              <a:rPr lang="en-US" sz="1600" dirty="0">
                <a:ln>
                  <a:solidFill>
                    <a:srgbClr val="00B0F0"/>
                  </a:solidFill>
                </a:ln>
                <a:solidFill>
                  <a:srgbClr val="00B0F0"/>
                </a:solidFill>
              </a:rPr>
              <a:t>		Insert into employee values(1,'Ram’);</a:t>
            </a:r>
          </a:p>
          <a:p>
            <a:pPr>
              <a:buNone/>
            </a:pPr>
            <a:r>
              <a:rPr lang="en-US" sz="1600" dirty="0">
                <a:ln>
                  <a:solidFill>
                    <a:srgbClr val="00B0F0"/>
                  </a:solidFill>
                </a:ln>
                <a:solidFill>
                  <a:srgbClr val="00B0F0"/>
                </a:solidFill>
              </a:rPr>
              <a:t>		Insert into employee values(2, 'Laxman');</a:t>
            </a:r>
          </a:p>
          <a:p>
            <a:pPr>
              <a:buNone/>
            </a:pPr>
            <a:r>
              <a:rPr lang="en-US" sz="1600" dirty="0">
                <a:ln>
                  <a:solidFill>
                    <a:srgbClr val="00B0F0"/>
                  </a:solidFill>
                </a:ln>
                <a:solidFill>
                  <a:srgbClr val="00B0F0"/>
                </a:solidFill>
              </a:rPr>
              <a:t> </a:t>
            </a:r>
          </a:p>
          <a:p>
            <a:pPr>
              <a:buNone/>
            </a:pPr>
            <a:r>
              <a:rPr lang="en-US" sz="1600" dirty="0">
                <a:ln>
                  <a:solidFill>
                    <a:srgbClr val="00B0F0"/>
                  </a:solidFill>
                </a:ln>
                <a:solidFill>
                  <a:srgbClr val="00B0F0"/>
                </a:solidFill>
              </a:rPr>
              <a:t> </a:t>
            </a:r>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400" b="1" dirty="0">
                <a:latin typeface="Candara"/>
              </a:rPr>
              <a:t>5.15:  BFILE columns in table</a:t>
            </a:r>
            <a:r>
              <a:rPr lang="en-US" sz="1400" dirty="0">
                <a:latin typeface="Candara"/>
              </a:rPr>
              <a:t>						</a:t>
            </a:r>
            <a:br>
              <a:rPr lang="en-US" sz="1200" b="1" dirty="0">
                <a:latin typeface="Candara"/>
              </a:rPr>
            </a:br>
            <a:r>
              <a:rPr lang="en-US" dirty="0"/>
              <a:t>Populating BFILE Columns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4" y="926305"/>
            <a:ext cx="8823325" cy="3838199"/>
          </a:xfrm>
        </p:spPr>
        <p:txBody>
          <a:bodyPr>
            <a:noAutofit/>
          </a:bodyPr>
          <a:lstStyle/>
          <a:p>
            <a:r>
              <a:rPr lang="en-US" sz="2000" dirty="0"/>
              <a:t>Alter the table to add a column named video</a:t>
            </a:r>
          </a:p>
          <a:p>
            <a:pPr lvl="1">
              <a:buNone/>
            </a:pPr>
            <a:r>
              <a:rPr lang="en-US" sz="1200" dirty="0">
                <a:ln>
                  <a:solidFill>
                    <a:srgbClr val="00B0F0"/>
                  </a:solidFill>
                </a:ln>
                <a:solidFill>
                  <a:srgbClr val="00B0F0"/>
                </a:solidFill>
              </a:rPr>
              <a:t>		</a:t>
            </a:r>
            <a:r>
              <a:rPr lang="en-US" sz="1600" dirty="0">
                <a:ln>
                  <a:solidFill>
                    <a:srgbClr val="00B0F0"/>
                  </a:solidFill>
                </a:ln>
                <a:solidFill>
                  <a:srgbClr val="00B0F0"/>
                </a:solidFill>
              </a:rPr>
              <a:t>Alter table employee add video BFILE;</a:t>
            </a:r>
          </a:p>
          <a:p>
            <a:pPr lvl="1">
              <a:buNone/>
            </a:pPr>
            <a:r>
              <a:rPr lang="en-US" sz="1600" dirty="0">
                <a:ln>
                  <a:solidFill>
                    <a:srgbClr val="00B0F0"/>
                  </a:solidFill>
                </a:ln>
                <a:solidFill>
                  <a:srgbClr val="00B0F0"/>
                </a:solidFill>
              </a:rPr>
              <a:t>		select </a:t>
            </a:r>
            <a:r>
              <a:rPr lang="en-US" sz="1600" dirty="0" err="1">
                <a:ln>
                  <a:solidFill>
                    <a:srgbClr val="00B0F0"/>
                  </a:solidFill>
                </a:ln>
                <a:solidFill>
                  <a:srgbClr val="00B0F0"/>
                </a:solidFill>
              </a:rPr>
              <a:t>empid</a:t>
            </a:r>
            <a:r>
              <a:rPr lang="en-US" sz="1600" dirty="0">
                <a:ln>
                  <a:solidFill>
                    <a:srgbClr val="00B0F0"/>
                  </a:solidFill>
                </a:ln>
                <a:solidFill>
                  <a:srgbClr val="00B0F0"/>
                </a:solidFill>
              </a:rPr>
              <a:t>, </a:t>
            </a:r>
            <a:r>
              <a:rPr lang="en-US" sz="1600" dirty="0" err="1">
                <a:ln>
                  <a:solidFill>
                    <a:srgbClr val="00B0F0"/>
                  </a:solidFill>
                </a:ln>
                <a:solidFill>
                  <a:srgbClr val="00B0F0"/>
                </a:solidFill>
              </a:rPr>
              <a:t>empname</a:t>
            </a:r>
            <a:r>
              <a:rPr lang="en-US" sz="1600" dirty="0">
                <a:ln>
                  <a:solidFill>
                    <a:srgbClr val="00B0F0"/>
                  </a:solidFill>
                </a:ln>
                <a:solidFill>
                  <a:srgbClr val="00B0F0"/>
                </a:solidFill>
              </a:rPr>
              <a:t> from employee where video is not null;</a:t>
            </a:r>
          </a:p>
          <a:p>
            <a:r>
              <a:rPr lang="en-US" sz="1600" dirty="0">
                <a:ln>
                  <a:solidFill>
                    <a:srgbClr val="00B0F0"/>
                  </a:solidFill>
                </a:ln>
                <a:solidFill>
                  <a:srgbClr val="00B0F0"/>
                </a:solidFill>
              </a:rPr>
              <a:t> </a:t>
            </a:r>
            <a:r>
              <a:rPr lang="en-US" sz="2000" dirty="0"/>
              <a:t>Create a Directory Object and verify the creation : </a:t>
            </a:r>
          </a:p>
          <a:p>
            <a:pPr>
              <a:buNone/>
            </a:pPr>
            <a:r>
              <a:rPr lang="en-US" sz="1600" dirty="0">
                <a:ln>
                  <a:solidFill>
                    <a:srgbClr val="00B0F0"/>
                  </a:solidFill>
                </a:ln>
                <a:solidFill>
                  <a:srgbClr val="00B0F0"/>
                </a:solidFill>
              </a:rPr>
              <a:t>		Create or replace Directory </a:t>
            </a:r>
            <a:r>
              <a:rPr lang="en-US" sz="1600" dirty="0" err="1">
                <a:ln>
                  <a:solidFill>
                    <a:srgbClr val="00B0F0"/>
                  </a:solidFill>
                </a:ln>
                <a:solidFill>
                  <a:srgbClr val="00B0F0"/>
                </a:solidFill>
              </a:rPr>
              <a:t>data_files</a:t>
            </a:r>
            <a:r>
              <a:rPr lang="en-US" sz="1600" dirty="0">
                <a:ln>
                  <a:solidFill>
                    <a:srgbClr val="00B0F0"/>
                  </a:solidFill>
                </a:ln>
                <a:solidFill>
                  <a:srgbClr val="00B0F0"/>
                </a:solidFill>
              </a:rPr>
              <a:t> as 'c:\photos’;</a:t>
            </a:r>
          </a:p>
          <a:p>
            <a:pPr>
              <a:buNone/>
            </a:pPr>
            <a:r>
              <a:rPr lang="en-US" sz="1600" dirty="0">
                <a:ln>
                  <a:solidFill>
                    <a:srgbClr val="00B0F0"/>
                  </a:solidFill>
                </a:ln>
                <a:solidFill>
                  <a:srgbClr val="00B0F0"/>
                </a:solidFill>
              </a:rPr>
              <a:t> 		</a:t>
            </a:r>
          </a:p>
          <a:p>
            <a:pPr>
              <a:buNone/>
            </a:pPr>
            <a:r>
              <a:rPr lang="en-US" sz="1600" dirty="0">
                <a:ln>
                  <a:solidFill>
                    <a:srgbClr val="00B0F0"/>
                  </a:solidFill>
                </a:ln>
                <a:solidFill>
                  <a:srgbClr val="00B0F0"/>
                </a:solidFill>
              </a:rPr>
              <a:t>		select owner, DIRECTORY_NAME,DIRECTORY_PATH from </a:t>
            </a:r>
            <a:r>
              <a:rPr lang="en-US" sz="1600" dirty="0" err="1">
                <a:ln>
                  <a:solidFill>
                    <a:srgbClr val="00B0F0"/>
                  </a:solidFill>
                </a:ln>
                <a:solidFill>
                  <a:srgbClr val="00B0F0"/>
                </a:solidFill>
              </a:rPr>
              <a:t>all_directories</a:t>
            </a:r>
            <a:r>
              <a:rPr lang="en-US" sz="1600" dirty="0">
                <a:ln>
                  <a:solidFill>
                    <a:srgbClr val="00B0F0"/>
                  </a:solidFill>
                </a:ln>
                <a:solidFill>
                  <a:srgbClr val="00B0F0"/>
                </a:solidFill>
              </a:rPr>
              <a:t> where 	</a:t>
            </a:r>
            <a:r>
              <a:rPr lang="en-US" sz="1600" dirty="0" err="1">
                <a:ln>
                  <a:solidFill>
                    <a:srgbClr val="00B0F0"/>
                  </a:solidFill>
                </a:ln>
                <a:solidFill>
                  <a:srgbClr val="00B0F0"/>
                </a:solidFill>
              </a:rPr>
              <a:t>directory_name</a:t>
            </a:r>
            <a:r>
              <a:rPr lang="en-US" sz="1600" dirty="0">
                <a:ln>
                  <a:solidFill>
                    <a:srgbClr val="00B0F0"/>
                  </a:solidFill>
                </a:ln>
                <a:solidFill>
                  <a:srgbClr val="00B0F0"/>
                </a:solidFill>
              </a:rPr>
              <a:t>='DATA_FILES';</a:t>
            </a:r>
          </a:p>
          <a:p>
            <a:pPr>
              <a:buNone/>
            </a:pPr>
            <a:endParaRPr lang="en-US" sz="1600" dirty="0">
              <a:ln>
                <a:solidFill>
                  <a:srgbClr val="00B0F0"/>
                </a:solidFill>
              </a:ln>
              <a:solidFill>
                <a:srgbClr val="00B0F0"/>
              </a:solidFill>
            </a:endParaRPr>
          </a:p>
          <a:p>
            <a:pPr>
              <a:buNone/>
            </a:pPr>
            <a:r>
              <a:rPr lang="en-US" sz="1600" dirty="0">
                <a:ln>
                  <a:solidFill>
                    <a:srgbClr val="00B0F0"/>
                  </a:solidFill>
                </a:ln>
                <a:solidFill>
                  <a:srgbClr val="00B0F0"/>
                </a:solidFill>
              </a:rPr>
              <a:t>		Update employee set video=BFILENAME('</a:t>
            </a:r>
            <a:r>
              <a:rPr lang="en-US" sz="1600" dirty="0" err="1">
                <a:ln>
                  <a:solidFill>
                    <a:srgbClr val="00B0F0"/>
                  </a:solidFill>
                </a:ln>
                <a:solidFill>
                  <a:srgbClr val="00B0F0"/>
                </a:solidFill>
              </a:rPr>
              <a:t>data_files</a:t>
            </a:r>
            <a:r>
              <a:rPr lang="en-US" sz="1600" dirty="0">
                <a:ln>
                  <a:solidFill>
                    <a:srgbClr val="00B0F0"/>
                  </a:solidFill>
                </a:ln>
                <a:solidFill>
                  <a:srgbClr val="00B0F0"/>
                </a:solidFill>
              </a:rPr>
              <a:t>', 'video1.mp4') where </a:t>
            </a:r>
            <a:r>
              <a:rPr lang="en-US" sz="1600" dirty="0" err="1">
                <a:ln>
                  <a:solidFill>
                    <a:srgbClr val="00B0F0"/>
                  </a:solidFill>
                </a:ln>
                <a:solidFill>
                  <a:srgbClr val="00B0F0"/>
                </a:solidFill>
              </a:rPr>
              <a:t>empid</a:t>
            </a:r>
            <a:r>
              <a:rPr lang="en-US" sz="1600" dirty="0">
                <a:ln>
                  <a:solidFill>
                    <a:srgbClr val="00B0F0"/>
                  </a:solidFill>
                </a:ln>
                <a:solidFill>
                  <a:srgbClr val="00B0F0"/>
                </a:solidFill>
              </a:rPr>
              <a:t>=1;</a:t>
            </a:r>
          </a:p>
          <a:p>
            <a:pPr>
              <a:buNone/>
            </a:pPr>
            <a:r>
              <a:rPr lang="en-US" sz="1600" dirty="0">
                <a:ln>
                  <a:solidFill>
                    <a:srgbClr val="00B0F0"/>
                  </a:solidFill>
                </a:ln>
                <a:solidFill>
                  <a:srgbClr val="00B0F0"/>
                </a:solidFill>
              </a:rPr>
              <a:t> 		Update employee set video=BFILENAME('</a:t>
            </a:r>
            <a:r>
              <a:rPr lang="en-US" sz="1600" dirty="0" err="1">
                <a:ln>
                  <a:solidFill>
                    <a:srgbClr val="00B0F0"/>
                  </a:solidFill>
                </a:ln>
                <a:solidFill>
                  <a:srgbClr val="00B0F0"/>
                </a:solidFill>
              </a:rPr>
              <a:t>data_files</a:t>
            </a:r>
            <a:r>
              <a:rPr lang="en-US" sz="1600" dirty="0">
                <a:ln>
                  <a:solidFill>
                    <a:srgbClr val="00B0F0"/>
                  </a:solidFill>
                </a:ln>
                <a:solidFill>
                  <a:srgbClr val="00B0F0"/>
                </a:solidFill>
              </a:rPr>
              <a:t>', 'video2.mp4') where </a:t>
            </a:r>
            <a:r>
              <a:rPr lang="en-US" sz="1600" dirty="0" err="1">
                <a:ln>
                  <a:solidFill>
                    <a:srgbClr val="00B0F0"/>
                  </a:solidFill>
                </a:ln>
                <a:solidFill>
                  <a:srgbClr val="00B0F0"/>
                </a:solidFill>
              </a:rPr>
              <a:t>empid</a:t>
            </a:r>
            <a:r>
              <a:rPr lang="en-US" sz="1600" dirty="0">
                <a:ln>
                  <a:solidFill>
                    <a:srgbClr val="00B0F0"/>
                  </a:solidFill>
                </a:ln>
                <a:solidFill>
                  <a:srgbClr val="00B0F0"/>
                </a:solidFill>
              </a:rPr>
              <a:t>=2;</a:t>
            </a:r>
          </a:p>
          <a:p>
            <a:pPr>
              <a:buNone/>
            </a:pPr>
            <a:r>
              <a:rPr lang="en-US" sz="1600" dirty="0">
                <a:ln>
                  <a:solidFill>
                    <a:srgbClr val="00B0F0"/>
                  </a:solidFill>
                </a:ln>
                <a:solidFill>
                  <a:srgbClr val="00B0F0"/>
                </a:solidFill>
              </a:rPr>
              <a:t> </a:t>
            </a:r>
          </a:p>
          <a:p>
            <a:pPr>
              <a:buNone/>
            </a:pPr>
            <a:r>
              <a:rPr lang="en-US" sz="1600" dirty="0">
                <a:ln>
                  <a:solidFill>
                    <a:srgbClr val="00B0F0"/>
                  </a:solidFill>
                </a:ln>
                <a:solidFill>
                  <a:srgbClr val="00B0F0"/>
                </a:solidFill>
              </a:rPr>
              <a:t>		select * from employee;</a:t>
            </a:r>
          </a:p>
          <a:p>
            <a:pPr>
              <a:buNone/>
            </a:pPr>
            <a:r>
              <a:rPr lang="en-US" sz="1600" dirty="0">
                <a:ln>
                  <a:solidFill>
                    <a:srgbClr val="00B0F0"/>
                  </a:solidFill>
                </a:ln>
                <a:solidFill>
                  <a:srgbClr val="00B0F0"/>
                </a:solidFill>
              </a:rPr>
              <a:t>		select </a:t>
            </a:r>
            <a:r>
              <a:rPr lang="en-US" sz="1600" dirty="0" err="1">
                <a:ln>
                  <a:solidFill>
                    <a:srgbClr val="00B0F0"/>
                  </a:solidFill>
                </a:ln>
                <a:solidFill>
                  <a:srgbClr val="00B0F0"/>
                </a:solidFill>
              </a:rPr>
              <a:t>empid</a:t>
            </a:r>
            <a:r>
              <a:rPr lang="en-US" sz="1600" dirty="0">
                <a:ln>
                  <a:solidFill>
                    <a:srgbClr val="00B0F0"/>
                  </a:solidFill>
                </a:ln>
                <a:solidFill>
                  <a:srgbClr val="00B0F0"/>
                </a:solidFill>
              </a:rPr>
              <a:t>, </a:t>
            </a:r>
            <a:r>
              <a:rPr lang="en-US" sz="1600" dirty="0" err="1">
                <a:ln>
                  <a:solidFill>
                    <a:srgbClr val="00B0F0"/>
                  </a:solidFill>
                </a:ln>
                <a:solidFill>
                  <a:srgbClr val="00B0F0"/>
                </a:solidFill>
              </a:rPr>
              <a:t>empname</a:t>
            </a:r>
            <a:r>
              <a:rPr lang="en-US" sz="1600" dirty="0">
                <a:ln>
                  <a:solidFill>
                    <a:srgbClr val="00B0F0"/>
                  </a:solidFill>
                </a:ln>
                <a:solidFill>
                  <a:srgbClr val="00B0F0"/>
                </a:solidFill>
              </a:rPr>
              <a:t> from employee where video is not null;</a:t>
            </a:r>
          </a:p>
          <a:p>
            <a:pPr>
              <a:buNone/>
            </a:pPr>
            <a:endParaRPr lang="en-US" sz="1600" dirty="0">
              <a:ln>
                <a:solidFill>
                  <a:srgbClr val="00B0F0"/>
                </a:solidFill>
              </a:ln>
              <a:solidFill>
                <a:srgbClr val="00B0F0"/>
              </a:solidFill>
            </a:endParaRPr>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400" b="1" dirty="0">
                <a:latin typeface="Candara"/>
              </a:rPr>
              <a:t>5.15:  BFILE columns in table</a:t>
            </a:r>
            <a:r>
              <a:rPr lang="en-US" sz="1400" dirty="0">
                <a:latin typeface="Candara"/>
              </a:rPr>
              <a:t>						</a:t>
            </a:r>
            <a:br>
              <a:rPr lang="en-US" sz="1200" b="1" dirty="0">
                <a:latin typeface="Candara"/>
              </a:rPr>
            </a:br>
            <a:r>
              <a:rPr lang="en-US" dirty="0"/>
              <a:t>Populating BFILE Columns 			….</a:t>
            </a:r>
            <a:r>
              <a:rPr lang="en-US" dirty="0" err="1"/>
              <a:t>contd</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4" y="926305"/>
            <a:ext cx="8823325" cy="3838199"/>
          </a:xfrm>
        </p:spPr>
        <p:txBody>
          <a:bodyPr>
            <a:noAutofit/>
          </a:bodyPr>
          <a:lstStyle/>
          <a:p>
            <a:r>
              <a:rPr lang="en-US" sz="2000" dirty="0"/>
              <a:t>The BFILENAME function is a built-in function that you use to initialize a BFILE column using 2 parameters</a:t>
            </a:r>
          </a:p>
          <a:p>
            <a:pPr lvl="1"/>
            <a:r>
              <a:rPr lang="en-US" sz="1600" dirty="0"/>
              <a:t>FUNCTION BFILENAME(</a:t>
            </a:r>
            <a:r>
              <a:rPr lang="en-US" sz="1600" dirty="0" err="1"/>
              <a:t>directory_alias</a:t>
            </a:r>
            <a:r>
              <a:rPr lang="en-US" sz="1600" dirty="0"/>
              <a:t> in varchar2, filename in varchar2) RETURN BFILE;</a:t>
            </a:r>
          </a:p>
          <a:p>
            <a:pPr lvl="1"/>
            <a:r>
              <a:rPr lang="en-US" sz="1600" dirty="0" err="1"/>
              <a:t>directory_alias</a:t>
            </a:r>
            <a:r>
              <a:rPr lang="en-US" sz="1600" dirty="0"/>
              <a:t> is the name of the DIRECTORY database object that references to the OS directory containing the files</a:t>
            </a:r>
          </a:p>
          <a:p>
            <a:pPr lvl="1"/>
            <a:r>
              <a:rPr lang="en-US" sz="1600" dirty="0"/>
              <a:t>filename is for the name of the BFILE to be read</a:t>
            </a:r>
          </a:p>
          <a:p>
            <a:pPr algn="just"/>
            <a:r>
              <a:rPr lang="en-US" sz="2000" dirty="0"/>
              <a:t>The BFILENAME function</a:t>
            </a:r>
            <a:r>
              <a:rPr lang="en-US" sz="2000" b="1" dirty="0"/>
              <a:t> returns(creates) a pointer (or LOB locator)</a:t>
            </a:r>
            <a:r>
              <a:rPr lang="en-US" sz="2000" dirty="0"/>
              <a:t> pointing to the external-file(2</a:t>
            </a:r>
            <a:r>
              <a:rPr lang="en-US" sz="2000" baseline="30000" dirty="0"/>
              <a:t>nd</a:t>
            </a:r>
            <a:r>
              <a:rPr lang="en-US" sz="2000" dirty="0"/>
              <a:t> parameter) stored in a physical directory represented by a Directory-object/alias(1</a:t>
            </a:r>
            <a:r>
              <a:rPr lang="en-US" sz="2000" baseline="30000" dirty="0"/>
              <a:t>st</a:t>
            </a:r>
            <a:r>
              <a:rPr lang="en-US" sz="2000" dirty="0"/>
              <a:t> parameter) of the function. </a:t>
            </a:r>
          </a:p>
          <a:p>
            <a:pPr algn="just"/>
            <a:r>
              <a:rPr lang="en-US" sz="2000" dirty="0"/>
              <a:t>You can populate the BFILE-column using the BFILENAME function in either :</a:t>
            </a:r>
          </a:p>
          <a:p>
            <a:pPr lvl="1"/>
            <a:r>
              <a:rPr lang="en-US" sz="1600" dirty="0"/>
              <a:t>The VALUES clause of the INSERT command</a:t>
            </a:r>
          </a:p>
          <a:p>
            <a:pPr lvl="1"/>
            <a:r>
              <a:rPr lang="en-US" sz="1600" dirty="0"/>
              <a:t>The SET clause of the UPDATE command;</a:t>
            </a:r>
            <a:endParaRPr lang="en-US" sz="1200" dirty="0">
              <a:ln>
                <a:solidFill>
                  <a:srgbClr val="00B0F0"/>
                </a:solidFill>
              </a:ln>
              <a:solidFill>
                <a:srgbClr val="00B0F0"/>
              </a:solidFill>
            </a:endParaRPr>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400" b="1" dirty="0">
                <a:latin typeface="Candara"/>
              </a:rPr>
              <a:t>5.16:  BFILENAME</a:t>
            </a:r>
            <a:r>
              <a:rPr lang="en-US" sz="1400" dirty="0">
                <a:latin typeface="Candara"/>
              </a:rPr>
              <a:t>						</a:t>
            </a:r>
            <a:br>
              <a:rPr lang="en-US" sz="1200" b="1" dirty="0">
                <a:latin typeface="Candara"/>
              </a:rPr>
            </a:br>
            <a:r>
              <a:rPr lang="en-US" dirty="0"/>
              <a:t>Initialize a BFILE column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4" y="962525"/>
            <a:ext cx="8823325" cy="3850107"/>
          </a:xfrm>
        </p:spPr>
        <p:txBody>
          <a:bodyPr>
            <a:noAutofit/>
          </a:bodyPr>
          <a:lstStyle/>
          <a:p>
            <a:pPr>
              <a:buNone/>
            </a:pPr>
            <a:r>
              <a:rPr lang="en-US" sz="1400" dirty="0">
                <a:ln>
                  <a:solidFill>
                    <a:srgbClr val="00B0F0"/>
                  </a:solidFill>
                </a:ln>
                <a:solidFill>
                  <a:srgbClr val="00B0F0"/>
                </a:solidFill>
              </a:rPr>
              <a:t>Create table </a:t>
            </a:r>
            <a:r>
              <a:rPr lang="en-US" sz="1400" dirty="0" err="1">
                <a:ln>
                  <a:solidFill>
                    <a:srgbClr val="00B0F0"/>
                  </a:solidFill>
                </a:ln>
                <a:solidFill>
                  <a:srgbClr val="00B0F0"/>
                </a:solidFill>
              </a:rPr>
              <a:t>newemployee</a:t>
            </a:r>
            <a:r>
              <a:rPr lang="en-US" sz="1400" dirty="0">
                <a:ln>
                  <a:solidFill>
                    <a:srgbClr val="00B0F0"/>
                  </a:solidFill>
                </a:ln>
                <a:solidFill>
                  <a:srgbClr val="00B0F0"/>
                </a:solidFill>
              </a:rPr>
              <a:t>(</a:t>
            </a:r>
            <a:r>
              <a:rPr lang="en-US" sz="1400" dirty="0" err="1">
                <a:ln>
                  <a:solidFill>
                    <a:srgbClr val="00B0F0"/>
                  </a:solidFill>
                </a:ln>
                <a:solidFill>
                  <a:srgbClr val="00B0F0"/>
                </a:solidFill>
              </a:rPr>
              <a:t>empid</a:t>
            </a:r>
            <a:r>
              <a:rPr lang="en-US" sz="1400" dirty="0">
                <a:ln>
                  <a:solidFill>
                    <a:srgbClr val="00B0F0"/>
                  </a:solidFill>
                </a:ln>
                <a:solidFill>
                  <a:srgbClr val="00B0F0"/>
                </a:solidFill>
              </a:rPr>
              <a:t> number, </a:t>
            </a:r>
            <a:r>
              <a:rPr lang="en-US" sz="1400" dirty="0" err="1">
                <a:ln>
                  <a:solidFill>
                    <a:srgbClr val="00B0F0"/>
                  </a:solidFill>
                </a:ln>
                <a:solidFill>
                  <a:srgbClr val="00B0F0"/>
                </a:solidFill>
              </a:rPr>
              <a:t>empname</a:t>
            </a:r>
            <a:r>
              <a:rPr lang="en-US" sz="1400" dirty="0">
                <a:ln>
                  <a:solidFill>
                    <a:srgbClr val="00B0F0"/>
                  </a:solidFill>
                </a:ln>
                <a:solidFill>
                  <a:srgbClr val="00B0F0"/>
                </a:solidFill>
              </a:rPr>
              <a:t> varchar2(30), video BFILE);</a:t>
            </a:r>
          </a:p>
          <a:p>
            <a:pPr>
              <a:buNone/>
            </a:pPr>
            <a:r>
              <a:rPr lang="en-US" sz="1400" dirty="0">
                <a:ln>
                  <a:solidFill>
                    <a:srgbClr val="00B0F0"/>
                  </a:solidFill>
                </a:ln>
                <a:solidFill>
                  <a:srgbClr val="00B0F0"/>
                </a:solidFill>
              </a:rPr>
              <a:t>Insert into </a:t>
            </a:r>
            <a:r>
              <a:rPr lang="en-US" sz="1400" dirty="0" err="1">
                <a:ln>
                  <a:solidFill>
                    <a:srgbClr val="00B0F0"/>
                  </a:solidFill>
                </a:ln>
                <a:solidFill>
                  <a:srgbClr val="00B0F0"/>
                </a:solidFill>
              </a:rPr>
              <a:t>newemployee</a:t>
            </a:r>
            <a:r>
              <a:rPr lang="en-US" sz="1400" dirty="0">
                <a:ln>
                  <a:solidFill>
                    <a:srgbClr val="00B0F0"/>
                  </a:solidFill>
                </a:ln>
                <a:solidFill>
                  <a:srgbClr val="00B0F0"/>
                </a:solidFill>
              </a:rPr>
              <a:t> values(1,'Ram', BFILENAME('</a:t>
            </a:r>
            <a:r>
              <a:rPr lang="en-US" sz="1400" dirty="0" err="1">
                <a:ln>
                  <a:solidFill>
                    <a:srgbClr val="00B0F0"/>
                  </a:solidFill>
                </a:ln>
                <a:solidFill>
                  <a:srgbClr val="00B0F0"/>
                </a:solidFill>
              </a:rPr>
              <a:t>data_files</a:t>
            </a:r>
            <a:r>
              <a:rPr lang="en-US" sz="1400" dirty="0">
                <a:ln>
                  <a:solidFill>
                    <a:srgbClr val="00B0F0"/>
                  </a:solidFill>
                </a:ln>
                <a:solidFill>
                  <a:srgbClr val="00B0F0"/>
                </a:solidFill>
              </a:rPr>
              <a:t>', 'video1.mp4'));</a:t>
            </a:r>
          </a:p>
          <a:p>
            <a:pPr>
              <a:buNone/>
            </a:pPr>
            <a:r>
              <a:rPr lang="en-US" sz="1400" dirty="0">
                <a:ln>
                  <a:solidFill>
                    <a:srgbClr val="00B0F0"/>
                  </a:solidFill>
                </a:ln>
                <a:solidFill>
                  <a:srgbClr val="00B0F0"/>
                </a:solidFill>
              </a:rPr>
              <a:t>Insert into </a:t>
            </a:r>
            <a:r>
              <a:rPr lang="en-US" sz="1400" dirty="0" err="1">
                <a:ln>
                  <a:solidFill>
                    <a:srgbClr val="00B0F0"/>
                  </a:solidFill>
                </a:ln>
                <a:solidFill>
                  <a:srgbClr val="00B0F0"/>
                </a:solidFill>
              </a:rPr>
              <a:t>newemployee</a:t>
            </a:r>
            <a:r>
              <a:rPr lang="en-US" sz="1400" dirty="0">
                <a:ln>
                  <a:solidFill>
                    <a:srgbClr val="00B0F0"/>
                  </a:solidFill>
                </a:ln>
                <a:solidFill>
                  <a:srgbClr val="00B0F0"/>
                </a:solidFill>
              </a:rPr>
              <a:t> values(2,'Laxman', BFILENAME('</a:t>
            </a:r>
            <a:r>
              <a:rPr lang="en-US" sz="1400" dirty="0" err="1">
                <a:ln>
                  <a:solidFill>
                    <a:srgbClr val="00B0F0"/>
                  </a:solidFill>
                </a:ln>
                <a:solidFill>
                  <a:srgbClr val="00B0F0"/>
                </a:solidFill>
              </a:rPr>
              <a:t>data_files</a:t>
            </a:r>
            <a:r>
              <a:rPr lang="en-US" sz="1400" dirty="0">
                <a:ln>
                  <a:solidFill>
                    <a:srgbClr val="00B0F0"/>
                  </a:solidFill>
                </a:ln>
                <a:solidFill>
                  <a:srgbClr val="00B0F0"/>
                </a:solidFill>
              </a:rPr>
              <a:t>', 'video2.mp4'));</a:t>
            </a:r>
          </a:p>
          <a:p>
            <a:pPr>
              <a:buNone/>
            </a:pPr>
            <a:r>
              <a:rPr lang="en-US" sz="1400" dirty="0"/>
              <a:t>  </a:t>
            </a:r>
            <a:endParaRPr lang="en-US" sz="500" dirty="0"/>
          </a:p>
          <a:p>
            <a:pPr>
              <a:buNone/>
            </a:pPr>
            <a:r>
              <a:rPr lang="en-US" sz="1400" dirty="0"/>
              <a:t>An UPDATE operation can be used to change the pointer reference target of the BFILE column (that is associate a particular rows BFILE column with a new file at the OS level).</a:t>
            </a:r>
          </a:p>
          <a:p>
            <a:pPr>
              <a:buNone/>
            </a:pPr>
            <a:r>
              <a:rPr lang="en-US" sz="500" dirty="0"/>
              <a:t> </a:t>
            </a:r>
          </a:p>
          <a:p>
            <a:pPr algn="just"/>
            <a:r>
              <a:rPr lang="en-US" sz="1400" dirty="0"/>
              <a:t>A BFILE column can also be initialized to NULL value and updated later with the BFILENAME function, as shown in the above two cases.(Initially when the column of type BFILE is created, it’s initial value is NULL);</a:t>
            </a:r>
          </a:p>
          <a:p>
            <a:pPr algn="just">
              <a:buNone/>
            </a:pPr>
            <a:endParaRPr lang="en-US" sz="500" dirty="0"/>
          </a:p>
          <a:p>
            <a:pPr algn="just"/>
            <a:r>
              <a:rPr lang="en-US" sz="1400" dirty="0"/>
              <a:t>You may also update a BFILE column to NULL as follows :</a:t>
            </a:r>
          </a:p>
          <a:p>
            <a:pPr>
              <a:buNone/>
            </a:pPr>
            <a:r>
              <a:rPr lang="en-US" sz="1400" dirty="0"/>
              <a:t>	</a:t>
            </a:r>
            <a:r>
              <a:rPr lang="en-US" sz="1400" dirty="0">
                <a:ln>
                  <a:solidFill>
                    <a:srgbClr val="00B0F0"/>
                  </a:solidFill>
                </a:ln>
                <a:solidFill>
                  <a:srgbClr val="00B0F0"/>
                </a:solidFill>
              </a:rPr>
              <a:t>Update </a:t>
            </a:r>
            <a:r>
              <a:rPr lang="en-US" sz="1400" dirty="0" err="1">
                <a:ln>
                  <a:solidFill>
                    <a:srgbClr val="00B0F0"/>
                  </a:solidFill>
                </a:ln>
                <a:solidFill>
                  <a:srgbClr val="00B0F0"/>
                </a:solidFill>
              </a:rPr>
              <a:t>newemployee</a:t>
            </a:r>
            <a:r>
              <a:rPr lang="en-US" sz="1400" dirty="0">
                <a:ln>
                  <a:solidFill>
                    <a:srgbClr val="00B0F0"/>
                  </a:solidFill>
                </a:ln>
                <a:solidFill>
                  <a:srgbClr val="00B0F0"/>
                </a:solidFill>
              </a:rPr>
              <a:t> set video=null;</a:t>
            </a:r>
          </a:p>
          <a:p>
            <a:pPr>
              <a:buNone/>
            </a:pPr>
            <a:r>
              <a:rPr lang="en-US" sz="1400" dirty="0">
                <a:ln>
                  <a:solidFill>
                    <a:srgbClr val="00B0F0"/>
                  </a:solidFill>
                </a:ln>
                <a:solidFill>
                  <a:srgbClr val="00B0F0"/>
                </a:solidFill>
              </a:rPr>
              <a:t> 	Update </a:t>
            </a:r>
            <a:r>
              <a:rPr lang="en-US" sz="1400" dirty="0" err="1">
                <a:ln>
                  <a:solidFill>
                    <a:srgbClr val="00B0F0"/>
                  </a:solidFill>
                </a:ln>
                <a:solidFill>
                  <a:srgbClr val="00B0F0"/>
                </a:solidFill>
              </a:rPr>
              <a:t>newemployee</a:t>
            </a:r>
            <a:r>
              <a:rPr lang="en-US" sz="1400" dirty="0">
                <a:ln>
                  <a:solidFill>
                    <a:srgbClr val="00B0F0"/>
                  </a:solidFill>
                </a:ln>
                <a:solidFill>
                  <a:srgbClr val="00B0F0"/>
                </a:solidFill>
              </a:rPr>
              <a:t> set video= </a:t>
            </a:r>
            <a:r>
              <a:rPr lang="en-US" sz="1400" dirty="0" err="1">
                <a:ln>
                  <a:solidFill>
                    <a:srgbClr val="00B0F0"/>
                  </a:solidFill>
                </a:ln>
                <a:solidFill>
                  <a:srgbClr val="00B0F0"/>
                </a:solidFill>
              </a:rPr>
              <a:t>bfilename</a:t>
            </a:r>
            <a:r>
              <a:rPr lang="en-US" sz="1400" dirty="0">
                <a:ln>
                  <a:solidFill>
                    <a:srgbClr val="00B0F0"/>
                  </a:solidFill>
                </a:ln>
                <a:solidFill>
                  <a:srgbClr val="00B0F0"/>
                </a:solidFill>
              </a:rPr>
              <a:t>('</a:t>
            </a:r>
            <a:r>
              <a:rPr lang="en-US" sz="1400" dirty="0" err="1">
                <a:ln>
                  <a:solidFill>
                    <a:srgbClr val="00B0F0"/>
                  </a:solidFill>
                </a:ln>
                <a:solidFill>
                  <a:srgbClr val="00B0F0"/>
                </a:solidFill>
              </a:rPr>
              <a:t>data_files</a:t>
            </a:r>
            <a:r>
              <a:rPr lang="en-US" sz="1400" dirty="0">
                <a:ln>
                  <a:solidFill>
                    <a:srgbClr val="00B0F0"/>
                  </a:solidFill>
                </a:ln>
                <a:solidFill>
                  <a:srgbClr val="00B0F0"/>
                </a:solidFill>
              </a:rPr>
              <a:t>', 'video2.mp4') where </a:t>
            </a:r>
            <a:r>
              <a:rPr lang="en-US" sz="1400" dirty="0" err="1">
                <a:ln>
                  <a:solidFill>
                    <a:srgbClr val="00B0F0"/>
                  </a:solidFill>
                </a:ln>
                <a:solidFill>
                  <a:srgbClr val="00B0F0"/>
                </a:solidFill>
              </a:rPr>
              <a:t>empid</a:t>
            </a:r>
            <a:r>
              <a:rPr lang="en-US" sz="1400" dirty="0">
                <a:ln>
                  <a:solidFill>
                    <a:srgbClr val="00B0F0"/>
                  </a:solidFill>
                </a:ln>
                <a:solidFill>
                  <a:srgbClr val="00B0F0"/>
                </a:solidFill>
              </a:rPr>
              <a:t>=1;</a:t>
            </a:r>
          </a:p>
          <a:p>
            <a:pPr>
              <a:buNone/>
            </a:pPr>
            <a:r>
              <a:rPr lang="en-US" sz="1400" dirty="0">
                <a:ln>
                  <a:solidFill>
                    <a:srgbClr val="00B0F0"/>
                  </a:solidFill>
                </a:ln>
                <a:solidFill>
                  <a:srgbClr val="00B0F0"/>
                </a:solidFill>
              </a:rPr>
              <a:t> 	Update </a:t>
            </a:r>
            <a:r>
              <a:rPr lang="en-US" sz="1400" dirty="0" err="1">
                <a:ln>
                  <a:solidFill>
                    <a:srgbClr val="00B0F0"/>
                  </a:solidFill>
                </a:ln>
                <a:solidFill>
                  <a:srgbClr val="00B0F0"/>
                </a:solidFill>
              </a:rPr>
              <a:t>newemployee</a:t>
            </a:r>
            <a:r>
              <a:rPr lang="en-US" sz="1400" dirty="0">
                <a:ln>
                  <a:solidFill>
                    <a:srgbClr val="00B0F0"/>
                  </a:solidFill>
                </a:ln>
                <a:solidFill>
                  <a:srgbClr val="00B0F0"/>
                </a:solidFill>
              </a:rPr>
              <a:t> set video= </a:t>
            </a:r>
            <a:r>
              <a:rPr lang="en-US" sz="1400" dirty="0" err="1">
                <a:ln>
                  <a:solidFill>
                    <a:srgbClr val="00B0F0"/>
                  </a:solidFill>
                </a:ln>
                <a:solidFill>
                  <a:srgbClr val="00B0F0"/>
                </a:solidFill>
              </a:rPr>
              <a:t>bfilename</a:t>
            </a:r>
            <a:r>
              <a:rPr lang="en-US" sz="1400" dirty="0">
                <a:ln>
                  <a:solidFill>
                    <a:srgbClr val="00B0F0"/>
                  </a:solidFill>
                </a:ln>
                <a:solidFill>
                  <a:srgbClr val="00B0F0"/>
                </a:solidFill>
              </a:rPr>
              <a:t>('</a:t>
            </a:r>
            <a:r>
              <a:rPr lang="en-US" sz="1400" dirty="0" err="1">
                <a:ln>
                  <a:solidFill>
                    <a:srgbClr val="00B0F0"/>
                  </a:solidFill>
                </a:ln>
                <a:solidFill>
                  <a:srgbClr val="00B0F0"/>
                </a:solidFill>
              </a:rPr>
              <a:t>data_files</a:t>
            </a:r>
            <a:r>
              <a:rPr lang="en-US" sz="1400" dirty="0">
                <a:ln>
                  <a:solidFill>
                    <a:srgbClr val="00B0F0"/>
                  </a:solidFill>
                </a:ln>
                <a:solidFill>
                  <a:srgbClr val="00B0F0"/>
                </a:solidFill>
              </a:rPr>
              <a:t>', 'video1.mp4') where </a:t>
            </a:r>
            <a:r>
              <a:rPr lang="en-US" sz="1400" dirty="0" err="1">
                <a:ln>
                  <a:solidFill>
                    <a:srgbClr val="00B0F0"/>
                  </a:solidFill>
                </a:ln>
                <a:solidFill>
                  <a:srgbClr val="00B0F0"/>
                </a:solidFill>
              </a:rPr>
              <a:t>empid</a:t>
            </a:r>
            <a:r>
              <a:rPr lang="en-US" sz="1400" dirty="0">
                <a:ln>
                  <a:solidFill>
                    <a:srgbClr val="00B0F0"/>
                  </a:solidFill>
                </a:ln>
                <a:solidFill>
                  <a:srgbClr val="00B0F0"/>
                </a:solidFill>
              </a:rPr>
              <a:t>=2</a:t>
            </a:r>
            <a:r>
              <a:rPr lang="en-US" sz="1400" dirty="0"/>
              <a:t>;</a:t>
            </a:r>
          </a:p>
          <a:p>
            <a:pPr algn="just"/>
            <a:r>
              <a:rPr lang="en-US" sz="1400" dirty="0"/>
              <a:t>After a BFILE column has been associated with a file, subsequent read operations on the BFILE can be performed by using the DBMS_LOB package. However, these files are read-only when accessed through the BFILEs. Therefore, these files cannot be updated or deleted through BFILE-columns</a:t>
            </a:r>
            <a:endParaRPr lang="en-US" sz="1400" dirty="0">
              <a:ln>
                <a:solidFill>
                  <a:srgbClr val="00B0F0"/>
                </a:solidFill>
              </a:ln>
              <a:solidFill>
                <a:srgbClr val="00B0F0"/>
              </a:solidFill>
            </a:endParaRPr>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400" b="1" dirty="0">
                <a:latin typeface="Candara"/>
              </a:rPr>
              <a:t>5.16:  BFILENAME</a:t>
            </a:r>
            <a:r>
              <a:rPr lang="en-US" sz="1400" dirty="0">
                <a:latin typeface="Candara"/>
              </a:rPr>
              <a:t>						</a:t>
            </a:r>
            <a:br>
              <a:rPr lang="en-US" sz="1200" b="1" dirty="0">
                <a:latin typeface="Candara"/>
              </a:rPr>
            </a:br>
            <a:r>
              <a:rPr lang="en-US" dirty="0"/>
              <a:t>Initialize a BFILE column 			……</a:t>
            </a:r>
            <a:r>
              <a:rPr lang="en-US" dirty="0" err="1"/>
              <a:t>contd</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4" y="962525"/>
            <a:ext cx="8823325" cy="3850107"/>
          </a:xfrm>
        </p:spPr>
        <p:txBody>
          <a:bodyPr>
            <a:noAutofit/>
          </a:bodyPr>
          <a:lstStyle/>
          <a:p>
            <a:r>
              <a:rPr lang="en-US" sz="2000" dirty="0"/>
              <a:t>At the OS, create folder ‘c:\Photos’ containing video files ‘saloni.mp4’ and ‘hetal.mp4’ </a:t>
            </a:r>
          </a:p>
          <a:p>
            <a:pPr>
              <a:buNone/>
            </a:pPr>
            <a:r>
              <a:rPr lang="en-US" sz="2000" dirty="0">
                <a:ln>
                  <a:solidFill>
                    <a:srgbClr val="00B0F0"/>
                  </a:solidFill>
                </a:ln>
                <a:solidFill>
                  <a:srgbClr val="00B0F0"/>
                </a:solidFill>
              </a:rPr>
              <a:t>	create table </a:t>
            </a:r>
            <a:r>
              <a:rPr lang="en-US" sz="2000" dirty="0" err="1">
                <a:ln>
                  <a:solidFill>
                    <a:srgbClr val="00B0F0"/>
                  </a:solidFill>
                </a:ln>
                <a:solidFill>
                  <a:srgbClr val="00B0F0"/>
                </a:solidFill>
              </a:rPr>
              <a:t>employeenew</a:t>
            </a:r>
            <a:r>
              <a:rPr lang="en-US" sz="2000" dirty="0">
                <a:ln>
                  <a:solidFill>
                    <a:srgbClr val="00B0F0"/>
                  </a:solidFill>
                </a:ln>
                <a:solidFill>
                  <a:srgbClr val="00B0F0"/>
                </a:solidFill>
              </a:rPr>
              <a:t>(</a:t>
            </a:r>
            <a:r>
              <a:rPr lang="en-US" sz="2000" dirty="0" err="1">
                <a:ln>
                  <a:solidFill>
                    <a:srgbClr val="00B0F0"/>
                  </a:solidFill>
                </a:ln>
                <a:solidFill>
                  <a:srgbClr val="00B0F0"/>
                </a:solidFill>
              </a:rPr>
              <a:t>empid</a:t>
            </a:r>
            <a:r>
              <a:rPr lang="en-US" sz="2000" dirty="0">
                <a:ln>
                  <a:solidFill>
                    <a:srgbClr val="00B0F0"/>
                  </a:solidFill>
                </a:ln>
                <a:solidFill>
                  <a:srgbClr val="00B0F0"/>
                </a:solidFill>
              </a:rPr>
              <a:t> number, </a:t>
            </a:r>
            <a:r>
              <a:rPr lang="en-US" sz="2000" dirty="0" err="1">
                <a:ln>
                  <a:solidFill>
                    <a:srgbClr val="00B0F0"/>
                  </a:solidFill>
                </a:ln>
                <a:solidFill>
                  <a:srgbClr val="00B0F0"/>
                </a:solidFill>
              </a:rPr>
              <a:t>ename</a:t>
            </a:r>
            <a:r>
              <a:rPr lang="en-US" sz="2000" dirty="0">
                <a:ln>
                  <a:solidFill>
                    <a:srgbClr val="00B0F0"/>
                  </a:solidFill>
                </a:ln>
                <a:solidFill>
                  <a:srgbClr val="00B0F0"/>
                </a:solidFill>
              </a:rPr>
              <a:t> varchar2(20), video BFILE);</a:t>
            </a:r>
          </a:p>
          <a:p>
            <a:pPr>
              <a:buNone/>
            </a:pPr>
            <a:r>
              <a:rPr lang="en-US" sz="2000" dirty="0">
                <a:ln>
                  <a:solidFill>
                    <a:srgbClr val="00B0F0"/>
                  </a:solidFill>
                </a:ln>
                <a:solidFill>
                  <a:srgbClr val="00B0F0"/>
                </a:solidFill>
              </a:rPr>
              <a:t> 	insert into </a:t>
            </a:r>
            <a:r>
              <a:rPr lang="en-US" sz="2000" dirty="0" err="1">
                <a:ln>
                  <a:solidFill>
                    <a:srgbClr val="00B0F0"/>
                  </a:solidFill>
                </a:ln>
                <a:solidFill>
                  <a:srgbClr val="00B0F0"/>
                </a:solidFill>
              </a:rPr>
              <a:t>employeenew</a:t>
            </a:r>
            <a:r>
              <a:rPr lang="en-US" sz="2000" dirty="0">
                <a:ln>
                  <a:solidFill>
                    <a:srgbClr val="00B0F0"/>
                  </a:solidFill>
                </a:ln>
                <a:solidFill>
                  <a:srgbClr val="00B0F0"/>
                </a:solidFill>
              </a:rPr>
              <a:t>(</a:t>
            </a:r>
            <a:r>
              <a:rPr lang="en-US" sz="2000" dirty="0" err="1">
                <a:ln>
                  <a:solidFill>
                    <a:srgbClr val="00B0F0"/>
                  </a:solidFill>
                </a:ln>
                <a:solidFill>
                  <a:srgbClr val="00B0F0"/>
                </a:solidFill>
              </a:rPr>
              <a:t>empid</a:t>
            </a:r>
            <a:r>
              <a:rPr lang="en-US" sz="2000" dirty="0">
                <a:ln>
                  <a:solidFill>
                    <a:srgbClr val="00B0F0"/>
                  </a:solidFill>
                </a:ln>
                <a:solidFill>
                  <a:srgbClr val="00B0F0"/>
                </a:solidFill>
              </a:rPr>
              <a:t>, </a:t>
            </a:r>
            <a:r>
              <a:rPr lang="en-US" sz="2000" dirty="0" err="1">
                <a:ln>
                  <a:solidFill>
                    <a:srgbClr val="00B0F0"/>
                  </a:solidFill>
                </a:ln>
                <a:solidFill>
                  <a:srgbClr val="00B0F0"/>
                </a:solidFill>
              </a:rPr>
              <a:t>ename</a:t>
            </a:r>
            <a:r>
              <a:rPr lang="en-US" sz="2000" dirty="0">
                <a:ln>
                  <a:solidFill>
                    <a:srgbClr val="00B0F0"/>
                  </a:solidFill>
                </a:ln>
                <a:solidFill>
                  <a:srgbClr val="00B0F0"/>
                </a:solidFill>
              </a:rPr>
              <a:t>) values(1,'saloni');</a:t>
            </a:r>
          </a:p>
          <a:p>
            <a:pPr>
              <a:buNone/>
            </a:pPr>
            <a:r>
              <a:rPr lang="en-US" sz="2000" dirty="0">
                <a:ln>
                  <a:solidFill>
                    <a:srgbClr val="00B0F0"/>
                  </a:solidFill>
                </a:ln>
                <a:solidFill>
                  <a:srgbClr val="00B0F0"/>
                </a:solidFill>
              </a:rPr>
              <a:t>	insert into </a:t>
            </a:r>
            <a:r>
              <a:rPr lang="en-US" sz="2000" dirty="0" err="1">
                <a:ln>
                  <a:solidFill>
                    <a:srgbClr val="00B0F0"/>
                  </a:solidFill>
                </a:ln>
                <a:solidFill>
                  <a:srgbClr val="00B0F0"/>
                </a:solidFill>
              </a:rPr>
              <a:t>employeenew</a:t>
            </a:r>
            <a:r>
              <a:rPr lang="en-US" sz="2000" dirty="0">
                <a:ln>
                  <a:solidFill>
                    <a:srgbClr val="00B0F0"/>
                  </a:solidFill>
                </a:ln>
                <a:solidFill>
                  <a:srgbClr val="00B0F0"/>
                </a:solidFill>
              </a:rPr>
              <a:t> (</a:t>
            </a:r>
            <a:r>
              <a:rPr lang="en-US" sz="2000" dirty="0" err="1">
                <a:ln>
                  <a:solidFill>
                    <a:srgbClr val="00B0F0"/>
                  </a:solidFill>
                </a:ln>
                <a:solidFill>
                  <a:srgbClr val="00B0F0"/>
                </a:solidFill>
              </a:rPr>
              <a:t>empid</a:t>
            </a:r>
            <a:r>
              <a:rPr lang="en-US" sz="2000" dirty="0">
                <a:ln>
                  <a:solidFill>
                    <a:srgbClr val="00B0F0"/>
                  </a:solidFill>
                </a:ln>
                <a:solidFill>
                  <a:srgbClr val="00B0F0"/>
                </a:solidFill>
              </a:rPr>
              <a:t>, </a:t>
            </a:r>
            <a:r>
              <a:rPr lang="en-US" sz="2000" dirty="0" err="1">
                <a:ln>
                  <a:solidFill>
                    <a:srgbClr val="00B0F0"/>
                  </a:solidFill>
                </a:ln>
                <a:solidFill>
                  <a:srgbClr val="00B0F0"/>
                </a:solidFill>
              </a:rPr>
              <a:t>ename</a:t>
            </a:r>
            <a:r>
              <a:rPr lang="en-US" sz="2000" dirty="0">
                <a:ln>
                  <a:solidFill>
                    <a:srgbClr val="00B0F0"/>
                  </a:solidFill>
                </a:ln>
                <a:solidFill>
                  <a:srgbClr val="00B0F0"/>
                </a:solidFill>
              </a:rPr>
              <a:t>) values(2,'hetal');</a:t>
            </a:r>
          </a:p>
          <a:p>
            <a:pPr>
              <a:buNone/>
            </a:pPr>
            <a:r>
              <a:rPr lang="en-US" sz="2000" b="1" dirty="0"/>
              <a:t> </a:t>
            </a:r>
            <a:endParaRPr lang="en-US" sz="2000" dirty="0"/>
          </a:p>
          <a:p>
            <a:r>
              <a:rPr lang="en-US" sz="2000" dirty="0"/>
              <a:t>At the OS, create folder ‘D:\Photos’ containing video files ‘saloni.mp4’ and ‘hetal.mp4’ </a:t>
            </a:r>
          </a:p>
          <a:p>
            <a:pPr>
              <a:buNone/>
            </a:pPr>
            <a:r>
              <a:rPr lang="en-US" sz="2000" dirty="0"/>
              <a:t> 	</a:t>
            </a:r>
            <a:r>
              <a:rPr lang="en-US" sz="2000" dirty="0">
                <a:ln>
                  <a:solidFill>
                    <a:srgbClr val="00B0F0"/>
                  </a:solidFill>
                </a:ln>
                <a:solidFill>
                  <a:srgbClr val="00B0F0"/>
                </a:solidFill>
              </a:rPr>
              <a:t>Create or replace Directory </a:t>
            </a:r>
            <a:r>
              <a:rPr lang="en-US" sz="2000" dirty="0" err="1">
                <a:ln>
                  <a:solidFill>
                    <a:srgbClr val="00B0F0"/>
                  </a:solidFill>
                </a:ln>
                <a:solidFill>
                  <a:srgbClr val="00B0F0"/>
                </a:solidFill>
              </a:rPr>
              <a:t>data_files</a:t>
            </a:r>
            <a:r>
              <a:rPr lang="en-US" sz="2000" dirty="0">
                <a:ln>
                  <a:solidFill>
                    <a:srgbClr val="00B0F0"/>
                  </a:solidFill>
                </a:ln>
                <a:solidFill>
                  <a:srgbClr val="00B0F0"/>
                </a:solidFill>
              </a:rPr>
              <a:t> as 'c:\photos';</a:t>
            </a:r>
          </a:p>
          <a:p>
            <a:pPr>
              <a:buNone/>
            </a:pPr>
            <a:endParaRPr lang="en-US" sz="1400" dirty="0">
              <a:ln>
                <a:solidFill>
                  <a:srgbClr val="00B0F0"/>
                </a:solidFill>
              </a:ln>
              <a:solidFill>
                <a:srgbClr val="00B0F0"/>
              </a:solidFill>
            </a:endParaRPr>
          </a:p>
          <a:p>
            <a:pPr>
              <a:buNone/>
            </a:pPr>
            <a:endParaRPr lang="en-US" sz="1400" dirty="0">
              <a:ln>
                <a:solidFill>
                  <a:srgbClr val="00B0F0"/>
                </a:solidFill>
              </a:ln>
              <a:solidFill>
                <a:srgbClr val="00B0F0"/>
              </a:solidFill>
            </a:endParaRPr>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400" b="1" dirty="0">
                <a:latin typeface="Candara"/>
              </a:rPr>
              <a:t>5.17:  DBMS_LOB</a:t>
            </a:r>
            <a:r>
              <a:rPr lang="en-US" sz="1400" dirty="0">
                <a:latin typeface="Candara"/>
              </a:rPr>
              <a:t>						</a:t>
            </a:r>
            <a:br>
              <a:rPr lang="en-US" sz="1200" b="1" dirty="0">
                <a:latin typeface="Candara"/>
              </a:rPr>
            </a:br>
            <a:r>
              <a:rPr lang="en-US" dirty="0"/>
              <a:t>BFILE operations using DBMS_LOB</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56412" y="685801"/>
            <a:ext cx="8987588" cy="4126832"/>
          </a:xfrm>
        </p:spPr>
        <p:txBody>
          <a:bodyPr>
            <a:noAutofit/>
          </a:bodyPr>
          <a:lstStyle/>
          <a:p>
            <a:pPr>
              <a:buNone/>
            </a:pPr>
            <a:endParaRPr lang="en-US" sz="1200" dirty="0">
              <a:ln>
                <a:solidFill>
                  <a:srgbClr val="00B0F0"/>
                </a:solidFill>
              </a:ln>
              <a:solidFill>
                <a:srgbClr val="00B0F0"/>
              </a:solidFill>
            </a:endParaRPr>
          </a:p>
          <a:p>
            <a:pPr>
              <a:buNone/>
            </a:pPr>
            <a:r>
              <a:rPr lang="en-US" sz="1200" dirty="0">
                <a:ln>
                  <a:solidFill>
                    <a:srgbClr val="00B0F0"/>
                  </a:solidFill>
                </a:ln>
                <a:solidFill>
                  <a:srgbClr val="00B0F0"/>
                </a:solidFill>
              </a:rPr>
              <a:t>Create or Replace procedure </a:t>
            </a:r>
            <a:r>
              <a:rPr lang="en-US" sz="1200" dirty="0" err="1">
                <a:ln>
                  <a:solidFill>
                    <a:srgbClr val="00B0F0"/>
                  </a:solidFill>
                </a:ln>
                <a:solidFill>
                  <a:srgbClr val="00B0F0"/>
                </a:solidFill>
              </a:rPr>
              <a:t>set_video</a:t>
            </a:r>
            <a:r>
              <a:rPr lang="en-US" sz="1200" dirty="0">
                <a:ln>
                  <a:solidFill>
                    <a:srgbClr val="00B0F0"/>
                  </a:solidFill>
                </a:ln>
                <a:solidFill>
                  <a:srgbClr val="00B0F0"/>
                </a:solidFill>
              </a:rPr>
              <a:t>(</a:t>
            </a:r>
            <a:r>
              <a:rPr lang="en-US" sz="1200" dirty="0" err="1">
                <a:ln>
                  <a:solidFill>
                    <a:srgbClr val="00B0F0"/>
                  </a:solidFill>
                </a:ln>
                <a:solidFill>
                  <a:srgbClr val="00B0F0"/>
                </a:solidFill>
              </a:rPr>
              <a:t>dir_alias</a:t>
            </a:r>
            <a:r>
              <a:rPr lang="en-US" sz="1200" dirty="0">
                <a:ln>
                  <a:solidFill>
                    <a:srgbClr val="00B0F0"/>
                  </a:solidFill>
                </a:ln>
                <a:solidFill>
                  <a:srgbClr val="00B0F0"/>
                </a:solidFill>
              </a:rPr>
              <a:t> varchar2) is</a:t>
            </a:r>
          </a:p>
          <a:p>
            <a:pPr>
              <a:buNone/>
            </a:pPr>
            <a:r>
              <a:rPr lang="en-US" sz="1200" dirty="0">
                <a:ln>
                  <a:solidFill>
                    <a:srgbClr val="00B0F0"/>
                  </a:solidFill>
                </a:ln>
                <a:solidFill>
                  <a:srgbClr val="00B0F0"/>
                </a:solidFill>
              </a:rPr>
              <a:t>	Filename varchar2(40);</a:t>
            </a:r>
          </a:p>
          <a:p>
            <a:pPr>
              <a:buNone/>
            </a:pPr>
            <a:r>
              <a:rPr lang="en-US" sz="1200" dirty="0">
                <a:ln>
                  <a:solidFill>
                    <a:srgbClr val="00B0F0"/>
                  </a:solidFill>
                </a:ln>
                <a:solidFill>
                  <a:srgbClr val="00B0F0"/>
                </a:solidFill>
              </a:rPr>
              <a:t>	</a:t>
            </a:r>
            <a:r>
              <a:rPr lang="en-US" sz="1200" dirty="0" err="1">
                <a:ln>
                  <a:solidFill>
                    <a:srgbClr val="00B0F0"/>
                  </a:solidFill>
                </a:ln>
                <a:solidFill>
                  <a:srgbClr val="00B0F0"/>
                </a:solidFill>
              </a:rPr>
              <a:t>File_ptr</a:t>
            </a:r>
            <a:r>
              <a:rPr lang="en-US" sz="1200" dirty="0">
                <a:ln>
                  <a:solidFill>
                    <a:srgbClr val="00B0F0"/>
                  </a:solidFill>
                </a:ln>
                <a:solidFill>
                  <a:srgbClr val="00B0F0"/>
                </a:solidFill>
              </a:rPr>
              <a:t> BFILE;</a:t>
            </a:r>
          </a:p>
          <a:p>
            <a:pPr>
              <a:buNone/>
            </a:pPr>
            <a:r>
              <a:rPr lang="en-US" sz="1200" dirty="0">
                <a:ln>
                  <a:solidFill>
                    <a:srgbClr val="00B0F0"/>
                  </a:solidFill>
                </a:ln>
                <a:solidFill>
                  <a:srgbClr val="00B0F0"/>
                </a:solidFill>
              </a:rPr>
              <a:t>	Cursor </a:t>
            </a:r>
            <a:r>
              <a:rPr lang="en-US" sz="1200" dirty="0" err="1">
                <a:ln>
                  <a:solidFill>
                    <a:srgbClr val="00B0F0"/>
                  </a:solidFill>
                </a:ln>
                <a:solidFill>
                  <a:srgbClr val="00B0F0"/>
                </a:solidFill>
              </a:rPr>
              <a:t>csr</a:t>
            </a:r>
            <a:r>
              <a:rPr lang="en-US" sz="1200" dirty="0">
                <a:ln>
                  <a:solidFill>
                    <a:srgbClr val="00B0F0"/>
                  </a:solidFill>
                </a:ln>
                <a:solidFill>
                  <a:srgbClr val="00B0F0"/>
                </a:solidFill>
              </a:rPr>
              <a:t> is Select </a:t>
            </a:r>
            <a:r>
              <a:rPr lang="en-US" sz="1200" dirty="0" err="1">
                <a:ln>
                  <a:solidFill>
                    <a:srgbClr val="00B0F0"/>
                  </a:solidFill>
                </a:ln>
                <a:solidFill>
                  <a:srgbClr val="00B0F0"/>
                </a:solidFill>
              </a:rPr>
              <a:t>ename</a:t>
            </a:r>
            <a:r>
              <a:rPr lang="en-US" sz="1200" dirty="0">
                <a:ln>
                  <a:solidFill>
                    <a:srgbClr val="00B0F0"/>
                  </a:solidFill>
                </a:ln>
                <a:solidFill>
                  <a:srgbClr val="00B0F0"/>
                </a:solidFill>
              </a:rPr>
              <a:t> from </a:t>
            </a:r>
            <a:r>
              <a:rPr lang="en-US" sz="1200" dirty="0" err="1">
                <a:ln>
                  <a:solidFill>
                    <a:srgbClr val="00B0F0"/>
                  </a:solidFill>
                </a:ln>
                <a:solidFill>
                  <a:srgbClr val="00B0F0"/>
                </a:solidFill>
              </a:rPr>
              <a:t>employeenew</a:t>
            </a:r>
            <a:r>
              <a:rPr lang="en-US" sz="1200" dirty="0">
                <a:ln>
                  <a:solidFill>
                    <a:srgbClr val="00B0F0"/>
                  </a:solidFill>
                </a:ln>
                <a:solidFill>
                  <a:srgbClr val="00B0F0"/>
                </a:solidFill>
              </a:rPr>
              <a:t> for update;</a:t>
            </a:r>
          </a:p>
          <a:p>
            <a:pPr>
              <a:buNone/>
            </a:pPr>
            <a:r>
              <a:rPr lang="en-US" sz="1200" dirty="0">
                <a:ln>
                  <a:solidFill>
                    <a:srgbClr val="00B0F0"/>
                  </a:solidFill>
                </a:ln>
                <a:solidFill>
                  <a:srgbClr val="00B0F0"/>
                </a:solidFill>
              </a:rPr>
              <a:t>Begin</a:t>
            </a:r>
          </a:p>
          <a:p>
            <a:pPr>
              <a:buNone/>
            </a:pPr>
            <a:r>
              <a:rPr lang="en-US" sz="1200" dirty="0">
                <a:ln>
                  <a:solidFill>
                    <a:srgbClr val="00B0F0"/>
                  </a:solidFill>
                </a:ln>
                <a:solidFill>
                  <a:srgbClr val="00B0F0"/>
                </a:solidFill>
              </a:rPr>
              <a:t>	For </a:t>
            </a:r>
            <a:r>
              <a:rPr lang="en-US" sz="1200" dirty="0" err="1">
                <a:ln>
                  <a:solidFill>
                    <a:srgbClr val="00B0F0"/>
                  </a:solidFill>
                </a:ln>
                <a:solidFill>
                  <a:srgbClr val="00B0F0"/>
                </a:solidFill>
              </a:rPr>
              <a:t>rec</a:t>
            </a:r>
            <a:r>
              <a:rPr lang="en-US" sz="1200" dirty="0">
                <a:ln>
                  <a:solidFill>
                    <a:srgbClr val="00B0F0"/>
                  </a:solidFill>
                </a:ln>
                <a:solidFill>
                  <a:srgbClr val="00B0F0"/>
                </a:solidFill>
              </a:rPr>
              <a:t> in </a:t>
            </a:r>
            <a:r>
              <a:rPr lang="en-US" sz="1200" dirty="0" err="1">
                <a:ln>
                  <a:solidFill>
                    <a:srgbClr val="00B0F0"/>
                  </a:solidFill>
                </a:ln>
                <a:solidFill>
                  <a:srgbClr val="00B0F0"/>
                </a:solidFill>
              </a:rPr>
              <a:t>csr</a:t>
            </a:r>
            <a:r>
              <a:rPr lang="en-US" sz="1200" dirty="0">
                <a:ln>
                  <a:solidFill>
                    <a:srgbClr val="00B0F0"/>
                  </a:solidFill>
                </a:ln>
                <a:solidFill>
                  <a:srgbClr val="00B0F0"/>
                </a:solidFill>
              </a:rPr>
              <a:t> loop</a:t>
            </a:r>
          </a:p>
          <a:p>
            <a:pPr>
              <a:buNone/>
            </a:pPr>
            <a:r>
              <a:rPr lang="en-US" sz="1200" dirty="0">
                <a:ln>
                  <a:solidFill>
                    <a:srgbClr val="00B0F0"/>
                  </a:solidFill>
                </a:ln>
                <a:solidFill>
                  <a:srgbClr val="00B0F0"/>
                </a:solidFill>
              </a:rPr>
              <a:t>		Filename:=</a:t>
            </a:r>
            <a:r>
              <a:rPr lang="en-US" sz="1200" dirty="0" err="1">
                <a:ln>
                  <a:solidFill>
                    <a:srgbClr val="00B0F0"/>
                  </a:solidFill>
                </a:ln>
                <a:solidFill>
                  <a:srgbClr val="00B0F0"/>
                </a:solidFill>
              </a:rPr>
              <a:t>rec.ename</a:t>
            </a:r>
            <a:r>
              <a:rPr lang="en-US" sz="1200" dirty="0">
                <a:ln>
                  <a:solidFill>
                    <a:srgbClr val="00B0F0"/>
                  </a:solidFill>
                </a:ln>
                <a:solidFill>
                  <a:srgbClr val="00B0F0"/>
                </a:solidFill>
              </a:rPr>
              <a:t> || '.MP4';</a:t>
            </a:r>
          </a:p>
          <a:p>
            <a:pPr>
              <a:buNone/>
            </a:pPr>
            <a:r>
              <a:rPr lang="en-US" sz="1200" dirty="0">
                <a:ln>
                  <a:solidFill>
                    <a:srgbClr val="00B0F0"/>
                  </a:solidFill>
                </a:ln>
                <a:solidFill>
                  <a:srgbClr val="00B0F0"/>
                </a:solidFill>
              </a:rPr>
              <a:t>		</a:t>
            </a:r>
            <a:r>
              <a:rPr lang="en-US" sz="1200" dirty="0" err="1">
                <a:ln>
                  <a:solidFill>
                    <a:srgbClr val="00B0F0"/>
                  </a:solidFill>
                </a:ln>
                <a:solidFill>
                  <a:srgbClr val="00B0F0"/>
                </a:solidFill>
              </a:rPr>
              <a:t>File_ptr</a:t>
            </a:r>
            <a:r>
              <a:rPr lang="en-US" sz="1200" dirty="0">
                <a:ln>
                  <a:solidFill>
                    <a:srgbClr val="00B0F0"/>
                  </a:solidFill>
                </a:ln>
                <a:solidFill>
                  <a:srgbClr val="00B0F0"/>
                </a:solidFill>
              </a:rPr>
              <a:t>:=BFILENAME(</a:t>
            </a:r>
            <a:r>
              <a:rPr lang="en-US" sz="1200" dirty="0" err="1">
                <a:ln>
                  <a:solidFill>
                    <a:srgbClr val="00B0F0"/>
                  </a:solidFill>
                </a:ln>
                <a:solidFill>
                  <a:srgbClr val="00B0F0"/>
                </a:solidFill>
              </a:rPr>
              <a:t>dir_alias</a:t>
            </a:r>
            <a:r>
              <a:rPr lang="en-US" sz="1200" dirty="0">
                <a:ln>
                  <a:solidFill>
                    <a:srgbClr val="00B0F0"/>
                  </a:solidFill>
                </a:ln>
                <a:solidFill>
                  <a:srgbClr val="00B0F0"/>
                </a:solidFill>
              </a:rPr>
              <a:t>, filename);</a:t>
            </a:r>
          </a:p>
          <a:p>
            <a:pPr>
              <a:buNone/>
            </a:pPr>
            <a:r>
              <a:rPr lang="en-US" sz="1200" dirty="0">
                <a:ln>
                  <a:solidFill>
                    <a:srgbClr val="00B0F0"/>
                  </a:solidFill>
                </a:ln>
                <a:solidFill>
                  <a:srgbClr val="00B0F0"/>
                </a:solidFill>
              </a:rPr>
              <a:t>		DBMS_LOB.FILEOPEN(</a:t>
            </a:r>
            <a:r>
              <a:rPr lang="en-US" sz="1200" dirty="0" err="1">
                <a:ln>
                  <a:solidFill>
                    <a:srgbClr val="00B0F0"/>
                  </a:solidFill>
                </a:ln>
                <a:solidFill>
                  <a:srgbClr val="00B0F0"/>
                </a:solidFill>
              </a:rPr>
              <a:t>file_ptr</a:t>
            </a:r>
            <a:r>
              <a:rPr lang="en-US" sz="1200" dirty="0">
                <a:ln>
                  <a:solidFill>
                    <a:srgbClr val="00B0F0"/>
                  </a:solidFill>
                </a:ln>
                <a:solidFill>
                  <a:srgbClr val="00B0F0"/>
                </a:solidFill>
              </a:rPr>
              <a:t>);</a:t>
            </a:r>
          </a:p>
          <a:p>
            <a:pPr>
              <a:buNone/>
            </a:pPr>
            <a:r>
              <a:rPr lang="en-US" sz="1200" dirty="0">
                <a:ln>
                  <a:solidFill>
                    <a:srgbClr val="00B0F0"/>
                  </a:solidFill>
                </a:ln>
                <a:solidFill>
                  <a:srgbClr val="00B0F0"/>
                </a:solidFill>
              </a:rPr>
              <a:t>		Update </a:t>
            </a:r>
            <a:r>
              <a:rPr lang="en-US" sz="1200" dirty="0" err="1">
                <a:ln>
                  <a:solidFill>
                    <a:srgbClr val="00B0F0"/>
                  </a:solidFill>
                </a:ln>
                <a:solidFill>
                  <a:srgbClr val="00B0F0"/>
                </a:solidFill>
              </a:rPr>
              <a:t>employeenew</a:t>
            </a:r>
            <a:r>
              <a:rPr lang="en-US" sz="1200" dirty="0">
                <a:ln>
                  <a:solidFill>
                    <a:srgbClr val="00B0F0"/>
                  </a:solidFill>
                </a:ln>
                <a:solidFill>
                  <a:srgbClr val="00B0F0"/>
                </a:solidFill>
              </a:rPr>
              <a:t> set video=</a:t>
            </a:r>
            <a:r>
              <a:rPr lang="en-US" sz="1200" dirty="0" err="1">
                <a:ln>
                  <a:solidFill>
                    <a:srgbClr val="00B0F0"/>
                  </a:solidFill>
                </a:ln>
                <a:solidFill>
                  <a:srgbClr val="00B0F0"/>
                </a:solidFill>
              </a:rPr>
              <a:t>file_ptr</a:t>
            </a:r>
            <a:r>
              <a:rPr lang="en-US" sz="1200" dirty="0">
                <a:ln>
                  <a:solidFill>
                    <a:srgbClr val="00B0F0"/>
                  </a:solidFill>
                </a:ln>
                <a:solidFill>
                  <a:srgbClr val="00B0F0"/>
                </a:solidFill>
              </a:rPr>
              <a:t> where current of </a:t>
            </a:r>
            <a:r>
              <a:rPr lang="en-US" sz="1200" dirty="0" err="1">
                <a:ln>
                  <a:solidFill>
                    <a:srgbClr val="00B0F0"/>
                  </a:solidFill>
                </a:ln>
                <a:solidFill>
                  <a:srgbClr val="00B0F0"/>
                </a:solidFill>
              </a:rPr>
              <a:t>csr</a:t>
            </a:r>
            <a:r>
              <a:rPr lang="en-US" sz="1200" dirty="0">
                <a:ln>
                  <a:solidFill>
                    <a:srgbClr val="00B0F0"/>
                  </a:solidFill>
                </a:ln>
                <a:solidFill>
                  <a:srgbClr val="00B0F0"/>
                </a:solidFill>
              </a:rPr>
              <a:t>;</a:t>
            </a:r>
          </a:p>
          <a:p>
            <a:pPr>
              <a:buNone/>
            </a:pPr>
            <a:r>
              <a:rPr lang="en-US" sz="1200" dirty="0">
                <a:ln>
                  <a:solidFill>
                    <a:srgbClr val="00B0F0"/>
                  </a:solidFill>
                </a:ln>
                <a:solidFill>
                  <a:srgbClr val="00B0F0"/>
                </a:solidFill>
              </a:rPr>
              <a:t>		</a:t>
            </a:r>
            <a:r>
              <a:rPr lang="en-US" sz="1200" dirty="0" err="1">
                <a:ln>
                  <a:solidFill>
                    <a:srgbClr val="00B0F0"/>
                  </a:solidFill>
                </a:ln>
                <a:solidFill>
                  <a:srgbClr val="00B0F0"/>
                </a:solidFill>
              </a:rPr>
              <a:t>Dbms_output.put_line</a:t>
            </a:r>
            <a:r>
              <a:rPr lang="en-US" sz="1200" dirty="0">
                <a:ln>
                  <a:solidFill>
                    <a:srgbClr val="00B0F0"/>
                  </a:solidFill>
                </a:ln>
                <a:solidFill>
                  <a:srgbClr val="00B0F0"/>
                </a:solidFill>
              </a:rPr>
              <a:t>('FILE '||filename||' SIZE '||</a:t>
            </a:r>
            <a:r>
              <a:rPr lang="en-US" sz="1200" dirty="0" err="1">
                <a:ln>
                  <a:solidFill>
                    <a:srgbClr val="00B0F0"/>
                  </a:solidFill>
                </a:ln>
                <a:solidFill>
                  <a:srgbClr val="00B0F0"/>
                </a:solidFill>
              </a:rPr>
              <a:t>dbms_lob.getlength</a:t>
            </a:r>
            <a:r>
              <a:rPr lang="en-US" sz="1200" dirty="0">
                <a:ln>
                  <a:solidFill>
                    <a:srgbClr val="00B0F0"/>
                  </a:solidFill>
                </a:ln>
                <a:solidFill>
                  <a:srgbClr val="00B0F0"/>
                </a:solidFill>
              </a:rPr>
              <a:t>(</a:t>
            </a:r>
            <a:r>
              <a:rPr lang="en-US" sz="1200" dirty="0" err="1">
                <a:ln>
                  <a:solidFill>
                    <a:srgbClr val="00B0F0"/>
                  </a:solidFill>
                </a:ln>
                <a:solidFill>
                  <a:srgbClr val="00B0F0"/>
                </a:solidFill>
              </a:rPr>
              <a:t>file_ptr</a:t>
            </a:r>
            <a:r>
              <a:rPr lang="en-US" sz="1200" dirty="0">
                <a:ln>
                  <a:solidFill>
                    <a:srgbClr val="00B0F0"/>
                  </a:solidFill>
                </a:ln>
                <a:solidFill>
                  <a:srgbClr val="00B0F0"/>
                </a:solidFill>
              </a:rPr>
              <a:t>));</a:t>
            </a:r>
          </a:p>
          <a:p>
            <a:pPr>
              <a:buNone/>
            </a:pPr>
            <a:r>
              <a:rPr lang="en-US" sz="1200" dirty="0">
                <a:ln>
                  <a:solidFill>
                    <a:srgbClr val="00B0F0"/>
                  </a:solidFill>
                </a:ln>
                <a:solidFill>
                  <a:srgbClr val="00B0F0"/>
                </a:solidFill>
              </a:rPr>
              <a:t>		DBMS_LOB.FILECLOSE(</a:t>
            </a:r>
            <a:r>
              <a:rPr lang="en-US" sz="1200" dirty="0" err="1">
                <a:ln>
                  <a:solidFill>
                    <a:srgbClr val="00B0F0"/>
                  </a:solidFill>
                </a:ln>
                <a:solidFill>
                  <a:srgbClr val="00B0F0"/>
                </a:solidFill>
              </a:rPr>
              <a:t>file_ptr</a:t>
            </a:r>
            <a:r>
              <a:rPr lang="en-US" sz="1200" dirty="0">
                <a:ln>
                  <a:solidFill>
                    <a:srgbClr val="00B0F0"/>
                  </a:solidFill>
                </a:ln>
                <a:solidFill>
                  <a:srgbClr val="00B0F0"/>
                </a:solidFill>
              </a:rPr>
              <a:t>);</a:t>
            </a:r>
          </a:p>
          <a:p>
            <a:pPr>
              <a:buNone/>
            </a:pPr>
            <a:r>
              <a:rPr lang="en-US" sz="1200" dirty="0">
                <a:ln>
                  <a:solidFill>
                    <a:srgbClr val="00B0F0"/>
                  </a:solidFill>
                </a:ln>
                <a:solidFill>
                  <a:srgbClr val="00B0F0"/>
                </a:solidFill>
              </a:rPr>
              <a:t>	End loop;</a:t>
            </a:r>
          </a:p>
          <a:p>
            <a:pPr>
              <a:buNone/>
            </a:pPr>
            <a:r>
              <a:rPr lang="en-US" sz="1200" dirty="0">
                <a:ln>
                  <a:solidFill>
                    <a:srgbClr val="00B0F0"/>
                  </a:solidFill>
                </a:ln>
                <a:solidFill>
                  <a:srgbClr val="00B0F0"/>
                </a:solidFill>
              </a:rPr>
              <a:t>End </a:t>
            </a:r>
            <a:r>
              <a:rPr lang="en-US" sz="1200" dirty="0" err="1">
                <a:ln>
                  <a:solidFill>
                    <a:srgbClr val="00B0F0"/>
                  </a:solidFill>
                </a:ln>
                <a:solidFill>
                  <a:srgbClr val="00B0F0"/>
                </a:solidFill>
              </a:rPr>
              <a:t>set_video</a:t>
            </a:r>
            <a:r>
              <a:rPr lang="en-US" sz="1200" dirty="0">
                <a:ln>
                  <a:solidFill>
                    <a:srgbClr val="00B0F0"/>
                  </a:solidFill>
                </a:ln>
                <a:solidFill>
                  <a:srgbClr val="00B0F0"/>
                </a:solidFill>
              </a:rPr>
              <a:t>;</a:t>
            </a:r>
          </a:p>
          <a:p>
            <a:pPr>
              <a:buNone/>
            </a:pPr>
            <a:r>
              <a:rPr lang="en-US" sz="1200" dirty="0">
                <a:ln>
                  <a:solidFill>
                    <a:srgbClr val="00B0F0"/>
                  </a:solidFill>
                </a:ln>
                <a:solidFill>
                  <a:srgbClr val="00B0F0"/>
                </a:solidFill>
              </a:rPr>
              <a:t>/</a:t>
            </a:r>
          </a:p>
          <a:p>
            <a:pPr>
              <a:buNone/>
            </a:pPr>
            <a:r>
              <a:rPr lang="en-US" sz="1200" dirty="0">
                <a:ln>
                  <a:solidFill>
                    <a:srgbClr val="00B0F0"/>
                  </a:solidFill>
                </a:ln>
                <a:solidFill>
                  <a:srgbClr val="00B0F0"/>
                </a:solidFill>
              </a:rPr>
              <a:t>EXEC </a:t>
            </a:r>
            <a:r>
              <a:rPr lang="en-US" sz="1200" dirty="0" err="1">
                <a:ln>
                  <a:solidFill>
                    <a:srgbClr val="00B0F0"/>
                  </a:solidFill>
                </a:ln>
                <a:solidFill>
                  <a:srgbClr val="00B0F0"/>
                </a:solidFill>
              </a:rPr>
              <a:t>set_video</a:t>
            </a:r>
            <a:r>
              <a:rPr lang="en-US" sz="1200" dirty="0">
                <a:ln>
                  <a:solidFill>
                    <a:srgbClr val="00B0F0"/>
                  </a:solidFill>
                </a:ln>
                <a:solidFill>
                  <a:srgbClr val="00B0F0"/>
                </a:solidFill>
              </a:rPr>
              <a:t>('DATA_FILES');</a:t>
            </a:r>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400" b="1" dirty="0">
                <a:latin typeface="Candara"/>
              </a:rPr>
              <a:t>5.17:  DBMS_LOB</a:t>
            </a:r>
            <a:r>
              <a:rPr lang="en-US" sz="1400" dirty="0">
                <a:latin typeface="Candara"/>
              </a:rPr>
              <a:t>						</a:t>
            </a:r>
            <a:br>
              <a:rPr lang="en-US" sz="1200" b="1" dirty="0">
                <a:latin typeface="Candara"/>
              </a:rPr>
            </a:br>
            <a:r>
              <a:rPr lang="en-US" dirty="0"/>
              <a:t>BFILE operations using DBMS_LOB		…</a:t>
            </a:r>
            <a:r>
              <a:rPr lang="en-US" dirty="0" err="1"/>
              <a:t>contd</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56412" y="685801"/>
            <a:ext cx="8987588" cy="4126832"/>
          </a:xfrm>
        </p:spPr>
        <p:txBody>
          <a:bodyPr>
            <a:noAutofit/>
          </a:bodyPr>
          <a:lstStyle/>
          <a:p>
            <a:pPr>
              <a:buNone/>
            </a:pPr>
            <a:endParaRPr lang="en-US" sz="1200" dirty="0">
              <a:ln>
                <a:solidFill>
                  <a:srgbClr val="00B0F0"/>
                </a:solidFill>
              </a:ln>
              <a:solidFill>
                <a:srgbClr val="00B0F0"/>
              </a:solidFill>
            </a:endParaRPr>
          </a:p>
          <a:p>
            <a:endParaRPr lang="en-US" sz="1200" dirty="0"/>
          </a:p>
          <a:p>
            <a:pPr algn="just"/>
            <a:r>
              <a:rPr lang="en-US" sz="2000" dirty="0"/>
              <a:t>The BFILENAME function directly sets the </a:t>
            </a:r>
            <a:r>
              <a:rPr lang="en-US" sz="2000" dirty="0" err="1"/>
              <a:t>file_ptr</a:t>
            </a:r>
            <a:r>
              <a:rPr lang="en-US" sz="2000" dirty="0"/>
              <a:t> variable to the specified filename in the specified directory object, even if the specified file does not exist. </a:t>
            </a:r>
          </a:p>
          <a:p>
            <a:pPr algn="just"/>
            <a:endParaRPr lang="en-US" sz="2000" dirty="0"/>
          </a:p>
          <a:p>
            <a:pPr algn="just"/>
            <a:r>
              <a:rPr lang="en-US" sz="2000" dirty="0"/>
              <a:t>Hence, DBMS_LOB.FILEEXISTS function can verify if the file exists in the OS. The function returns 0 if the file does not exist, and returns 1 if the file exists. The DBMS_LOB.FILEEXISTS function expects a BFILE locator as a parameter, and returns an Integer 1 or 0.</a:t>
            </a:r>
          </a:p>
          <a:p>
            <a:pPr>
              <a:buNone/>
            </a:pPr>
            <a:r>
              <a:rPr lang="en-US" sz="1200" dirty="0"/>
              <a:t> </a:t>
            </a:r>
          </a:p>
          <a:p>
            <a:pPr>
              <a:buNone/>
            </a:pPr>
            <a:r>
              <a:rPr lang="en-US" sz="1200" dirty="0">
                <a:ln>
                  <a:solidFill>
                    <a:srgbClr val="00B0F0"/>
                  </a:solidFill>
                </a:ln>
                <a:solidFill>
                  <a:srgbClr val="00B0F0"/>
                </a:solidFill>
              </a:rPr>
              <a:t>	insert into </a:t>
            </a:r>
            <a:r>
              <a:rPr lang="en-US" sz="1200" dirty="0" err="1">
                <a:ln>
                  <a:solidFill>
                    <a:srgbClr val="00B0F0"/>
                  </a:solidFill>
                </a:ln>
                <a:solidFill>
                  <a:srgbClr val="00B0F0"/>
                </a:solidFill>
              </a:rPr>
              <a:t>employeenew</a:t>
            </a:r>
            <a:r>
              <a:rPr lang="en-US" sz="1200" dirty="0">
                <a:ln>
                  <a:solidFill>
                    <a:srgbClr val="00B0F0"/>
                  </a:solidFill>
                </a:ln>
                <a:solidFill>
                  <a:srgbClr val="00B0F0"/>
                </a:solidFill>
              </a:rPr>
              <a:t> (</a:t>
            </a:r>
            <a:r>
              <a:rPr lang="en-US" sz="1200" dirty="0" err="1">
                <a:ln>
                  <a:solidFill>
                    <a:srgbClr val="00B0F0"/>
                  </a:solidFill>
                </a:ln>
                <a:solidFill>
                  <a:srgbClr val="00B0F0"/>
                </a:solidFill>
              </a:rPr>
              <a:t>empid</a:t>
            </a:r>
            <a:r>
              <a:rPr lang="en-US" sz="1200" dirty="0">
                <a:ln>
                  <a:solidFill>
                    <a:srgbClr val="00B0F0"/>
                  </a:solidFill>
                </a:ln>
                <a:solidFill>
                  <a:srgbClr val="00B0F0"/>
                </a:solidFill>
              </a:rPr>
              <a:t>, </a:t>
            </a:r>
            <a:r>
              <a:rPr lang="en-US" sz="1200" dirty="0" err="1">
                <a:ln>
                  <a:solidFill>
                    <a:srgbClr val="00B0F0"/>
                  </a:solidFill>
                </a:ln>
                <a:solidFill>
                  <a:srgbClr val="00B0F0"/>
                </a:solidFill>
              </a:rPr>
              <a:t>ename</a:t>
            </a:r>
            <a:r>
              <a:rPr lang="en-US" sz="1200" dirty="0">
                <a:ln>
                  <a:solidFill>
                    <a:srgbClr val="00B0F0"/>
                  </a:solidFill>
                </a:ln>
                <a:solidFill>
                  <a:srgbClr val="00B0F0"/>
                </a:solidFill>
              </a:rPr>
              <a:t>) values(3,'hemant');</a:t>
            </a:r>
          </a:p>
          <a:p>
            <a:pPr>
              <a:buNone/>
            </a:pPr>
            <a:r>
              <a:rPr lang="en-US" sz="1200" dirty="0">
                <a:ln>
                  <a:solidFill>
                    <a:srgbClr val="00B0F0"/>
                  </a:solidFill>
                </a:ln>
                <a:solidFill>
                  <a:srgbClr val="00B0F0"/>
                </a:solidFill>
              </a:rPr>
              <a:t>	insert into </a:t>
            </a:r>
            <a:r>
              <a:rPr lang="en-US" sz="1200" dirty="0" err="1">
                <a:ln>
                  <a:solidFill>
                    <a:srgbClr val="00B0F0"/>
                  </a:solidFill>
                </a:ln>
                <a:solidFill>
                  <a:srgbClr val="00B0F0"/>
                </a:solidFill>
              </a:rPr>
              <a:t>employeenew</a:t>
            </a:r>
            <a:r>
              <a:rPr lang="en-US" sz="1200" dirty="0">
                <a:ln>
                  <a:solidFill>
                    <a:srgbClr val="00B0F0"/>
                  </a:solidFill>
                </a:ln>
                <a:solidFill>
                  <a:srgbClr val="00B0F0"/>
                </a:solidFill>
              </a:rPr>
              <a:t> (</a:t>
            </a:r>
            <a:r>
              <a:rPr lang="en-US" sz="1200" dirty="0" err="1">
                <a:ln>
                  <a:solidFill>
                    <a:srgbClr val="00B0F0"/>
                  </a:solidFill>
                </a:ln>
                <a:solidFill>
                  <a:srgbClr val="00B0F0"/>
                </a:solidFill>
              </a:rPr>
              <a:t>empid</a:t>
            </a:r>
            <a:r>
              <a:rPr lang="en-US" sz="1200" dirty="0">
                <a:ln>
                  <a:solidFill>
                    <a:srgbClr val="00B0F0"/>
                  </a:solidFill>
                </a:ln>
                <a:solidFill>
                  <a:srgbClr val="00B0F0"/>
                </a:solidFill>
              </a:rPr>
              <a:t>, </a:t>
            </a:r>
            <a:r>
              <a:rPr lang="en-US" sz="1200" dirty="0" err="1">
                <a:ln>
                  <a:solidFill>
                    <a:srgbClr val="00B0F0"/>
                  </a:solidFill>
                </a:ln>
                <a:solidFill>
                  <a:srgbClr val="00B0F0"/>
                </a:solidFill>
              </a:rPr>
              <a:t>ename</a:t>
            </a:r>
            <a:r>
              <a:rPr lang="en-US" sz="1200" dirty="0">
                <a:ln>
                  <a:solidFill>
                    <a:srgbClr val="00B0F0"/>
                  </a:solidFill>
                </a:ln>
                <a:solidFill>
                  <a:srgbClr val="00B0F0"/>
                </a:solidFill>
              </a:rPr>
              <a:t>) values(4,'manoj');</a:t>
            </a:r>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400" b="1" dirty="0">
                <a:latin typeface="Candara"/>
              </a:rPr>
              <a:t>5.18:  DBMS_LOB</a:t>
            </a:r>
            <a:r>
              <a:rPr lang="en-US" sz="1400" dirty="0">
                <a:latin typeface="Candara"/>
              </a:rPr>
              <a:t>						</a:t>
            </a:r>
            <a:br>
              <a:rPr lang="en-US" sz="1200" b="1" dirty="0">
                <a:latin typeface="Candara"/>
              </a:rPr>
            </a:br>
            <a:r>
              <a:rPr lang="en-US" dirty="0"/>
              <a:t>DBMS_LOB.FILEEXISTS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56412" y="770021"/>
            <a:ext cx="8987588" cy="4042612"/>
          </a:xfrm>
        </p:spPr>
        <p:txBody>
          <a:bodyPr>
            <a:noAutofit/>
          </a:bodyPr>
          <a:lstStyle/>
          <a:p>
            <a:pPr>
              <a:buNone/>
            </a:pPr>
            <a:endParaRPr lang="en-US" sz="1600" dirty="0">
              <a:ln>
                <a:solidFill>
                  <a:srgbClr val="00B0F0"/>
                </a:solidFill>
              </a:ln>
              <a:solidFill>
                <a:srgbClr val="00B0F0"/>
              </a:solidFill>
            </a:endParaRPr>
          </a:p>
          <a:p>
            <a:pPr>
              <a:buNone/>
            </a:pPr>
            <a:r>
              <a:rPr lang="en-US" sz="1600" dirty="0">
                <a:ln>
                  <a:solidFill>
                    <a:srgbClr val="00B0F0"/>
                  </a:solidFill>
                </a:ln>
                <a:solidFill>
                  <a:srgbClr val="00B0F0"/>
                </a:solidFill>
              </a:rPr>
              <a:t>Create or Replace procedure </a:t>
            </a:r>
            <a:r>
              <a:rPr lang="en-US" sz="1600" dirty="0" err="1">
                <a:ln>
                  <a:solidFill>
                    <a:srgbClr val="00B0F0"/>
                  </a:solidFill>
                </a:ln>
                <a:solidFill>
                  <a:srgbClr val="00B0F0"/>
                </a:solidFill>
              </a:rPr>
              <a:t>setvideo</a:t>
            </a:r>
            <a:r>
              <a:rPr lang="en-US" sz="1600" dirty="0">
                <a:ln>
                  <a:solidFill>
                    <a:srgbClr val="00B0F0"/>
                  </a:solidFill>
                </a:ln>
                <a:solidFill>
                  <a:srgbClr val="00B0F0"/>
                </a:solidFill>
              </a:rPr>
              <a:t>(</a:t>
            </a:r>
            <a:r>
              <a:rPr lang="en-US" sz="1600" dirty="0" err="1">
                <a:ln>
                  <a:solidFill>
                    <a:srgbClr val="00B0F0"/>
                  </a:solidFill>
                </a:ln>
                <a:solidFill>
                  <a:srgbClr val="00B0F0"/>
                </a:solidFill>
              </a:rPr>
              <a:t>dir_alias</a:t>
            </a:r>
            <a:r>
              <a:rPr lang="en-US" sz="1600" dirty="0">
                <a:ln>
                  <a:solidFill>
                    <a:srgbClr val="00B0F0"/>
                  </a:solidFill>
                </a:ln>
                <a:solidFill>
                  <a:srgbClr val="00B0F0"/>
                </a:solidFill>
              </a:rPr>
              <a:t> varchar2) is</a:t>
            </a:r>
          </a:p>
          <a:p>
            <a:pPr>
              <a:buNone/>
            </a:pPr>
            <a:r>
              <a:rPr lang="en-US" sz="1600" dirty="0">
                <a:ln>
                  <a:solidFill>
                    <a:srgbClr val="00B0F0"/>
                  </a:solidFill>
                </a:ln>
                <a:solidFill>
                  <a:srgbClr val="00B0F0"/>
                </a:solidFill>
              </a:rPr>
              <a:t>		Filename varchar2(40);</a:t>
            </a:r>
          </a:p>
          <a:p>
            <a:pPr>
              <a:buNone/>
            </a:pPr>
            <a:r>
              <a:rPr lang="en-US" sz="1600" dirty="0">
                <a:ln>
                  <a:solidFill>
                    <a:srgbClr val="00B0F0"/>
                  </a:solidFill>
                </a:ln>
                <a:solidFill>
                  <a:srgbClr val="00B0F0"/>
                </a:solidFill>
              </a:rPr>
              <a:t>		</a:t>
            </a:r>
            <a:r>
              <a:rPr lang="en-US" sz="1600" dirty="0" err="1">
                <a:ln>
                  <a:solidFill>
                    <a:srgbClr val="00B0F0"/>
                  </a:solidFill>
                </a:ln>
                <a:solidFill>
                  <a:srgbClr val="00B0F0"/>
                </a:solidFill>
              </a:rPr>
              <a:t>File_ptr</a:t>
            </a:r>
            <a:r>
              <a:rPr lang="en-US" sz="1600" dirty="0">
                <a:ln>
                  <a:solidFill>
                    <a:srgbClr val="00B0F0"/>
                  </a:solidFill>
                </a:ln>
                <a:solidFill>
                  <a:srgbClr val="00B0F0"/>
                </a:solidFill>
              </a:rPr>
              <a:t> BFILE;</a:t>
            </a:r>
          </a:p>
          <a:p>
            <a:pPr>
              <a:buNone/>
            </a:pPr>
            <a:r>
              <a:rPr lang="en-US" sz="1600" dirty="0">
                <a:ln>
                  <a:solidFill>
                    <a:srgbClr val="00B0F0"/>
                  </a:solidFill>
                </a:ln>
                <a:solidFill>
                  <a:srgbClr val="00B0F0"/>
                </a:solidFill>
              </a:rPr>
              <a:t>		A </a:t>
            </a:r>
            <a:r>
              <a:rPr lang="en-US" sz="1600" dirty="0" err="1">
                <a:ln>
                  <a:solidFill>
                    <a:srgbClr val="00B0F0"/>
                  </a:solidFill>
                </a:ln>
                <a:solidFill>
                  <a:srgbClr val="00B0F0"/>
                </a:solidFill>
              </a:rPr>
              <a:t>boolean</a:t>
            </a:r>
            <a:r>
              <a:rPr lang="en-US" sz="1600" dirty="0">
                <a:ln>
                  <a:solidFill>
                    <a:srgbClr val="00B0F0"/>
                  </a:solidFill>
                </a:ln>
                <a:solidFill>
                  <a:srgbClr val="00B0F0"/>
                </a:solidFill>
              </a:rPr>
              <a:t>;</a:t>
            </a:r>
          </a:p>
          <a:p>
            <a:pPr>
              <a:buNone/>
            </a:pPr>
            <a:r>
              <a:rPr lang="en-US" sz="1600" dirty="0">
                <a:ln>
                  <a:solidFill>
                    <a:srgbClr val="00B0F0"/>
                  </a:solidFill>
                </a:ln>
                <a:solidFill>
                  <a:srgbClr val="00B0F0"/>
                </a:solidFill>
              </a:rPr>
              <a:t>		Cursor </a:t>
            </a:r>
            <a:r>
              <a:rPr lang="en-US" sz="1600" dirty="0" err="1">
                <a:ln>
                  <a:solidFill>
                    <a:srgbClr val="00B0F0"/>
                  </a:solidFill>
                </a:ln>
                <a:solidFill>
                  <a:srgbClr val="00B0F0"/>
                </a:solidFill>
              </a:rPr>
              <a:t>csr</a:t>
            </a:r>
            <a:r>
              <a:rPr lang="en-US" sz="1600" dirty="0">
                <a:ln>
                  <a:solidFill>
                    <a:srgbClr val="00B0F0"/>
                  </a:solidFill>
                </a:ln>
                <a:solidFill>
                  <a:srgbClr val="00B0F0"/>
                </a:solidFill>
              </a:rPr>
              <a:t> is Select </a:t>
            </a:r>
            <a:r>
              <a:rPr lang="en-US" sz="1600" dirty="0" err="1">
                <a:ln>
                  <a:solidFill>
                    <a:srgbClr val="00B0F0"/>
                  </a:solidFill>
                </a:ln>
                <a:solidFill>
                  <a:srgbClr val="00B0F0"/>
                </a:solidFill>
              </a:rPr>
              <a:t>ename</a:t>
            </a:r>
            <a:r>
              <a:rPr lang="en-US" sz="1600" dirty="0">
                <a:ln>
                  <a:solidFill>
                    <a:srgbClr val="00B0F0"/>
                  </a:solidFill>
                </a:ln>
                <a:solidFill>
                  <a:srgbClr val="00B0F0"/>
                </a:solidFill>
              </a:rPr>
              <a:t> from </a:t>
            </a:r>
            <a:r>
              <a:rPr lang="en-US" sz="1600" dirty="0" err="1">
                <a:ln>
                  <a:solidFill>
                    <a:srgbClr val="00B0F0"/>
                  </a:solidFill>
                </a:ln>
                <a:solidFill>
                  <a:srgbClr val="00B0F0"/>
                </a:solidFill>
              </a:rPr>
              <a:t>employeenew</a:t>
            </a:r>
            <a:r>
              <a:rPr lang="en-US" sz="1600" dirty="0">
                <a:ln>
                  <a:solidFill>
                    <a:srgbClr val="00B0F0"/>
                  </a:solidFill>
                </a:ln>
                <a:solidFill>
                  <a:srgbClr val="00B0F0"/>
                </a:solidFill>
              </a:rPr>
              <a:t> for update;</a:t>
            </a:r>
          </a:p>
          <a:p>
            <a:pPr>
              <a:buNone/>
            </a:pPr>
            <a:r>
              <a:rPr lang="en-US" sz="1600" dirty="0">
                <a:ln>
                  <a:solidFill>
                    <a:srgbClr val="00B0F0"/>
                  </a:solidFill>
                </a:ln>
                <a:solidFill>
                  <a:srgbClr val="00B0F0"/>
                </a:solidFill>
              </a:rPr>
              <a:t>Begin</a:t>
            </a:r>
          </a:p>
          <a:p>
            <a:pPr>
              <a:buNone/>
            </a:pPr>
            <a:r>
              <a:rPr lang="en-US" sz="1600" dirty="0">
                <a:ln>
                  <a:solidFill>
                    <a:srgbClr val="00B0F0"/>
                  </a:solidFill>
                </a:ln>
                <a:solidFill>
                  <a:srgbClr val="00B0F0"/>
                </a:solidFill>
              </a:rPr>
              <a:t>		For </a:t>
            </a:r>
            <a:r>
              <a:rPr lang="en-US" sz="1600" dirty="0" err="1">
                <a:ln>
                  <a:solidFill>
                    <a:srgbClr val="00B0F0"/>
                  </a:solidFill>
                </a:ln>
                <a:solidFill>
                  <a:srgbClr val="00B0F0"/>
                </a:solidFill>
              </a:rPr>
              <a:t>rec</a:t>
            </a:r>
            <a:r>
              <a:rPr lang="en-US" sz="1600" dirty="0">
                <a:ln>
                  <a:solidFill>
                    <a:srgbClr val="00B0F0"/>
                  </a:solidFill>
                </a:ln>
                <a:solidFill>
                  <a:srgbClr val="00B0F0"/>
                </a:solidFill>
              </a:rPr>
              <a:t> in </a:t>
            </a:r>
            <a:r>
              <a:rPr lang="en-US" sz="1600" dirty="0" err="1">
                <a:ln>
                  <a:solidFill>
                    <a:srgbClr val="00B0F0"/>
                  </a:solidFill>
                </a:ln>
                <a:solidFill>
                  <a:srgbClr val="00B0F0"/>
                </a:solidFill>
              </a:rPr>
              <a:t>csr</a:t>
            </a:r>
            <a:r>
              <a:rPr lang="en-US" sz="1600" dirty="0">
                <a:ln>
                  <a:solidFill>
                    <a:srgbClr val="00B0F0"/>
                  </a:solidFill>
                </a:ln>
                <a:solidFill>
                  <a:srgbClr val="00B0F0"/>
                </a:solidFill>
              </a:rPr>
              <a:t> loop</a:t>
            </a:r>
          </a:p>
          <a:p>
            <a:pPr>
              <a:buNone/>
            </a:pPr>
            <a:r>
              <a:rPr lang="en-US" sz="1600" dirty="0">
                <a:ln>
                  <a:solidFill>
                    <a:srgbClr val="00B0F0"/>
                  </a:solidFill>
                </a:ln>
                <a:solidFill>
                  <a:srgbClr val="00B0F0"/>
                </a:solidFill>
              </a:rPr>
              <a:t>			Filename:=</a:t>
            </a:r>
            <a:r>
              <a:rPr lang="en-US" sz="1600" dirty="0" err="1">
                <a:ln>
                  <a:solidFill>
                    <a:srgbClr val="00B0F0"/>
                  </a:solidFill>
                </a:ln>
                <a:solidFill>
                  <a:srgbClr val="00B0F0"/>
                </a:solidFill>
              </a:rPr>
              <a:t>rec.ename</a:t>
            </a:r>
            <a:r>
              <a:rPr lang="en-US" sz="1600" dirty="0">
                <a:ln>
                  <a:solidFill>
                    <a:srgbClr val="00B0F0"/>
                  </a:solidFill>
                </a:ln>
                <a:solidFill>
                  <a:srgbClr val="00B0F0"/>
                </a:solidFill>
              </a:rPr>
              <a:t> || '.MP4';</a:t>
            </a:r>
          </a:p>
          <a:p>
            <a:pPr>
              <a:buNone/>
            </a:pPr>
            <a:r>
              <a:rPr lang="en-US" sz="1600" dirty="0">
                <a:ln>
                  <a:solidFill>
                    <a:srgbClr val="00B0F0"/>
                  </a:solidFill>
                </a:ln>
                <a:solidFill>
                  <a:srgbClr val="00B0F0"/>
                </a:solidFill>
              </a:rPr>
              <a:t>			</a:t>
            </a:r>
            <a:r>
              <a:rPr lang="en-US" sz="1600" dirty="0" err="1">
                <a:ln>
                  <a:solidFill>
                    <a:srgbClr val="00B0F0"/>
                  </a:solidFill>
                </a:ln>
                <a:solidFill>
                  <a:srgbClr val="00B0F0"/>
                </a:solidFill>
              </a:rPr>
              <a:t>File_ptr</a:t>
            </a:r>
            <a:r>
              <a:rPr lang="en-US" sz="1600" dirty="0">
                <a:ln>
                  <a:solidFill>
                    <a:srgbClr val="00B0F0"/>
                  </a:solidFill>
                </a:ln>
                <a:solidFill>
                  <a:srgbClr val="00B0F0"/>
                </a:solidFill>
              </a:rPr>
              <a:t>:=BFILENAME(</a:t>
            </a:r>
            <a:r>
              <a:rPr lang="en-US" sz="1600" dirty="0" err="1">
                <a:ln>
                  <a:solidFill>
                    <a:srgbClr val="00B0F0"/>
                  </a:solidFill>
                </a:ln>
                <a:solidFill>
                  <a:srgbClr val="00B0F0"/>
                </a:solidFill>
              </a:rPr>
              <a:t>dir_alias</a:t>
            </a:r>
            <a:r>
              <a:rPr lang="en-US" sz="1600" dirty="0">
                <a:ln>
                  <a:solidFill>
                    <a:srgbClr val="00B0F0"/>
                  </a:solidFill>
                </a:ln>
                <a:solidFill>
                  <a:srgbClr val="00B0F0"/>
                </a:solidFill>
              </a:rPr>
              <a:t>, filename);</a:t>
            </a:r>
          </a:p>
          <a:p>
            <a:pPr>
              <a:buNone/>
            </a:pPr>
            <a:r>
              <a:rPr lang="en-US" sz="1600" dirty="0">
                <a:ln>
                  <a:solidFill>
                    <a:srgbClr val="00B0F0"/>
                  </a:solidFill>
                </a:ln>
                <a:solidFill>
                  <a:srgbClr val="00B0F0"/>
                </a:solidFill>
              </a:rPr>
              <a:t>			a:=</a:t>
            </a:r>
            <a:r>
              <a:rPr lang="en-US" sz="1600" dirty="0" err="1">
                <a:ln>
                  <a:solidFill>
                    <a:srgbClr val="00B0F0"/>
                  </a:solidFill>
                </a:ln>
                <a:solidFill>
                  <a:srgbClr val="00B0F0"/>
                </a:solidFill>
              </a:rPr>
              <a:t>dbms_lob.fileexists</a:t>
            </a:r>
            <a:r>
              <a:rPr lang="en-US" sz="1600" dirty="0">
                <a:ln>
                  <a:solidFill>
                    <a:srgbClr val="00B0F0"/>
                  </a:solidFill>
                </a:ln>
                <a:solidFill>
                  <a:srgbClr val="00B0F0"/>
                </a:solidFill>
              </a:rPr>
              <a:t>(</a:t>
            </a:r>
            <a:r>
              <a:rPr lang="en-US" sz="1600" dirty="0" err="1">
                <a:ln>
                  <a:solidFill>
                    <a:srgbClr val="00B0F0"/>
                  </a:solidFill>
                </a:ln>
                <a:solidFill>
                  <a:srgbClr val="00B0F0"/>
                </a:solidFill>
              </a:rPr>
              <a:t>file_ptr</a:t>
            </a:r>
            <a:r>
              <a:rPr lang="en-US" sz="1600" dirty="0">
                <a:ln>
                  <a:solidFill>
                    <a:srgbClr val="00B0F0"/>
                  </a:solidFill>
                </a:ln>
                <a:solidFill>
                  <a:srgbClr val="00B0F0"/>
                </a:solidFill>
              </a:rPr>
              <a:t>)=1;</a:t>
            </a:r>
          </a:p>
          <a:p>
            <a:pPr>
              <a:buNone/>
            </a:pPr>
            <a:r>
              <a:rPr lang="en-US" sz="1600" dirty="0">
                <a:ln>
                  <a:solidFill>
                    <a:srgbClr val="00B0F0"/>
                  </a:solidFill>
                </a:ln>
                <a:solidFill>
                  <a:srgbClr val="00B0F0"/>
                </a:solidFill>
              </a:rPr>
              <a:t>			If a then</a:t>
            </a:r>
          </a:p>
          <a:p>
            <a:pPr>
              <a:buNone/>
            </a:pPr>
            <a:r>
              <a:rPr lang="en-US" sz="1600" dirty="0">
                <a:ln>
                  <a:solidFill>
                    <a:srgbClr val="00B0F0"/>
                  </a:solidFill>
                </a:ln>
                <a:solidFill>
                  <a:srgbClr val="00B0F0"/>
                </a:solidFill>
              </a:rPr>
              <a:t>				DBMS_LOB.FILEOPEN(</a:t>
            </a:r>
            <a:r>
              <a:rPr lang="en-US" sz="1600" dirty="0" err="1">
                <a:ln>
                  <a:solidFill>
                    <a:srgbClr val="00B0F0"/>
                  </a:solidFill>
                </a:ln>
                <a:solidFill>
                  <a:srgbClr val="00B0F0"/>
                </a:solidFill>
              </a:rPr>
              <a:t>file_ptr</a:t>
            </a:r>
            <a:r>
              <a:rPr lang="en-US" sz="1600" dirty="0">
                <a:ln>
                  <a:solidFill>
                    <a:srgbClr val="00B0F0"/>
                  </a:solidFill>
                </a:ln>
                <a:solidFill>
                  <a:srgbClr val="00B0F0"/>
                </a:solidFill>
              </a:rPr>
              <a:t>);</a:t>
            </a:r>
          </a:p>
          <a:p>
            <a:pPr>
              <a:buNone/>
            </a:pPr>
            <a:r>
              <a:rPr lang="en-US" sz="1600" dirty="0">
                <a:ln>
                  <a:solidFill>
                    <a:srgbClr val="00B0F0"/>
                  </a:solidFill>
                </a:ln>
                <a:solidFill>
                  <a:srgbClr val="00B0F0"/>
                </a:solidFill>
              </a:rPr>
              <a:t>				Update </a:t>
            </a:r>
            <a:r>
              <a:rPr lang="en-US" sz="1600" dirty="0" err="1">
                <a:ln>
                  <a:solidFill>
                    <a:srgbClr val="00B0F0"/>
                  </a:solidFill>
                </a:ln>
                <a:solidFill>
                  <a:srgbClr val="00B0F0"/>
                </a:solidFill>
              </a:rPr>
              <a:t>employeenew</a:t>
            </a:r>
            <a:r>
              <a:rPr lang="en-US" sz="1600" dirty="0">
                <a:ln>
                  <a:solidFill>
                    <a:srgbClr val="00B0F0"/>
                  </a:solidFill>
                </a:ln>
                <a:solidFill>
                  <a:srgbClr val="00B0F0"/>
                </a:solidFill>
              </a:rPr>
              <a:t> set video=</a:t>
            </a:r>
            <a:r>
              <a:rPr lang="en-US" sz="1600" dirty="0" err="1">
                <a:ln>
                  <a:solidFill>
                    <a:srgbClr val="00B0F0"/>
                  </a:solidFill>
                </a:ln>
                <a:solidFill>
                  <a:srgbClr val="00B0F0"/>
                </a:solidFill>
              </a:rPr>
              <a:t>file_ptr</a:t>
            </a:r>
            <a:r>
              <a:rPr lang="en-US" sz="1600" dirty="0">
                <a:ln>
                  <a:solidFill>
                    <a:srgbClr val="00B0F0"/>
                  </a:solidFill>
                </a:ln>
                <a:solidFill>
                  <a:srgbClr val="00B0F0"/>
                </a:solidFill>
              </a:rPr>
              <a:t> where current of </a:t>
            </a:r>
            <a:r>
              <a:rPr lang="en-US" sz="1600" dirty="0" err="1">
                <a:ln>
                  <a:solidFill>
                    <a:srgbClr val="00B0F0"/>
                  </a:solidFill>
                </a:ln>
                <a:solidFill>
                  <a:srgbClr val="00B0F0"/>
                </a:solidFill>
              </a:rPr>
              <a:t>csr</a:t>
            </a:r>
            <a:r>
              <a:rPr lang="en-US" sz="1600" dirty="0">
                <a:ln>
                  <a:solidFill>
                    <a:srgbClr val="00B0F0"/>
                  </a:solidFill>
                </a:ln>
                <a:solidFill>
                  <a:srgbClr val="00B0F0"/>
                </a:solidFill>
              </a:rPr>
              <a:t>;</a:t>
            </a:r>
          </a:p>
          <a:p>
            <a:pPr>
              <a:buNone/>
            </a:pPr>
            <a:r>
              <a:rPr lang="en-US" sz="1600" dirty="0">
                <a:ln>
                  <a:solidFill>
                    <a:srgbClr val="00B0F0"/>
                  </a:solidFill>
                </a:ln>
                <a:solidFill>
                  <a:srgbClr val="00B0F0"/>
                </a:solidFill>
              </a:rPr>
              <a:t>			</a:t>
            </a:r>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400" b="1" dirty="0">
                <a:latin typeface="Candara"/>
              </a:rPr>
              <a:t>5.18:  DBMS_LOB</a:t>
            </a:r>
            <a:r>
              <a:rPr lang="en-US" sz="1400" dirty="0">
                <a:latin typeface="Candara"/>
              </a:rPr>
              <a:t>						</a:t>
            </a:r>
            <a:br>
              <a:rPr lang="en-US" sz="1200" b="1" dirty="0">
                <a:latin typeface="Candara"/>
              </a:rPr>
            </a:br>
            <a:r>
              <a:rPr lang="en-US" dirty="0"/>
              <a:t>DBMS_LOB.FILEEXISTS			……</a:t>
            </a:r>
            <a:r>
              <a:rPr lang="en-US" dirty="0" err="1"/>
              <a:t>contd</a:t>
            </a:r>
            <a:r>
              <a:rPr lang="en-US" dirty="0"/>
              <a:t>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56412" y="770021"/>
            <a:ext cx="8987588" cy="4042612"/>
          </a:xfrm>
        </p:spPr>
        <p:txBody>
          <a:bodyPr>
            <a:noAutofit/>
          </a:bodyPr>
          <a:lstStyle/>
          <a:p>
            <a:pPr>
              <a:buNone/>
            </a:pPr>
            <a:r>
              <a:rPr lang="en-US" sz="1600" dirty="0">
                <a:ln>
                  <a:solidFill>
                    <a:srgbClr val="00B0F0"/>
                  </a:solidFill>
                </a:ln>
                <a:solidFill>
                  <a:srgbClr val="00B0F0"/>
                </a:solidFill>
              </a:rPr>
              <a:t>				</a:t>
            </a:r>
          </a:p>
          <a:p>
            <a:pPr algn="just">
              <a:buNone/>
            </a:pPr>
            <a:r>
              <a:rPr lang="en-US" sz="1600" dirty="0">
                <a:ln>
                  <a:solidFill>
                    <a:srgbClr val="00B0F0"/>
                  </a:solidFill>
                </a:ln>
                <a:solidFill>
                  <a:srgbClr val="00B0F0"/>
                </a:solidFill>
              </a:rPr>
              <a:t>				</a:t>
            </a:r>
            <a:r>
              <a:rPr lang="en-US" sz="1600" dirty="0" err="1">
                <a:ln>
                  <a:solidFill>
                    <a:srgbClr val="00B0F0"/>
                  </a:solidFill>
                </a:ln>
                <a:solidFill>
                  <a:srgbClr val="00B0F0"/>
                </a:solidFill>
              </a:rPr>
              <a:t>Dbms_output.put_line</a:t>
            </a:r>
            <a:r>
              <a:rPr lang="en-US" sz="1600" dirty="0">
                <a:ln>
                  <a:solidFill>
                    <a:srgbClr val="00B0F0"/>
                  </a:solidFill>
                </a:ln>
                <a:solidFill>
                  <a:srgbClr val="00B0F0"/>
                </a:solidFill>
              </a:rPr>
              <a:t>('FILE '||filename||' SIZE '||</a:t>
            </a:r>
            <a:r>
              <a:rPr lang="en-US" sz="1600" dirty="0" err="1">
                <a:ln>
                  <a:solidFill>
                    <a:srgbClr val="00B0F0"/>
                  </a:solidFill>
                </a:ln>
                <a:solidFill>
                  <a:srgbClr val="00B0F0"/>
                </a:solidFill>
              </a:rPr>
              <a:t>dbms_lob.getlength</a:t>
            </a:r>
            <a:r>
              <a:rPr lang="en-US" sz="1600" dirty="0">
                <a:ln>
                  <a:solidFill>
                    <a:srgbClr val="00B0F0"/>
                  </a:solidFill>
                </a:ln>
                <a:solidFill>
                  <a:srgbClr val="00B0F0"/>
                </a:solidFill>
              </a:rPr>
              <a:t>(</a:t>
            </a:r>
            <a:r>
              <a:rPr lang="en-US" sz="1600" dirty="0" err="1">
                <a:ln>
                  <a:solidFill>
                    <a:srgbClr val="00B0F0"/>
                  </a:solidFill>
                </a:ln>
                <a:solidFill>
                  <a:srgbClr val="00B0F0"/>
                </a:solidFill>
              </a:rPr>
              <a:t>file_ptr</a:t>
            </a:r>
            <a:r>
              <a:rPr lang="en-US" sz="1600" dirty="0">
                <a:ln>
                  <a:solidFill>
                    <a:srgbClr val="00B0F0"/>
                  </a:solidFill>
                </a:ln>
                <a:solidFill>
                  <a:srgbClr val="00B0F0"/>
                </a:solidFill>
              </a:rPr>
              <a:t>));</a:t>
            </a:r>
          </a:p>
          <a:p>
            <a:pPr>
              <a:buNone/>
            </a:pPr>
            <a:r>
              <a:rPr lang="en-US" sz="1600" dirty="0">
                <a:ln>
                  <a:solidFill>
                    <a:srgbClr val="00B0F0"/>
                  </a:solidFill>
                </a:ln>
                <a:solidFill>
                  <a:srgbClr val="00B0F0"/>
                </a:solidFill>
              </a:rPr>
              <a:t>				DBMS_LOB.FILECLOSE(</a:t>
            </a:r>
            <a:r>
              <a:rPr lang="en-US" sz="1600" dirty="0" err="1">
                <a:ln>
                  <a:solidFill>
                    <a:srgbClr val="00B0F0"/>
                  </a:solidFill>
                </a:ln>
                <a:solidFill>
                  <a:srgbClr val="00B0F0"/>
                </a:solidFill>
              </a:rPr>
              <a:t>file_ptr</a:t>
            </a:r>
            <a:r>
              <a:rPr lang="en-US" sz="1600" dirty="0">
                <a:ln>
                  <a:solidFill>
                    <a:srgbClr val="00B0F0"/>
                  </a:solidFill>
                </a:ln>
                <a:solidFill>
                  <a:srgbClr val="00B0F0"/>
                </a:solidFill>
              </a:rPr>
              <a:t>);</a:t>
            </a:r>
          </a:p>
          <a:p>
            <a:pPr>
              <a:buNone/>
            </a:pPr>
            <a:r>
              <a:rPr lang="en-US" sz="1600" dirty="0">
                <a:ln>
                  <a:solidFill>
                    <a:srgbClr val="00B0F0"/>
                  </a:solidFill>
                </a:ln>
                <a:solidFill>
                  <a:srgbClr val="00B0F0"/>
                </a:solidFill>
              </a:rPr>
              <a:t>			Else</a:t>
            </a:r>
          </a:p>
          <a:p>
            <a:pPr>
              <a:buNone/>
            </a:pPr>
            <a:r>
              <a:rPr lang="en-US" sz="1600" dirty="0">
                <a:ln>
                  <a:solidFill>
                    <a:srgbClr val="00B0F0"/>
                  </a:solidFill>
                </a:ln>
                <a:solidFill>
                  <a:srgbClr val="00B0F0"/>
                </a:solidFill>
              </a:rPr>
              <a:t>				</a:t>
            </a:r>
            <a:r>
              <a:rPr lang="en-US" sz="1600" dirty="0" err="1">
                <a:ln>
                  <a:solidFill>
                    <a:srgbClr val="00B0F0"/>
                  </a:solidFill>
                </a:ln>
                <a:solidFill>
                  <a:srgbClr val="00B0F0"/>
                </a:solidFill>
              </a:rPr>
              <a:t>Dbms_output.put_line</a:t>
            </a:r>
            <a:r>
              <a:rPr lang="en-US" sz="1600" dirty="0">
                <a:ln>
                  <a:solidFill>
                    <a:srgbClr val="00B0F0"/>
                  </a:solidFill>
                </a:ln>
                <a:solidFill>
                  <a:srgbClr val="00B0F0"/>
                </a:solidFill>
              </a:rPr>
              <a:t>('FILE not found for this employee' || </a:t>
            </a:r>
            <a:r>
              <a:rPr lang="en-US" sz="1600" dirty="0" err="1">
                <a:ln>
                  <a:solidFill>
                    <a:srgbClr val="00B0F0"/>
                  </a:solidFill>
                </a:ln>
                <a:solidFill>
                  <a:srgbClr val="00B0F0"/>
                </a:solidFill>
              </a:rPr>
              <a:t>rec.ename</a:t>
            </a:r>
            <a:r>
              <a:rPr lang="en-US" sz="1600" dirty="0">
                <a:ln>
                  <a:solidFill>
                    <a:srgbClr val="00B0F0"/>
                  </a:solidFill>
                </a:ln>
                <a:solidFill>
                  <a:srgbClr val="00B0F0"/>
                </a:solidFill>
              </a:rPr>
              <a:t>);</a:t>
            </a:r>
          </a:p>
          <a:p>
            <a:pPr>
              <a:buNone/>
            </a:pPr>
            <a:r>
              <a:rPr lang="en-US" sz="1600" dirty="0">
                <a:ln>
                  <a:solidFill>
                    <a:srgbClr val="00B0F0"/>
                  </a:solidFill>
                </a:ln>
                <a:solidFill>
                  <a:srgbClr val="00B0F0"/>
                </a:solidFill>
              </a:rPr>
              <a:t>			End if;</a:t>
            </a:r>
          </a:p>
          <a:p>
            <a:pPr>
              <a:buNone/>
            </a:pPr>
            <a:r>
              <a:rPr lang="en-US" sz="1600" dirty="0">
                <a:ln>
                  <a:solidFill>
                    <a:srgbClr val="00B0F0"/>
                  </a:solidFill>
                </a:ln>
                <a:solidFill>
                  <a:srgbClr val="00B0F0"/>
                </a:solidFill>
              </a:rPr>
              <a:t>		End loop;</a:t>
            </a:r>
          </a:p>
          <a:p>
            <a:pPr>
              <a:buNone/>
            </a:pPr>
            <a:r>
              <a:rPr lang="en-US" sz="1600" dirty="0">
                <a:ln>
                  <a:solidFill>
                    <a:srgbClr val="00B0F0"/>
                  </a:solidFill>
                </a:ln>
                <a:solidFill>
                  <a:srgbClr val="00B0F0"/>
                </a:solidFill>
              </a:rPr>
              <a:t>End </a:t>
            </a:r>
            <a:r>
              <a:rPr lang="en-US" sz="1600" dirty="0" err="1">
                <a:ln>
                  <a:solidFill>
                    <a:srgbClr val="00B0F0"/>
                  </a:solidFill>
                </a:ln>
                <a:solidFill>
                  <a:srgbClr val="00B0F0"/>
                </a:solidFill>
              </a:rPr>
              <a:t>setvideo</a:t>
            </a:r>
            <a:r>
              <a:rPr lang="en-US" sz="1600" dirty="0">
                <a:ln>
                  <a:solidFill>
                    <a:srgbClr val="00B0F0"/>
                  </a:solidFill>
                </a:ln>
                <a:solidFill>
                  <a:srgbClr val="00B0F0"/>
                </a:solidFill>
              </a:rPr>
              <a:t>;</a:t>
            </a:r>
          </a:p>
          <a:p>
            <a:pPr>
              <a:buNone/>
            </a:pPr>
            <a:r>
              <a:rPr lang="en-US" sz="1600" dirty="0">
                <a:ln>
                  <a:solidFill>
                    <a:srgbClr val="00B0F0"/>
                  </a:solidFill>
                </a:ln>
                <a:solidFill>
                  <a:srgbClr val="00B0F0"/>
                </a:solidFill>
              </a:rPr>
              <a:t>/</a:t>
            </a:r>
          </a:p>
          <a:p>
            <a:pPr>
              <a:buNone/>
            </a:pPr>
            <a:r>
              <a:rPr lang="en-US" sz="1600" dirty="0">
                <a:ln>
                  <a:solidFill>
                    <a:srgbClr val="00B0F0"/>
                  </a:solidFill>
                </a:ln>
                <a:solidFill>
                  <a:srgbClr val="00B0F0"/>
                </a:solidFill>
              </a:rPr>
              <a:t> </a:t>
            </a:r>
          </a:p>
          <a:p>
            <a:pPr>
              <a:buNone/>
            </a:pPr>
            <a:r>
              <a:rPr lang="en-US" sz="1600" dirty="0">
                <a:ln>
                  <a:solidFill>
                    <a:srgbClr val="00B0F0"/>
                  </a:solidFill>
                </a:ln>
                <a:solidFill>
                  <a:srgbClr val="00B0F0"/>
                </a:solidFill>
              </a:rPr>
              <a:t>EXEC </a:t>
            </a:r>
            <a:r>
              <a:rPr lang="en-US" sz="1600" dirty="0" err="1">
                <a:ln>
                  <a:solidFill>
                    <a:srgbClr val="00B0F0"/>
                  </a:solidFill>
                </a:ln>
                <a:solidFill>
                  <a:srgbClr val="00B0F0"/>
                </a:solidFill>
              </a:rPr>
              <a:t>setvideo</a:t>
            </a:r>
            <a:r>
              <a:rPr lang="en-US" sz="1600" dirty="0">
                <a:ln>
                  <a:solidFill>
                    <a:srgbClr val="00B0F0"/>
                  </a:solidFill>
                </a:ln>
                <a:solidFill>
                  <a:srgbClr val="00B0F0"/>
                </a:solidFill>
              </a:rPr>
              <a:t>('DATA_FILES');</a:t>
            </a:r>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400" b="1" dirty="0">
                <a:latin typeface="Candara"/>
              </a:rPr>
              <a:t>5.18:  DBMS_LOB</a:t>
            </a:r>
            <a:r>
              <a:rPr lang="en-US" sz="1400" dirty="0">
                <a:latin typeface="Candara"/>
              </a:rPr>
              <a:t>						</a:t>
            </a:r>
            <a:br>
              <a:rPr lang="en-US" sz="1200" b="1" dirty="0">
                <a:latin typeface="Candara"/>
              </a:rPr>
            </a:br>
            <a:r>
              <a:rPr lang="en-US" dirty="0"/>
              <a:t>DBMS_LOB.FILEEXISTS			……</a:t>
            </a:r>
            <a:r>
              <a:rPr lang="en-US" dirty="0" err="1"/>
              <a:t>contd</a:t>
            </a:r>
            <a:r>
              <a:rPr lang="en-US" dirty="0"/>
              <a:t>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56412" y="770021"/>
            <a:ext cx="8987588" cy="3886200"/>
          </a:xfrm>
        </p:spPr>
        <p:txBody>
          <a:bodyPr>
            <a:noAutofit/>
          </a:bodyPr>
          <a:lstStyle/>
          <a:p>
            <a:pPr>
              <a:buNone/>
            </a:pPr>
            <a:r>
              <a:rPr lang="en-US" sz="1600" dirty="0">
                <a:ln>
                  <a:solidFill>
                    <a:srgbClr val="00B0F0"/>
                  </a:solidFill>
                </a:ln>
                <a:solidFill>
                  <a:srgbClr val="00B0F0"/>
                </a:solidFill>
              </a:rPr>
              <a:t>	</a:t>
            </a:r>
          </a:p>
          <a:p>
            <a:r>
              <a:rPr lang="en-US" sz="1600" dirty="0"/>
              <a:t> TO_CLOB : Converts LONG to CLOB through PLSQL</a:t>
            </a:r>
          </a:p>
          <a:p>
            <a:pPr>
              <a:buNone/>
            </a:pPr>
            <a:r>
              <a:rPr lang="en-US" sz="1600" dirty="0">
                <a:ln>
                  <a:solidFill>
                    <a:srgbClr val="00B0F0"/>
                  </a:solidFill>
                </a:ln>
                <a:solidFill>
                  <a:srgbClr val="00B0F0"/>
                </a:solidFill>
              </a:rPr>
              <a:t>		create table x(c1 long, c2 varchar2(10), c3 char(10));</a:t>
            </a:r>
          </a:p>
          <a:p>
            <a:pPr>
              <a:buNone/>
            </a:pPr>
            <a:r>
              <a:rPr lang="en-US" sz="1600" dirty="0">
                <a:ln>
                  <a:solidFill>
                    <a:srgbClr val="00B0F0"/>
                  </a:solidFill>
                </a:ln>
                <a:solidFill>
                  <a:srgbClr val="00B0F0"/>
                </a:solidFill>
              </a:rPr>
              <a:t>		insert into x values('</a:t>
            </a:r>
            <a:r>
              <a:rPr lang="en-US" sz="1600" dirty="0" err="1">
                <a:ln>
                  <a:solidFill>
                    <a:srgbClr val="00B0F0"/>
                  </a:solidFill>
                </a:ln>
                <a:solidFill>
                  <a:srgbClr val="00B0F0"/>
                </a:solidFill>
              </a:rPr>
              <a:t>abc</a:t>
            </a:r>
            <a:r>
              <a:rPr lang="en-US" sz="1600" dirty="0">
                <a:ln>
                  <a:solidFill>
                    <a:srgbClr val="00B0F0"/>
                  </a:solidFill>
                </a:ln>
                <a:solidFill>
                  <a:srgbClr val="00B0F0"/>
                </a:solidFill>
              </a:rPr>
              <a:t>', '</a:t>
            </a:r>
            <a:r>
              <a:rPr lang="en-US" sz="1600" dirty="0" err="1">
                <a:ln>
                  <a:solidFill>
                    <a:srgbClr val="00B0F0"/>
                  </a:solidFill>
                </a:ln>
                <a:solidFill>
                  <a:srgbClr val="00B0F0"/>
                </a:solidFill>
              </a:rPr>
              <a:t>xyz','pqr</a:t>
            </a:r>
            <a:r>
              <a:rPr lang="en-US" sz="1600" dirty="0">
                <a:ln>
                  <a:solidFill>
                    <a:srgbClr val="00B0F0"/>
                  </a:solidFill>
                </a:ln>
                <a:solidFill>
                  <a:srgbClr val="00B0F0"/>
                </a:solidFill>
              </a:rPr>
              <a:t>');</a:t>
            </a:r>
          </a:p>
          <a:p>
            <a:pPr>
              <a:buNone/>
            </a:pPr>
            <a:r>
              <a:rPr lang="en-US" sz="1600" dirty="0">
                <a:ln>
                  <a:solidFill>
                    <a:srgbClr val="00B0F0"/>
                  </a:solidFill>
                </a:ln>
                <a:solidFill>
                  <a:srgbClr val="00B0F0"/>
                </a:solidFill>
              </a:rPr>
              <a:t>		insert into x values('</a:t>
            </a:r>
            <a:r>
              <a:rPr lang="en-US" sz="1600" dirty="0" err="1">
                <a:ln>
                  <a:solidFill>
                    <a:srgbClr val="00B0F0"/>
                  </a:solidFill>
                </a:ln>
                <a:solidFill>
                  <a:srgbClr val="00B0F0"/>
                </a:solidFill>
              </a:rPr>
              <a:t>aaa</a:t>
            </a:r>
            <a:r>
              <a:rPr lang="en-US" sz="1600" dirty="0">
                <a:ln>
                  <a:solidFill>
                    <a:srgbClr val="00B0F0"/>
                  </a:solidFill>
                </a:ln>
                <a:solidFill>
                  <a:srgbClr val="00B0F0"/>
                </a:solidFill>
              </a:rPr>
              <a:t>', '</a:t>
            </a:r>
            <a:r>
              <a:rPr lang="en-US" sz="1600" dirty="0" err="1">
                <a:ln>
                  <a:solidFill>
                    <a:srgbClr val="00B0F0"/>
                  </a:solidFill>
                </a:ln>
                <a:solidFill>
                  <a:srgbClr val="00B0F0"/>
                </a:solidFill>
              </a:rPr>
              <a:t>bbb','ccc</a:t>
            </a:r>
            <a:r>
              <a:rPr lang="en-US" sz="1600" dirty="0">
                <a:ln>
                  <a:solidFill>
                    <a:srgbClr val="00B0F0"/>
                  </a:solidFill>
                </a:ln>
                <a:solidFill>
                  <a:srgbClr val="00B0F0"/>
                </a:solidFill>
              </a:rPr>
              <a:t>');</a:t>
            </a:r>
          </a:p>
          <a:p>
            <a:pPr>
              <a:buNone/>
            </a:pPr>
            <a:r>
              <a:rPr lang="en-US" sz="1600" dirty="0">
                <a:ln>
                  <a:solidFill>
                    <a:srgbClr val="00B0F0"/>
                  </a:solidFill>
                </a:ln>
                <a:solidFill>
                  <a:srgbClr val="00B0F0"/>
                </a:solidFill>
              </a:rPr>
              <a:t>	</a:t>
            </a:r>
          </a:p>
          <a:p>
            <a:pPr>
              <a:buNone/>
            </a:pPr>
            <a:r>
              <a:rPr lang="en-US" sz="1600" dirty="0">
                <a:ln>
                  <a:solidFill>
                    <a:srgbClr val="00B0F0"/>
                  </a:solidFill>
                </a:ln>
                <a:solidFill>
                  <a:srgbClr val="00B0F0"/>
                </a:solidFill>
              </a:rPr>
              <a:t>		create table y(c1 </a:t>
            </a:r>
            <a:r>
              <a:rPr lang="en-US" sz="1600" dirty="0" err="1">
                <a:ln>
                  <a:solidFill>
                    <a:srgbClr val="00B0F0"/>
                  </a:solidFill>
                </a:ln>
                <a:solidFill>
                  <a:srgbClr val="00B0F0"/>
                </a:solidFill>
              </a:rPr>
              <a:t>clob</a:t>
            </a:r>
            <a:r>
              <a:rPr lang="en-US" sz="1600" dirty="0">
                <a:ln>
                  <a:solidFill>
                    <a:srgbClr val="00B0F0"/>
                  </a:solidFill>
                </a:ln>
                <a:solidFill>
                  <a:srgbClr val="00B0F0"/>
                </a:solidFill>
              </a:rPr>
              <a:t>, c2 </a:t>
            </a:r>
            <a:r>
              <a:rPr lang="en-US" sz="1600" dirty="0" err="1">
                <a:ln>
                  <a:solidFill>
                    <a:srgbClr val="00B0F0"/>
                  </a:solidFill>
                </a:ln>
                <a:solidFill>
                  <a:srgbClr val="00B0F0"/>
                </a:solidFill>
              </a:rPr>
              <a:t>clob</a:t>
            </a:r>
            <a:r>
              <a:rPr lang="en-US" sz="1600" dirty="0">
                <a:ln>
                  <a:solidFill>
                    <a:srgbClr val="00B0F0"/>
                  </a:solidFill>
                </a:ln>
                <a:solidFill>
                  <a:srgbClr val="00B0F0"/>
                </a:solidFill>
              </a:rPr>
              <a:t>, c3 </a:t>
            </a:r>
            <a:r>
              <a:rPr lang="en-US" sz="1600" dirty="0" err="1">
                <a:ln>
                  <a:solidFill>
                    <a:srgbClr val="00B0F0"/>
                  </a:solidFill>
                </a:ln>
                <a:solidFill>
                  <a:srgbClr val="00B0F0"/>
                </a:solidFill>
              </a:rPr>
              <a:t>clob</a:t>
            </a:r>
            <a:r>
              <a:rPr lang="en-US" sz="1600" dirty="0">
                <a:ln>
                  <a:solidFill>
                    <a:srgbClr val="00B0F0"/>
                  </a:solidFill>
                </a:ln>
                <a:solidFill>
                  <a:srgbClr val="00B0F0"/>
                </a:solidFill>
              </a:rPr>
              <a:t>);</a:t>
            </a:r>
          </a:p>
          <a:p>
            <a:pPr>
              <a:buNone/>
            </a:pPr>
            <a:r>
              <a:rPr lang="en-US" sz="1600" dirty="0"/>
              <a:t>		</a:t>
            </a:r>
          </a:p>
          <a:p>
            <a:r>
              <a:rPr lang="en-US" sz="1600" dirty="0"/>
              <a:t> The following will give an error at the SQL-engine level</a:t>
            </a:r>
          </a:p>
          <a:p>
            <a:pPr>
              <a:buNone/>
            </a:pPr>
            <a:r>
              <a:rPr lang="en-US" sz="1600" dirty="0">
                <a:ln>
                  <a:solidFill>
                    <a:srgbClr val="00B0F0"/>
                  </a:solidFill>
                </a:ln>
                <a:solidFill>
                  <a:srgbClr val="00B0F0"/>
                </a:solidFill>
              </a:rPr>
              <a:t>		insert into y(c1) select </a:t>
            </a:r>
            <a:r>
              <a:rPr lang="en-US" sz="1600" dirty="0" err="1">
                <a:ln>
                  <a:solidFill>
                    <a:srgbClr val="00B0F0"/>
                  </a:solidFill>
                </a:ln>
                <a:solidFill>
                  <a:srgbClr val="00B0F0"/>
                </a:solidFill>
              </a:rPr>
              <a:t>to_clob</a:t>
            </a:r>
            <a:r>
              <a:rPr lang="en-US" sz="1600" dirty="0">
                <a:ln>
                  <a:solidFill>
                    <a:srgbClr val="00B0F0"/>
                  </a:solidFill>
                </a:ln>
                <a:solidFill>
                  <a:srgbClr val="00B0F0"/>
                </a:solidFill>
              </a:rPr>
              <a:t>(c1) from x;</a:t>
            </a:r>
          </a:p>
          <a:p>
            <a:pPr>
              <a:buNone/>
            </a:pPr>
            <a:r>
              <a:rPr lang="en-US" sz="1600" dirty="0"/>
              <a:t>		ERROR at line 1:</a:t>
            </a:r>
          </a:p>
          <a:p>
            <a:pPr>
              <a:buNone/>
            </a:pPr>
            <a:r>
              <a:rPr lang="en-US" sz="1600" dirty="0"/>
              <a:t>		ORA-00932: inconsistent datatypes: expected NUMBER got LONG</a:t>
            </a:r>
          </a:p>
          <a:p>
            <a:pPr>
              <a:buNone/>
            </a:pPr>
            <a:r>
              <a:rPr lang="en-US" sz="1600" dirty="0"/>
              <a:t>SQL&gt; </a:t>
            </a:r>
            <a:r>
              <a:rPr lang="en-US" sz="1600" dirty="0">
                <a:ln>
                  <a:solidFill>
                    <a:srgbClr val="00B0F0"/>
                  </a:solidFill>
                </a:ln>
                <a:solidFill>
                  <a:srgbClr val="00B0F0"/>
                </a:solidFill>
              </a:rPr>
              <a:t>select c1 from y;</a:t>
            </a:r>
          </a:p>
          <a:p>
            <a:pPr>
              <a:buNone/>
            </a:pPr>
            <a:endParaRPr lang="en-US" sz="1600" dirty="0"/>
          </a:p>
          <a:p>
            <a:pPr>
              <a:buNone/>
            </a:pPr>
            <a:endParaRPr lang="en-US" sz="1600" dirty="0">
              <a:ln>
                <a:solidFill>
                  <a:srgbClr val="00B0F0"/>
                </a:solidFill>
              </a:ln>
              <a:solidFill>
                <a:srgbClr val="00B0F0"/>
              </a:solidFill>
            </a:endParaRPr>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400" b="1" dirty="0">
                <a:latin typeface="Candara"/>
              </a:rPr>
              <a:t>5.19:  TO_CLOB and TO_BLOB</a:t>
            </a:r>
            <a:r>
              <a:rPr lang="en-US" sz="1400" dirty="0">
                <a:latin typeface="Candara"/>
              </a:rPr>
              <a:t>						</a:t>
            </a:r>
            <a:br>
              <a:rPr lang="en-US" sz="1200" b="1" dirty="0">
                <a:latin typeface="Candara"/>
              </a:rPr>
            </a:br>
            <a:r>
              <a:rPr lang="en-US" dirty="0"/>
              <a:t>PLSQL conversion functions</a:t>
            </a:r>
            <a:endParaRPr lang="en-US"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56412" y="770021"/>
            <a:ext cx="8987588" cy="3886200"/>
          </a:xfrm>
        </p:spPr>
        <p:txBody>
          <a:bodyPr>
            <a:noAutofit/>
          </a:bodyPr>
          <a:lstStyle/>
          <a:p>
            <a:pPr>
              <a:buNone/>
            </a:pPr>
            <a:r>
              <a:rPr lang="en-US" sz="1600" dirty="0">
                <a:ln>
                  <a:solidFill>
                    <a:srgbClr val="00B0F0"/>
                  </a:solidFill>
                </a:ln>
                <a:solidFill>
                  <a:srgbClr val="00B0F0"/>
                </a:solidFill>
              </a:rPr>
              <a:t>	</a:t>
            </a:r>
          </a:p>
          <a:p>
            <a:r>
              <a:rPr lang="en-US" sz="2000" dirty="0"/>
              <a:t>Hence, following use of TO_CLOB is needed thru PLSQL :</a:t>
            </a:r>
          </a:p>
          <a:p>
            <a:pPr>
              <a:buNone/>
            </a:pPr>
            <a:r>
              <a:rPr lang="en-US" sz="1600" dirty="0">
                <a:ln>
                  <a:solidFill>
                    <a:srgbClr val="00B0F0"/>
                  </a:solidFill>
                </a:ln>
                <a:solidFill>
                  <a:srgbClr val="00B0F0"/>
                </a:solidFill>
              </a:rPr>
              <a:t>declare</a:t>
            </a:r>
          </a:p>
          <a:p>
            <a:pPr>
              <a:buNone/>
            </a:pPr>
            <a:r>
              <a:rPr lang="en-US" sz="1600" dirty="0">
                <a:ln>
                  <a:solidFill>
                    <a:srgbClr val="00B0F0"/>
                  </a:solidFill>
                </a:ln>
                <a:solidFill>
                  <a:srgbClr val="00B0F0"/>
                </a:solidFill>
              </a:rPr>
              <a:t>		a long;</a:t>
            </a:r>
          </a:p>
          <a:p>
            <a:pPr>
              <a:buNone/>
            </a:pPr>
            <a:r>
              <a:rPr lang="en-US" sz="1600" dirty="0">
                <a:ln>
                  <a:solidFill>
                    <a:srgbClr val="00B0F0"/>
                  </a:solidFill>
                </a:ln>
                <a:solidFill>
                  <a:srgbClr val="00B0F0"/>
                </a:solidFill>
              </a:rPr>
              <a:t> 		b </a:t>
            </a:r>
            <a:r>
              <a:rPr lang="en-US" sz="1600" dirty="0" err="1">
                <a:ln>
                  <a:solidFill>
                    <a:srgbClr val="00B0F0"/>
                  </a:solidFill>
                </a:ln>
                <a:solidFill>
                  <a:srgbClr val="00B0F0"/>
                </a:solidFill>
              </a:rPr>
              <a:t>clob</a:t>
            </a:r>
            <a:r>
              <a:rPr lang="en-US" sz="1600" dirty="0">
                <a:ln>
                  <a:solidFill>
                    <a:srgbClr val="00B0F0"/>
                  </a:solidFill>
                </a:ln>
                <a:solidFill>
                  <a:srgbClr val="00B0F0"/>
                </a:solidFill>
              </a:rPr>
              <a:t>;</a:t>
            </a:r>
          </a:p>
          <a:p>
            <a:pPr>
              <a:buNone/>
            </a:pPr>
            <a:r>
              <a:rPr lang="en-US" sz="1600" dirty="0">
                <a:ln>
                  <a:solidFill>
                    <a:srgbClr val="00B0F0"/>
                  </a:solidFill>
                </a:ln>
                <a:solidFill>
                  <a:srgbClr val="00B0F0"/>
                </a:solidFill>
              </a:rPr>
              <a:t>begin</a:t>
            </a:r>
          </a:p>
          <a:p>
            <a:pPr>
              <a:buNone/>
            </a:pPr>
            <a:r>
              <a:rPr lang="en-US" sz="1600" dirty="0">
                <a:ln>
                  <a:solidFill>
                    <a:srgbClr val="00B0F0"/>
                  </a:solidFill>
                </a:ln>
                <a:solidFill>
                  <a:srgbClr val="00B0F0"/>
                </a:solidFill>
              </a:rPr>
              <a:t> 		select c1 into a from x where c2='</a:t>
            </a:r>
            <a:r>
              <a:rPr lang="en-US" sz="1600" dirty="0" err="1">
                <a:ln>
                  <a:solidFill>
                    <a:srgbClr val="00B0F0"/>
                  </a:solidFill>
                </a:ln>
                <a:solidFill>
                  <a:srgbClr val="00B0F0"/>
                </a:solidFill>
              </a:rPr>
              <a:t>xyz</a:t>
            </a:r>
            <a:r>
              <a:rPr lang="en-US" sz="1600" dirty="0">
                <a:ln>
                  <a:solidFill>
                    <a:srgbClr val="00B0F0"/>
                  </a:solidFill>
                </a:ln>
                <a:solidFill>
                  <a:srgbClr val="00B0F0"/>
                </a:solidFill>
              </a:rPr>
              <a:t>';</a:t>
            </a:r>
          </a:p>
          <a:p>
            <a:pPr>
              <a:buNone/>
            </a:pPr>
            <a:r>
              <a:rPr lang="en-US" sz="1600" dirty="0">
                <a:ln>
                  <a:solidFill>
                    <a:srgbClr val="00B0F0"/>
                  </a:solidFill>
                </a:ln>
                <a:solidFill>
                  <a:srgbClr val="00B0F0"/>
                </a:solidFill>
              </a:rPr>
              <a:t>		b:=to_clob(a);</a:t>
            </a:r>
          </a:p>
          <a:p>
            <a:pPr>
              <a:buNone/>
            </a:pPr>
            <a:r>
              <a:rPr lang="en-US" sz="1600" dirty="0">
                <a:ln>
                  <a:solidFill>
                    <a:srgbClr val="00B0F0"/>
                  </a:solidFill>
                </a:ln>
                <a:solidFill>
                  <a:srgbClr val="00B0F0"/>
                </a:solidFill>
              </a:rPr>
              <a:t>		insert into y(c1) select b from dual;</a:t>
            </a:r>
          </a:p>
          <a:p>
            <a:pPr>
              <a:buNone/>
            </a:pPr>
            <a:r>
              <a:rPr lang="en-US" sz="1600" dirty="0">
                <a:ln>
                  <a:solidFill>
                    <a:srgbClr val="00B0F0"/>
                  </a:solidFill>
                </a:ln>
                <a:solidFill>
                  <a:srgbClr val="00B0F0"/>
                </a:solidFill>
              </a:rPr>
              <a:t>end;</a:t>
            </a:r>
          </a:p>
          <a:p>
            <a:pPr>
              <a:buNone/>
            </a:pPr>
            <a:r>
              <a:rPr lang="en-US" sz="1600" dirty="0">
                <a:ln>
                  <a:solidFill>
                    <a:srgbClr val="00B0F0"/>
                  </a:solidFill>
                </a:ln>
                <a:solidFill>
                  <a:srgbClr val="00B0F0"/>
                </a:solidFill>
              </a:rPr>
              <a:t>/</a:t>
            </a:r>
          </a:p>
          <a:p>
            <a:pPr>
              <a:buNone/>
            </a:pPr>
            <a:endParaRPr lang="en-US" sz="1600" dirty="0"/>
          </a:p>
          <a:p>
            <a:pPr>
              <a:buNone/>
            </a:pPr>
            <a:r>
              <a:rPr lang="en-US" sz="1600" dirty="0"/>
              <a:t>SQL&gt; </a:t>
            </a:r>
            <a:r>
              <a:rPr lang="en-US" sz="1600" dirty="0">
                <a:ln>
                  <a:solidFill>
                    <a:srgbClr val="00B0F0"/>
                  </a:solidFill>
                </a:ln>
                <a:solidFill>
                  <a:srgbClr val="00B0F0"/>
                </a:solidFill>
              </a:rPr>
              <a:t>select c1 from y;</a:t>
            </a:r>
          </a:p>
          <a:p>
            <a:pPr>
              <a:buNone/>
            </a:pPr>
            <a:r>
              <a:rPr lang="en-US" sz="1600" dirty="0"/>
              <a:t> </a:t>
            </a:r>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400" b="1" dirty="0">
                <a:latin typeface="Candara"/>
              </a:rPr>
              <a:t>5.19:  TO_CLOB and TO_BLOB</a:t>
            </a:r>
            <a:r>
              <a:rPr lang="en-US" sz="1400" dirty="0">
                <a:latin typeface="Candara"/>
              </a:rPr>
              <a:t>						</a:t>
            </a:r>
            <a:br>
              <a:rPr lang="en-US" sz="1200" b="1" dirty="0">
                <a:latin typeface="Candara"/>
              </a:rPr>
            </a:br>
            <a:r>
              <a:rPr lang="en-US" dirty="0"/>
              <a:t>PLSQL conversion functions		……..</a:t>
            </a:r>
            <a:r>
              <a:rPr lang="en-US" dirty="0" err="1"/>
              <a:t>contd</a:t>
            </a:r>
            <a:endParaRPr lang="en-US"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56412" y="770021"/>
            <a:ext cx="8987588" cy="3886200"/>
          </a:xfrm>
        </p:spPr>
        <p:txBody>
          <a:bodyPr>
            <a:noAutofit/>
          </a:bodyPr>
          <a:lstStyle/>
          <a:p>
            <a:pPr>
              <a:buNone/>
            </a:pPr>
            <a:r>
              <a:rPr lang="en-US" sz="1600" dirty="0">
                <a:ln>
                  <a:solidFill>
                    <a:srgbClr val="00B0F0"/>
                  </a:solidFill>
                </a:ln>
                <a:solidFill>
                  <a:srgbClr val="00B0F0"/>
                </a:solidFill>
              </a:rPr>
              <a:t>	</a:t>
            </a:r>
          </a:p>
          <a:p>
            <a:r>
              <a:rPr lang="en-US" sz="2000" dirty="0"/>
              <a:t>This gives error as </a:t>
            </a:r>
            <a:r>
              <a:rPr lang="en-US" sz="2000" dirty="0" err="1"/>
              <a:t>to_clob</a:t>
            </a:r>
            <a:r>
              <a:rPr lang="en-US" sz="2000" dirty="0"/>
              <a:t> only works on </a:t>
            </a:r>
            <a:r>
              <a:rPr lang="en-US" sz="2000" dirty="0" err="1"/>
              <a:t>plsql</a:t>
            </a:r>
            <a:r>
              <a:rPr lang="en-US" sz="2000" dirty="0"/>
              <a:t> variables and not on columns of tables</a:t>
            </a:r>
            <a:endParaRPr lang="en-US" sz="1600" dirty="0">
              <a:ln>
                <a:solidFill>
                  <a:srgbClr val="00B0F0"/>
                </a:solidFill>
              </a:ln>
              <a:solidFill>
                <a:srgbClr val="00B0F0"/>
              </a:solidFill>
            </a:endParaRPr>
          </a:p>
          <a:p>
            <a:pPr>
              <a:buNone/>
            </a:pPr>
            <a:r>
              <a:rPr lang="en-US" sz="1600" dirty="0"/>
              <a:t> </a:t>
            </a:r>
          </a:p>
          <a:p>
            <a:pPr>
              <a:buNone/>
            </a:pPr>
            <a:r>
              <a:rPr lang="en-US" sz="1600" dirty="0">
                <a:ln>
                  <a:solidFill>
                    <a:srgbClr val="00B0F0"/>
                  </a:solidFill>
                </a:ln>
                <a:solidFill>
                  <a:srgbClr val="00B0F0"/>
                </a:solidFill>
              </a:rPr>
              <a:t>begin</a:t>
            </a:r>
          </a:p>
          <a:p>
            <a:pPr>
              <a:buNone/>
            </a:pPr>
            <a:r>
              <a:rPr lang="en-US" sz="1600" dirty="0">
                <a:ln>
                  <a:solidFill>
                    <a:srgbClr val="00B0F0"/>
                  </a:solidFill>
                </a:ln>
                <a:solidFill>
                  <a:srgbClr val="00B0F0"/>
                </a:solidFill>
              </a:rPr>
              <a:t>		insert into y(c1) select </a:t>
            </a:r>
            <a:r>
              <a:rPr lang="en-US" sz="1600" dirty="0" err="1">
                <a:ln>
                  <a:solidFill>
                    <a:srgbClr val="00B0F0"/>
                  </a:solidFill>
                </a:ln>
                <a:solidFill>
                  <a:srgbClr val="00B0F0"/>
                </a:solidFill>
              </a:rPr>
              <a:t>to_clob</a:t>
            </a:r>
            <a:r>
              <a:rPr lang="en-US" sz="1600" dirty="0">
                <a:ln>
                  <a:solidFill>
                    <a:srgbClr val="00B0F0"/>
                  </a:solidFill>
                </a:ln>
                <a:solidFill>
                  <a:srgbClr val="00B0F0"/>
                </a:solidFill>
              </a:rPr>
              <a:t>(c1) from x where c2='xyz';</a:t>
            </a:r>
          </a:p>
          <a:p>
            <a:pPr>
              <a:buNone/>
            </a:pPr>
            <a:r>
              <a:rPr lang="en-US" sz="1600" dirty="0">
                <a:ln>
                  <a:solidFill>
                    <a:srgbClr val="00B0F0"/>
                  </a:solidFill>
                </a:ln>
                <a:solidFill>
                  <a:srgbClr val="00B0F0"/>
                </a:solidFill>
              </a:rPr>
              <a:t>end;</a:t>
            </a:r>
          </a:p>
          <a:p>
            <a:pPr>
              <a:buNone/>
            </a:pPr>
            <a:r>
              <a:rPr lang="en-US" sz="1600" dirty="0">
                <a:ln>
                  <a:solidFill>
                    <a:srgbClr val="00B0F0"/>
                  </a:solidFill>
                </a:ln>
                <a:solidFill>
                  <a:srgbClr val="00B0F0"/>
                </a:solidFill>
              </a:rPr>
              <a:t>/</a:t>
            </a:r>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400" b="1" dirty="0">
                <a:latin typeface="Candara"/>
              </a:rPr>
              <a:t>5.19:  TO_CLOB and TO_BLOB</a:t>
            </a:r>
            <a:r>
              <a:rPr lang="en-US" sz="1400" dirty="0">
                <a:latin typeface="Candara"/>
              </a:rPr>
              <a:t>						</a:t>
            </a:r>
            <a:br>
              <a:rPr lang="en-US" sz="1200" b="1" dirty="0">
                <a:latin typeface="Candara"/>
              </a:rPr>
            </a:br>
            <a:r>
              <a:rPr lang="en-US" dirty="0"/>
              <a:t>PLSQL conversion functions		……..</a:t>
            </a:r>
            <a:r>
              <a:rPr lang="en-US" dirty="0" err="1"/>
              <a:t>contd</a:t>
            </a:r>
            <a:endParaRPr lang="en-US"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56412" y="770021"/>
            <a:ext cx="8987588" cy="3886200"/>
          </a:xfrm>
        </p:spPr>
        <p:txBody>
          <a:bodyPr>
            <a:noAutofit/>
          </a:bodyPr>
          <a:lstStyle/>
          <a:p>
            <a:r>
              <a:rPr lang="en-US" sz="2000" dirty="0"/>
              <a:t>LOB columns get implicit nulls</a:t>
            </a:r>
          </a:p>
          <a:p>
            <a:pPr>
              <a:buNone/>
            </a:pPr>
            <a:r>
              <a:rPr lang="en-US" sz="2000" dirty="0"/>
              <a:t>	</a:t>
            </a:r>
            <a:r>
              <a:rPr lang="en-US" sz="1600" dirty="0">
                <a:ln>
                  <a:solidFill>
                    <a:srgbClr val="00B0F0"/>
                  </a:solidFill>
                </a:ln>
                <a:solidFill>
                  <a:srgbClr val="00B0F0"/>
                </a:solidFill>
              </a:rPr>
              <a:t>Drop table employee;</a:t>
            </a:r>
          </a:p>
          <a:p>
            <a:pPr algn="just">
              <a:buNone/>
            </a:pPr>
            <a:r>
              <a:rPr lang="en-US" sz="1600" dirty="0">
                <a:ln>
                  <a:solidFill>
                    <a:srgbClr val="00B0F0"/>
                  </a:solidFill>
                </a:ln>
                <a:solidFill>
                  <a:srgbClr val="00B0F0"/>
                </a:solidFill>
              </a:rPr>
              <a:t>	create table employee(</a:t>
            </a:r>
            <a:r>
              <a:rPr lang="en-US" sz="1600" dirty="0" err="1">
                <a:ln>
                  <a:solidFill>
                    <a:srgbClr val="00B0F0"/>
                  </a:solidFill>
                </a:ln>
                <a:solidFill>
                  <a:srgbClr val="00B0F0"/>
                </a:solidFill>
              </a:rPr>
              <a:t>empid</a:t>
            </a:r>
            <a:r>
              <a:rPr lang="en-US" sz="1600" dirty="0">
                <a:ln>
                  <a:solidFill>
                    <a:srgbClr val="00B0F0"/>
                  </a:solidFill>
                </a:ln>
                <a:solidFill>
                  <a:srgbClr val="00B0F0"/>
                </a:solidFill>
              </a:rPr>
              <a:t> number(6), name varchar2(10), resume </a:t>
            </a:r>
            <a:r>
              <a:rPr lang="en-US" sz="1600" dirty="0" err="1">
                <a:ln>
                  <a:solidFill>
                    <a:srgbClr val="00B0F0"/>
                  </a:solidFill>
                </a:ln>
                <a:solidFill>
                  <a:srgbClr val="00B0F0"/>
                </a:solidFill>
              </a:rPr>
              <a:t>clob</a:t>
            </a:r>
            <a:r>
              <a:rPr lang="en-US" sz="1600" dirty="0">
                <a:ln>
                  <a:solidFill>
                    <a:srgbClr val="00B0F0"/>
                  </a:solidFill>
                </a:ln>
                <a:solidFill>
                  <a:srgbClr val="00B0F0"/>
                </a:solidFill>
              </a:rPr>
              <a:t>, picture blob);</a:t>
            </a:r>
          </a:p>
          <a:p>
            <a:pPr>
              <a:buNone/>
            </a:pPr>
            <a:r>
              <a:rPr lang="en-US" sz="1600" dirty="0">
                <a:ln>
                  <a:solidFill>
                    <a:srgbClr val="00B0F0"/>
                  </a:solidFill>
                </a:ln>
                <a:solidFill>
                  <a:srgbClr val="00B0F0"/>
                </a:solidFill>
              </a:rPr>
              <a:t>	insert into employee(</a:t>
            </a:r>
            <a:r>
              <a:rPr lang="en-US" sz="1600" dirty="0" err="1">
                <a:ln>
                  <a:solidFill>
                    <a:srgbClr val="00B0F0"/>
                  </a:solidFill>
                </a:ln>
                <a:solidFill>
                  <a:srgbClr val="00B0F0"/>
                </a:solidFill>
              </a:rPr>
              <a:t>empid</a:t>
            </a:r>
            <a:r>
              <a:rPr lang="en-US" sz="1600" dirty="0">
                <a:ln>
                  <a:solidFill>
                    <a:srgbClr val="00B0F0"/>
                  </a:solidFill>
                </a:ln>
                <a:solidFill>
                  <a:srgbClr val="00B0F0"/>
                </a:solidFill>
              </a:rPr>
              <a:t>, name) values(100,'A');</a:t>
            </a:r>
          </a:p>
          <a:p>
            <a:pPr>
              <a:buNone/>
            </a:pPr>
            <a:r>
              <a:rPr lang="en-US" sz="2000" dirty="0"/>
              <a:t> </a:t>
            </a:r>
          </a:p>
          <a:p>
            <a:r>
              <a:rPr lang="en-US" sz="2000" dirty="0"/>
              <a:t>LOB columns get explicit nulls</a:t>
            </a:r>
          </a:p>
          <a:p>
            <a:pPr>
              <a:buNone/>
            </a:pPr>
            <a:r>
              <a:rPr lang="en-US" sz="2000" dirty="0"/>
              <a:t> </a:t>
            </a:r>
            <a:r>
              <a:rPr lang="en-US" sz="1600" dirty="0">
                <a:ln>
                  <a:solidFill>
                    <a:srgbClr val="00B0F0"/>
                  </a:solidFill>
                </a:ln>
                <a:solidFill>
                  <a:srgbClr val="00B0F0"/>
                </a:solidFill>
              </a:rPr>
              <a:t>insert into employee values(101,'B', null, null);</a:t>
            </a:r>
          </a:p>
          <a:p>
            <a:pPr>
              <a:buNone/>
            </a:pPr>
            <a:endParaRPr lang="en-US" sz="2000" dirty="0"/>
          </a:p>
          <a:p>
            <a:pPr>
              <a:buNone/>
            </a:pPr>
            <a:r>
              <a:rPr lang="en-US" sz="1600" dirty="0">
                <a:ln>
                  <a:solidFill>
                    <a:srgbClr val="00B0F0"/>
                  </a:solidFill>
                </a:ln>
                <a:solidFill>
                  <a:srgbClr val="00B0F0"/>
                </a:solidFill>
              </a:rPr>
              <a:t>select count(*) from employee where resume is null;</a:t>
            </a:r>
          </a:p>
          <a:p>
            <a:pPr>
              <a:buNone/>
            </a:pPr>
            <a:r>
              <a:rPr lang="en-US" sz="2000" dirty="0"/>
              <a:t>Output : 2</a:t>
            </a:r>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400" b="1" dirty="0">
                <a:latin typeface="Candara"/>
              </a:rPr>
              <a:t>5.20:  EMPTY_CLOB and EMPTY_BLOB</a:t>
            </a:r>
            <a:r>
              <a:rPr lang="en-US" sz="1400" dirty="0">
                <a:latin typeface="Candara"/>
              </a:rPr>
              <a:t>						</a:t>
            </a:r>
            <a:br>
              <a:rPr lang="en-US" sz="1200" b="1" dirty="0">
                <a:latin typeface="Candara"/>
              </a:rPr>
            </a:br>
            <a:r>
              <a:rPr lang="en-US" dirty="0"/>
              <a:t>Initializing and Populating LOB columns </a:t>
            </a:r>
            <a:endParaRPr lang="en-US"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56412" y="770021"/>
            <a:ext cx="8987588" cy="3886200"/>
          </a:xfrm>
        </p:spPr>
        <p:txBody>
          <a:bodyPr>
            <a:noAutofit/>
          </a:bodyPr>
          <a:lstStyle/>
          <a:p>
            <a:endParaRPr lang="en-US" sz="2000" dirty="0"/>
          </a:p>
          <a:p>
            <a:pPr algn="just"/>
            <a:r>
              <a:rPr lang="en-US" sz="2000" dirty="0"/>
              <a:t>The below will not put a NULL value, but now the LOB columns contain locators with empty contents, that is, the LOB locators are pointing to an empty LOB value.</a:t>
            </a:r>
          </a:p>
          <a:p>
            <a:pPr>
              <a:buNone/>
            </a:pPr>
            <a:endParaRPr lang="en-US" sz="2000" dirty="0"/>
          </a:p>
          <a:p>
            <a:pPr>
              <a:buNone/>
            </a:pPr>
            <a:r>
              <a:rPr lang="en-US" sz="1600" dirty="0">
                <a:ln>
                  <a:solidFill>
                    <a:srgbClr val="00B0F0"/>
                  </a:solidFill>
                </a:ln>
                <a:solidFill>
                  <a:srgbClr val="00B0F0"/>
                </a:solidFill>
              </a:rPr>
              <a:t>	insert into employee values(102,'C',empty_clob(), </a:t>
            </a:r>
            <a:r>
              <a:rPr lang="en-US" sz="1600" dirty="0" err="1">
                <a:ln>
                  <a:solidFill>
                    <a:srgbClr val="00B0F0"/>
                  </a:solidFill>
                </a:ln>
                <a:solidFill>
                  <a:srgbClr val="00B0F0"/>
                </a:solidFill>
              </a:rPr>
              <a:t>empty_blob</a:t>
            </a:r>
            <a:r>
              <a:rPr lang="en-US" sz="1600" dirty="0">
                <a:ln>
                  <a:solidFill>
                    <a:srgbClr val="00B0F0"/>
                  </a:solidFill>
                </a:ln>
                <a:solidFill>
                  <a:srgbClr val="00B0F0"/>
                </a:solidFill>
              </a:rPr>
              <a:t>());</a:t>
            </a:r>
          </a:p>
          <a:p>
            <a:pPr>
              <a:buNone/>
            </a:pPr>
            <a:endParaRPr lang="en-US" sz="2000" dirty="0"/>
          </a:p>
          <a:p>
            <a:pPr>
              <a:buNone/>
            </a:pPr>
            <a:r>
              <a:rPr lang="en-US" sz="1600" dirty="0">
                <a:ln>
                  <a:solidFill>
                    <a:srgbClr val="00B0F0"/>
                  </a:solidFill>
                </a:ln>
                <a:solidFill>
                  <a:srgbClr val="00B0F0"/>
                </a:solidFill>
              </a:rPr>
              <a:t>	select count(*) from employee where resume is null;</a:t>
            </a:r>
          </a:p>
          <a:p>
            <a:pPr>
              <a:buNone/>
            </a:pPr>
            <a:r>
              <a:rPr lang="en-US" sz="2000" dirty="0"/>
              <a:t>	Output : 2</a:t>
            </a:r>
          </a:p>
          <a:p>
            <a:pPr>
              <a:buNone/>
            </a:pPr>
            <a:endParaRPr lang="en-US" sz="1600" dirty="0">
              <a:ln>
                <a:solidFill>
                  <a:srgbClr val="00B0F0"/>
                </a:solidFill>
              </a:ln>
              <a:solidFill>
                <a:srgbClr val="00B0F0"/>
              </a:solidFill>
            </a:endParaRPr>
          </a:p>
        </p:txBody>
      </p:sp>
      <p:sp>
        <p:nvSpPr>
          <p:cNvPr id="6147" name="Rectangle 3"/>
          <p:cNvSpPr>
            <a:spLocks noGrp="1"/>
          </p:cNvSpPr>
          <p:nvPr>
            <p:ph type="title"/>
          </p:nvPr>
        </p:nvSpPr>
        <p:spPr>
          <a:xfrm>
            <a:off x="465138" y="98992"/>
            <a:ext cx="8402136" cy="536972"/>
          </a:xfrm>
          <a:noFill/>
        </p:spPr>
        <p:txBody>
          <a:bodyPr>
            <a:normAutofit fontScale="90000"/>
          </a:bodyPr>
          <a:lstStyle/>
          <a:p>
            <a:r>
              <a:rPr lang="en-US" sz="1400" b="1" dirty="0">
                <a:latin typeface="Candara"/>
              </a:rPr>
              <a:t>5.20:  EMPTY_CLOB and EMPTY_BLOB</a:t>
            </a:r>
            <a:r>
              <a:rPr lang="en-US" sz="1400" dirty="0">
                <a:latin typeface="Candara"/>
              </a:rPr>
              <a:t>						</a:t>
            </a:r>
            <a:br>
              <a:rPr lang="en-US" sz="1200" b="1" dirty="0">
                <a:latin typeface="Candara"/>
              </a:rPr>
            </a:br>
            <a:r>
              <a:rPr lang="en-US" dirty="0"/>
              <a:t>Initializing and Populating LOB columns	…..</a:t>
            </a:r>
            <a:r>
              <a:rPr lang="en-US" dirty="0" err="1"/>
              <a:t>contd</a:t>
            </a:r>
            <a:r>
              <a:rPr lang="en-US" dirty="0"/>
              <a:t> </a:t>
            </a:r>
            <a:endParaRPr lang="en-US"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56412" y="770021"/>
            <a:ext cx="8987588" cy="3886200"/>
          </a:xfrm>
        </p:spPr>
        <p:txBody>
          <a:bodyPr>
            <a:noAutofit/>
          </a:bodyPr>
          <a:lstStyle/>
          <a:p>
            <a:pPr algn="just"/>
            <a:r>
              <a:rPr lang="en-US" sz="2000" dirty="0"/>
              <a:t>Thus, you can initialize a columns LOB locator value with the EMPTY_CLOB() and EMPTY_BLOB() functions for CLOB/NCLOB and BLOB columns respectively. That is, the LOB columns will not then contain NULL values, but will contain LOB locators pointing to empty LOB value.</a:t>
            </a:r>
          </a:p>
          <a:p>
            <a:r>
              <a:rPr lang="en-US" sz="2000" dirty="0"/>
              <a:t>The EMPTY_CLOB() and EMPTY_BLOB() functions can also be used in the DEFAULT option in a CREATE TABLE command as follows :</a:t>
            </a:r>
          </a:p>
          <a:p>
            <a:pPr algn="just">
              <a:buNone/>
            </a:pPr>
            <a:r>
              <a:rPr lang="en-US" sz="1600" dirty="0">
                <a:ln>
                  <a:solidFill>
                    <a:srgbClr val="00B0F0"/>
                  </a:solidFill>
                </a:ln>
                <a:solidFill>
                  <a:srgbClr val="00B0F0"/>
                </a:solidFill>
              </a:rPr>
              <a:t>	create table </a:t>
            </a:r>
            <a:r>
              <a:rPr lang="en-US" sz="1600" dirty="0" err="1">
                <a:ln>
                  <a:solidFill>
                    <a:srgbClr val="00B0F0"/>
                  </a:solidFill>
                </a:ln>
                <a:solidFill>
                  <a:srgbClr val="00B0F0"/>
                </a:solidFill>
              </a:rPr>
              <a:t>myemployee</a:t>
            </a:r>
            <a:r>
              <a:rPr lang="en-US" sz="1600" dirty="0">
                <a:ln>
                  <a:solidFill>
                    <a:srgbClr val="00B0F0"/>
                  </a:solidFill>
                </a:ln>
                <a:solidFill>
                  <a:srgbClr val="00B0F0"/>
                </a:solidFill>
              </a:rPr>
              <a:t>(</a:t>
            </a:r>
            <a:r>
              <a:rPr lang="en-US" sz="1600" dirty="0" err="1">
                <a:ln>
                  <a:solidFill>
                    <a:srgbClr val="00B0F0"/>
                  </a:solidFill>
                </a:ln>
                <a:solidFill>
                  <a:srgbClr val="00B0F0"/>
                </a:solidFill>
              </a:rPr>
              <a:t>empid</a:t>
            </a:r>
            <a:r>
              <a:rPr lang="en-US" sz="1600" dirty="0">
                <a:ln>
                  <a:solidFill>
                    <a:srgbClr val="00B0F0"/>
                  </a:solidFill>
                </a:ln>
                <a:solidFill>
                  <a:srgbClr val="00B0F0"/>
                </a:solidFill>
              </a:rPr>
              <a:t> number(6), name varchar2(10), resume </a:t>
            </a:r>
            <a:r>
              <a:rPr lang="en-US" sz="1600" dirty="0" err="1">
                <a:ln>
                  <a:solidFill>
                    <a:srgbClr val="00B0F0"/>
                  </a:solidFill>
                </a:ln>
                <a:solidFill>
                  <a:srgbClr val="00B0F0"/>
                </a:solidFill>
              </a:rPr>
              <a:t>clob</a:t>
            </a:r>
            <a:r>
              <a:rPr lang="en-US" sz="1600" dirty="0">
                <a:ln>
                  <a:solidFill>
                    <a:srgbClr val="00B0F0"/>
                  </a:solidFill>
                </a:ln>
                <a:solidFill>
                  <a:srgbClr val="00B0F0"/>
                </a:solidFill>
              </a:rPr>
              <a:t> DEFAULT EMPTY_CLOB(), picture blob DEFAULT EMPTY_BLOB());</a:t>
            </a:r>
          </a:p>
          <a:p>
            <a:pPr>
              <a:buNone/>
            </a:pPr>
            <a:r>
              <a:rPr lang="en-US" sz="2000" dirty="0"/>
              <a:t>	</a:t>
            </a:r>
            <a:r>
              <a:rPr lang="en-US" sz="1600" dirty="0">
                <a:ln>
                  <a:solidFill>
                    <a:srgbClr val="00B0F0"/>
                  </a:solidFill>
                </a:ln>
                <a:solidFill>
                  <a:srgbClr val="00B0F0"/>
                </a:solidFill>
              </a:rPr>
              <a:t>insert into </a:t>
            </a:r>
            <a:r>
              <a:rPr lang="en-US" sz="1600" dirty="0" err="1">
                <a:ln>
                  <a:solidFill>
                    <a:srgbClr val="00B0F0"/>
                  </a:solidFill>
                </a:ln>
                <a:solidFill>
                  <a:srgbClr val="00B0F0"/>
                </a:solidFill>
              </a:rPr>
              <a:t>myemployee</a:t>
            </a:r>
            <a:r>
              <a:rPr lang="en-US" sz="1600" dirty="0">
                <a:ln>
                  <a:solidFill>
                    <a:srgbClr val="00B0F0"/>
                  </a:solidFill>
                </a:ln>
                <a:solidFill>
                  <a:srgbClr val="00B0F0"/>
                </a:solidFill>
              </a:rPr>
              <a:t>(</a:t>
            </a:r>
            <a:r>
              <a:rPr lang="en-US" sz="1600" dirty="0" err="1">
                <a:ln>
                  <a:solidFill>
                    <a:srgbClr val="00B0F0"/>
                  </a:solidFill>
                </a:ln>
                <a:solidFill>
                  <a:srgbClr val="00B0F0"/>
                </a:solidFill>
              </a:rPr>
              <a:t>empid</a:t>
            </a:r>
            <a:r>
              <a:rPr lang="en-US" sz="1600" dirty="0">
                <a:ln>
                  <a:solidFill>
                    <a:srgbClr val="00B0F0"/>
                  </a:solidFill>
                </a:ln>
                <a:solidFill>
                  <a:srgbClr val="00B0F0"/>
                </a:solidFill>
              </a:rPr>
              <a:t>, name) values(100,'A');</a:t>
            </a:r>
          </a:p>
          <a:p>
            <a:pPr>
              <a:buNone/>
            </a:pPr>
            <a:r>
              <a:rPr lang="en-US" sz="1600" dirty="0">
                <a:ln>
                  <a:solidFill>
                    <a:srgbClr val="00B0F0"/>
                  </a:solidFill>
                </a:ln>
                <a:solidFill>
                  <a:srgbClr val="00B0F0"/>
                </a:solidFill>
              </a:rPr>
              <a:t>	insert into </a:t>
            </a:r>
            <a:r>
              <a:rPr lang="en-US" sz="1600" dirty="0" err="1">
                <a:ln>
                  <a:solidFill>
                    <a:srgbClr val="00B0F0"/>
                  </a:solidFill>
                </a:ln>
                <a:solidFill>
                  <a:srgbClr val="00B0F0"/>
                </a:solidFill>
              </a:rPr>
              <a:t>myemployee</a:t>
            </a:r>
            <a:r>
              <a:rPr lang="en-US" sz="1600" dirty="0">
                <a:ln>
                  <a:solidFill>
                    <a:srgbClr val="00B0F0"/>
                  </a:solidFill>
                </a:ln>
                <a:solidFill>
                  <a:srgbClr val="00B0F0"/>
                </a:solidFill>
              </a:rPr>
              <a:t>(</a:t>
            </a:r>
            <a:r>
              <a:rPr lang="en-US" sz="1600" dirty="0" err="1">
                <a:ln>
                  <a:solidFill>
                    <a:srgbClr val="00B0F0"/>
                  </a:solidFill>
                </a:ln>
                <a:solidFill>
                  <a:srgbClr val="00B0F0"/>
                </a:solidFill>
              </a:rPr>
              <a:t>empid</a:t>
            </a:r>
            <a:r>
              <a:rPr lang="en-US" sz="1600" dirty="0">
                <a:ln>
                  <a:solidFill>
                    <a:srgbClr val="00B0F0"/>
                  </a:solidFill>
                </a:ln>
                <a:solidFill>
                  <a:srgbClr val="00B0F0"/>
                </a:solidFill>
              </a:rPr>
              <a:t>, name) values(101,'B');</a:t>
            </a:r>
          </a:p>
          <a:p>
            <a:pPr algn="just"/>
            <a:r>
              <a:rPr lang="en-US" sz="2000" dirty="0"/>
              <a:t>Here, the LOB locator values are populated in their respective columns when a row is inserted into the table as the LOB columns have not been specified in the INSERT command.</a:t>
            </a:r>
          </a:p>
        </p:txBody>
      </p:sp>
      <p:sp>
        <p:nvSpPr>
          <p:cNvPr id="6147" name="Rectangle 3"/>
          <p:cNvSpPr>
            <a:spLocks noGrp="1"/>
          </p:cNvSpPr>
          <p:nvPr>
            <p:ph type="title"/>
          </p:nvPr>
        </p:nvSpPr>
        <p:spPr>
          <a:xfrm>
            <a:off x="465138" y="98992"/>
            <a:ext cx="8402136" cy="536972"/>
          </a:xfrm>
          <a:noFill/>
        </p:spPr>
        <p:txBody>
          <a:bodyPr>
            <a:normAutofit fontScale="90000"/>
          </a:bodyPr>
          <a:lstStyle/>
          <a:p>
            <a:r>
              <a:rPr lang="en-US" sz="1400" b="1" dirty="0">
                <a:latin typeface="Candara"/>
              </a:rPr>
              <a:t>5.20:  EMPTY_CLOB and EMPTY_BLOB</a:t>
            </a:r>
            <a:r>
              <a:rPr lang="en-US" sz="1400" dirty="0">
                <a:latin typeface="Candara"/>
              </a:rPr>
              <a:t>						</a:t>
            </a:r>
            <a:br>
              <a:rPr lang="en-US" sz="1200" b="1" dirty="0">
                <a:latin typeface="Candara"/>
              </a:rPr>
            </a:br>
            <a:r>
              <a:rPr lang="en-US" dirty="0"/>
              <a:t>Initializing and Populating LOB columns	…..</a:t>
            </a:r>
            <a:r>
              <a:rPr lang="en-US" dirty="0" err="1"/>
              <a:t>contd</a:t>
            </a:r>
            <a:r>
              <a:rPr lang="en-US" dirty="0"/>
              <a:t> </a:t>
            </a:r>
            <a:endParaRPr lang="en-US"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56412" y="961415"/>
            <a:ext cx="8987588" cy="3994484"/>
          </a:xfrm>
        </p:spPr>
        <p:txBody>
          <a:bodyPr>
            <a:noAutofit/>
          </a:bodyPr>
          <a:lstStyle/>
          <a:p>
            <a:pPr algn="just">
              <a:buNone/>
            </a:pPr>
            <a:r>
              <a:rPr lang="en-US" sz="1400" dirty="0">
                <a:ln>
                  <a:solidFill>
                    <a:srgbClr val="00B0F0"/>
                  </a:solidFill>
                </a:ln>
                <a:solidFill>
                  <a:srgbClr val="00B0F0"/>
                </a:solidFill>
              </a:rPr>
              <a:t>	create table </a:t>
            </a:r>
            <a:r>
              <a:rPr lang="en-US" sz="1400" dirty="0" err="1">
                <a:ln>
                  <a:solidFill>
                    <a:srgbClr val="00B0F0"/>
                  </a:solidFill>
                </a:ln>
                <a:solidFill>
                  <a:srgbClr val="00B0F0"/>
                </a:solidFill>
              </a:rPr>
              <a:t>emp_hiredata</a:t>
            </a:r>
            <a:r>
              <a:rPr lang="en-US" sz="1400" dirty="0">
                <a:ln>
                  <a:solidFill>
                    <a:srgbClr val="00B0F0"/>
                  </a:solidFill>
                </a:ln>
                <a:solidFill>
                  <a:srgbClr val="00B0F0"/>
                </a:solidFill>
              </a:rPr>
              <a:t>(</a:t>
            </a:r>
            <a:r>
              <a:rPr lang="en-US" sz="1400" dirty="0" err="1">
                <a:ln>
                  <a:solidFill>
                    <a:srgbClr val="00B0F0"/>
                  </a:solidFill>
                </a:ln>
                <a:solidFill>
                  <a:srgbClr val="00B0F0"/>
                </a:solidFill>
              </a:rPr>
              <a:t>employee_id</a:t>
            </a:r>
            <a:r>
              <a:rPr lang="en-US" sz="1400" dirty="0">
                <a:ln>
                  <a:solidFill>
                    <a:srgbClr val="00B0F0"/>
                  </a:solidFill>
                </a:ln>
                <a:solidFill>
                  <a:srgbClr val="00B0F0"/>
                </a:solidFill>
              </a:rPr>
              <a:t> number(6), </a:t>
            </a:r>
            <a:r>
              <a:rPr lang="en-US" sz="1400" dirty="0" err="1">
                <a:ln>
                  <a:solidFill>
                    <a:srgbClr val="00B0F0"/>
                  </a:solidFill>
                </a:ln>
                <a:solidFill>
                  <a:srgbClr val="00B0F0"/>
                </a:solidFill>
              </a:rPr>
              <a:t>full_name</a:t>
            </a:r>
            <a:r>
              <a:rPr lang="en-US" sz="1400" dirty="0">
                <a:ln>
                  <a:solidFill>
                    <a:srgbClr val="00B0F0"/>
                  </a:solidFill>
                </a:ln>
                <a:solidFill>
                  <a:srgbClr val="00B0F0"/>
                </a:solidFill>
              </a:rPr>
              <a:t> varchar2(45), resume </a:t>
            </a:r>
            <a:r>
              <a:rPr lang="en-US" sz="1400" dirty="0" err="1">
                <a:ln>
                  <a:solidFill>
                    <a:srgbClr val="00B0F0"/>
                  </a:solidFill>
                </a:ln>
                <a:solidFill>
                  <a:srgbClr val="00B0F0"/>
                </a:solidFill>
              </a:rPr>
              <a:t>clob</a:t>
            </a:r>
            <a:r>
              <a:rPr lang="en-US" sz="1400" dirty="0">
                <a:ln>
                  <a:solidFill>
                    <a:srgbClr val="00B0F0"/>
                  </a:solidFill>
                </a:ln>
                <a:solidFill>
                  <a:srgbClr val="00B0F0"/>
                </a:solidFill>
              </a:rPr>
              <a:t> default </a:t>
            </a:r>
            <a:r>
              <a:rPr lang="en-US" sz="1400" dirty="0" err="1">
                <a:ln>
                  <a:solidFill>
                    <a:srgbClr val="00B0F0"/>
                  </a:solidFill>
                </a:ln>
                <a:solidFill>
                  <a:srgbClr val="00B0F0"/>
                </a:solidFill>
              </a:rPr>
              <a:t>empty_clob</a:t>
            </a:r>
            <a:r>
              <a:rPr lang="en-US" sz="1400" dirty="0">
                <a:ln>
                  <a:solidFill>
                    <a:srgbClr val="00B0F0"/>
                  </a:solidFill>
                </a:ln>
                <a:solidFill>
                  <a:srgbClr val="00B0F0"/>
                </a:solidFill>
              </a:rPr>
              <a:t>(), picture blob default </a:t>
            </a:r>
            <a:r>
              <a:rPr lang="en-US" sz="1400" dirty="0" err="1">
                <a:ln>
                  <a:solidFill>
                    <a:srgbClr val="00B0F0"/>
                  </a:solidFill>
                </a:ln>
                <a:solidFill>
                  <a:srgbClr val="00B0F0"/>
                </a:solidFill>
              </a:rPr>
              <a:t>empty_blob</a:t>
            </a:r>
            <a:r>
              <a:rPr lang="en-US" sz="1400" dirty="0">
                <a:ln>
                  <a:solidFill>
                    <a:srgbClr val="00B0F0"/>
                  </a:solidFill>
                </a:ln>
                <a:solidFill>
                  <a:srgbClr val="00B0F0"/>
                </a:solidFill>
              </a:rPr>
              <a:t>());</a:t>
            </a:r>
          </a:p>
          <a:p>
            <a:pPr algn="just">
              <a:buNone/>
            </a:pPr>
            <a:r>
              <a:rPr lang="en-US" sz="1400" dirty="0">
                <a:ln>
                  <a:solidFill>
                    <a:srgbClr val="00B0F0"/>
                  </a:solidFill>
                </a:ln>
                <a:solidFill>
                  <a:srgbClr val="00B0F0"/>
                </a:solidFill>
              </a:rPr>
              <a:t> </a:t>
            </a:r>
          </a:p>
          <a:p>
            <a:pPr algn="just">
              <a:buNone/>
            </a:pPr>
            <a:r>
              <a:rPr lang="en-US" sz="1400" dirty="0">
                <a:ln>
                  <a:solidFill>
                    <a:srgbClr val="00B0F0"/>
                  </a:solidFill>
                </a:ln>
                <a:solidFill>
                  <a:srgbClr val="00B0F0"/>
                </a:solidFill>
              </a:rPr>
              <a:t>	insert into </a:t>
            </a:r>
            <a:r>
              <a:rPr lang="en-US" sz="1400" dirty="0" err="1">
                <a:ln>
                  <a:solidFill>
                    <a:srgbClr val="00B0F0"/>
                  </a:solidFill>
                </a:ln>
                <a:solidFill>
                  <a:srgbClr val="00B0F0"/>
                </a:solidFill>
              </a:rPr>
              <a:t>emp_hiredata</a:t>
            </a:r>
            <a:r>
              <a:rPr lang="en-US" sz="1400" dirty="0">
                <a:ln>
                  <a:solidFill>
                    <a:srgbClr val="00B0F0"/>
                  </a:solidFill>
                </a:ln>
                <a:solidFill>
                  <a:srgbClr val="00B0F0"/>
                </a:solidFill>
              </a:rPr>
              <a:t>(</a:t>
            </a:r>
            <a:r>
              <a:rPr lang="en-US" sz="1400" dirty="0" err="1">
                <a:ln>
                  <a:solidFill>
                    <a:srgbClr val="00B0F0"/>
                  </a:solidFill>
                </a:ln>
                <a:solidFill>
                  <a:srgbClr val="00B0F0"/>
                </a:solidFill>
              </a:rPr>
              <a:t>employee_id</a:t>
            </a:r>
            <a:r>
              <a:rPr lang="en-US" sz="1400" dirty="0">
                <a:ln>
                  <a:solidFill>
                    <a:srgbClr val="00B0F0"/>
                  </a:solidFill>
                </a:ln>
                <a:solidFill>
                  <a:srgbClr val="00B0F0"/>
                </a:solidFill>
              </a:rPr>
              <a:t>, </a:t>
            </a:r>
            <a:r>
              <a:rPr lang="en-US" sz="1400" dirty="0" err="1">
                <a:ln>
                  <a:solidFill>
                    <a:srgbClr val="00B0F0"/>
                  </a:solidFill>
                </a:ln>
                <a:solidFill>
                  <a:srgbClr val="00B0F0"/>
                </a:solidFill>
              </a:rPr>
              <a:t>full_name</a:t>
            </a:r>
            <a:r>
              <a:rPr lang="en-US" sz="1400" dirty="0">
                <a:ln>
                  <a:solidFill>
                    <a:srgbClr val="00B0F0"/>
                  </a:solidFill>
                </a:ln>
                <a:solidFill>
                  <a:srgbClr val="00B0F0"/>
                </a:solidFill>
              </a:rPr>
              <a:t>, resume, picture) values(405, 'Marvin Ellis', EMPTY_CLOB(), NULL);</a:t>
            </a:r>
          </a:p>
          <a:p>
            <a:pPr algn="just">
              <a:buNone/>
            </a:pPr>
            <a:r>
              <a:rPr lang="en-US" sz="1400" dirty="0">
                <a:ln>
                  <a:solidFill>
                    <a:srgbClr val="00B0F0"/>
                  </a:solidFill>
                </a:ln>
                <a:solidFill>
                  <a:srgbClr val="00B0F0"/>
                </a:solidFill>
              </a:rPr>
              <a:t> </a:t>
            </a:r>
          </a:p>
          <a:p>
            <a:pPr algn="just">
              <a:buNone/>
            </a:pPr>
            <a:r>
              <a:rPr lang="en-US" sz="1400" dirty="0">
                <a:ln>
                  <a:solidFill>
                    <a:srgbClr val="00B0F0"/>
                  </a:solidFill>
                </a:ln>
                <a:solidFill>
                  <a:srgbClr val="00B0F0"/>
                </a:solidFill>
              </a:rPr>
              <a:t>	insert into </a:t>
            </a:r>
            <a:r>
              <a:rPr lang="en-US" sz="1400" dirty="0" err="1">
                <a:ln>
                  <a:solidFill>
                    <a:srgbClr val="00B0F0"/>
                  </a:solidFill>
                </a:ln>
                <a:solidFill>
                  <a:srgbClr val="00B0F0"/>
                </a:solidFill>
              </a:rPr>
              <a:t>emp_hiredata</a:t>
            </a:r>
            <a:r>
              <a:rPr lang="en-US" sz="1400" dirty="0">
                <a:ln>
                  <a:solidFill>
                    <a:srgbClr val="00B0F0"/>
                  </a:solidFill>
                </a:ln>
                <a:solidFill>
                  <a:srgbClr val="00B0F0"/>
                </a:solidFill>
              </a:rPr>
              <a:t>(</a:t>
            </a:r>
            <a:r>
              <a:rPr lang="en-US" sz="1400" dirty="0" err="1">
                <a:ln>
                  <a:solidFill>
                    <a:srgbClr val="00B0F0"/>
                  </a:solidFill>
                </a:ln>
                <a:solidFill>
                  <a:srgbClr val="00B0F0"/>
                </a:solidFill>
              </a:rPr>
              <a:t>employee_id</a:t>
            </a:r>
            <a:r>
              <a:rPr lang="en-US" sz="1400" dirty="0">
                <a:ln>
                  <a:solidFill>
                    <a:srgbClr val="00B0F0"/>
                  </a:solidFill>
                </a:ln>
                <a:solidFill>
                  <a:srgbClr val="00B0F0"/>
                </a:solidFill>
              </a:rPr>
              <a:t>, </a:t>
            </a:r>
            <a:r>
              <a:rPr lang="en-US" sz="1400" dirty="0" err="1">
                <a:ln>
                  <a:solidFill>
                    <a:srgbClr val="00B0F0"/>
                  </a:solidFill>
                </a:ln>
                <a:solidFill>
                  <a:srgbClr val="00B0F0"/>
                </a:solidFill>
              </a:rPr>
              <a:t>full_name</a:t>
            </a:r>
            <a:r>
              <a:rPr lang="en-US" sz="1400" dirty="0">
                <a:ln>
                  <a:solidFill>
                    <a:srgbClr val="00B0F0"/>
                  </a:solidFill>
                </a:ln>
                <a:solidFill>
                  <a:srgbClr val="00B0F0"/>
                </a:solidFill>
              </a:rPr>
              <a:t>, resume, picture) values(170, 'Ram Shankar', EMPTY_CLOB(), EMPTY_BLOB());</a:t>
            </a:r>
          </a:p>
          <a:p>
            <a:pPr algn="just">
              <a:buNone/>
            </a:pPr>
            <a:r>
              <a:rPr lang="en-US" sz="1400" dirty="0">
                <a:ln>
                  <a:solidFill>
                    <a:srgbClr val="00B0F0"/>
                  </a:solidFill>
                </a:ln>
                <a:solidFill>
                  <a:srgbClr val="00B0F0"/>
                </a:solidFill>
              </a:rPr>
              <a:t> </a:t>
            </a:r>
          </a:p>
          <a:p>
            <a:pPr algn="just">
              <a:buNone/>
            </a:pPr>
            <a:r>
              <a:rPr lang="en-US" sz="1400" dirty="0">
                <a:ln>
                  <a:solidFill>
                    <a:srgbClr val="00B0F0"/>
                  </a:solidFill>
                </a:ln>
                <a:solidFill>
                  <a:srgbClr val="00B0F0"/>
                </a:solidFill>
              </a:rPr>
              <a:t>	update </a:t>
            </a:r>
            <a:r>
              <a:rPr lang="en-US" sz="1400" dirty="0" err="1">
                <a:ln>
                  <a:solidFill>
                    <a:srgbClr val="00B0F0"/>
                  </a:solidFill>
                </a:ln>
                <a:solidFill>
                  <a:srgbClr val="00B0F0"/>
                </a:solidFill>
              </a:rPr>
              <a:t>emp_hiredata</a:t>
            </a:r>
            <a:r>
              <a:rPr lang="en-US" sz="1400" dirty="0">
                <a:ln>
                  <a:solidFill>
                    <a:srgbClr val="00B0F0"/>
                  </a:solidFill>
                </a:ln>
                <a:solidFill>
                  <a:srgbClr val="00B0F0"/>
                </a:solidFill>
              </a:rPr>
              <a:t> set resume='Date of birth is 8th July, 1976', picture=</a:t>
            </a:r>
            <a:r>
              <a:rPr lang="en-US" sz="1400" dirty="0" err="1">
                <a:ln>
                  <a:solidFill>
                    <a:srgbClr val="00B0F0"/>
                  </a:solidFill>
                </a:ln>
                <a:solidFill>
                  <a:srgbClr val="00B0F0"/>
                </a:solidFill>
              </a:rPr>
              <a:t>empty_blob</a:t>
            </a:r>
            <a:r>
              <a:rPr lang="en-US" sz="1400" dirty="0">
                <a:ln>
                  <a:solidFill>
                    <a:srgbClr val="00B0F0"/>
                  </a:solidFill>
                </a:ln>
                <a:solidFill>
                  <a:srgbClr val="00B0F0"/>
                </a:solidFill>
              </a:rPr>
              <a:t>() where </a:t>
            </a:r>
            <a:r>
              <a:rPr lang="en-US" sz="1400" dirty="0" err="1">
                <a:ln>
                  <a:solidFill>
                    <a:srgbClr val="00B0F0"/>
                  </a:solidFill>
                </a:ln>
                <a:solidFill>
                  <a:srgbClr val="00B0F0"/>
                </a:solidFill>
              </a:rPr>
              <a:t>employee_id</a:t>
            </a:r>
            <a:r>
              <a:rPr lang="en-US" sz="1400" dirty="0">
                <a:ln>
                  <a:solidFill>
                    <a:srgbClr val="00B0F0"/>
                  </a:solidFill>
                </a:ln>
                <a:solidFill>
                  <a:srgbClr val="00B0F0"/>
                </a:solidFill>
              </a:rPr>
              <a:t>=405;</a:t>
            </a:r>
          </a:p>
          <a:p>
            <a:pPr algn="just">
              <a:buNone/>
            </a:pPr>
            <a:r>
              <a:rPr lang="en-US" sz="1400" dirty="0">
                <a:ln>
                  <a:solidFill>
                    <a:srgbClr val="00B0F0"/>
                  </a:solidFill>
                </a:ln>
                <a:solidFill>
                  <a:srgbClr val="00B0F0"/>
                </a:solidFill>
              </a:rPr>
              <a:t> </a:t>
            </a:r>
          </a:p>
          <a:p>
            <a:pPr algn="just">
              <a:buNone/>
            </a:pPr>
            <a:r>
              <a:rPr lang="en-US" sz="1400" dirty="0">
                <a:ln>
                  <a:solidFill>
                    <a:srgbClr val="00B0F0"/>
                  </a:solidFill>
                </a:ln>
                <a:solidFill>
                  <a:srgbClr val="00B0F0"/>
                </a:solidFill>
              </a:rPr>
              <a:t>	update </a:t>
            </a:r>
            <a:r>
              <a:rPr lang="en-US" sz="1400" dirty="0" err="1">
                <a:ln>
                  <a:solidFill>
                    <a:srgbClr val="00B0F0"/>
                  </a:solidFill>
                </a:ln>
                <a:solidFill>
                  <a:srgbClr val="00B0F0"/>
                </a:solidFill>
              </a:rPr>
              <a:t>emp_hiredata</a:t>
            </a:r>
            <a:r>
              <a:rPr lang="en-US" sz="1400" dirty="0">
                <a:ln>
                  <a:solidFill>
                    <a:srgbClr val="00B0F0"/>
                  </a:solidFill>
                </a:ln>
                <a:solidFill>
                  <a:srgbClr val="00B0F0"/>
                </a:solidFill>
              </a:rPr>
              <a:t> set resume='Date of birth is 2nd December, 1977' where </a:t>
            </a:r>
            <a:r>
              <a:rPr lang="en-US" sz="1400" dirty="0" err="1">
                <a:ln>
                  <a:solidFill>
                    <a:srgbClr val="00B0F0"/>
                  </a:solidFill>
                </a:ln>
                <a:solidFill>
                  <a:srgbClr val="00B0F0"/>
                </a:solidFill>
              </a:rPr>
              <a:t>employee_id</a:t>
            </a:r>
            <a:r>
              <a:rPr lang="en-US" sz="1400" dirty="0">
                <a:ln>
                  <a:solidFill>
                    <a:srgbClr val="00B0F0"/>
                  </a:solidFill>
                </a:ln>
                <a:solidFill>
                  <a:srgbClr val="00B0F0"/>
                </a:solidFill>
              </a:rPr>
              <a:t>=170;</a:t>
            </a:r>
          </a:p>
          <a:p>
            <a:pPr algn="just">
              <a:buNone/>
            </a:pPr>
            <a:r>
              <a:rPr lang="en-US" sz="1400" dirty="0"/>
              <a:t>	</a:t>
            </a:r>
            <a:r>
              <a:rPr lang="en-US" sz="1400" dirty="0">
                <a:ln>
                  <a:solidFill>
                    <a:srgbClr val="00B0F0"/>
                  </a:solidFill>
                </a:ln>
                <a:solidFill>
                  <a:srgbClr val="00B0F0"/>
                </a:solidFill>
              </a:rPr>
              <a:t>commit;</a:t>
            </a:r>
          </a:p>
          <a:p>
            <a:pPr algn="just">
              <a:buNone/>
            </a:pPr>
            <a:r>
              <a:rPr lang="en-US" sz="1400" dirty="0">
                <a:ln>
                  <a:solidFill>
                    <a:srgbClr val="00B0F0"/>
                  </a:solidFill>
                </a:ln>
                <a:solidFill>
                  <a:srgbClr val="00B0F0"/>
                </a:solidFill>
              </a:rPr>
              <a:t>	select resume from </a:t>
            </a:r>
            <a:r>
              <a:rPr lang="en-US" sz="1400" dirty="0" err="1">
                <a:ln>
                  <a:solidFill>
                    <a:srgbClr val="00B0F0"/>
                  </a:solidFill>
                </a:ln>
                <a:solidFill>
                  <a:srgbClr val="00B0F0"/>
                </a:solidFill>
              </a:rPr>
              <a:t>emp_hiredata</a:t>
            </a:r>
            <a:r>
              <a:rPr lang="en-US" sz="1400" dirty="0">
                <a:ln>
                  <a:solidFill>
                    <a:srgbClr val="00B0F0"/>
                  </a:solidFill>
                </a:ln>
                <a:solidFill>
                  <a:srgbClr val="00B0F0"/>
                </a:solidFill>
              </a:rPr>
              <a:t>;</a:t>
            </a:r>
          </a:p>
        </p:txBody>
      </p:sp>
      <p:sp>
        <p:nvSpPr>
          <p:cNvPr id="6147" name="Rectangle 3"/>
          <p:cNvSpPr>
            <a:spLocks noGrp="1"/>
          </p:cNvSpPr>
          <p:nvPr>
            <p:ph type="title"/>
          </p:nvPr>
        </p:nvSpPr>
        <p:spPr>
          <a:xfrm>
            <a:off x="465138" y="98992"/>
            <a:ext cx="8402136" cy="536972"/>
          </a:xfrm>
          <a:noFill/>
        </p:spPr>
        <p:txBody>
          <a:bodyPr>
            <a:normAutofit fontScale="90000"/>
          </a:bodyPr>
          <a:lstStyle/>
          <a:p>
            <a:r>
              <a:rPr lang="en-US" sz="1400" b="1" dirty="0">
                <a:latin typeface="Candara"/>
              </a:rPr>
              <a:t>5.21:  DBMS_BLOB  in PLSQL</a:t>
            </a:r>
            <a:r>
              <a:rPr lang="en-US" sz="1400" dirty="0">
                <a:latin typeface="Candara"/>
              </a:rPr>
              <a:t>						</a:t>
            </a:r>
            <a:br>
              <a:rPr lang="en-US" sz="1200" b="1" dirty="0">
                <a:latin typeface="Candara"/>
              </a:rPr>
            </a:br>
            <a:r>
              <a:rPr lang="en-US" dirty="0"/>
              <a:t>Updating LOB by Using DBMS_LOB in PLSQL</a:t>
            </a:r>
            <a:endParaRPr lang="en-US"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0" y="770021"/>
            <a:ext cx="8999621" cy="3994484"/>
          </a:xfrm>
        </p:spPr>
        <p:txBody>
          <a:bodyPr>
            <a:noAutofit/>
          </a:bodyPr>
          <a:lstStyle/>
          <a:p>
            <a:pPr>
              <a:buNone/>
            </a:pPr>
            <a:r>
              <a:rPr lang="en-US" sz="1600" dirty="0">
                <a:ln>
                  <a:solidFill>
                    <a:srgbClr val="00B0F0"/>
                  </a:solidFill>
                </a:ln>
                <a:solidFill>
                  <a:srgbClr val="00B0F0"/>
                </a:solidFill>
              </a:rPr>
              <a:t>	</a:t>
            </a:r>
            <a:r>
              <a:rPr lang="en-US" sz="1400" dirty="0">
                <a:ln>
                  <a:solidFill>
                    <a:srgbClr val="00B0F0"/>
                  </a:solidFill>
                </a:ln>
                <a:solidFill>
                  <a:srgbClr val="00B0F0"/>
                </a:solidFill>
              </a:rPr>
              <a:t>declare</a:t>
            </a:r>
          </a:p>
          <a:p>
            <a:pPr>
              <a:buNone/>
            </a:pPr>
            <a:r>
              <a:rPr lang="en-US" sz="1400" dirty="0">
                <a:ln>
                  <a:solidFill>
                    <a:srgbClr val="00B0F0"/>
                  </a:solidFill>
                </a:ln>
                <a:solidFill>
                  <a:srgbClr val="00B0F0"/>
                </a:solidFill>
              </a:rPr>
              <a:t>		</a:t>
            </a:r>
            <a:r>
              <a:rPr lang="en-US" sz="1400" dirty="0" err="1">
                <a:ln>
                  <a:solidFill>
                    <a:srgbClr val="00B0F0"/>
                  </a:solidFill>
                </a:ln>
                <a:solidFill>
                  <a:srgbClr val="00B0F0"/>
                </a:solidFill>
              </a:rPr>
              <a:t>lobloc</a:t>
            </a:r>
            <a:r>
              <a:rPr lang="en-US" sz="1400" dirty="0">
                <a:ln>
                  <a:solidFill>
                    <a:srgbClr val="00B0F0"/>
                  </a:solidFill>
                </a:ln>
                <a:solidFill>
                  <a:srgbClr val="00B0F0"/>
                </a:solidFill>
              </a:rPr>
              <a:t> CLOB;		--serves as LOB locator</a:t>
            </a:r>
          </a:p>
          <a:p>
            <a:pPr>
              <a:buNone/>
            </a:pPr>
            <a:r>
              <a:rPr lang="en-US" sz="1400" dirty="0">
                <a:ln>
                  <a:solidFill>
                    <a:srgbClr val="00B0F0"/>
                  </a:solidFill>
                </a:ln>
                <a:solidFill>
                  <a:srgbClr val="00B0F0"/>
                </a:solidFill>
              </a:rPr>
              <a:t>		text varchar2(50):='MCA M.PHIL';</a:t>
            </a:r>
          </a:p>
          <a:p>
            <a:pPr>
              <a:buNone/>
            </a:pPr>
            <a:r>
              <a:rPr lang="en-US" sz="1400" dirty="0">
                <a:ln>
                  <a:solidFill>
                    <a:srgbClr val="00B0F0"/>
                  </a:solidFill>
                </a:ln>
                <a:solidFill>
                  <a:srgbClr val="00B0F0"/>
                </a:solidFill>
              </a:rPr>
              <a:t>		amount number;	--amount to be written</a:t>
            </a:r>
          </a:p>
          <a:p>
            <a:pPr>
              <a:buNone/>
            </a:pPr>
            <a:r>
              <a:rPr lang="en-US" sz="1400" dirty="0">
                <a:ln>
                  <a:solidFill>
                    <a:srgbClr val="00B0F0"/>
                  </a:solidFill>
                </a:ln>
                <a:solidFill>
                  <a:srgbClr val="00B0F0"/>
                </a:solidFill>
              </a:rPr>
              <a:t>		offset number;	--where to start writing</a:t>
            </a:r>
          </a:p>
          <a:p>
            <a:pPr>
              <a:buNone/>
            </a:pPr>
            <a:r>
              <a:rPr lang="en-US" sz="1400" dirty="0">
                <a:ln>
                  <a:solidFill>
                    <a:srgbClr val="00B0F0"/>
                  </a:solidFill>
                </a:ln>
                <a:solidFill>
                  <a:srgbClr val="00B0F0"/>
                </a:solidFill>
              </a:rPr>
              <a:t>	begin</a:t>
            </a:r>
          </a:p>
          <a:p>
            <a:pPr>
              <a:buNone/>
            </a:pPr>
            <a:r>
              <a:rPr lang="en-US" sz="1400" dirty="0">
                <a:ln>
                  <a:solidFill>
                    <a:srgbClr val="00B0F0"/>
                  </a:solidFill>
                </a:ln>
                <a:solidFill>
                  <a:srgbClr val="00B0F0"/>
                </a:solidFill>
              </a:rPr>
              <a:t>		select resume into </a:t>
            </a:r>
            <a:r>
              <a:rPr lang="en-US" sz="1400" dirty="0" err="1">
                <a:ln>
                  <a:solidFill>
                    <a:srgbClr val="00B0F0"/>
                  </a:solidFill>
                </a:ln>
                <a:solidFill>
                  <a:srgbClr val="00B0F0"/>
                </a:solidFill>
              </a:rPr>
              <a:t>lobloc</a:t>
            </a:r>
            <a:r>
              <a:rPr lang="en-US" sz="1400" dirty="0">
                <a:ln>
                  <a:solidFill>
                    <a:srgbClr val="00B0F0"/>
                  </a:solidFill>
                </a:ln>
                <a:solidFill>
                  <a:srgbClr val="00B0F0"/>
                </a:solidFill>
              </a:rPr>
              <a:t> from </a:t>
            </a:r>
            <a:r>
              <a:rPr lang="en-US" sz="1400" dirty="0" err="1">
                <a:ln>
                  <a:solidFill>
                    <a:srgbClr val="00B0F0"/>
                  </a:solidFill>
                </a:ln>
                <a:solidFill>
                  <a:srgbClr val="00B0F0"/>
                </a:solidFill>
              </a:rPr>
              <a:t>emp_hiredata</a:t>
            </a:r>
            <a:r>
              <a:rPr lang="en-US" sz="1400" dirty="0">
                <a:ln>
                  <a:solidFill>
                    <a:srgbClr val="00B0F0"/>
                  </a:solidFill>
                </a:ln>
                <a:solidFill>
                  <a:srgbClr val="00B0F0"/>
                </a:solidFill>
              </a:rPr>
              <a:t> where </a:t>
            </a:r>
            <a:r>
              <a:rPr lang="en-US" sz="1400" dirty="0" err="1">
                <a:ln>
                  <a:solidFill>
                    <a:srgbClr val="00B0F0"/>
                  </a:solidFill>
                </a:ln>
                <a:solidFill>
                  <a:srgbClr val="00B0F0"/>
                </a:solidFill>
              </a:rPr>
              <a:t>employee_id</a:t>
            </a:r>
            <a:r>
              <a:rPr lang="en-US" sz="1400" dirty="0">
                <a:ln>
                  <a:solidFill>
                    <a:srgbClr val="00B0F0"/>
                  </a:solidFill>
                </a:ln>
                <a:solidFill>
                  <a:srgbClr val="00B0F0"/>
                </a:solidFill>
              </a:rPr>
              <a:t>=405 for update;</a:t>
            </a:r>
          </a:p>
          <a:p>
            <a:pPr>
              <a:buNone/>
            </a:pPr>
            <a:r>
              <a:rPr lang="en-US" sz="1400" dirty="0">
                <a:ln>
                  <a:solidFill>
                    <a:srgbClr val="00B0F0"/>
                  </a:solidFill>
                </a:ln>
                <a:solidFill>
                  <a:srgbClr val="00B0F0"/>
                </a:solidFill>
              </a:rPr>
              <a:t>		offset:=DBMS_LOB.GETLENGTH(</a:t>
            </a:r>
            <a:r>
              <a:rPr lang="en-US" sz="1400" dirty="0" err="1">
                <a:ln>
                  <a:solidFill>
                    <a:srgbClr val="00B0F0"/>
                  </a:solidFill>
                </a:ln>
                <a:solidFill>
                  <a:srgbClr val="00B0F0"/>
                </a:solidFill>
              </a:rPr>
              <a:t>lobloc</a:t>
            </a:r>
            <a:r>
              <a:rPr lang="en-US" sz="1400" dirty="0">
                <a:ln>
                  <a:solidFill>
                    <a:srgbClr val="00B0F0"/>
                  </a:solidFill>
                </a:ln>
                <a:solidFill>
                  <a:srgbClr val="00B0F0"/>
                </a:solidFill>
              </a:rPr>
              <a:t>)+2;</a:t>
            </a:r>
          </a:p>
          <a:p>
            <a:pPr>
              <a:buNone/>
            </a:pPr>
            <a:r>
              <a:rPr lang="en-US" sz="1400" dirty="0">
                <a:ln>
                  <a:solidFill>
                    <a:srgbClr val="00B0F0"/>
                  </a:solidFill>
                </a:ln>
                <a:solidFill>
                  <a:srgbClr val="00B0F0"/>
                </a:solidFill>
              </a:rPr>
              <a:t>		amount:=length(text);</a:t>
            </a:r>
          </a:p>
          <a:p>
            <a:pPr>
              <a:buNone/>
            </a:pPr>
            <a:r>
              <a:rPr lang="en-US" sz="1400" dirty="0">
                <a:ln>
                  <a:solidFill>
                    <a:srgbClr val="00B0F0"/>
                  </a:solidFill>
                </a:ln>
                <a:solidFill>
                  <a:srgbClr val="00B0F0"/>
                </a:solidFill>
              </a:rPr>
              <a:t>		DBMS_LOB.WRITE(</a:t>
            </a:r>
            <a:r>
              <a:rPr lang="en-US" sz="1400" dirty="0" err="1">
                <a:ln>
                  <a:solidFill>
                    <a:srgbClr val="00B0F0"/>
                  </a:solidFill>
                </a:ln>
                <a:solidFill>
                  <a:srgbClr val="00B0F0"/>
                </a:solidFill>
              </a:rPr>
              <a:t>lobloc</a:t>
            </a:r>
            <a:r>
              <a:rPr lang="en-US" sz="1400" dirty="0">
                <a:ln>
                  <a:solidFill>
                    <a:srgbClr val="00B0F0"/>
                  </a:solidFill>
                </a:ln>
                <a:solidFill>
                  <a:srgbClr val="00B0F0"/>
                </a:solidFill>
              </a:rPr>
              <a:t>, amount, offset, text);</a:t>
            </a:r>
          </a:p>
          <a:p>
            <a:pPr>
              <a:buNone/>
            </a:pPr>
            <a:r>
              <a:rPr lang="en-US" sz="1400" dirty="0">
                <a:ln>
                  <a:solidFill>
                    <a:srgbClr val="00B0F0"/>
                  </a:solidFill>
                </a:ln>
                <a:solidFill>
                  <a:srgbClr val="00B0F0"/>
                </a:solidFill>
              </a:rPr>
              <a:t>		Text :='MCA M.PHIL MBA';</a:t>
            </a:r>
          </a:p>
          <a:p>
            <a:pPr>
              <a:buNone/>
            </a:pPr>
            <a:r>
              <a:rPr lang="en-US" sz="1400" dirty="0">
                <a:ln>
                  <a:solidFill>
                    <a:srgbClr val="00B0F0"/>
                  </a:solidFill>
                </a:ln>
                <a:solidFill>
                  <a:srgbClr val="00B0F0"/>
                </a:solidFill>
              </a:rPr>
              <a:t>		select resume into </a:t>
            </a:r>
            <a:r>
              <a:rPr lang="en-US" sz="1400" dirty="0" err="1">
                <a:ln>
                  <a:solidFill>
                    <a:srgbClr val="00B0F0"/>
                  </a:solidFill>
                </a:ln>
                <a:solidFill>
                  <a:srgbClr val="00B0F0"/>
                </a:solidFill>
              </a:rPr>
              <a:t>lobloc</a:t>
            </a:r>
            <a:r>
              <a:rPr lang="en-US" sz="1400" dirty="0">
                <a:ln>
                  <a:solidFill>
                    <a:srgbClr val="00B0F0"/>
                  </a:solidFill>
                </a:ln>
                <a:solidFill>
                  <a:srgbClr val="00B0F0"/>
                </a:solidFill>
              </a:rPr>
              <a:t> from </a:t>
            </a:r>
            <a:r>
              <a:rPr lang="en-US" sz="1400" dirty="0" err="1">
                <a:ln>
                  <a:solidFill>
                    <a:srgbClr val="00B0F0"/>
                  </a:solidFill>
                </a:ln>
                <a:solidFill>
                  <a:srgbClr val="00B0F0"/>
                </a:solidFill>
              </a:rPr>
              <a:t>emp_hiredata</a:t>
            </a:r>
            <a:r>
              <a:rPr lang="en-US" sz="1400" dirty="0">
                <a:ln>
                  <a:solidFill>
                    <a:srgbClr val="00B0F0"/>
                  </a:solidFill>
                </a:ln>
                <a:solidFill>
                  <a:srgbClr val="00B0F0"/>
                </a:solidFill>
              </a:rPr>
              <a:t> where </a:t>
            </a:r>
            <a:r>
              <a:rPr lang="en-US" sz="1400" dirty="0" err="1">
                <a:ln>
                  <a:solidFill>
                    <a:srgbClr val="00B0F0"/>
                  </a:solidFill>
                </a:ln>
                <a:solidFill>
                  <a:srgbClr val="00B0F0"/>
                </a:solidFill>
              </a:rPr>
              <a:t>employee_id</a:t>
            </a:r>
            <a:r>
              <a:rPr lang="en-US" sz="1400" dirty="0">
                <a:ln>
                  <a:solidFill>
                    <a:srgbClr val="00B0F0"/>
                  </a:solidFill>
                </a:ln>
                <a:solidFill>
                  <a:srgbClr val="00B0F0"/>
                </a:solidFill>
              </a:rPr>
              <a:t>=170 for update;</a:t>
            </a:r>
          </a:p>
          <a:p>
            <a:pPr>
              <a:buNone/>
            </a:pPr>
            <a:r>
              <a:rPr lang="en-US" sz="1400" dirty="0">
                <a:ln>
                  <a:solidFill>
                    <a:srgbClr val="00B0F0"/>
                  </a:solidFill>
                </a:ln>
                <a:solidFill>
                  <a:srgbClr val="00B0F0"/>
                </a:solidFill>
              </a:rPr>
              <a:t>		amount:=length(text);</a:t>
            </a:r>
          </a:p>
          <a:p>
            <a:pPr>
              <a:buNone/>
            </a:pPr>
            <a:r>
              <a:rPr lang="en-US" sz="1400" dirty="0">
                <a:ln>
                  <a:solidFill>
                    <a:srgbClr val="00B0F0"/>
                  </a:solidFill>
                </a:ln>
                <a:solidFill>
                  <a:srgbClr val="00B0F0"/>
                </a:solidFill>
              </a:rPr>
              <a:t>		DBMS_LOB.WRITEAPPEND(</a:t>
            </a:r>
            <a:r>
              <a:rPr lang="en-US" sz="1400" dirty="0" err="1">
                <a:ln>
                  <a:solidFill>
                    <a:srgbClr val="00B0F0"/>
                  </a:solidFill>
                </a:ln>
                <a:solidFill>
                  <a:srgbClr val="00B0F0"/>
                </a:solidFill>
              </a:rPr>
              <a:t>lobloc</a:t>
            </a:r>
            <a:r>
              <a:rPr lang="en-US" sz="1400" dirty="0">
                <a:ln>
                  <a:solidFill>
                    <a:srgbClr val="00B0F0"/>
                  </a:solidFill>
                </a:ln>
                <a:solidFill>
                  <a:srgbClr val="00B0F0"/>
                </a:solidFill>
              </a:rPr>
              <a:t>, amount, text);</a:t>
            </a:r>
          </a:p>
          <a:p>
            <a:pPr>
              <a:buNone/>
            </a:pPr>
            <a:r>
              <a:rPr lang="en-US" sz="1400" dirty="0">
                <a:ln>
                  <a:solidFill>
                    <a:srgbClr val="00B0F0"/>
                  </a:solidFill>
                </a:ln>
                <a:solidFill>
                  <a:srgbClr val="00B0F0"/>
                </a:solidFill>
              </a:rPr>
              <a:t>		Commit;</a:t>
            </a:r>
          </a:p>
          <a:p>
            <a:pPr>
              <a:buNone/>
            </a:pPr>
            <a:r>
              <a:rPr lang="en-US" sz="1400" dirty="0">
                <a:ln>
                  <a:solidFill>
                    <a:srgbClr val="00B0F0"/>
                  </a:solidFill>
                </a:ln>
                <a:solidFill>
                  <a:srgbClr val="00B0F0"/>
                </a:solidFill>
              </a:rPr>
              <a:t>End;</a:t>
            </a:r>
          </a:p>
          <a:p>
            <a:pPr>
              <a:buNone/>
            </a:pPr>
            <a:r>
              <a:rPr lang="en-US" sz="1400" dirty="0">
                <a:ln>
                  <a:solidFill>
                    <a:srgbClr val="00B0F0"/>
                  </a:solidFill>
                </a:ln>
                <a:solidFill>
                  <a:srgbClr val="00B0F0"/>
                </a:solidFill>
              </a:rPr>
              <a:t>/</a:t>
            </a:r>
          </a:p>
          <a:p>
            <a:pPr algn="just">
              <a:buNone/>
            </a:pPr>
            <a:endParaRPr lang="en-US" sz="1600" dirty="0">
              <a:ln>
                <a:solidFill>
                  <a:srgbClr val="00B0F0"/>
                </a:solidFill>
              </a:ln>
              <a:solidFill>
                <a:srgbClr val="00B0F0"/>
              </a:solidFill>
            </a:endParaRPr>
          </a:p>
        </p:txBody>
      </p:sp>
      <p:sp>
        <p:nvSpPr>
          <p:cNvPr id="6147" name="Rectangle 3"/>
          <p:cNvSpPr>
            <a:spLocks noGrp="1"/>
          </p:cNvSpPr>
          <p:nvPr>
            <p:ph type="title"/>
          </p:nvPr>
        </p:nvSpPr>
        <p:spPr>
          <a:xfrm>
            <a:off x="465138" y="98992"/>
            <a:ext cx="8402136" cy="536972"/>
          </a:xfrm>
          <a:noFill/>
        </p:spPr>
        <p:txBody>
          <a:bodyPr>
            <a:normAutofit fontScale="90000"/>
          </a:bodyPr>
          <a:lstStyle/>
          <a:p>
            <a:r>
              <a:rPr lang="en-US" sz="1400" b="1" dirty="0">
                <a:latin typeface="Candara"/>
              </a:rPr>
              <a:t>5.21:  DBMS_BLOB  in PLSQL</a:t>
            </a:r>
            <a:r>
              <a:rPr lang="en-US" sz="1400" dirty="0">
                <a:latin typeface="Candara"/>
              </a:rPr>
              <a:t>						</a:t>
            </a:r>
            <a:br>
              <a:rPr lang="en-US" sz="1200" b="1" dirty="0">
                <a:latin typeface="Candara"/>
              </a:rPr>
            </a:br>
            <a:r>
              <a:rPr lang="en-US" dirty="0"/>
              <a:t>Updating LOB by Using DBMS_LOB in PLSQL  …</a:t>
            </a:r>
            <a:r>
              <a:rPr lang="en-US" dirty="0" err="1"/>
              <a:t>contd</a:t>
            </a:r>
            <a:endParaRPr lang="en-US"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0" y="770021"/>
            <a:ext cx="8999621" cy="3994484"/>
          </a:xfrm>
        </p:spPr>
        <p:txBody>
          <a:bodyPr>
            <a:noAutofit/>
          </a:bodyPr>
          <a:lstStyle/>
          <a:p>
            <a:endParaRPr lang="en-US" sz="1600" dirty="0"/>
          </a:p>
          <a:p>
            <a:pPr algn="just"/>
            <a:r>
              <a:rPr lang="en-US" sz="1600" dirty="0"/>
              <a:t>Here, the LOBLOC serves as the LOB locator, and the AMOUNT is set to the length of the text you want to add. </a:t>
            </a:r>
          </a:p>
          <a:p>
            <a:pPr algn="just"/>
            <a:endParaRPr lang="en-US" sz="1600" dirty="0"/>
          </a:p>
          <a:p>
            <a:pPr algn="just"/>
            <a:r>
              <a:rPr lang="en-US" sz="1600" dirty="0"/>
              <a:t>The SELECT FOR UPDATE statement locks the row and returns the LOB locator for the RESUME LOB column. </a:t>
            </a:r>
          </a:p>
          <a:p>
            <a:pPr algn="just"/>
            <a:endParaRPr lang="en-US" sz="1600" dirty="0"/>
          </a:p>
          <a:p>
            <a:pPr algn="just"/>
            <a:r>
              <a:rPr lang="en-US" sz="1600" dirty="0"/>
              <a:t>The WRITE packaged procedure is to write the text into the LOB value at the specified offset. </a:t>
            </a:r>
          </a:p>
          <a:p>
            <a:pPr algn="just"/>
            <a:endParaRPr lang="en-US" sz="1600" dirty="0"/>
          </a:p>
          <a:p>
            <a:pPr algn="just"/>
            <a:r>
              <a:rPr lang="en-US" sz="1600" dirty="0"/>
              <a:t>WRITEAPPEND appends to the existing LOB value.</a:t>
            </a:r>
          </a:p>
          <a:p>
            <a:pPr algn="just"/>
            <a:endParaRPr lang="en-US" sz="1600" dirty="0"/>
          </a:p>
          <a:p>
            <a:pPr algn="just"/>
            <a:r>
              <a:rPr lang="en-US" sz="1600" dirty="0"/>
              <a:t>To verify the data changes in the table :</a:t>
            </a:r>
          </a:p>
          <a:p>
            <a:pPr algn="just">
              <a:buNone/>
            </a:pPr>
            <a:r>
              <a:rPr lang="en-US" sz="1400" dirty="0">
                <a:ln>
                  <a:solidFill>
                    <a:srgbClr val="00B0F0"/>
                  </a:solidFill>
                </a:ln>
                <a:solidFill>
                  <a:srgbClr val="00B0F0"/>
                </a:solidFill>
              </a:rPr>
              <a:t>		select resume from </a:t>
            </a:r>
            <a:r>
              <a:rPr lang="en-US" sz="1400" dirty="0" err="1">
                <a:ln>
                  <a:solidFill>
                    <a:srgbClr val="00B0F0"/>
                  </a:solidFill>
                </a:ln>
                <a:solidFill>
                  <a:srgbClr val="00B0F0"/>
                </a:solidFill>
              </a:rPr>
              <a:t>emp_hiredata</a:t>
            </a:r>
            <a:r>
              <a:rPr lang="en-US" sz="1400" dirty="0">
                <a:ln>
                  <a:solidFill>
                    <a:srgbClr val="00B0F0"/>
                  </a:solidFill>
                </a:ln>
                <a:solidFill>
                  <a:srgbClr val="00B0F0"/>
                </a:solidFill>
              </a:rPr>
              <a:t>;</a:t>
            </a:r>
          </a:p>
          <a:p>
            <a:pPr algn="just">
              <a:buNone/>
            </a:pPr>
            <a:endParaRPr lang="en-US" sz="1600" dirty="0"/>
          </a:p>
          <a:p>
            <a:pPr algn="just">
              <a:buNone/>
            </a:pPr>
            <a:endParaRPr lang="en-US" sz="1600" dirty="0">
              <a:ln>
                <a:solidFill>
                  <a:srgbClr val="00B0F0"/>
                </a:solidFill>
              </a:ln>
              <a:solidFill>
                <a:srgbClr val="00B0F0"/>
              </a:solidFill>
            </a:endParaRPr>
          </a:p>
        </p:txBody>
      </p:sp>
      <p:sp>
        <p:nvSpPr>
          <p:cNvPr id="6147" name="Rectangle 3"/>
          <p:cNvSpPr>
            <a:spLocks noGrp="1"/>
          </p:cNvSpPr>
          <p:nvPr>
            <p:ph type="title"/>
          </p:nvPr>
        </p:nvSpPr>
        <p:spPr>
          <a:xfrm>
            <a:off x="465138" y="98992"/>
            <a:ext cx="8402136" cy="536972"/>
          </a:xfrm>
          <a:noFill/>
        </p:spPr>
        <p:txBody>
          <a:bodyPr>
            <a:normAutofit fontScale="90000"/>
          </a:bodyPr>
          <a:lstStyle/>
          <a:p>
            <a:r>
              <a:rPr lang="en-US" sz="1400" b="1" dirty="0">
                <a:latin typeface="Candara"/>
              </a:rPr>
              <a:t>5.21:  DBMS_BLOB  in PLSQL</a:t>
            </a:r>
            <a:r>
              <a:rPr lang="en-US" sz="1400" dirty="0">
                <a:latin typeface="Candara"/>
              </a:rPr>
              <a:t>						</a:t>
            </a:r>
            <a:br>
              <a:rPr lang="en-US" sz="1200" b="1" dirty="0">
                <a:latin typeface="Candara"/>
              </a:rPr>
            </a:br>
            <a:r>
              <a:rPr lang="en-US" dirty="0"/>
              <a:t>Updating LOB by Using DBMS_LOB in PLSQL  …</a:t>
            </a:r>
            <a:r>
              <a:rPr lang="en-US" dirty="0" err="1"/>
              <a:t>contd</a:t>
            </a:r>
            <a:endParaRPr lang="en-US"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0" y="770021"/>
            <a:ext cx="9144000" cy="3994484"/>
          </a:xfrm>
        </p:spPr>
        <p:txBody>
          <a:bodyPr>
            <a:noAutofit/>
          </a:bodyPr>
          <a:lstStyle/>
          <a:p>
            <a:pPr algn="just"/>
            <a:r>
              <a:rPr lang="en-US" sz="1400" dirty="0"/>
              <a:t>This is how we used to fetch a CLOB column in releases prior to Oracle 9i, where it was not possible to fetch CLOB column directly into a character column. </a:t>
            </a:r>
          </a:p>
          <a:p>
            <a:pPr>
              <a:buNone/>
            </a:pPr>
            <a:r>
              <a:rPr lang="en-US" sz="1300" dirty="0">
                <a:ln>
                  <a:solidFill>
                    <a:srgbClr val="00B0F0"/>
                  </a:solidFill>
                </a:ln>
                <a:solidFill>
                  <a:srgbClr val="00B0F0"/>
                </a:solidFill>
              </a:rPr>
              <a:t>	declare</a:t>
            </a:r>
          </a:p>
          <a:p>
            <a:pPr>
              <a:buNone/>
            </a:pPr>
            <a:r>
              <a:rPr lang="en-US" sz="1300" dirty="0">
                <a:ln>
                  <a:solidFill>
                    <a:srgbClr val="00B0F0"/>
                  </a:solidFill>
                </a:ln>
                <a:solidFill>
                  <a:srgbClr val="00B0F0"/>
                </a:solidFill>
              </a:rPr>
              <a:t>		text varchar2(100);</a:t>
            </a:r>
          </a:p>
          <a:p>
            <a:pPr>
              <a:buNone/>
            </a:pPr>
            <a:r>
              <a:rPr lang="en-US" sz="1300" dirty="0">
                <a:ln>
                  <a:solidFill>
                    <a:srgbClr val="00B0F0"/>
                  </a:solidFill>
                </a:ln>
                <a:solidFill>
                  <a:srgbClr val="00B0F0"/>
                </a:solidFill>
              </a:rPr>
              <a:t>	begin</a:t>
            </a:r>
          </a:p>
          <a:p>
            <a:pPr>
              <a:buNone/>
            </a:pPr>
            <a:r>
              <a:rPr lang="en-US" sz="1300" dirty="0">
                <a:ln>
                  <a:solidFill>
                    <a:srgbClr val="00B0F0"/>
                  </a:solidFill>
                </a:ln>
                <a:solidFill>
                  <a:srgbClr val="00B0F0"/>
                </a:solidFill>
              </a:rPr>
              <a:t>		select resume into text from </a:t>
            </a:r>
            <a:r>
              <a:rPr lang="en-US" sz="1300" dirty="0" err="1">
                <a:ln>
                  <a:solidFill>
                    <a:srgbClr val="00B0F0"/>
                  </a:solidFill>
                </a:ln>
                <a:solidFill>
                  <a:srgbClr val="00B0F0"/>
                </a:solidFill>
              </a:rPr>
              <a:t>emp_hiredata</a:t>
            </a:r>
            <a:r>
              <a:rPr lang="en-US" sz="1300" dirty="0">
                <a:ln>
                  <a:solidFill>
                    <a:srgbClr val="00B0F0"/>
                  </a:solidFill>
                </a:ln>
                <a:solidFill>
                  <a:srgbClr val="00B0F0"/>
                </a:solidFill>
              </a:rPr>
              <a:t> where </a:t>
            </a:r>
            <a:r>
              <a:rPr lang="en-US" sz="1300" dirty="0" err="1">
                <a:ln>
                  <a:solidFill>
                    <a:srgbClr val="00B0F0"/>
                  </a:solidFill>
                </a:ln>
                <a:solidFill>
                  <a:srgbClr val="00B0F0"/>
                </a:solidFill>
              </a:rPr>
              <a:t>employee_id</a:t>
            </a:r>
            <a:r>
              <a:rPr lang="en-US" sz="1300" dirty="0">
                <a:ln>
                  <a:solidFill>
                    <a:srgbClr val="00B0F0"/>
                  </a:solidFill>
                </a:ln>
                <a:solidFill>
                  <a:srgbClr val="00B0F0"/>
                </a:solidFill>
              </a:rPr>
              <a:t>=405 for update;</a:t>
            </a:r>
          </a:p>
          <a:p>
            <a:pPr>
              <a:buNone/>
            </a:pPr>
            <a:r>
              <a:rPr lang="en-US" sz="1300" dirty="0">
                <a:ln>
                  <a:solidFill>
                    <a:srgbClr val="00B0F0"/>
                  </a:solidFill>
                </a:ln>
                <a:solidFill>
                  <a:srgbClr val="00B0F0"/>
                </a:solidFill>
              </a:rPr>
              <a:t>		text:=text||</a:t>
            </a:r>
            <a:r>
              <a:rPr lang="en-US" sz="1200" dirty="0">
                <a:ln>
                  <a:solidFill>
                    <a:srgbClr val="00B0F0"/>
                  </a:solidFill>
                </a:ln>
                <a:solidFill>
                  <a:srgbClr val="00B0F0"/>
                </a:solidFill>
              </a:rPr>
              <a:t>'</a:t>
            </a:r>
            <a:r>
              <a:rPr lang="en-US" sz="1300" dirty="0">
                <a:ln>
                  <a:solidFill>
                    <a:srgbClr val="00B0F0"/>
                  </a:solidFill>
                </a:ln>
                <a:solidFill>
                  <a:srgbClr val="00B0F0"/>
                </a:solidFill>
              </a:rPr>
              <a:t> PLSQL</a:t>
            </a:r>
            <a:r>
              <a:rPr lang="en-US" sz="1200" dirty="0">
                <a:ln>
                  <a:solidFill>
                    <a:srgbClr val="00B0F0"/>
                  </a:solidFill>
                </a:ln>
                <a:solidFill>
                  <a:srgbClr val="00B0F0"/>
                </a:solidFill>
              </a:rPr>
              <a:t>'</a:t>
            </a:r>
            <a:r>
              <a:rPr lang="en-US" sz="1300" dirty="0">
                <a:ln>
                  <a:solidFill>
                    <a:srgbClr val="00B0F0"/>
                  </a:solidFill>
                </a:ln>
                <a:solidFill>
                  <a:srgbClr val="00B0F0"/>
                </a:solidFill>
              </a:rPr>
              <a:t>;</a:t>
            </a:r>
          </a:p>
          <a:p>
            <a:pPr>
              <a:buNone/>
            </a:pPr>
            <a:r>
              <a:rPr lang="en-US" sz="1300" dirty="0">
                <a:ln>
                  <a:solidFill>
                    <a:srgbClr val="00B0F0"/>
                  </a:solidFill>
                </a:ln>
                <a:solidFill>
                  <a:srgbClr val="00B0F0"/>
                </a:solidFill>
              </a:rPr>
              <a:t>		update </a:t>
            </a:r>
            <a:r>
              <a:rPr lang="en-US" sz="1300" dirty="0" err="1">
                <a:ln>
                  <a:solidFill>
                    <a:srgbClr val="00B0F0"/>
                  </a:solidFill>
                </a:ln>
                <a:solidFill>
                  <a:srgbClr val="00B0F0"/>
                </a:solidFill>
              </a:rPr>
              <a:t>emp_hiredata</a:t>
            </a:r>
            <a:r>
              <a:rPr lang="en-US" sz="1300" dirty="0">
                <a:ln>
                  <a:solidFill>
                    <a:srgbClr val="00B0F0"/>
                  </a:solidFill>
                </a:ln>
                <a:solidFill>
                  <a:srgbClr val="00B0F0"/>
                </a:solidFill>
              </a:rPr>
              <a:t> set resume=text where </a:t>
            </a:r>
            <a:r>
              <a:rPr lang="en-US" sz="1300" dirty="0" err="1">
                <a:ln>
                  <a:solidFill>
                    <a:srgbClr val="00B0F0"/>
                  </a:solidFill>
                </a:ln>
                <a:solidFill>
                  <a:srgbClr val="00B0F0"/>
                </a:solidFill>
              </a:rPr>
              <a:t>employee_id</a:t>
            </a:r>
            <a:r>
              <a:rPr lang="en-US" sz="1300" dirty="0">
                <a:ln>
                  <a:solidFill>
                    <a:srgbClr val="00B0F0"/>
                  </a:solidFill>
                </a:ln>
                <a:solidFill>
                  <a:srgbClr val="00B0F0"/>
                </a:solidFill>
              </a:rPr>
              <a:t>=405;</a:t>
            </a:r>
          </a:p>
          <a:p>
            <a:pPr>
              <a:buNone/>
            </a:pPr>
            <a:r>
              <a:rPr lang="en-US" sz="1300" dirty="0">
                <a:ln>
                  <a:solidFill>
                    <a:srgbClr val="00B0F0"/>
                  </a:solidFill>
                </a:ln>
                <a:solidFill>
                  <a:srgbClr val="00B0F0"/>
                </a:solidFill>
              </a:rPr>
              <a:t>		select resume into text from </a:t>
            </a:r>
            <a:r>
              <a:rPr lang="en-US" sz="1300" dirty="0" err="1">
                <a:ln>
                  <a:solidFill>
                    <a:srgbClr val="00B0F0"/>
                  </a:solidFill>
                </a:ln>
                <a:solidFill>
                  <a:srgbClr val="00B0F0"/>
                </a:solidFill>
              </a:rPr>
              <a:t>emp_hiredata</a:t>
            </a:r>
            <a:r>
              <a:rPr lang="en-US" sz="1300" dirty="0">
                <a:ln>
                  <a:solidFill>
                    <a:srgbClr val="00B0F0"/>
                  </a:solidFill>
                </a:ln>
                <a:solidFill>
                  <a:srgbClr val="00B0F0"/>
                </a:solidFill>
              </a:rPr>
              <a:t> where </a:t>
            </a:r>
            <a:r>
              <a:rPr lang="en-US" sz="1300" dirty="0" err="1">
                <a:ln>
                  <a:solidFill>
                    <a:srgbClr val="00B0F0"/>
                  </a:solidFill>
                </a:ln>
                <a:solidFill>
                  <a:srgbClr val="00B0F0"/>
                </a:solidFill>
              </a:rPr>
              <a:t>employee_id</a:t>
            </a:r>
            <a:r>
              <a:rPr lang="en-US" sz="1300" dirty="0">
                <a:ln>
                  <a:solidFill>
                    <a:srgbClr val="00B0F0"/>
                  </a:solidFill>
                </a:ln>
                <a:solidFill>
                  <a:srgbClr val="00B0F0"/>
                </a:solidFill>
              </a:rPr>
              <a:t>=170 for update;</a:t>
            </a:r>
          </a:p>
          <a:p>
            <a:pPr>
              <a:buNone/>
            </a:pPr>
            <a:r>
              <a:rPr lang="en-US" sz="1300" dirty="0">
                <a:ln>
                  <a:solidFill>
                    <a:srgbClr val="00B0F0"/>
                  </a:solidFill>
                </a:ln>
                <a:solidFill>
                  <a:srgbClr val="00B0F0"/>
                </a:solidFill>
              </a:rPr>
              <a:t>		text:=text||</a:t>
            </a:r>
            <a:r>
              <a:rPr lang="en-US" sz="1200" dirty="0">
                <a:ln>
                  <a:solidFill>
                    <a:srgbClr val="00B0F0"/>
                  </a:solidFill>
                </a:ln>
                <a:solidFill>
                  <a:srgbClr val="00B0F0"/>
                </a:solidFill>
              </a:rPr>
              <a:t>'</a:t>
            </a:r>
            <a:r>
              <a:rPr lang="en-US" sz="1300" dirty="0">
                <a:ln>
                  <a:solidFill>
                    <a:srgbClr val="00B0F0"/>
                  </a:solidFill>
                </a:ln>
                <a:solidFill>
                  <a:srgbClr val="00B0F0"/>
                </a:solidFill>
              </a:rPr>
              <a:t> ADV PLSQL</a:t>
            </a:r>
            <a:r>
              <a:rPr lang="en-US" sz="1200" dirty="0">
                <a:ln>
                  <a:solidFill>
                    <a:srgbClr val="00B0F0"/>
                  </a:solidFill>
                </a:ln>
                <a:solidFill>
                  <a:srgbClr val="00B0F0"/>
                </a:solidFill>
              </a:rPr>
              <a:t>'</a:t>
            </a:r>
            <a:r>
              <a:rPr lang="en-US" sz="1300" dirty="0">
                <a:ln>
                  <a:solidFill>
                    <a:srgbClr val="00B0F0"/>
                  </a:solidFill>
                </a:ln>
                <a:solidFill>
                  <a:srgbClr val="00B0F0"/>
                </a:solidFill>
              </a:rPr>
              <a:t>;</a:t>
            </a:r>
          </a:p>
          <a:p>
            <a:pPr>
              <a:buNone/>
            </a:pPr>
            <a:r>
              <a:rPr lang="en-US" sz="1300" dirty="0">
                <a:ln>
                  <a:solidFill>
                    <a:srgbClr val="00B0F0"/>
                  </a:solidFill>
                </a:ln>
                <a:solidFill>
                  <a:srgbClr val="00B0F0"/>
                </a:solidFill>
              </a:rPr>
              <a:t>		update </a:t>
            </a:r>
            <a:r>
              <a:rPr lang="en-US" sz="1300" dirty="0" err="1">
                <a:ln>
                  <a:solidFill>
                    <a:srgbClr val="00B0F0"/>
                  </a:solidFill>
                </a:ln>
                <a:solidFill>
                  <a:srgbClr val="00B0F0"/>
                </a:solidFill>
              </a:rPr>
              <a:t>emp_hiredata</a:t>
            </a:r>
            <a:r>
              <a:rPr lang="en-US" sz="1300" dirty="0">
                <a:ln>
                  <a:solidFill>
                    <a:srgbClr val="00B0F0"/>
                  </a:solidFill>
                </a:ln>
                <a:solidFill>
                  <a:srgbClr val="00B0F0"/>
                </a:solidFill>
              </a:rPr>
              <a:t> set resume=text where </a:t>
            </a:r>
            <a:r>
              <a:rPr lang="en-US" sz="1300" dirty="0" err="1">
                <a:ln>
                  <a:solidFill>
                    <a:srgbClr val="00B0F0"/>
                  </a:solidFill>
                </a:ln>
                <a:solidFill>
                  <a:srgbClr val="00B0F0"/>
                </a:solidFill>
              </a:rPr>
              <a:t>employee_id</a:t>
            </a:r>
            <a:r>
              <a:rPr lang="en-US" sz="1300" dirty="0">
                <a:ln>
                  <a:solidFill>
                    <a:srgbClr val="00B0F0"/>
                  </a:solidFill>
                </a:ln>
                <a:solidFill>
                  <a:srgbClr val="00B0F0"/>
                </a:solidFill>
              </a:rPr>
              <a:t>=170;</a:t>
            </a:r>
          </a:p>
          <a:p>
            <a:pPr>
              <a:buNone/>
            </a:pPr>
            <a:r>
              <a:rPr lang="en-US" sz="1300" dirty="0">
                <a:ln>
                  <a:solidFill>
                    <a:srgbClr val="00B0F0"/>
                  </a:solidFill>
                </a:ln>
                <a:solidFill>
                  <a:srgbClr val="00B0F0"/>
                </a:solidFill>
              </a:rPr>
              <a:t>		commit;</a:t>
            </a:r>
          </a:p>
          <a:p>
            <a:pPr>
              <a:buNone/>
            </a:pPr>
            <a:r>
              <a:rPr lang="en-US" sz="1300" dirty="0">
                <a:ln>
                  <a:solidFill>
                    <a:srgbClr val="00B0F0"/>
                  </a:solidFill>
                </a:ln>
                <a:solidFill>
                  <a:srgbClr val="00B0F0"/>
                </a:solidFill>
              </a:rPr>
              <a:t>	end;</a:t>
            </a:r>
          </a:p>
          <a:p>
            <a:pPr>
              <a:buNone/>
            </a:pPr>
            <a:r>
              <a:rPr lang="en-US" sz="1300" dirty="0">
                <a:ln>
                  <a:solidFill>
                    <a:srgbClr val="00B0F0"/>
                  </a:solidFill>
                </a:ln>
                <a:solidFill>
                  <a:srgbClr val="00B0F0"/>
                </a:solidFill>
              </a:rPr>
              <a:t>	/</a:t>
            </a:r>
          </a:p>
          <a:p>
            <a:pPr>
              <a:buNone/>
            </a:pPr>
            <a:r>
              <a:rPr lang="en-US" sz="1300" dirty="0">
                <a:ln>
                  <a:solidFill>
                    <a:srgbClr val="00B0F0"/>
                  </a:solidFill>
                </a:ln>
                <a:solidFill>
                  <a:srgbClr val="00B0F0"/>
                </a:solidFill>
              </a:rPr>
              <a:t> select resume from </a:t>
            </a:r>
            <a:r>
              <a:rPr lang="en-US" sz="1300" dirty="0" err="1">
                <a:ln>
                  <a:solidFill>
                    <a:srgbClr val="00B0F0"/>
                  </a:solidFill>
                </a:ln>
                <a:solidFill>
                  <a:srgbClr val="00B0F0"/>
                </a:solidFill>
              </a:rPr>
              <a:t>emp_hiredata</a:t>
            </a:r>
            <a:r>
              <a:rPr lang="en-US" sz="1300" dirty="0">
                <a:ln>
                  <a:solidFill>
                    <a:srgbClr val="00B0F0"/>
                  </a:solidFill>
                </a:ln>
                <a:solidFill>
                  <a:srgbClr val="00B0F0"/>
                </a:solidFill>
              </a:rPr>
              <a:t>;</a:t>
            </a:r>
          </a:p>
        </p:txBody>
      </p:sp>
      <p:sp>
        <p:nvSpPr>
          <p:cNvPr id="6147" name="Rectangle 3"/>
          <p:cNvSpPr>
            <a:spLocks noGrp="1"/>
          </p:cNvSpPr>
          <p:nvPr>
            <p:ph type="title"/>
          </p:nvPr>
        </p:nvSpPr>
        <p:spPr>
          <a:xfrm>
            <a:off x="465138" y="98992"/>
            <a:ext cx="8402136" cy="536972"/>
          </a:xfrm>
          <a:noFill/>
        </p:spPr>
        <p:txBody>
          <a:bodyPr>
            <a:normAutofit fontScale="90000"/>
          </a:bodyPr>
          <a:lstStyle/>
          <a:p>
            <a:r>
              <a:rPr lang="en-US" sz="1400" b="1" dirty="0">
                <a:latin typeface="Candara"/>
              </a:rPr>
              <a:t>5.21:  DBMS_BLOB  in PLSQL</a:t>
            </a:r>
            <a:r>
              <a:rPr lang="en-US" sz="1400" dirty="0">
                <a:latin typeface="Candara"/>
              </a:rPr>
              <a:t>						</a:t>
            </a:r>
            <a:br>
              <a:rPr lang="en-US" sz="1200" b="1" dirty="0">
                <a:latin typeface="Candara"/>
              </a:rPr>
            </a:br>
            <a:r>
              <a:rPr lang="en-US" dirty="0"/>
              <a:t>Updating LOB by Using DBMS_LOB in PLSQL  …</a:t>
            </a:r>
            <a:r>
              <a:rPr lang="en-US" dirty="0" err="1"/>
              <a:t>contd</a:t>
            </a:r>
            <a:endParaRPr lang="en-US"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0" y="770021"/>
            <a:ext cx="9144000" cy="3994484"/>
          </a:xfrm>
        </p:spPr>
        <p:txBody>
          <a:bodyPr>
            <a:noAutofit/>
          </a:bodyPr>
          <a:lstStyle/>
          <a:p>
            <a:endParaRPr lang="en-US" sz="1400" dirty="0"/>
          </a:p>
          <a:p>
            <a:pPr algn="just"/>
            <a:r>
              <a:rPr lang="en-US" sz="1600" dirty="0"/>
              <a:t>In oracle 10g, CLOB values are implicitly converted to varchar2. In prior versions, you first retrieved the CLOB locator value from the column into a CLOB variable, and then read the LOB contents specifying the amount and offset in the DBMS_LOB.READ procedure as follows :</a:t>
            </a:r>
          </a:p>
          <a:p>
            <a:pPr algn="just">
              <a:buNone/>
            </a:pPr>
            <a:r>
              <a:rPr lang="en-US" sz="1600" dirty="0"/>
              <a:t> 	</a:t>
            </a:r>
            <a:r>
              <a:rPr lang="en-US" sz="1600" dirty="0">
                <a:ln>
                  <a:solidFill>
                    <a:srgbClr val="00B0F0"/>
                  </a:solidFill>
                </a:ln>
                <a:solidFill>
                  <a:srgbClr val="00B0F0"/>
                </a:solidFill>
              </a:rPr>
              <a:t>declare</a:t>
            </a:r>
          </a:p>
          <a:p>
            <a:pPr algn="just">
              <a:buNone/>
            </a:pPr>
            <a:r>
              <a:rPr lang="en-US" sz="1600" dirty="0">
                <a:ln>
                  <a:solidFill>
                    <a:srgbClr val="00B0F0"/>
                  </a:solidFill>
                </a:ln>
                <a:solidFill>
                  <a:srgbClr val="00B0F0"/>
                </a:solidFill>
              </a:rPr>
              <a:t>		</a:t>
            </a:r>
            <a:r>
              <a:rPr lang="en-US" sz="1600" dirty="0" err="1">
                <a:ln>
                  <a:solidFill>
                    <a:srgbClr val="00B0F0"/>
                  </a:solidFill>
                </a:ln>
                <a:solidFill>
                  <a:srgbClr val="00B0F0"/>
                </a:solidFill>
              </a:rPr>
              <a:t>Rlob</a:t>
            </a:r>
            <a:r>
              <a:rPr lang="en-US" sz="1600" dirty="0">
                <a:ln>
                  <a:solidFill>
                    <a:srgbClr val="00B0F0"/>
                  </a:solidFill>
                </a:ln>
                <a:solidFill>
                  <a:srgbClr val="00B0F0"/>
                </a:solidFill>
              </a:rPr>
              <a:t> </a:t>
            </a:r>
            <a:r>
              <a:rPr lang="en-US" sz="1600" dirty="0" err="1">
                <a:ln>
                  <a:solidFill>
                    <a:srgbClr val="00B0F0"/>
                  </a:solidFill>
                </a:ln>
                <a:solidFill>
                  <a:srgbClr val="00B0F0"/>
                </a:solidFill>
              </a:rPr>
              <a:t>clob</a:t>
            </a:r>
            <a:r>
              <a:rPr lang="en-US" sz="1600" dirty="0">
                <a:ln>
                  <a:solidFill>
                    <a:srgbClr val="00B0F0"/>
                  </a:solidFill>
                </a:ln>
                <a:solidFill>
                  <a:srgbClr val="00B0F0"/>
                </a:solidFill>
              </a:rPr>
              <a:t>;</a:t>
            </a:r>
          </a:p>
          <a:p>
            <a:pPr algn="just">
              <a:buNone/>
            </a:pPr>
            <a:r>
              <a:rPr lang="en-US" sz="1600" dirty="0">
                <a:ln>
                  <a:solidFill>
                    <a:srgbClr val="00B0F0"/>
                  </a:solidFill>
                </a:ln>
                <a:solidFill>
                  <a:srgbClr val="00B0F0"/>
                </a:solidFill>
              </a:rPr>
              <a:t>		Text varchar2(2000);</a:t>
            </a:r>
          </a:p>
          <a:p>
            <a:pPr algn="just">
              <a:buNone/>
            </a:pPr>
            <a:r>
              <a:rPr lang="en-US" sz="1600" dirty="0">
                <a:ln>
                  <a:solidFill>
                    <a:srgbClr val="00B0F0"/>
                  </a:solidFill>
                </a:ln>
                <a:solidFill>
                  <a:srgbClr val="00B0F0"/>
                </a:solidFill>
              </a:rPr>
              <a:t>		Amt number:=4;</a:t>
            </a:r>
          </a:p>
          <a:p>
            <a:pPr algn="just">
              <a:buNone/>
            </a:pPr>
            <a:r>
              <a:rPr lang="en-US" sz="1600" dirty="0">
                <a:ln>
                  <a:solidFill>
                    <a:srgbClr val="00B0F0"/>
                  </a:solidFill>
                </a:ln>
                <a:solidFill>
                  <a:srgbClr val="00B0F0"/>
                </a:solidFill>
              </a:rPr>
              <a:t>		Offset number:=3;</a:t>
            </a:r>
          </a:p>
          <a:p>
            <a:pPr algn="just">
              <a:buNone/>
            </a:pPr>
            <a:r>
              <a:rPr lang="en-US" sz="1600" dirty="0">
                <a:ln>
                  <a:solidFill>
                    <a:srgbClr val="00B0F0"/>
                  </a:solidFill>
                </a:ln>
                <a:solidFill>
                  <a:srgbClr val="00B0F0"/>
                </a:solidFill>
              </a:rPr>
              <a:t>	begin</a:t>
            </a:r>
          </a:p>
          <a:p>
            <a:pPr algn="just">
              <a:buNone/>
            </a:pPr>
            <a:r>
              <a:rPr lang="en-US" sz="1600" dirty="0">
                <a:ln>
                  <a:solidFill>
                    <a:srgbClr val="00B0F0"/>
                  </a:solidFill>
                </a:ln>
                <a:solidFill>
                  <a:srgbClr val="00B0F0"/>
                </a:solidFill>
              </a:rPr>
              <a:t>		Select resume into </a:t>
            </a:r>
            <a:r>
              <a:rPr lang="en-US" sz="1600" dirty="0" err="1">
                <a:ln>
                  <a:solidFill>
                    <a:srgbClr val="00B0F0"/>
                  </a:solidFill>
                </a:ln>
                <a:solidFill>
                  <a:srgbClr val="00B0F0"/>
                </a:solidFill>
              </a:rPr>
              <a:t>rlob</a:t>
            </a:r>
            <a:r>
              <a:rPr lang="en-US" sz="1600" dirty="0">
                <a:ln>
                  <a:solidFill>
                    <a:srgbClr val="00B0F0"/>
                  </a:solidFill>
                </a:ln>
                <a:solidFill>
                  <a:srgbClr val="00B0F0"/>
                </a:solidFill>
              </a:rPr>
              <a:t> from </a:t>
            </a:r>
            <a:r>
              <a:rPr lang="en-US" sz="1600" dirty="0" err="1">
                <a:ln>
                  <a:solidFill>
                    <a:srgbClr val="00B0F0"/>
                  </a:solidFill>
                </a:ln>
                <a:solidFill>
                  <a:srgbClr val="00B0F0"/>
                </a:solidFill>
              </a:rPr>
              <a:t>emp_hiredata</a:t>
            </a:r>
            <a:r>
              <a:rPr lang="en-US" sz="1600" dirty="0">
                <a:ln>
                  <a:solidFill>
                    <a:srgbClr val="00B0F0"/>
                  </a:solidFill>
                </a:ln>
                <a:solidFill>
                  <a:srgbClr val="00B0F0"/>
                </a:solidFill>
              </a:rPr>
              <a:t> where </a:t>
            </a:r>
            <a:r>
              <a:rPr lang="en-US" sz="1600" dirty="0" err="1">
                <a:ln>
                  <a:solidFill>
                    <a:srgbClr val="00B0F0"/>
                  </a:solidFill>
                </a:ln>
                <a:solidFill>
                  <a:srgbClr val="00B0F0"/>
                </a:solidFill>
              </a:rPr>
              <a:t>employee_id</a:t>
            </a:r>
            <a:r>
              <a:rPr lang="en-US" sz="1600" dirty="0">
                <a:ln>
                  <a:solidFill>
                    <a:srgbClr val="00B0F0"/>
                  </a:solidFill>
                </a:ln>
                <a:solidFill>
                  <a:srgbClr val="00B0F0"/>
                </a:solidFill>
              </a:rPr>
              <a:t>=170;</a:t>
            </a:r>
          </a:p>
          <a:p>
            <a:pPr algn="just">
              <a:buNone/>
            </a:pPr>
            <a:r>
              <a:rPr lang="en-US" sz="1600" dirty="0">
                <a:ln>
                  <a:solidFill>
                    <a:srgbClr val="00B0F0"/>
                  </a:solidFill>
                </a:ln>
                <a:solidFill>
                  <a:srgbClr val="00B0F0"/>
                </a:solidFill>
              </a:rPr>
              <a:t>		DBMS_LOB.READ(</a:t>
            </a:r>
            <a:r>
              <a:rPr lang="en-US" sz="1600" dirty="0" err="1">
                <a:ln>
                  <a:solidFill>
                    <a:srgbClr val="00B0F0"/>
                  </a:solidFill>
                </a:ln>
                <a:solidFill>
                  <a:srgbClr val="00B0F0"/>
                </a:solidFill>
              </a:rPr>
              <a:t>rlob</a:t>
            </a:r>
            <a:r>
              <a:rPr lang="en-US" sz="1600" dirty="0">
                <a:ln>
                  <a:solidFill>
                    <a:srgbClr val="00B0F0"/>
                  </a:solidFill>
                </a:ln>
                <a:solidFill>
                  <a:srgbClr val="00B0F0"/>
                </a:solidFill>
              </a:rPr>
              <a:t>, amt, offset, text);</a:t>
            </a:r>
          </a:p>
          <a:p>
            <a:pPr algn="just">
              <a:buNone/>
            </a:pPr>
            <a:r>
              <a:rPr lang="en-US" sz="1600" dirty="0">
                <a:ln>
                  <a:solidFill>
                    <a:srgbClr val="00B0F0"/>
                  </a:solidFill>
                </a:ln>
                <a:solidFill>
                  <a:srgbClr val="00B0F0"/>
                </a:solidFill>
              </a:rPr>
              <a:t>		DBMS_OUTPUT.PUT_LINE('TEXT is '|| text);</a:t>
            </a:r>
          </a:p>
          <a:p>
            <a:pPr algn="just">
              <a:buNone/>
            </a:pPr>
            <a:r>
              <a:rPr lang="en-US" sz="1600" dirty="0">
                <a:ln>
                  <a:solidFill>
                    <a:srgbClr val="00B0F0"/>
                  </a:solidFill>
                </a:ln>
                <a:solidFill>
                  <a:srgbClr val="00B0F0"/>
                </a:solidFill>
              </a:rPr>
              <a:t>	End;</a:t>
            </a:r>
          </a:p>
          <a:p>
            <a:pPr algn="just">
              <a:buNone/>
            </a:pPr>
            <a:r>
              <a:rPr lang="en-US" sz="1600" dirty="0">
                <a:ln>
                  <a:solidFill>
                    <a:srgbClr val="00B0F0"/>
                  </a:solidFill>
                </a:ln>
                <a:solidFill>
                  <a:srgbClr val="00B0F0"/>
                </a:solidFill>
              </a:rPr>
              <a:t>	/</a:t>
            </a:r>
          </a:p>
        </p:txBody>
      </p:sp>
      <p:sp>
        <p:nvSpPr>
          <p:cNvPr id="6147" name="Rectangle 3"/>
          <p:cNvSpPr>
            <a:spLocks noGrp="1"/>
          </p:cNvSpPr>
          <p:nvPr>
            <p:ph type="title"/>
          </p:nvPr>
        </p:nvSpPr>
        <p:spPr>
          <a:xfrm>
            <a:off x="465138" y="98992"/>
            <a:ext cx="8402136" cy="536972"/>
          </a:xfrm>
          <a:noFill/>
        </p:spPr>
        <p:txBody>
          <a:bodyPr>
            <a:normAutofit fontScale="90000"/>
          </a:bodyPr>
          <a:lstStyle/>
          <a:p>
            <a:r>
              <a:rPr lang="en-US" sz="1400" b="1" dirty="0">
                <a:latin typeface="Candara"/>
              </a:rPr>
              <a:t>5.21:  DBMS_BLOB  in PLSQL</a:t>
            </a:r>
            <a:r>
              <a:rPr lang="en-US" sz="1400" dirty="0">
                <a:latin typeface="Candara"/>
              </a:rPr>
              <a:t>						</a:t>
            </a:r>
            <a:br>
              <a:rPr lang="en-US" sz="1200" b="1" dirty="0">
                <a:latin typeface="Candara"/>
              </a:rPr>
            </a:br>
            <a:r>
              <a:rPr lang="en-US" dirty="0"/>
              <a:t>Updating LOB by Using DBMS_LOB in PLSQL  …</a:t>
            </a:r>
            <a:r>
              <a:rPr lang="en-US" dirty="0" err="1"/>
              <a:t>contd</a:t>
            </a:r>
            <a:endParaRPr lang="en-US"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0" y="770021"/>
            <a:ext cx="9144000" cy="3994484"/>
          </a:xfrm>
        </p:spPr>
        <p:txBody>
          <a:bodyPr>
            <a:noAutofit/>
          </a:bodyPr>
          <a:lstStyle/>
          <a:p>
            <a:r>
              <a:rPr lang="en-US" sz="1600" dirty="0"/>
              <a:t>You can delete a row containing LOBs :</a:t>
            </a:r>
          </a:p>
          <a:p>
            <a:pPr>
              <a:buNone/>
            </a:pPr>
            <a:r>
              <a:rPr lang="en-US" sz="1600" dirty="0">
                <a:ln>
                  <a:solidFill>
                    <a:srgbClr val="00B0F0"/>
                  </a:solidFill>
                </a:ln>
                <a:solidFill>
                  <a:srgbClr val="00B0F0"/>
                </a:solidFill>
              </a:rPr>
              <a:t>		Delete from </a:t>
            </a:r>
            <a:r>
              <a:rPr lang="en-US" sz="1600" dirty="0" err="1">
                <a:ln>
                  <a:solidFill>
                    <a:srgbClr val="00B0F0"/>
                  </a:solidFill>
                </a:ln>
                <a:solidFill>
                  <a:srgbClr val="00B0F0"/>
                </a:solidFill>
              </a:rPr>
              <a:t>emp_hiredata</a:t>
            </a:r>
            <a:r>
              <a:rPr lang="en-US" sz="1600" dirty="0">
                <a:ln>
                  <a:solidFill>
                    <a:srgbClr val="00B0F0"/>
                  </a:solidFill>
                </a:ln>
                <a:solidFill>
                  <a:srgbClr val="00B0F0"/>
                </a:solidFill>
              </a:rPr>
              <a:t> where </a:t>
            </a:r>
            <a:r>
              <a:rPr lang="en-US" sz="1600" dirty="0" err="1">
                <a:ln>
                  <a:solidFill>
                    <a:srgbClr val="00B0F0"/>
                  </a:solidFill>
                </a:ln>
                <a:solidFill>
                  <a:srgbClr val="00B0F0"/>
                </a:solidFill>
              </a:rPr>
              <a:t>employee_id</a:t>
            </a:r>
            <a:r>
              <a:rPr lang="en-US" sz="1600" dirty="0">
                <a:ln>
                  <a:solidFill>
                    <a:srgbClr val="00B0F0"/>
                  </a:solidFill>
                </a:ln>
                <a:solidFill>
                  <a:srgbClr val="00B0F0"/>
                </a:solidFill>
              </a:rPr>
              <a:t>=405;</a:t>
            </a:r>
          </a:p>
          <a:p>
            <a:pPr>
              <a:buNone/>
            </a:pPr>
            <a:endParaRPr lang="en-US" sz="1600" dirty="0"/>
          </a:p>
          <a:p>
            <a:r>
              <a:rPr lang="en-US" sz="1600" dirty="0"/>
              <a:t>Disassociation of a LOB value from a row :</a:t>
            </a:r>
          </a:p>
          <a:p>
            <a:pPr>
              <a:buNone/>
            </a:pPr>
            <a:r>
              <a:rPr lang="en-US" sz="1600" dirty="0"/>
              <a:t>		</a:t>
            </a:r>
            <a:r>
              <a:rPr lang="en-US" sz="1600" dirty="0">
                <a:ln>
                  <a:solidFill>
                    <a:srgbClr val="00B0F0"/>
                  </a:solidFill>
                </a:ln>
                <a:solidFill>
                  <a:srgbClr val="00B0F0"/>
                </a:solidFill>
              </a:rPr>
              <a:t>Update </a:t>
            </a:r>
            <a:r>
              <a:rPr lang="en-US" sz="1600" dirty="0" err="1">
                <a:ln>
                  <a:solidFill>
                    <a:srgbClr val="00B0F0"/>
                  </a:solidFill>
                </a:ln>
                <a:solidFill>
                  <a:srgbClr val="00B0F0"/>
                </a:solidFill>
              </a:rPr>
              <a:t>emp_hiredata</a:t>
            </a:r>
            <a:r>
              <a:rPr lang="en-US" sz="1600" dirty="0">
                <a:ln>
                  <a:solidFill>
                    <a:srgbClr val="00B0F0"/>
                  </a:solidFill>
                </a:ln>
                <a:solidFill>
                  <a:srgbClr val="00B0F0"/>
                </a:solidFill>
              </a:rPr>
              <a:t> set resume=</a:t>
            </a:r>
            <a:r>
              <a:rPr lang="en-US" sz="1600" dirty="0" err="1">
                <a:ln>
                  <a:solidFill>
                    <a:srgbClr val="00B0F0"/>
                  </a:solidFill>
                </a:ln>
                <a:solidFill>
                  <a:srgbClr val="00B0F0"/>
                </a:solidFill>
              </a:rPr>
              <a:t>empty_clob</a:t>
            </a:r>
            <a:r>
              <a:rPr lang="en-US" sz="1600" dirty="0">
                <a:ln>
                  <a:solidFill>
                    <a:srgbClr val="00B0F0"/>
                  </a:solidFill>
                </a:ln>
                <a:solidFill>
                  <a:srgbClr val="00B0F0"/>
                </a:solidFill>
              </a:rPr>
              <a:t>() where </a:t>
            </a:r>
            <a:r>
              <a:rPr lang="en-US" sz="1600" dirty="0" err="1">
                <a:ln>
                  <a:solidFill>
                    <a:srgbClr val="00B0F0"/>
                  </a:solidFill>
                </a:ln>
                <a:solidFill>
                  <a:srgbClr val="00B0F0"/>
                </a:solidFill>
              </a:rPr>
              <a:t>employee_id</a:t>
            </a:r>
            <a:r>
              <a:rPr lang="en-US" sz="1600" dirty="0">
                <a:ln>
                  <a:solidFill>
                    <a:srgbClr val="00B0F0"/>
                  </a:solidFill>
                </a:ln>
                <a:solidFill>
                  <a:srgbClr val="00B0F0"/>
                </a:solidFill>
              </a:rPr>
              <a:t>=170;</a:t>
            </a:r>
          </a:p>
          <a:p>
            <a:pPr>
              <a:buNone/>
            </a:pPr>
            <a:r>
              <a:rPr lang="en-US" sz="1600" dirty="0">
                <a:ln>
                  <a:solidFill>
                    <a:srgbClr val="00B0F0"/>
                  </a:solidFill>
                </a:ln>
                <a:solidFill>
                  <a:srgbClr val="00B0F0"/>
                </a:solidFill>
              </a:rPr>
              <a:t>		Select count(*) from </a:t>
            </a:r>
            <a:r>
              <a:rPr lang="en-US" sz="1600" dirty="0" err="1">
                <a:ln>
                  <a:solidFill>
                    <a:srgbClr val="00B0F0"/>
                  </a:solidFill>
                </a:ln>
                <a:solidFill>
                  <a:srgbClr val="00B0F0"/>
                </a:solidFill>
              </a:rPr>
              <a:t>emp_hiredata</a:t>
            </a:r>
            <a:r>
              <a:rPr lang="en-US" sz="1600" dirty="0">
                <a:ln>
                  <a:solidFill>
                    <a:srgbClr val="00B0F0"/>
                  </a:solidFill>
                </a:ln>
                <a:solidFill>
                  <a:srgbClr val="00B0F0"/>
                </a:solidFill>
              </a:rPr>
              <a:t> where resume is null;</a:t>
            </a:r>
          </a:p>
          <a:p>
            <a:pPr>
              <a:buNone/>
            </a:pPr>
            <a:r>
              <a:rPr lang="en-US" sz="1600" dirty="0">
                <a:ln>
                  <a:solidFill>
                    <a:srgbClr val="00B0F0"/>
                  </a:solidFill>
                </a:ln>
                <a:solidFill>
                  <a:srgbClr val="00B0F0"/>
                </a:solidFill>
              </a:rPr>
              <a:t>		Or</a:t>
            </a:r>
          </a:p>
          <a:p>
            <a:pPr>
              <a:buNone/>
            </a:pPr>
            <a:r>
              <a:rPr lang="en-US" sz="1600" dirty="0">
                <a:ln>
                  <a:solidFill>
                    <a:srgbClr val="00B0F0"/>
                  </a:solidFill>
                </a:ln>
                <a:solidFill>
                  <a:srgbClr val="00B0F0"/>
                </a:solidFill>
              </a:rPr>
              <a:t>		Update </a:t>
            </a:r>
            <a:r>
              <a:rPr lang="en-US" sz="1600" dirty="0" err="1">
                <a:ln>
                  <a:solidFill>
                    <a:srgbClr val="00B0F0"/>
                  </a:solidFill>
                </a:ln>
                <a:solidFill>
                  <a:srgbClr val="00B0F0"/>
                </a:solidFill>
              </a:rPr>
              <a:t>emp_hiredata</a:t>
            </a:r>
            <a:r>
              <a:rPr lang="en-US" sz="1600" dirty="0">
                <a:ln>
                  <a:solidFill>
                    <a:srgbClr val="00B0F0"/>
                  </a:solidFill>
                </a:ln>
                <a:solidFill>
                  <a:srgbClr val="00B0F0"/>
                </a:solidFill>
              </a:rPr>
              <a:t> set resume=null where </a:t>
            </a:r>
            <a:r>
              <a:rPr lang="en-US" sz="1600" dirty="0" err="1">
                <a:ln>
                  <a:solidFill>
                    <a:srgbClr val="00B0F0"/>
                  </a:solidFill>
                </a:ln>
                <a:solidFill>
                  <a:srgbClr val="00B0F0"/>
                </a:solidFill>
              </a:rPr>
              <a:t>employee_id</a:t>
            </a:r>
            <a:r>
              <a:rPr lang="en-US" sz="1600" dirty="0">
                <a:ln>
                  <a:solidFill>
                    <a:srgbClr val="00B0F0"/>
                  </a:solidFill>
                </a:ln>
                <a:solidFill>
                  <a:srgbClr val="00B0F0"/>
                </a:solidFill>
              </a:rPr>
              <a:t>=405;</a:t>
            </a:r>
          </a:p>
          <a:p>
            <a:pPr>
              <a:buNone/>
            </a:pPr>
            <a:r>
              <a:rPr lang="en-US" sz="1600" dirty="0">
                <a:ln>
                  <a:solidFill>
                    <a:srgbClr val="00B0F0"/>
                  </a:solidFill>
                </a:ln>
                <a:solidFill>
                  <a:srgbClr val="00B0F0"/>
                </a:solidFill>
              </a:rPr>
              <a:t>		Select count(*) from </a:t>
            </a:r>
            <a:r>
              <a:rPr lang="en-US" sz="1600" dirty="0" err="1">
                <a:ln>
                  <a:solidFill>
                    <a:srgbClr val="00B0F0"/>
                  </a:solidFill>
                </a:ln>
                <a:solidFill>
                  <a:srgbClr val="00B0F0"/>
                </a:solidFill>
              </a:rPr>
              <a:t>emp_hiredata</a:t>
            </a:r>
            <a:r>
              <a:rPr lang="en-US" sz="1600" dirty="0">
                <a:ln>
                  <a:solidFill>
                    <a:srgbClr val="00B0F0"/>
                  </a:solidFill>
                </a:ln>
                <a:solidFill>
                  <a:srgbClr val="00B0F0"/>
                </a:solidFill>
              </a:rPr>
              <a:t> where resume is null;</a:t>
            </a:r>
          </a:p>
          <a:p>
            <a:pPr>
              <a:buNone/>
            </a:pPr>
            <a:r>
              <a:rPr lang="en-US" sz="1600" dirty="0">
                <a:ln>
                  <a:solidFill>
                    <a:srgbClr val="00B0F0"/>
                  </a:solidFill>
                </a:ln>
                <a:solidFill>
                  <a:srgbClr val="00B0F0"/>
                </a:solidFill>
              </a:rPr>
              <a:t>		Or</a:t>
            </a:r>
          </a:p>
          <a:p>
            <a:pPr>
              <a:buNone/>
            </a:pPr>
            <a:r>
              <a:rPr lang="en-US" sz="1600" dirty="0">
                <a:ln>
                  <a:solidFill>
                    <a:srgbClr val="00B0F0"/>
                  </a:solidFill>
                </a:ln>
                <a:solidFill>
                  <a:srgbClr val="00B0F0"/>
                </a:solidFill>
              </a:rPr>
              <a:t>		 Update </a:t>
            </a:r>
            <a:r>
              <a:rPr lang="en-US" sz="1600" dirty="0" err="1">
                <a:ln>
                  <a:solidFill>
                    <a:srgbClr val="00B0F0"/>
                  </a:solidFill>
                </a:ln>
                <a:solidFill>
                  <a:srgbClr val="00B0F0"/>
                </a:solidFill>
              </a:rPr>
              <a:t>emp_hiredata</a:t>
            </a:r>
            <a:r>
              <a:rPr lang="en-US" sz="1600" dirty="0">
                <a:ln>
                  <a:solidFill>
                    <a:srgbClr val="00B0F0"/>
                  </a:solidFill>
                </a:ln>
                <a:solidFill>
                  <a:srgbClr val="00B0F0"/>
                </a:solidFill>
              </a:rPr>
              <a:t> set resume='' where </a:t>
            </a:r>
            <a:r>
              <a:rPr lang="en-US" sz="1600" dirty="0" err="1">
                <a:ln>
                  <a:solidFill>
                    <a:srgbClr val="00B0F0"/>
                  </a:solidFill>
                </a:ln>
                <a:solidFill>
                  <a:srgbClr val="00B0F0"/>
                </a:solidFill>
              </a:rPr>
              <a:t>employee_id</a:t>
            </a:r>
            <a:r>
              <a:rPr lang="en-US" sz="1600" dirty="0">
                <a:ln>
                  <a:solidFill>
                    <a:srgbClr val="00B0F0"/>
                  </a:solidFill>
                </a:ln>
                <a:solidFill>
                  <a:srgbClr val="00B0F0"/>
                </a:solidFill>
              </a:rPr>
              <a:t>=170; </a:t>
            </a:r>
          </a:p>
          <a:p>
            <a:pPr>
              <a:buNone/>
            </a:pPr>
            <a:r>
              <a:rPr lang="en-US" sz="1600" dirty="0">
                <a:ln>
                  <a:solidFill>
                    <a:srgbClr val="00B0F0"/>
                  </a:solidFill>
                </a:ln>
                <a:solidFill>
                  <a:srgbClr val="00B0F0"/>
                </a:solidFill>
              </a:rPr>
              <a:t>		Select count(*) from </a:t>
            </a:r>
            <a:r>
              <a:rPr lang="en-US" sz="1600" dirty="0" err="1">
                <a:ln>
                  <a:solidFill>
                    <a:srgbClr val="00B0F0"/>
                  </a:solidFill>
                </a:ln>
                <a:solidFill>
                  <a:srgbClr val="00B0F0"/>
                </a:solidFill>
              </a:rPr>
              <a:t>emp_hiredata</a:t>
            </a:r>
            <a:r>
              <a:rPr lang="en-US" sz="1600" dirty="0">
                <a:ln>
                  <a:solidFill>
                    <a:srgbClr val="00B0F0"/>
                  </a:solidFill>
                </a:ln>
                <a:solidFill>
                  <a:srgbClr val="00B0F0"/>
                </a:solidFill>
              </a:rPr>
              <a:t> where resume is null;</a:t>
            </a:r>
          </a:p>
          <a:p>
            <a:r>
              <a:rPr lang="en-US" sz="1600" dirty="0"/>
              <a:t> Thus, to destroy only the reference to the LOB, you must update the row by replacing the LOB column value with NULL or an empty string(‘’), or by using the </a:t>
            </a:r>
            <a:r>
              <a:rPr lang="en-US" sz="1600" dirty="0" err="1"/>
              <a:t>empty_clob</a:t>
            </a:r>
            <a:r>
              <a:rPr lang="en-US" sz="1600" dirty="0"/>
              <a:t>()/</a:t>
            </a:r>
            <a:r>
              <a:rPr lang="en-US" sz="1600" dirty="0" err="1"/>
              <a:t>empty_blob</a:t>
            </a:r>
            <a:r>
              <a:rPr lang="en-US" sz="1600" dirty="0"/>
              <a:t>() function.</a:t>
            </a:r>
            <a:endParaRPr lang="en-US" sz="1600" dirty="0">
              <a:ln>
                <a:solidFill>
                  <a:srgbClr val="00B0F0"/>
                </a:solidFill>
              </a:ln>
              <a:solidFill>
                <a:srgbClr val="00B0F0"/>
              </a:solidFill>
            </a:endParaRPr>
          </a:p>
        </p:txBody>
      </p:sp>
      <p:sp>
        <p:nvSpPr>
          <p:cNvPr id="6147" name="Rectangle 3"/>
          <p:cNvSpPr>
            <a:spLocks noGrp="1"/>
          </p:cNvSpPr>
          <p:nvPr>
            <p:ph type="title"/>
          </p:nvPr>
        </p:nvSpPr>
        <p:spPr>
          <a:xfrm>
            <a:off x="240632" y="98992"/>
            <a:ext cx="8626642" cy="536972"/>
          </a:xfrm>
          <a:noFill/>
        </p:spPr>
        <p:txBody>
          <a:bodyPr>
            <a:normAutofit fontScale="90000"/>
          </a:bodyPr>
          <a:lstStyle/>
          <a:p>
            <a:r>
              <a:rPr lang="en-US" sz="1400" b="1" dirty="0">
                <a:latin typeface="Candara"/>
              </a:rPr>
              <a:t>5.22:  Removing LOBs</a:t>
            </a:r>
            <a:r>
              <a:rPr lang="en-US" sz="1400" dirty="0">
                <a:latin typeface="Candara"/>
              </a:rPr>
              <a:t>						</a:t>
            </a:r>
            <a:br>
              <a:rPr lang="en-US" sz="1200" b="1" dirty="0">
                <a:latin typeface="Candara"/>
              </a:rPr>
            </a:br>
            <a:r>
              <a:rPr lang="en-US" dirty="0"/>
              <a:t>Setting LOBs to Empty-LOB pointer or NULL</a:t>
            </a:r>
            <a:endParaRPr lang="en-US"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0" y="853686"/>
            <a:ext cx="9144000" cy="4006516"/>
          </a:xfrm>
        </p:spPr>
        <p:txBody>
          <a:bodyPr>
            <a:noAutofit/>
          </a:bodyPr>
          <a:lstStyle/>
          <a:p>
            <a:pPr>
              <a:buNone/>
            </a:pPr>
            <a:r>
              <a:rPr lang="en-US" sz="1300" dirty="0">
                <a:ln>
                  <a:solidFill>
                    <a:srgbClr val="00B0F0"/>
                  </a:solidFill>
                </a:ln>
                <a:solidFill>
                  <a:srgbClr val="00B0F0"/>
                </a:solidFill>
              </a:rPr>
              <a:t>create table </a:t>
            </a:r>
            <a:r>
              <a:rPr lang="en-US" sz="1300" dirty="0" err="1">
                <a:ln>
                  <a:solidFill>
                    <a:srgbClr val="00B0F0"/>
                  </a:solidFill>
                </a:ln>
                <a:solidFill>
                  <a:srgbClr val="00B0F0"/>
                </a:solidFill>
              </a:rPr>
              <a:t>loadalbum</a:t>
            </a:r>
            <a:r>
              <a:rPr lang="en-US" sz="1300" dirty="0">
                <a:ln>
                  <a:solidFill>
                    <a:srgbClr val="00B0F0"/>
                  </a:solidFill>
                </a:ln>
                <a:solidFill>
                  <a:srgbClr val="00B0F0"/>
                </a:solidFill>
              </a:rPr>
              <a:t>(name varchar2(100), image blob);</a:t>
            </a:r>
          </a:p>
          <a:p>
            <a:pPr>
              <a:buNone/>
            </a:pPr>
            <a:r>
              <a:rPr lang="en-US" sz="1300" dirty="0">
                <a:ln>
                  <a:solidFill>
                    <a:srgbClr val="00B0F0"/>
                  </a:solidFill>
                </a:ln>
                <a:solidFill>
                  <a:srgbClr val="00B0F0"/>
                </a:solidFill>
              </a:rPr>
              <a:t>CREATE OR REPLACE DIRECTORY DOCUMENTS AS 'c:\photos';</a:t>
            </a:r>
          </a:p>
          <a:p>
            <a:pPr>
              <a:buNone/>
            </a:pPr>
            <a:r>
              <a:rPr lang="en-US" sz="600" dirty="0">
                <a:ln>
                  <a:solidFill>
                    <a:srgbClr val="00B0F0"/>
                  </a:solidFill>
                </a:ln>
                <a:solidFill>
                  <a:srgbClr val="00B0F0"/>
                </a:solidFill>
              </a:rPr>
              <a:t> </a:t>
            </a:r>
          </a:p>
          <a:p>
            <a:pPr>
              <a:buNone/>
            </a:pPr>
            <a:r>
              <a:rPr lang="en-US" sz="1300" dirty="0">
                <a:ln>
                  <a:solidFill>
                    <a:srgbClr val="00B0F0"/>
                  </a:solidFill>
                </a:ln>
                <a:solidFill>
                  <a:srgbClr val="00B0F0"/>
                </a:solidFill>
              </a:rPr>
              <a:t>declare</a:t>
            </a:r>
          </a:p>
          <a:p>
            <a:pPr>
              <a:buNone/>
            </a:pPr>
            <a:r>
              <a:rPr lang="en-US" sz="1300" dirty="0">
                <a:ln>
                  <a:solidFill>
                    <a:srgbClr val="00B0F0"/>
                  </a:solidFill>
                </a:ln>
                <a:solidFill>
                  <a:srgbClr val="00B0F0"/>
                </a:solidFill>
              </a:rPr>
              <a:t>    	</a:t>
            </a:r>
            <a:r>
              <a:rPr lang="en-US" sz="1300" dirty="0" err="1">
                <a:ln>
                  <a:solidFill>
                    <a:srgbClr val="00B0F0"/>
                  </a:solidFill>
                </a:ln>
                <a:solidFill>
                  <a:srgbClr val="00B0F0"/>
                </a:solidFill>
              </a:rPr>
              <a:t>l_blob</a:t>
            </a:r>
            <a:r>
              <a:rPr lang="en-US" sz="1300" dirty="0">
                <a:ln>
                  <a:solidFill>
                    <a:srgbClr val="00B0F0"/>
                  </a:solidFill>
                </a:ln>
                <a:solidFill>
                  <a:srgbClr val="00B0F0"/>
                </a:solidFill>
              </a:rPr>
              <a:t>    blob;</a:t>
            </a:r>
          </a:p>
          <a:p>
            <a:pPr>
              <a:buNone/>
            </a:pPr>
            <a:r>
              <a:rPr lang="en-US" sz="1300" dirty="0">
                <a:ln>
                  <a:solidFill>
                    <a:srgbClr val="00B0F0"/>
                  </a:solidFill>
                </a:ln>
                <a:solidFill>
                  <a:srgbClr val="00B0F0"/>
                </a:solidFill>
              </a:rPr>
              <a:t>    	</a:t>
            </a:r>
            <a:r>
              <a:rPr lang="en-US" sz="1300" dirty="0" err="1">
                <a:ln>
                  <a:solidFill>
                    <a:srgbClr val="00B0F0"/>
                  </a:solidFill>
                </a:ln>
                <a:solidFill>
                  <a:srgbClr val="00B0F0"/>
                </a:solidFill>
              </a:rPr>
              <a:t>l_bfile</a:t>
            </a:r>
            <a:r>
              <a:rPr lang="en-US" sz="1300" dirty="0">
                <a:ln>
                  <a:solidFill>
                    <a:srgbClr val="00B0F0"/>
                  </a:solidFill>
                </a:ln>
                <a:solidFill>
                  <a:srgbClr val="00B0F0"/>
                </a:solidFill>
              </a:rPr>
              <a:t>    </a:t>
            </a:r>
            <a:r>
              <a:rPr lang="en-US" sz="1300" dirty="0" err="1">
                <a:ln>
                  <a:solidFill>
                    <a:srgbClr val="00B0F0"/>
                  </a:solidFill>
                </a:ln>
                <a:solidFill>
                  <a:srgbClr val="00B0F0"/>
                </a:solidFill>
              </a:rPr>
              <a:t>bfile</a:t>
            </a:r>
            <a:r>
              <a:rPr lang="en-US" sz="1300" dirty="0">
                <a:ln>
                  <a:solidFill>
                    <a:srgbClr val="00B0F0"/>
                  </a:solidFill>
                </a:ln>
                <a:solidFill>
                  <a:srgbClr val="00B0F0"/>
                </a:solidFill>
              </a:rPr>
              <a:t>;</a:t>
            </a:r>
          </a:p>
          <a:p>
            <a:pPr>
              <a:buNone/>
            </a:pPr>
            <a:r>
              <a:rPr lang="en-US" sz="1300" dirty="0">
                <a:ln>
                  <a:solidFill>
                    <a:srgbClr val="00B0F0"/>
                  </a:solidFill>
                </a:ln>
                <a:solidFill>
                  <a:srgbClr val="00B0F0"/>
                </a:solidFill>
              </a:rPr>
              <a:t>begin</a:t>
            </a:r>
          </a:p>
          <a:p>
            <a:pPr>
              <a:buNone/>
            </a:pPr>
            <a:r>
              <a:rPr lang="en-US" sz="1300" dirty="0">
                <a:ln>
                  <a:solidFill>
                    <a:srgbClr val="00B0F0"/>
                  </a:solidFill>
                </a:ln>
                <a:solidFill>
                  <a:srgbClr val="00B0F0"/>
                </a:solidFill>
              </a:rPr>
              <a:t>		insert into </a:t>
            </a:r>
            <a:r>
              <a:rPr lang="en-US" sz="1300" dirty="0" err="1">
                <a:ln>
                  <a:solidFill>
                    <a:srgbClr val="00B0F0"/>
                  </a:solidFill>
                </a:ln>
                <a:solidFill>
                  <a:srgbClr val="00B0F0"/>
                </a:solidFill>
              </a:rPr>
              <a:t>loadalbum</a:t>
            </a:r>
            <a:r>
              <a:rPr lang="en-US" sz="1300" dirty="0">
                <a:ln>
                  <a:solidFill>
                    <a:srgbClr val="00B0F0"/>
                  </a:solidFill>
                </a:ln>
                <a:solidFill>
                  <a:srgbClr val="00B0F0"/>
                </a:solidFill>
              </a:rPr>
              <a:t> values ('</a:t>
            </a:r>
            <a:r>
              <a:rPr lang="en-US" sz="1300" dirty="0" err="1">
                <a:ln>
                  <a:solidFill>
                    <a:srgbClr val="00B0F0"/>
                  </a:solidFill>
                </a:ln>
                <a:solidFill>
                  <a:srgbClr val="00B0F0"/>
                </a:solidFill>
              </a:rPr>
              <a:t>saloni</a:t>
            </a:r>
            <a:r>
              <a:rPr lang="en-US" sz="1300" dirty="0">
                <a:ln>
                  <a:solidFill>
                    <a:srgbClr val="00B0F0"/>
                  </a:solidFill>
                </a:ln>
                <a:solidFill>
                  <a:srgbClr val="00B0F0"/>
                </a:solidFill>
              </a:rPr>
              <a:t>', EMPTY_BLOB()) returning image into </a:t>
            </a:r>
            <a:r>
              <a:rPr lang="en-US" sz="1300" dirty="0" err="1">
                <a:ln>
                  <a:solidFill>
                    <a:srgbClr val="00B0F0"/>
                  </a:solidFill>
                </a:ln>
                <a:solidFill>
                  <a:srgbClr val="00B0F0"/>
                </a:solidFill>
              </a:rPr>
              <a:t>l_blob</a:t>
            </a:r>
            <a:r>
              <a:rPr lang="en-US" sz="1300" dirty="0">
                <a:ln>
                  <a:solidFill>
                    <a:srgbClr val="00B0F0"/>
                  </a:solidFill>
                </a:ln>
                <a:solidFill>
                  <a:srgbClr val="00B0F0"/>
                </a:solidFill>
              </a:rPr>
              <a:t>;    </a:t>
            </a:r>
          </a:p>
          <a:p>
            <a:pPr>
              <a:buNone/>
            </a:pPr>
            <a:r>
              <a:rPr lang="en-US" sz="1300" dirty="0">
                <a:ln>
                  <a:solidFill>
                    <a:srgbClr val="00B0F0"/>
                  </a:solidFill>
                </a:ln>
                <a:solidFill>
                  <a:srgbClr val="00B0F0"/>
                </a:solidFill>
              </a:rPr>
              <a:t>		-- First create a Empty binary large object and get a reference</a:t>
            </a:r>
          </a:p>
          <a:p>
            <a:pPr>
              <a:buNone/>
            </a:pPr>
            <a:r>
              <a:rPr lang="en-US" sz="1300" dirty="0">
                <a:ln>
                  <a:solidFill>
                    <a:srgbClr val="00B0F0"/>
                  </a:solidFill>
                </a:ln>
                <a:solidFill>
                  <a:srgbClr val="00B0F0"/>
                </a:solidFill>
              </a:rPr>
              <a:t>     	</a:t>
            </a:r>
            <a:r>
              <a:rPr lang="en-US" sz="1300" dirty="0" err="1">
                <a:ln>
                  <a:solidFill>
                    <a:srgbClr val="00B0F0"/>
                  </a:solidFill>
                </a:ln>
                <a:solidFill>
                  <a:srgbClr val="00B0F0"/>
                </a:solidFill>
              </a:rPr>
              <a:t>l_bfile</a:t>
            </a:r>
            <a:r>
              <a:rPr lang="en-US" sz="1300" dirty="0">
                <a:ln>
                  <a:solidFill>
                    <a:srgbClr val="00B0F0"/>
                  </a:solidFill>
                </a:ln>
                <a:solidFill>
                  <a:srgbClr val="00B0F0"/>
                </a:solidFill>
              </a:rPr>
              <a:t> := </a:t>
            </a:r>
            <a:r>
              <a:rPr lang="en-US" sz="1300" dirty="0" err="1">
                <a:ln>
                  <a:solidFill>
                    <a:srgbClr val="00B0F0"/>
                  </a:solidFill>
                </a:ln>
                <a:solidFill>
                  <a:srgbClr val="00B0F0"/>
                </a:solidFill>
              </a:rPr>
              <a:t>bfilename</a:t>
            </a:r>
            <a:r>
              <a:rPr lang="en-US" sz="1300" dirty="0">
                <a:ln>
                  <a:solidFill>
                    <a:srgbClr val="00B0F0"/>
                  </a:solidFill>
                </a:ln>
                <a:solidFill>
                  <a:srgbClr val="00B0F0"/>
                </a:solidFill>
              </a:rPr>
              <a:t>('DOCUMENTS', 'salonig.jpg' );  </a:t>
            </a:r>
          </a:p>
          <a:p>
            <a:pPr>
              <a:buNone/>
            </a:pPr>
            <a:r>
              <a:rPr lang="en-US" sz="1300" dirty="0">
                <a:ln>
                  <a:solidFill>
                    <a:srgbClr val="00B0F0"/>
                  </a:solidFill>
                </a:ln>
                <a:solidFill>
                  <a:srgbClr val="00B0F0"/>
                </a:solidFill>
              </a:rPr>
              <a:t>		--Get the pointer to a file in directory</a:t>
            </a:r>
          </a:p>
          <a:p>
            <a:pPr>
              <a:buNone/>
            </a:pPr>
            <a:r>
              <a:rPr lang="en-US" sz="1300" dirty="0">
                <a:ln>
                  <a:solidFill>
                    <a:srgbClr val="00B0F0"/>
                  </a:solidFill>
                </a:ln>
                <a:solidFill>
                  <a:srgbClr val="00B0F0"/>
                </a:solidFill>
              </a:rPr>
              <a:t>    	</a:t>
            </a:r>
            <a:r>
              <a:rPr lang="en-US" sz="1300" dirty="0" err="1">
                <a:ln>
                  <a:solidFill>
                    <a:srgbClr val="00B0F0"/>
                  </a:solidFill>
                </a:ln>
                <a:solidFill>
                  <a:srgbClr val="00B0F0"/>
                </a:solidFill>
              </a:rPr>
              <a:t>dbms_lob.fileopen</a:t>
            </a:r>
            <a:r>
              <a:rPr lang="en-US" sz="1300" dirty="0">
                <a:ln>
                  <a:solidFill>
                    <a:srgbClr val="00B0F0"/>
                  </a:solidFill>
                </a:ln>
                <a:solidFill>
                  <a:srgbClr val="00B0F0"/>
                </a:solidFill>
              </a:rPr>
              <a:t>(</a:t>
            </a:r>
            <a:r>
              <a:rPr lang="en-US" sz="1300" dirty="0" err="1">
                <a:ln>
                  <a:solidFill>
                    <a:srgbClr val="00B0F0"/>
                  </a:solidFill>
                </a:ln>
                <a:solidFill>
                  <a:srgbClr val="00B0F0"/>
                </a:solidFill>
              </a:rPr>
              <a:t>l_bfile</a:t>
            </a:r>
            <a:r>
              <a:rPr lang="en-US" sz="1300" dirty="0">
                <a:ln>
                  <a:solidFill>
                    <a:srgbClr val="00B0F0"/>
                  </a:solidFill>
                </a:ln>
                <a:solidFill>
                  <a:srgbClr val="00B0F0"/>
                </a:solidFill>
              </a:rPr>
              <a:t> );                                       </a:t>
            </a:r>
          </a:p>
          <a:p>
            <a:pPr>
              <a:buNone/>
            </a:pPr>
            <a:r>
              <a:rPr lang="en-US" sz="1300" dirty="0">
                <a:ln>
                  <a:solidFill>
                    <a:srgbClr val="00B0F0"/>
                  </a:solidFill>
                </a:ln>
                <a:solidFill>
                  <a:srgbClr val="00B0F0"/>
                </a:solidFill>
              </a:rPr>
              <a:t>		-- Open file</a:t>
            </a:r>
          </a:p>
          <a:p>
            <a:pPr>
              <a:buNone/>
            </a:pPr>
            <a:r>
              <a:rPr lang="en-US" sz="1300" dirty="0">
                <a:ln>
                  <a:solidFill>
                    <a:srgbClr val="00B0F0"/>
                  </a:solidFill>
                </a:ln>
                <a:solidFill>
                  <a:srgbClr val="00B0F0"/>
                </a:solidFill>
              </a:rPr>
              <a:t>    	</a:t>
            </a:r>
            <a:r>
              <a:rPr lang="en-US" sz="1300" dirty="0" err="1">
                <a:ln>
                  <a:solidFill>
                    <a:srgbClr val="00B0F0"/>
                  </a:solidFill>
                </a:ln>
                <a:solidFill>
                  <a:srgbClr val="00B0F0"/>
                </a:solidFill>
              </a:rPr>
              <a:t>dbms_lob.loadfromfile</a:t>
            </a:r>
            <a:r>
              <a:rPr lang="en-US" sz="1300" dirty="0">
                <a:ln>
                  <a:solidFill>
                    <a:srgbClr val="00B0F0"/>
                  </a:solidFill>
                </a:ln>
                <a:solidFill>
                  <a:srgbClr val="00B0F0"/>
                </a:solidFill>
              </a:rPr>
              <a:t>( </a:t>
            </a:r>
            <a:r>
              <a:rPr lang="en-US" sz="1300" dirty="0" err="1">
                <a:ln>
                  <a:solidFill>
                    <a:srgbClr val="00B0F0"/>
                  </a:solidFill>
                </a:ln>
                <a:solidFill>
                  <a:srgbClr val="00B0F0"/>
                </a:solidFill>
              </a:rPr>
              <a:t>l_blob</a:t>
            </a:r>
            <a:r>
              <a:rPr lang="en-US" sz="1300" dirty="0">
                <a:ln>
                  <a:solidFill>
                    <a:srgbClr val="00B0F0"/>
                  </a:solidFill>
                </a:ln>
                <a:solidFill>
                  <a:srgbClr val="00B0F0"/>
                </a:solidFill>
              </a:rPr>
              <a:t>, </a:t>
            </a:r>
            <a:r>
              <a:rPr lang="en-US" sz="1300" dirty="0" err="1">
                <a:ln>
                  <a:solidFill>
                    <a:srgbClr val="00B0F0"/>
                  </a:solidFill>
                </a:ln>
                <a:solidFill>
                  <a:srgbClr val="00B0F0"/>
                </a:solidFill>
              </a:rPr>
              <a:t>l_bfile</a:t>
            </a:r>
            <a:r>
              <a:rPr lang="en-US" sz="1300" dirty="0">
                <a:ln>
                  <a:solidFill>
                    <a:srgbClr val="00B0F0"/>
                  </a:solidFill>
                </a:ln>
                <a:solidFill>
                  <a:srgbClr val="00B0F0"/>
                </a:solidFill>
              </a:rPr>
              <a:t>, </a:t>
            </a:r>
            <a:r>
              <a:rPr lang="en-US" sz="1300" dirty="0" err="1">
                <a:ln>
                  <a:solidFill>
                    <a:srgbClr val="00B0F0"/>
                  </a:solidFill>
                </a:ln>
                <a:solidFill>
                  <a:srgbClr val="00B0F0"/>
                </a:solidFill>
              </a:rPr>
              <a:t>dbms_lob.getlength</a:t>
            </a:r>
            <a:r>
              <a:rPr lang="en-US" sz="1300" dirty="0">
                <a:ln>
                  <a:solidFill>
                    <a:srgbClr val="00B0F0"/>
                  </a:solidFill>
                </a:ln>
                <a:solidFill>
                  <a:srgbClr val="00B0F0"/>
                </a:solidFill>
              </a:rPr>
              <a:t>( </a:t>
            </a:r>
            <a:r>
              <a:rPr lang="en-US" sz="1300" dirty="0" err="1">
                <a:ln>
                  <a:solidFill>
                    <a:srgbClr val="00B0F0"/>
                  </a:solidFill>
                </a:ln>
                <a:solidFill>
                  <a:srgbClr val="00B0F0"/>
                </a:solidFill>
              </a:rPr>
              <a:t>l_bfile</a:t>
            </a:r>
            <a:r>
              <a:rPr lang="en-US" sz="1300" dirty="0">
                <a:ln>
                  <a:solidFill>
                    <a:srgbClr val="00B0F0"/>
                  </a:solidFill>
                </a:ln>
                <a:solidFill>
                  <a:srgbClr val="00B0F0"/>
                </a:solidFill>
              </a:rPr>
              <a:t> ) );   </a:t>
            </a:r>
          </a:p>
          <a:p>
            <a:pPr>
              <a:buNone/>
            </a:pPr>
            <a:r>
              <a:rPr lang="en-US" sz="1300" dirty="0">
                <a:ln>
                  <a:solidFill>
                    <a:srgbClr val="00B0F0"/>
                  </a:solidFill>
                </a:ln>
                <a:solidFill>
                  <a:srgbClr val="00B0F0"/>
                </a:solidFill>
              </a:rPr>
              <a:t>		--loads </a:t>
            </a:r>
            <a:r>
              <a:rPr lang="en-US" sz="1300" dirty="0" err="1">
                <a:ln>
                  <a:solidFill>
                    <a:srgbClr val="00B0F0"/>
                  </a:solidFill>
                </a:ln>
                <a:solidFill>
                  <a:srgbClr val="00B0F0"/>
                </a:solidFill>
              </a:rPr>
              <a:t>bfile</a:t>
            </a:r>
            <a:r>
              <a:rPr lang="en-US" sz="1300" dirty="0">
                <a:ln>
                  <a:solidFill>
                    <a:srgbClr val="00B0F0"/>
                  </a:solidFill>
                </a:ln>
                <a:solidFill>
                  <a:srgbClr val="00B0F0"/>
                </a:solidFill>
              </a:rPr>
              <a:t> data into internal lob</a:t>
            </a:r>
          </a:p>
          <a:p>
            <a:pPr>
              <a:buNone/>
            </a:pPr>
            <a:r>
              <a:rPr lang="en-US" sz="1300" dirty="0">
                <a:ln>
                  <a:solidFill>
                    <a:srgbClr val="00B0F0"/>
                  </a:solidFill>
                </a:ln>
                <a:solidFill>
                  <a:srgbClr val="00B0F0"/>
                </a:solidFill>
              </a:rPr>
              <a:t>    	</a:t>
            </a:r>
            <a:r>
              <a:rPr lang="en-US" sz="1300" dirty="0" err="1">
                <a:ln>
                  <a:solidFill>
                    <a:srgbClr val="00B0F0"/>
                  </a:solidFill>
                </a:ln>
                <a:solidFill>
                  <a:srgbClr val="00B0F0"/>
                </a:solidFill>
              </a:rPr>
              <a:t>dbms_lob.fileclose</a:t>
            </a:r>
            <a:r>
              <a:rPr lang="en-US" sz="1300" dirty="0">
                <a:ln>
                  <a:solidFill>
                    <a:srgbClr val="00B0F0"/>
                  </a:solidFill>
                </a:ln>
                <a:solidFill>
                  <a:srgbClr val="00B0F0"/>
                </a:solidFill>
              </a:rPr>
              <a:t>( </a:t>
            </a:r>
            <a:r>
              <a:rPr lang="en-US" sz="1300" dirty="0" err="1">
                <a:ln>
                  <a:solidFill>
                    <a:srgbClr val="00B0F0"/>
                  </a:solidFill>
                </a:ln>
                <a:solidFill>
                  <a:srgbClr val="00B0F0"/>
                </a:solidFill>
              </a:rPr>
              <a:t>l_bfile</a:t>
            </a:r>
            <a:r>
              <a:rPr lang="en-US" sz="1300" dirty="0">
                <a:ln>
                  <a:solidFill>
                    <a:srgbClr val="00B0F0"/>
                  </a:solidFill>
                </a:ln>
                <a:solidFill>
                  <a:srgbClr val="00B0F0"/>
                </a:solidFill>
              </a:rPr>
              <a:t> );</a:t>
            </a:r>
          </a:p>
          <a:p>
            <a:pPr>
              <a:buNone/>
            </a:pPr>
            <a:r>
              <a:rPr lang="en-US" sz="1300" dirty="0">
                <a:ln>
                  <a:solidFill>
                    <a:srgbClr val="00B0F0"/>
                  </a:solidFill>
                </a:ln>
                <a:solidFill>
                  <a:srgbClr val="00B0F0"/>
                </a:solidFill>
              </a:rPr>
              <a:t>		--closes the file</a:t>
            </a:r>
          </a:p>
          <a:p>
            <a:pPr>
              <a:buNone/>
            </a:pPr>
            <a:r>
              <a:rPr lang="en-US" sz="1300" dirty="0">
                <a:ln>
                  <a:solidFill>
                    <a:srgbClr val="00B0F0"/>
                  </a:solidFill>
                </a:ln>
                <a:solidFill>
                  <a:srgbClr val="00B0F0"/>
                </a:solidFill>
              </a:rPr>
              <a:t>end;</a:t>
            </a:r>
          </a:p>
          <a:p>
            <a:pPr>
              <a:buNone/>
            </a:pPr>
            <a:r>
              <a:rPr lang="en-US" sz="1300" dirty="0">
                <a:ln>
                  <a:solidFill>
                    <a:srgbClr val="00B0F0"/>
                  </a:solidFill>
                </a:ln>
                <a:solidFill>
                  <a:srgbClr val="00B0F0"/>
                </a:solidFill>
              </a:rPr>
              <a:t>/</a:t>
            </a:r>
          </a:p>
        </p:txBody>
      </p:sp>
      <p:sp>
        <p:nvSpPr>
          <p:cNvPr id="6147" name="Rectangle 3"/>
          <p:cNvSpPr>
            <a:spLocks noGrp="1"/>
          </p:cNvSpPr>
          <p:nvPr>
            <p:ph type="title"/>
          </p:nvPr>
        </p:nvSpPr>
        <p:spPr>
          <a:xfrm>
            <a:off x="240632" y="98992"/>
            <a:ext cx="8626642" cy="536972"/>
          </a:xfrm>
          <a:noFill/>
        </p:spPr>
        <p:txBody>
          <a:bodyPr>
            <a:normAutofit fontScale="90000"/>
          </a:bodyPr>
          <a:lstStyle/>
          <a:p>
            <a:r>
              <a:rPr lang="en-US" sz="1400" b="1" dirty="0">
                <a:latin typeface="Candara"/>
              </a:rPr>
              <a:t>5.23:  BLOB</a:t>
            </a:r>
            <a:r>
              <a:rPr lang="en-US" sz="1400" dirty="0">
                <a:latin typeface="Candara"/>
              </a:rPr>
              <a:t>						</a:t>
            </a:r>
            <a:br>
              <a:rPr lang="en-US" sz="1200" b="1" dirty="0">
                <a:latin typeface="Candara"/>
              </a:rPr>
            </a:br>
            <a:r>
              <a:rPr lang="en-US" dirty="0"/>
              <a:t>Storing a image file in oracle database</a:t>
            </a:r>
            <a:endParaRPr lang="en-US"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0" y="757989"/>
            <a:ext cx="9144000" cy="4006516"/>
          </a:xfrm>
        </p:spPr>
        <p:txBody>
          <a:bodyPr>
            <a:noAutofit/>
          </a:bodyPr>
          <a:lstStyle/>
          <a:p>
            <a:endParaRPr lang="en-US" sz="1400" dirty="0"/>
          </a:p>
          <a:p>
            <a:r>
              <a:rPr lang="en-US" sz="1800" dirty="0"/>
              <a:t>You can use SQL*Loader utility to bulk upload images as follows :</a:t>
            </a:r>
          </a:p>
          <a:p>
            <a:pPr>
              <a:buNone/>
            </a:pPr>
            <a:r>
              <a:rPr lang="en-US" sz="1800" dirty="0">
                <a:ln>
                  <a:solidFill>
                    <a:srgbClr val="00B0F0"/>
                  </a:solidFill>
                </a:ln>
                <a:solidFill>
                  <a:srgbClr val="00B0F0"/>
                </a:solidFill>
              </a:rPr>
              <a:t>		CREATE TABLE </a:t>
            </a:r>
            <a:r>
              <a:rPr lang="en-US" sz="1800" dirty="0" err="1">
                <a:ln>
                  <a:solidFill>
                    <a:srgbClr val="00B0F0"/>
                  </a:solidFill>
                </a:ln>
                <a:solidFill>
                  <a:srgbClr val="00B0F0"/>
                </a:solidFill>
              </a:rPr>
              <a:t>photoalbum</a:t>
            </a:r>
            <a:r>
              <a:rPr lang="en-US" sz="1800" dirty="0">
                <a:ln>
                  <a:solidFill>
                    <a:srgbClr val="00B0F0"/>
                  </a:solidFill>
                </a:ln>
                <a:solidFill>
                  <a:srgbClr val="00B0F0"/>
                </a:solidFill>
              </a:rPr>
              <a:t> (</a:t>
            </a:r>
            <a:r>
              <a:rPr lang="en-US" sz="1800" dirty="0" err="1">
                <a:ln>
                  <a:solidFill>
                    <a:srgbClr val="00B0F0"/>
                  </a:solidFill>
                </a:ln>
                <a:solidFill>
                  <a:srgbClr val="00B0F0"/>
                </a:solidFill>
              </a:rPr>
              <a:t>photolob</a:t>
            </a:r>
            <a:r>
              <a:rPr lang="en-US" sz="1800" dirty="0">
                <a:ln>
                  <a:solidFill>
                    <a:srgbClr val="00B0F0"/>
                  </a:solidFill>
                </a:ln>
                <a:solidFill>
                  <a:srgbClr val="00B0F0"/>
                </a:solidFill>
              </a:rPr>
              <a:t> BLOB);</a:t>
            </a:r>
          </a:p>
          <a:p>
            <a:pPr>
              <a:buNone/>
            </a:pPr>
            <a:r>
              <a:rPr lang="en-US" sz="1800" dirty="0"/>
              <a:t> </a:t>
            </a:r>
          </a:p>
          <a:p>
            <a:r>
              <a:rPr lang="en-US" sz="1800" dirty="0"/>
              <a:t>Create a file (example photos.txt ) in the folder ‘C:\PHOTOS’ which will contain list of images to be uploaded.</a:t>
            </a:r>
          </a:p>
          <a:p>
            <a:pPr>
              <a:buNone/>
            </a:pPr>
            <a:r>
              <a:rPr lang="en-US" sz="1800" dirty="0"/>
              <a:t> 		saloni.jpg</a:t>
            </a:r>
            <a:br>
              <a:rPr lang="en-US" sz="1800" dirty="0"/>
            </a:br>
            <a:r>
              <a:rPr lang="en-US" sz="1800" dirty="0"/>
              <a:t>	kiyara.jpg</a:t>
            </a:r>
          </a:p>
          <a:p>
            <a:pPr>
              <a:buNone/>
            </a:pPr>
            <a:r>
              <a:rPr lang="en-US" sz="1800" dirty="0"/>
              <a:t>		hetal.jpg</a:t>
            </a:r>
          </a:p>
          <a:p>
            <a:pPr>
              <a:buNone/>
            </a:pPr>
            <a:r>
              <a:rPr lang="en-US" sz="1800" dirty="0"/>
              <a:t>		tiny.jpg</a:t>
            </a:r>
          </a:p>
          <a:p>
            <a:pPr>
              <a:buNone/>
            </a:pPr>
            <a:r>
              <a:rPr lang="en-US" sz="1800" dirty="0"/>
              <a:t>		aarav.jpg</a:t>
            </a:r>
          </a:p>
          <a:p>
            <a:pPr>
              <a:buNone/>
            </a:pPr>
            <a:endParaRPr lang="en-US" sz="1800" dirty="0"/>
          </a:p>
        </p:txBody>
      </p:sp>
      <p:sp>
        <p:nvSpPr>
          <p:cNvPr id="6147" name="Rectangle 3"/>
          <p:cNvSpPr>
            <a:spLocks noGrp="1"/>
          </p:cNvSpPr>
          <p:nvPr>
            <p:ph type="title"/>
          </p:nvPr>
        </p:nvSpPr>
        <p:spPr>
          <a:xfrm>
            <a:off x="240632" y="98992"/>
            <a:ext cx="8626642" cy="536972"/>
          </a:xfrm>
          <a:noFill/>
        </p:spPr>
        <p:txBody>
          <a:bodyPr>
            <a:normAutofit fontScale="90000"/>
          </a:bodyPr>
          <a:lstStyle/>
          <a:p>
            <a:r>
              <a:rPr lang="en-US" sz="1400" b="1" dirty="0">
                <a:latin typeface="Candara"/>
              </a:rPr>
              <a:t>5.24:  BLOB</a:t>
            </a:r>
            <a:r>
              <a:rPr lang="en-US" sz="1400" dirty="0">
                <a:latin typeface="Candara"/>
              </a:rPr>
              <a:t>	   bulk Upload			</a:t>
            </a:r>
            <a:br>
              <a:rPr lang="en-US" sz="1200" b="1" dirty="0">
                <a:latin typeface="Candara"/>
              </a:rPr>
            </a:br>
            <a:r>
              <a:rPr lang="en-US" dirty="0"/>
              <a:t>Doing bulk upload of images to database</a:t>
            </a:r>
          </a:p>
        </p:txBody>
      </p:sp>
    </p:spTree>
    <p:extLst>
      <p:ext uri="{BB962C8B-B14F-4D97-AF65-F5344CB8AC3E}">
        <p14:creationId xmlns:p14="http://schemas.microsoft.com/office/powerpoint/2010/main" val="11181558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0" y="757989"/>
            <a:ext cx="9144000" cy="4006516"/>
          </a:xfrm>
        </p:spPr>
        <p:txBody>
          <a:bodyPr>
            <a:noAutofit/>
          </a:bodyPr>
          <a:lstStyle/>
          <a:p>
            <a:endParaRPr lang="en-US" sz="1400" dirty="0"/>
          </a:p>
          <a:p>
            <a:pPr algn="just"/>
            <a:r>
              <a:rPr lang="en-US" sz="1600" dirty="0"/>
              <a:t>Create a control file required by SQL*Loader to upload data. Create new file called  </a:t>
            </a:r>
            <a:r>
              <a:rPr lang="en-US" sz="1600" b="1" dirty="0"/>
              <a:t>loadphotos.ctl  </a:t>
            </a:r>
            <a:r>
              <a:rPr lang="en-US" sz="1600" dirty="0"/>
              <a:t>in the</a:t>
            </a:r>
            <a:r>
              <a:rPr lang="en-US" sz="1600" b="1" dirty="0"/>
              <a:t> </a:t>
            </a:r>
            <a:r>
              <a:rPr lang="en-US" sz="1600" dirty="0"/>
              <a:t>‘c:\PHOTOS’</a:t>
            </a:r>
            <a:r>
              <a:rPr lang="en-US" sz="1600" b="1" dirty="0"/>
              <a:t> </a:t>
            </a:r>
            <a:r>
              <a:rPr lang="en-US" sz="1600" dirty="0"/>
              <a:t>and insert following content into it.</a:t>
            </a:r>
            <a:br>
              <a:rPr lang="en-US" sz="1600" dirty="0"/>
            </a:br>
            <a:endParaRPr lang="en-US" sz="1600" dirty="0"/>
          </a:p>
          <a:p>
            <a:pPr algn="just">
              <a:buNone/>
            </a:pPr>
            <a:r>
              <a:rPr lang="en-US" sz="1600" dirty="0"/>
              <a:t>		</a:t>
            </a:r>
            <a:r>
              <a:rPr lang="en-US" sz="1600" dirty="0">
                <a:ln>
                  <a:solidFill>
                    <a:srgbClr val="00B0F0"/>
                  </a:solidFill>
                </a:ln>
                <a:solidFill>
                  <a:srgbClr val="00B0F0"/>
                </a:solidFill>
              </a:rPr>
              <a:t>load data</a:t>
            </a:r>
          </a:p>
          <a:p>
            <a:pPr algn="just">
              <a:buNone/>
            </a:pPr>
            <a:r>
              <a:rPr lang="en-US" sz="1600" dirty="0">
                <a:ln>
                  <a:solidFill>
                    <a:srgbClr val="00B0F0"/>
                  </a:solidFill>
                </a:ln>
                <a:solidFill>
                  <a:srgbClr val="00B0F0"/>
                </a:solidFill>
              </a:rPr>
              <a:t>		</a:t>
            </a:r>
            <a:r>
              <a:rPr lang="en-US" sz="1600" dirty="0" err="1">
                <a:ln>
                  <a:solidFill>
                    <a:srgbClr val="00B0F0"/>
                  </a:solidFill>
                </a:ln>
                <a:solidFill>
                  <a:srgbClr val="00B0F0"/>
                </a:solidFill>
              </a:rPr>
              <a:t>infile</a:t>
            </a:r>
            <a:r>
              <a:rPr lang="en-US" sz="1600" dirty="0">
                <a:ln>
                  <a:solidFill>
                    <a:srgbClr val="00B0F0"/>
                  </a:solidFill>
                </a:ln>
                <a:solidFill>
                  <a:srgbClr val="00B0F0"/>
                </a:solidFill>
              </a:rPr>
              <a:t> photos.txt</a:t>
            </a:r>
          </a:p>
          <a:p>
            <a:pPr algn="just">
              <a:buNone/>
            </a:pPr>
            <a:r>
              <a:rPr lang="en-US" sz="1600" dirty="0">
                <a:ln>
                  <a:solidFill>
                    <a:srgbClr val="00B0F0"/>
                  </a:solidFill>
                </a:ln>
                <a:solidFill>
                  <a:srgbClr val="00B0F0"/>
                </a:solidFill>
              </a:rPr>
              <a:t>		into table </a:t>
            </a:r>
            <a:r>
              <a:rPr lang="en-US" sz="1600" dirty="0" err="1">
                <a:ln>
                  <a:solidFill>
                    <a:srgbClr val="00B0F0"/>
                  </a:solidFill>
                </a:ln>
                <a:solidFill>
                  <a:srgbClr val="00B0F0"/>
                </a:solidFill>
              </a:rPr>
              <a:t>photoalbum</a:t>
            </a:r>
            <a:endParaRPr lang="en-US" sz="1600" dirty="0">
              <a:ln>
                <a:solidFill>
                  <a:srgbClr val="00B0F0"/>
                </a:solidFill>
              </a:ln>
              <a:solidFill>
                <a:srgbClr val="00B0F0"/>
              </a:solidFill>
            </a:endParaRPr>
          </a:p>
          <a:p>
            <a:pPr algn="just">
              <a:buNone/>
            </a:pPr>
            <a:r>
              <a:rPr lang="en-US" sz="1600" dirty="0">
                <a:ln>
                  <a:solidFill>
                    <a:srgbClr val="00B0F0"/>
                  </a:solidFill>
                </a:ln>
                <a:solidFill>
                  <a:srgbClr val="00B0F0"/>
                </a:solidFill>
              </a:rPr>
              <a:t>		(</a:t>
            </a:r>
            <a:r>
              <a:rPr lang="en-US" sz="1600" dirty="0" err="1">
                <a:ln>
                  <a:solidFill>
                    <a:srgbClr val="00B0F0"/>
                  </a:solidFill>
                </a:ln>
                <a:solidFill>
                  <a:srgbClr val="00B0F0"/>
                </a:solidFill>
              </a:rPr>
              <a:t>ext_fname</a:t>
            </a:r>
            <a:r>
              <a:rPr lang="en-US" sz="1600" dirty="0">
                <a:ln>
                  <a:solidFill>
                    <a:srgbClr val="00B0F0"/>
                  </a:solidFill>
                </a:ln>
                <a:solidFill>
                  <a:srgbClr val="00B0F0"/>
                </a:solidFill>
              </a:rPr>
              <a:t> filler char(200),</a:t>
            </a:r>
          </a:p>
          <a:p>
            <a:pPr algn="just">
              <a:buNone/>
            </a:pPr>
            <a:r>
              <a:rPr lang="en-US" sz="1600" dirty="0">
                <a:ln>
                  <a:solidFill>
                    <a:srgbClr val="00B0F0"/>
                  </a:solidFill>
                </a:ln>
                <a:solidFill>
                  <a:srgbClr val="00B0F0"/>
                </a:solidFill>
              </a:rPr>
              <a:t>		</a:t>
            </a:r>
            <a:r>
              <a:rPr lang="en-US" sz="1600" dirty="0" err="1">
                <a:ln>
                  <a:solidFill>
                    <a:srgbClr val="00B0F0"/>
                  </a:solidFill>
                </a:ln>
                <a:solidFill>
                  <a:srgbClr val="00B0F0"/>
                </a:solidFill>
              </a:rPr>
              <a:t>photolob</a:t>
            </a:r>
            <a:r>
              <a:rPr lang="en-US" sz="1600" dirty="0">
                <a:ln>
                  <a:solidFill>
                    <a:srgbClr val="00B0F0"/>
                  </a:solidFill>
                </a:ln>
                <a:solidFill>
                  <a:srgbClr val="00B0F0"/>
                </a:solidFill>
              </a:rPr>
              <a:t> </a:t>
            </a:r>
            <a:r>
              <a:rPr lang="en-US" sz="1600" dirty="0" err="1">
                <a:ln>
                  <a:solidFill>
                    <a:srgbClr val="00B0F0"/>
                  </a:solidFill>
                </a:ln>
                <a:solidFill>
                  <a:srgbClr val="00B0F0"/>
                </a:solidFill>
              </a:rPr>
              <a:t>lobfile</a:t>
            </a:r>
            <a:r>
              <a:rPr lang="en-US" sz="1600" dirty="0">
                <a:ln>
                  <a:solidFill>
                    <a:srgbClr val="00B0F0"/>
                  </a:solidFill>
                </a:ln>
                <a:solidFill>
                  <a:srgbClr val="00B0F0"/>
                </a:solidFill>
              </a:rPr>
              <a:t>(</a:t>
            </a:r>
            <a:r>
              <a:rPr lang="en-US" sz="1600" dirty="0" err="1">
                <a:ln>
                  <a:solidFill>
                    <a:srgbClr val="00B0F0"/>
                  </a:solidFill>
                </a:ln>
                <a:solidFill>
                  <a:srgbClr val="00B0F0"/>
                </a:solidFill>
              </a:rPr>
              <a:t>ext_fname</a:t>
            </a:r>
            <a:r>
              <a:rPr lang="en-US" sz="1600" dirty="0">
                <a:ln>
                  <a:solidFill>
                    <a:srgbClr val="00B0F0"/>
                  </a:solidFill>
                </a:ln>
                <a:solidFill>
                  <a:srgbClr val="00B0F0"/>
                </a:solidFill>
              </a:rPr>
              <a:t>) terminated by EOF)</a:t>
            </a:r>
          </a:p>
          <a:p>
            <a:pPr algn="just">
              <a:buNone/>
            </a:pPr>
            <a:r>
              <a:rPr lang="en-US" sz="1600" dirty="0"/>
              <a:t> </a:t>
            </a:r>
          </a:p>
          <a:p>
            <a:pPr algn="just"/>
            <a:r>
              <a:rPr lang="en-US" sz="1600" dirty="0"/>
              <a:t>The meaning of above code is “load the data” from the files listed in the file photos.txt into a table called </a:t>
            </a:r>
            <a:r>
              <a:rPr lang="en-US" sz="1600" dirty="0" err="1"/>
              <a:t>photoalbum</a:t>
            </a:r>
            <a:r>
              <a:rPr lang="en-US" sz="1600" dirty="0"/>
              <a:t>, treating each filename as “</a:t>
            </a:r>
            <a:r>
              <a:rPr lang="en-US" sz="1600" dirty="0" err="1"/>
              <a:t>ext_fname</a:t>
            </a:r>
            <a:r>
              <a:rPr lang="en-US" sz="1600" dirty="0"/>
              <a:t>”.   The data will be loaded into the column of that table called ‘</a:t>
            </a:r>
            <a:r>
              <a:rPr lang="en-US" sz="1600" dirty="0" err="1"/>
              <a:t>photoblob</a:t>
            </a:r>
            <a:r>
              <a:rPr lang="en-US" sz="1600" dirty="0"/>
              <a:t>’ and has </a:t>
            </a:r>
            <a:r>
              <a:rPr lang="en-US" sz="1600" dirty="0" err="1"/>
              <a:t>lobfile</a:t>
            </a:r>
            <a:r>
              <a:rPr lang="en-US" sz="1600" dirty="0"/>
              <a:t> characteristics, that is, it is binary data. Expect the file names for the binary files being loaded to be up to 200 characters in length. When you reach the end of the list of photos, terminate the load process”.</a:t>
            </a:r>
          </a:p>
        </p:txBody>
      </p:sp>
      <p:sp>
        <p:nvSpPr>
          <p:cNvPr id="6147" name="Rectangle 3"/>
          <p:cNvSpPr>
            <a:spLocks noGrp="1"/>
          </p:cNvSpPr>
          <p:nvPr>
            <p:ph type="title"/>
          </p:nvPr>
        </p:nvSpPr>
        <p:spPr>
          <a:xfrm>
            <a:off x="240632" y="98992"/>
            <a:ext cx="8626642" cy="536972"/>
          </a:xfrm>
          <a:noFill/>
        </p:spPr>
        <p:txBody>
          <a:bodyPr>
            <a:normAutofit fontScale="90000"/>
          </a:bodyPr>
          <a:lstStyle/>
          <a:p>
            <a:r>
              <a:rPr lang="en-US" sz="1400" b="1" dirty="0">
                <a:latin typeface="Candara"/>
              </a:rPr>
              <a:t>5.24:  BLOB</a:t>
            </a:r>
            <a:r>
              <a:rPr lang="en-US" sz="1400" dirty="0">
                <a:latin typeface="Candara"/>
              </a:rPr>
              <a:t>	   bulk Upload			</a:t>
            </a:r>
            <a:br>
              <a:rPr lang="en-US" sz="1200" b="1" dirty="0">
                <a:latin typeface="Candara"/>
              </a:rPr>
            </a:br>
            <a:r>
              <a:rPr lang="en-US" dirty="0"/>
              <a:t>Doing bulk upload of images to database	……</a:t>
            </a:r>
            <a:r>
              <a:rPr lang="en-US" dirty="0" err="1"/>
              <a:t>contd</a:t>
            </a:r>
            <a:endParaRPr lang="en-US" dirty="0"/>
          </a:p>
        </p:txBody>
      </p:sp>
    </p:spTree>
    <p:extLst>
      <p:ext uri="{BB962C8B-B14F-4D97-AF65-F5344CB8AC3E}">
        <p14:creationId xmlns:p14="http://schemas.microsoft.com/office/powerpoint/2010/main" val="11181558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0" y="757989"/>
            <a:ext cx="9144000" cy="4006516"/>
          </a:xfrm>
        </p:spPr>
        <p:txBody>
          <a:bodyPr>
            <a:noAutofit/>
          </a:bodyPr>
          <a:lstStyle/>
          <a:p>
            <a:endParaRPr lang="en-US" sz="1400" dirty="0"/>
          </a:p>
          <a:p>
            <a:pPr algn="just"/>
            <a:r>
              <a:rPr lang="en-US" sz="1600" dirty="0"/>
              <a:t>Please note that photos.txt is used in control file and we are not giving absolute path, but relative path. So control file </a:t>
            </a:r>
            <a:r>
              <a:rPr lang="en-US" sz="1600" b="1" dirty="0"/>
              <a:t>loadphotos.ctl  </a:t>
            </a:r>
            <a:r>
              <a:rPr lang="en-US" sz="1600" dirty="0"/>
              <a:t>and </a:t>
            </a:r>
            <a:r>
              <a:rPr lang="en-US" sz="1600" b="1" dirty="0"/>
              <a:t>photos.txt</a:t>
            </a:r>
            <a:r>
              <a:rPr lang="en-US" sz="1600" dirty="0"/>
              <a:t> should be in same directory and so also all image files to be loaded</a:t>
            </a:r>
          </a:p>
          <a:p>
            <a:pPr>
              <a:buNone/>
            </a:pPr>
            <a:endParaRPr lang="en-US" sz="1600" dirty="0"/>
          </a:p>
          <a:p>
            <a:r>
              <a:rPr lang="en-US" sz="1600" dirty="0"/>
              <a:t>Go to command prompt and in the folder ‘c:\photos’, run the SQL LOADER :</a:t>
            </a:r>
          </a:p>
          <a:p>
            <a:pPr>
              <a:buNone/>
            </a:pPr>
            <a:r>
              <a:rPr lang="en-US" sz="1600" dirty="0"/>
              <a:t>		</a:t>
            </a:r>
            <a:r>
              <a:rPr lang="en-US" sz="1600" dirty="0" err="1">
                <a:ln>
                  <a:solidFill>
                    <a:srgbClr val="00B0F0"/>
                  </a:solidFill>
                </a:ln>
                <a:solidFill>
                  <a:srgbClr val="00B0F0"/>
                </a:solidFill>
              </a:rPr>
              <a:t>sqlldr</a:t>
            </a:r>
            <a:r>
              <a:rPr lang="en-US" sz="1600" dirty="0">
                <a:ln>
                  <a:solidFill>
                    <a:srgbClr val="00B0F0"/>
                  </a:solidFill>
                </a:ln>
                <a:solidFill>
                  <a:srgbClr val="00B0F0"/>
                </a:solidFill>
              </a:rPr>
              <a:t> </a:t>
            </a:r>
            <a:r>
              <a:rPr lang="en-US" sz="1600" dirty="0" err="1">
                <a:ln>
                  <a:solidFill>
                    <a:srgbClr val="00B0F0"/>
                  </a:solidFill>
                </a:ln>
                <a:solidFill>
                  <a:srgbClr val="00B0F0"/>
                </a:solidFill>
              </a:rPr>
              <a:t>scott</a:t>
            </a:r>
            <a:r>
              <a:rPr lang="en-US" sz="1600" dirty="0">
                <a:ln>
                  <a:solidFill>
                    <a:srgbClr val="00B0F0"/>
                  </a:solidFill>
                </a:ln>
                <a:solidFill>
                  <a:srgbClr val="00B0F0"/>
                </a:solidFill>
              </a:rPr>
              <a:t>/tiger control=loadphotos.ctl</a:t>
            </a:r>
          </a:p>
          <a:p>
            <a:pPr>
              <a:buNone/>
            </a:pPr>
            <a:endParaRPr lang="en-US" sz="1600" dirty="0">
              <a:ln>
                <a:solidFill>
                  <a:srgbClr val="00B0F0"/>
                </a:solidFill>
              </a:ln>
              <a:solidFill>
                <a:srgbClr val="00B0F0"/>
              </a:solidFill>
            </a:endParaRPr>
          </a:p>
          <a:p>
            <a:pPr>
              <a:buNone/>
            </a:pPr>
            <a:r>
              <a:rPr lang="en-US" sz="1600" dirty="0">
                <a:ln>
                  <a:solidFill>
                    <a:srgbClr val="00B0F0"/>
                  </a:solidFill>
                </a:ln>
                <a:solidFill>
                  <a:srgbClr val="00B0F0"/>
                </a:solidFill>
              </a:rPr>
              <a:t>		Select count(*) from </a:t>
            </a:r>
            <a:r>
              <a:rPr lang="en-US" sz="1600" dirty="0" err="1">
                <a:ln>
                  <a:solidFill>
                    <a:srgbClr val="00B0F0"/>
                  </a:solidFill>
                </a:ln>
                <a:solidFill>
                  <a:srgbClr val="00B0F0"/>
                </a:solidFill>
              </a:rPr>
              <a:t>photoalbum</a:t>
            </a:r>
            <a:r>
              <a:rPr lang="en-US" sz="1600" dirty="0">
                <a:ln>
                  <a:solidFill>
                    <a:srgbClr val="00B0F0"/>
                  </a:solidFill>
                </a:ln>
                <a:solidFill>
                  <a:srgbClr val="00B0F0"/>
                </a:solidFill>
              </a:rPr>
              <a:t>;</a:t>
            </a:r>
          </a:p>
        </p:txBody>
      </p:sp>
      <p:sp>
        <p:nvSpPr>
          <p:cNvPr id="6147" name="Rectangle 3"/>
          <p:cNvSpPr>
            <a:spLocks noGrp="1"/>
          </p:cNvSpPr>
          <p:nvPr>
            <p:ph type="title"/>
          </p:nvPr>
        </p:nvSpPr>
        <p:spPr>
          <a:xfrm>
            <a:off x="240632" y="98992"/>
            <a:ext cx="8626642" cy="536972"/>
          </a:xfrm>
          <a:noFill/>
        </p:spPr>
        <p:txBody>
          <a:bodyPr>
            <a:normAutofit fontScale="90000"/>
          </a:bodyPr>
          <a:lstStyle/>
          <a:p>
            <a:r>
              <a:rPr lang="en-US" sz="1400" b="1" dirty="0">
                <a:latin typeface="Candara"/>
              </a:rPr>
              <a:t>5.24:  BLOB</a:t>
            </a:r>
            <a:r>
              <a:rPr lang="en-US" sz="1400" dirty="0">
                <a:latin typeface="Candara"/>
              </a:rPr>
              <a:t>	   bulk Upload			</a:t>
            </a:r>
            <a:br>
              <a:rPr lang="en-US" sz="1200" b="1" dirty="0">
                <a:latin typeface="Candara"/>
              </a:rPr>
            </a:br>
            <a:r>
              <a:rPr lang="en-US" dirty="0"/>
              <a:t>Doing bulk upload of images to database	……</a:t>
            </a:r>
            <a:r>
              <a:rPr lang="en-US" dirty="0" err="1"/>
              <a:t>contd</a:t>
            </a:r>
            <a:endParaRPr lang="en-US" dirty="0"/>
          </a:p>
        </p:txBody>
      </p:sp>
    </p:spTree>
    <p:extLst>
      <p:ext uri="{BB962C8B-B14F-4D97-AF65-F5344CB8AC3E}">
        <p14:creationId xmlns:p14="http://schemas.microsoft.com/office/powerpoint/2010/main" val="11181558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0" y="757989"/>
            <a:ext cx="9144000" cy="4006516"/>
          </a:xfrm>
        </p:spPr>
        <p:txBody>
          <a:bodyPr>
            <a:noAutofit/>
          </a:bodyPr>
          <a:lstStyle/>
          <a:p>
            <a:endParaRPr lang="en-US" sz="1400" dirty="0"/>
          </a:p>
          <a:p>
            <a:r>
              <a:rPr lang="en-US" sz="1600" dirty="0"/>
              <a:t>Create the following table :</a:t>
            </a:r>
          </a:p>
          <a:p>
            <a:r>
              <a:rPr lang="en-US" sz="1600" dirty="0">
                <a:ln>
                  <a:solidFill>
                    <a:srgbClr val="00B0F0"/>
                  </a:solidFill>
                </a:ln>
                <a:solidFill>
                  <a:srgbClr val="00B0F0"/>
                </a:solidFill>
              </a:rPr>
              <a:t>	CREATE TABLE </a:t>
            </a:r>
            <a:r>
              <a:rPr lang="en-US" sz="1600" dirty="0" err="1">
                <a:ln>
                  <a:solidFill>
                    <a:srgbClr val="00B0F0"/>
                  </a:solidFill>
                </a:ln>
                <a:solidFill>
                  <a:srgbClr val="00B0F0"/>
                </a:solidFill>
              </a:rPr>
              <a:t>my_docs</a:t>
            </a:r>
            <a:br>
              <a:rPr lang="en-US" sz="1600" dirty="0">
                <a:ln>
                  <a:solidFill>
                    <a:srgbClr val="00B0F0"/>
                  </a:solidFill>
                </a:ln>
                <a:solidFill>
                  <a:srgbClr val="00B0F0"/>
                </a:solidFill>
              </a:rPr>
            </a:br>
            <a:r>
              <a:rPr lang="en-US" sz="1600" dirty="0">
                <a:ln>
                  <a:solidFill>
                    <a:srgbClr val="00B0F0"/>
                  </a:solidFill>
                </a:ln>
                <a:solidFill>
                  <a:srgbClr val="00B0F0"/>
                </a:solidFill>
              </a:rPr>
              <a:t>	(</a:t>
            </a:r>
            <a:r>
              <a:rPr lang="en-US" sz="1600" dirty="0" err="1">
                <a:ln>
                  <a:solidFill>
                    <a:srgbClr val="00B0F0"/>
                  </a:solidFill>
                </a:ln>
                <a:solidFill>
                  <a:srgbClr val="00B0F0"/>
                </a:solidFill>
              </a:rPr>
              <a:t>doc_id</a:t>
            </a:r>
            <a:r>
              <a:rPr lang="en-US" sz="1600" dirty="0">
                <a:ln>
                  <a:solidFill>
                    <a:srgbClr val="00B0F0"/>
                  </a:solidFill>
                </a:ln>
                <a:solidFill>
                  <a:srgbClr val="00B0F0"/>
                </a:solidFill>
              </a:rPr>
              <a:t> NUMBER,</a:t>
            </a:r>
            <a:br>
              <a:rPr lang="en-US" sz="1600" dirty="0">
                <a:ln>
                  <a:solidFill>
                    <a:srgbClr val="00B0F0"/>
                  </a:solidFill>
                </a:ln>
                <a:solidFill>
                  <a:srgbClr val="00B0F0"/>
                </a:solidFill>
              </a:rPr>
            </a:br>
            <a:r>
              <a:rPr lang="en-US" sz="1600" dirty="0">
                <a:ln>
                  <a:solidFill>
                    <a:srgbClr val="00B0F0"/>
                  </a:solidFill>
                </a:ln>
                <a:solidFill>
                  <a:srgbClr val="00B0F0"/>
                </a:solidFill>
              </a:rPr>
              <a:t>	</a:t>
            </a:r>
            <a:r>
              <a:rPr lang="en-US" sz="1600" dirty="0" err="1">
                <a:ln>
                  <a:solidFill>
                    <a:srgbClr val="00B0F0"/>
                  </a:solidFill>
                </a:ln>
                <a:solidFill>
                  <a:srgbClr val="00B0F0"/>
                </a:solidFill>
              </a:rPr>
              <a:t>bfile_loc</a:t>
            </a:r>
            <a:r>
              <a:rPr lang="en-US" sz="1600" dirty="0">
                <a:ln>
                  <a:solidFill>
                    <a:srgbClr val="00B0F0"/>
                  </a:solidFill>
                </a:ln>
                <a:solidFill>
                  <a:srgbClr val="00B0F0"/>
                </a:solidFill>
              </a:rPr>
              <a:t> BFILE,</a:t>
            </a:r>
            <a:br>
              <a:rPr lang="en-US" sz="1600" dirty="0">
                <a:ln>
                  <a:solidFill>
                    <a:srgbClr val="00B0F0"/>
                  </a:solidFill>
                </a:ln>
                <a:solidFill>
                  <a:srgbClr val="00B0F0"/>
                </a:solidFill>
              </a:rPr>
            </a:br>
            <a:r>
              <a:rPr lang="en-US" sz="1600" dirty="0">
                <a:ln>
                  <a:solidFill>
                    <a:srgbClr val="00B0F0"/>
                  </a:solidFill>
                </a:ln>
                <a:solidFill>
                  <a:srgbClr val="00B0F0"/>
                </a:solidFill>
              </a:rPr>
              <a:t>	</a:t>
            </a:r>
            <a:r>
              <a:rPr lang="en-US" sz="1600" dirty="0" err="1">
                <a:ln>
                  <a:solidFill>
                    <a:srgbClr val="00B0F0"/>
                  </a:solidFill>
                </a:ln>
                <a:solidFill>
                  <a:srgbClr val="00B0F0"/>
                </a:solidFill>
              </a:rPr>
              <a:t>doc_title</a:t>
            </a:r>
            <a:r>
              <a:rPr lang="en-US" sz="1600" dirty="0">
                <a:ln>
                  <a:solidFill>
                    <a:srgbClr val="00B0F0"/>
                  </a:solidFill>
                </a:ln>
                <a:solidFill>
                  <a:srgbClr val="00B0F0"/>
                </a:solidFill>
              </a:rPr>
              <a:t> VARCHAR2(255),</a:t>
            </a:r>
            <a:br>
              <a:rPr lang="en-US" sz="1600" dirty="0">
                <a:ln>
                  <a:solidFill>
                    <a:srgbClr val="00B0F0"/>
                  </a:solidFill>
                </a:ln>
                <a:solidFill>
                  <a:srgbClr val="00B0F0"/>
                </a:solidFill>
              </a:rPr>
            </a:br>
            <a:r>
              <a:rPr lang="en-US" sz="1600" dirty="0">
                <a:ln>
                  <a:solidFill>
                    <a:srgbClr val="00B0F0"/>
                  </a:solidFill>
                </a:ln>
                <a:solidFill>
                  <a:srgbClr val="00B0F0"/>
                </a:solidFill>
              </a:rPr>
              <a:t>	</a:t>
            </a:r>
            <a:r>
              <a:rPr lang="en-US" sz="1600" dirty="0" err="1">
                <a:ln>
                  <a:solidFill>
                    <a:srgbClr val="00B0F0"/>
                  </a:solidFill>
                </a:ln>
                <a:solidFill>
                  <a:srgbClr val="00B0F0"/>
                </a:solidFill>
              </a:rPr>
              <a:t>doc_blob</a:t>
            </a:r>
            <a:r>
              <a:rPr lang="en-US" sz="1600" dirty="0">
                <a:ln>
                  <a:solidFill>
                    <a:srgbClr val="00B0F0"/>
                  </a:solidFill>
                </a:ln>
                <a:solidFill>
                  <a:srgbClr val="00B0F0"/>
                </a:solidFill>
              </a:rPr>
              <a:t> BLOB DEFAULT EMPTY_BLOB());</a:t>
            </a:r>
            <a:r>
              <a:rPr lang="en-US" sz="1600" dirty="0"/>
              <a:t> </a:t>
            </a:r>
            <a:r>
              <a:rPr lang="en-US" sz="1200" dirty="0"/>
              <a:t>   // Default value will be empty binary large object</a:t>
            </a:r>
            <a:br>
              <a:rPr lang="en-US" sz="1600" dirty="0"/>
            </a:br>
            <a:endParaRPr lang="en-US" sz="1600" dirty="0"/>
          </a:p>
          <a:p>
            <a:r>
              <a:rPr lang="en-US" sz="1600" dirty="0"/>
              <a:t>Create directory object as follows :</a:t>
            </a:r>
          </a:p>
          <a:p>
            <a:pPr>
              <a:buNone/>
            </a:pPr>
            <a:r>
              <a:rPr lang="en-US" sz="1600" dirty="0">
                <a:ln>
                  <a:solidFill>
                    <a:srgbClr val="00B0F0"/>
                  </a:solidFill>
                </a:ln>
                <a:solidFill>
                  <a:srgbClr val="00B0F0"/>
                </a:solidFill>
              </a:rPr>
              <a:t>		CREATE OR REPLACE DIRECTORY DOC_DIR AS  'c:\photos';</a:t>
            </a:r>
          </a:p>
          <a:p>
            <a:pPr>
              <a:buNone/>
            </a:pPr>
            <a:br>
              <a:rPr lang="en-US" sz="1600" dirty="0"/>
            </a:br>
            <a:endParaRPr lang="en-US" sz="1600" dirty="0">
              <a:ln>
                <a:solidFill>
                  <a:srgbClr val="00B0F0"/>
                </a:solidFill>
              </a:ln>
              <a:solidFill>
                <a:srgbClr val="00B0F0"/>
              </a:solidFill>
            </a:endParaRPr>
          </a:p>
        </p:txBody>
      </p:sp>
      <p:sp>
        <p:nvSpPr>
          <p:cNvPr id="6147" name="Rectangle 3"/>
          <p:cNvSpPr>
            <a:spLocks noGrp="1"/>
          </p:cNvSpPr>
          <p:nvPr>
            <p:ph type="title"/>
          </p:nvPr>
        </p:nvSpPr>
        <p:spPr>
          <a:xfrm>
            <a:off x="240632" y="98992"/>
            <a:ext cx="8626642" cy="536972"/>
          </a:xfrm>
          <a:noFill/>
        </p:spPr>
        <p:txBody>
          <a:bodyPr>
            <a:normAutofit fontScale="90000"/>
          </a:bodyPr>
          <a:lstStyle/>
          <a:p>
            <a:r>
              <a:rPr lang="en-US" sz="1400" b="1" dirty="0">
                <a:latin typeface="Candara"/>
              </a:rPr>
              <a:t>5.25:  BLOB</a:t>
            </a:r>
            <a:r>
              <a:rPr lang="en-US" sz="1400" dirty="0">
                <a:latin typeface="Candara"/>
              </a:rPr>
              <a:t>	   bulk Upload			</a:t>
            </a:r>
            <a:br>
              <a:rPr lang="en-US" sz="1200" b="1" dirty="0">
                <a:latin typeface="Candara"/>
              </a:rPr>
            </a:br>
            <a:r>
              <a:rPr lang="en-US" dirty="0"/>
              <a:t>Uploading Word Document to oracle database</a:t>
            </a:r>
          </a:p>
        </p:txBody>
      </p:sp>
    </p:spTree>
    <p:extLst>
      <p:ext uri="{BB962C8B-B14F-4D97-AF65-F5344CB8AC3E}">
        <p14:creationId xmlns:p14="http://schemas.microsoft.com/office/powerpoint/2010/main" val="11181558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0" y="757989"/>
            <a:ext cx="9144000" cy="4006516"/>
          </a:xfrm>
        </p:spPr>
        <p:txBody>
          <a:bodyPr>
            <a:noAutofit/>
          </a:bodyPr>
          <a:lstStyle/>
          <a:p>
            <a:r>
              <a:rPr lang="en-US" sz="1600" dirty="0"/>
              <a:t>Create a procedure for uploading the file. Here, inputs will be </a:t>
            </a:r>
            <a:r>
              <a:rPr lang="en-US" sz="1600" dirty="0" err="1"/>
              <a:t>file_name</a:t>
            </a:r>
            <a:r>
              <a:rPr lang="en-US" sz="1600" dirty="0"/>
              <a:t> and  </a:t>
            </a:r>
            <a:r>
              <a:rPr lang="en-US" sz="1600" dirty="0" err="1"/>
              <a:t>file_id</a:t>
            </a:r>
            <a:r>
              <a:rPr lang="en-US" sz="1600" dirty="0"/>
              <a:t>(just for uniquely identifying each file/row in the table) as follows :</a:t>
            </a:r>
          </a:p>
          <a:p>
            <a:pPr>
              <a:buNone/>
            </a:pPr>
            <a:r>
              <a:rPr lang="en-US" sz="1400" dirty="0">
                <a:ln>
                  <a:solidFill>
                    <a:srgbClr val="00B0F0"/>
                  </a:solidFill>
                </a:ln>
                <a:solidFill>
                  <a:srgbClr val="00B0F0"/>
                </a:solidFill>
              </a:rPr>
              <a:t>	Create or replace PROCEDURE load (</a:t>
            </a:r>
            <a:r>
              <a:rPr lang="en-US" sz="1400" dirty="0" err="1">
                <a:ln>
                  <a:solidFill>
                    <a:srgbClr val="00B0F0"/>
                  </a:solidFill>
                </a:ln>
                <a:solidFill>
                  <a:srgbClr val="00B0F0"/>
                </a:solidFill>
              </a:rPr>
              <a:t>in_doc</a:t>
            </a:r>
            <a:r>
              <a:rPr lang="en-US" sz="1400" dirty="0">
                <a:ln>
                  <a:solidFill>
                    <a:srgbClr val="00B0F0"/>
                  </a:solidFill>
                </a:ln>
                <a:solidFill>
                  <a:srgbClr val="00B0F0"/>
                </a:solidFill>
              </a:rPr>
              <a:t> IN VARCHAR2, </a:t>
            </a:r>
            <a:r>
              <a:rPr lang="en-US" sz="1400" dirty="0" err="1">
                <a:ln>
                  <a:solidFill>
                    <a:srgbClr val="00B0F0"/>
                  </a:solidFill>
                </a:ln>
                <a:solidFill>
                  <a:srgbClr val="00B0F0"/>
                </a:solidFill>
              </a:rPr>
              <a:t>in_id</a:t>
            </a:r>
            <a:r>
              <a:rPr lang="en-US" sz="1400" dirty="0">
                <a:ln>
                  <a:solidFill>
                    <a:srgbClr val="00B0F0"/>
                  </a:solidFill>
                </a:ln>
                <a:solidFill>
                  <a:srgbClr val="00B0F0"/>
                </a:solidFill>
              </a:rPr>
              <a:t>  IN NUMBER) IS</a:t>
            </a:r>
          </a:p>
          <a:p>
            <a:pPr>
              <a:buNone/>
            </a:pPr>
            <a:r>
              <a:rPr lang="en-US" sz="1400" dirty="0">
                <a:ln>
                  <a:solidFill>
                    <a:srgbClr val="00B0F0"/>
                  </a:solidFill>
                </a:ln>
                <a:solidFill>
                  <a:srgbClr val="00B0F0"/>
                </a:solidFill>
              </a:rPr>
              <a:t>	</a:t>
            </a:r>
            <a:r>
              <a:rPr lang="en-US" sz="1400" dirty="0" err="1">
                <a:ln>
                  <a:solidFill>
                    <a:srgbClr val="00B0F0"/>
                  </a:solidFill>
                </a:ln>
                <a:solidFill>
                  <a:srgbClr val="00B0F0"/>
                </a:solidFill>
              </a:rPr>
              <a:t>temp_blob</a:t>
            </a:r>
            <a:r>
              <a:rPr lang="en-US" sz="1400" dirty="0">
                <a:ln>
                  <a:solidFill>
                    <a:srgbClr val="00B0F0"/>
                  </a:solidFill>
                </a:ln>
                <a:solidFill>
                  <a:srgbClr val="00B0F0"/>
                </a:solidFill>
              </a:rPr>
              <a:t> BLOB := </a:t>
            </a:r>
            <a:r>
              <a:rPr lang="en-US" sz="1400" dirty="0" err="1">
                <a:ln>
                  <a:solidFill>
                    <a:srgbClr val="00B0F0"/>
                  </a:solidFill>
                </a:ln>
                <a:solidFill>
                  <a:srgbClr val="00B0F0"/>
                </a:solidFill>
              </a:rPr>
              <a:t>empty_blob</a:t>
            </a:r>
            <a:r>
              <a:rPr lang="en-US" sz="1400" dirty="0">
                <a:ln>
                  <a:solidFill>
                    <a:srgbClr val="00B0F0"/>
                  </a:solidFill>
                </a:ln>
                <a:solidFill>
                  <a:srgbClr val="00B0F0"/>
                </a:solidFill>
              </a:rPr>
              <a:t>();</a:t>
            </a:r>
          </a:p>
          <a:p>
            <a:pPr>
              <a:buNone/>
            </a:pPr>
            <a:r>
              <a:rPr lang="en-US" sz="1400" dirty="0">
                <a:ln>
                  <a:solidFill>
                    <a:srgbClr val="00B0F0"/>
                  </a:solidFill>
                </a:ln>
                <a:solidFill>
                  <a:srgbClr val="00B0F0"/>
                </a:solidFill>
              </a:rPr>
              <a:t>	</a:t>
            </a:r>
            <a:r>
              <a:rPr lang="en-US" sz="1400" dirty="0" err="1">
                <a:ln>
                  <a:solidFill>
                    <a:srgbClr val="00B0F0"/>
                  </a:solidFill>
                </a:ln>
                <a:solidFill>
                  <a:srgbClr val="00B0F0"/>
                </a:solidFill>
              </a:rPr>
              <a:t>bfile_loc</a:t>
            </a:r>
            <a:r>
              <a:rPr lang="en-US" sz="1400" dirty="0">
                <a:ln>
                  <a:solidFill>
                    <a:srgbClr val="00B0F0"/>
                  </a:solidFill>
                </a:ln>
                <a:solidFill>
                  <a:srgbClr val="00B0F0"/>
                </a:solidFill>
              </a:rPr>
              <a:t>         BFILE;</a:t>
            </a:r>
          </a:p>
          <a:p>
            <a:pPr>
              <a:buNone/>
            </a:pPr>
            <a:r>
              <a:rPr lang="en-US" sz="1400" dirty="0">
                <a:ln>
                  <a:solidFill>
                    <a:srgbClr val="00B0F0"/>
                  </a:solidFill>
                </a:ln>
                <a:solidFill>
                  <a:srgbClr val="00B0F0"/>
                </a:solidFill>
              </a:rPr>
              <a:t>	BEGIN</a:t>
            </a:r>
          </a:p>
          <a:p>
            <a:pPr>
              <a:buNone/>
            </a:pPr>
            <a:r>
              <a:rPr lang="en-US" sz="1400" dirty="0">
                <a:ln>
                  <a:solidFill>
                    <a:srgbClr val="00B0F0"/>
                  </a:solidFill>
                </a:ln>
                <a:solidFill>
                  <a:srgbClr val="00B0F0"/>
                </a:solidFill>
              </a:rPr>
              <a:t>	</a:t>
            </a:r>
            <a:r>
              <a:rPr lang="en-US" sz="1400" dirty="0" err="1">
                <a:ln>
                  <a:solidFill>
                    <a:srgbClr val="00B0F0"/>
                  </a:solidFill>
                </a:ln>
                <a:solidFill>
                  <a:srgbClr val="00B0F0"/>
                </a:solidFill>
              </a:rPr>
              <a:t>bfile_loc</a:t>
            </a:r>
            <a:r>
              <a:rPr lang="en-US" sz="1400" dirty="0">
                <a:ln>
                  <a:solidFill>
                    <a:srgbClr val="00B0F0"/>
                  </a:solidFill>
                </a:ln>
                <a:solidFill>
                  <a:srgbClr val="00B0F0"/>
                </a:solidFill>
              </a:rPr>
              <a:t> := BFILENAME('DOC_DIR', </a:t>
            </a:r>
            <a:r>
              <a:rPr lang="en-US" sz="1400" dirty="0" err="1">
                <a:ln>
                  <a:solidFill>
                    <a:srgbClr val="00B0F0"/>
                  </a:solidFill>
                </a:ln>
                <a:solidFill>
                  <a:srgbClr val="00B0F0"/>
                </a:solidFill>
              </a:rPr>
              <a:t>in_doc</a:t>
            </a:r>
            <a:r>
              <a:rPr lang="en-US" sz="1400" dirty="0">
                <a:ln>
                  <a:solidFill>
                    <a:srgbClr val="00B0F0"/>
                  </a:solidFill>
                </a:ln>
                <a:solidFill>
                  <a:srgbClr val="00B0F0"/>
                </a:solidFill>
              </a:rPr>
              <a:t>);</a:t>
            </a:r>
          </a:p>
          <a:p>
            <a:pPr>
              <a:buNone/>
            </a:pPr>
            <a:r>
              <a:rPr lang="en-US" sz="1400" dirty="0">
                <a:ln>
                  <a:solidFill>
                    <a:srgbClr val="00B0F0"/>
                  </a:solidFill>
                </a:ln>
                <a:solidFill>
                  <a:srgbClr val="00B0F0"/>
                </a:solidFill>
              </a:rPr>
              <a:t>	INSERT INTO </a:t>
            </a:r>
            <a:r>
              <a:rPr lang="en-US" sz="1400" dirty="0" err="1">
                <a:ln>
                  <a:solidFill>
                    <a:srgbClr val="00B0F0"/>
                  </a:solidFill>
                </a:ln>
                <a:solidFill>
                  <a:srgbClr val="00B0F0"/>
                </a:solidFill>
              </a:rPr>
              <a:t>my_docs</a:t>
            </a:r>
            <a:r>
              <a:rPr lang="en-US" sz="1400" dirty="0">
                <a:ln>
                  <a:solidFill>
                    <a:srgbClr val="00B0F0"/>
                  </a:solidFill>
                </a:ln>
                <a:solidFill>
                  <a:srgbClr val="00B0F0"/>
                </a:solidFill>
              </a:rPr>
              <a:t> (</a:t>
            </a:r>
            <a:r>
              <a:rPr lang="en-US" sz="1400" dirty="0" err="1">
                <a:ln>
                  <a:solidFill>
                    <a:srgbClr val="00B0F0"/>
                  </a:solidFill>
                </a:ln>
                <a:solidFill>
                  <a:srgbClr val="00B0F0"/>
                </a:solidFill>
              </a:rPr>
              <a:t>doc_id</a:t>
            </a:r>
            <a:r>
              <a:rPr lang="en-US" sz="1400" dirty="0">
                <a:ln>
                  <a:solidFill>
                    <a:srgbClr val="00B0F0"/>
                  </a:solidFill>
                </a:ln>
                <a:solidFill>
                  <a:srgbClr val="00B0F0"/>
                </a:solidFill>
              </a:rPr>
              <a:t>, </a:t>
            </a:r>
            <a:r>
              <a:rPr lang="en-US" sz="1400" dirty="0" err="1">
                <a:ln>
                  <a:solidFill>
                    <a:srgbClr val="00B0F0"/>
                  </a:solidFill>
                </a:ln>
                <a:solidFill>
                  <a:srgbClr val="00B0F0"/>
                </a:solidFill>
              </a:rPr>
              <a:t>bfile_loc</a:t>
            </a:r>
            <a:r>
              <a:rPr lang="en-US" sz="1400" dirty="0">
                <a:ln>
                  <a:solidFill>
                    <a:srgbClr val="00B0F0"/>
                  </a:solidFill>
                </a:ln>
                <a:solidFill>
                  <a:srgbClr val="00B0F0"/>
                </a:solidFill>
              </a:rPr>
              <a:t>, </a:t>
            </a:r>
            <a:r>
              <a:rPr lang="en-US" sz="1400" dirty="0" err="1">
                <a:ln>
                  <a:solidFill>
                    <a:srgbClr val="00B0F0"/>
                  </a:solidFill>
                </a:ln>
                <a:solidFill>
                  <a:srgbClr val="00B0F0"/>
                </a:solidFill>
              </a:rPr>
              <a:t>doc_title</a:t>
            </a:r>
            <a:r>
              <a:rPr lang="en-US" sz="1400" dirty="0">
                <a:ln>
                  <a:solidFill>
                    <a:srgbClr val="00B0F0"/>
                  </a:solidFill>
                </a:ln>
                <a:solidFill>
                  <a:srgbClr val="00B0F0"/>
                </a:solidFill>
              </a:rPr>
              <a:t>)  VALUES (</a:t>
            </a:r>
            <a:r>
              <a:rPr lang="en-US" sz="1400" dirty="0" err="1">
                <a:ln>
                  <a:solidFill>
                    <a:srgbClr val="00B0F0"/>
                  </a:solidFill>
                </a:ln>
                <a:solidFill>
                  <a:srgbClr val="00B0F0"/>
                </a:solidFill>
              </a:rPr>
              <a:t>in_id</a:t>
            </a:r>
            <a:r>
              <a:rPr lang="en-US" sz="1400" dirty="0">
                <a:ln>
                  <a:solidFill>
                    <a:srgbClr val="00B0F0"/>
                  </a:solidFill>
                </a:ln>
                <a:solidFill>
                  <a:srgbClr val="00B0F0"/>
                </a:solidFill>
              </a:rPr>
              <a:t>, </a:t>
            </a:r>
            <a:r>
              <a:rPr lang="en-US" sz="1400" dirty="0" err="1">
                <a:ln>
                  <a:solidFill>
                    <a:srgbClr val="00B0F0"/>
                  </a:solidFill>
                </a:ln>
                <a:solidFill>
                  <a:srgbClr val="00B0F0"/>
                </a:solidFill>
              </a:rPr>
              <a:t>bfile_loc</a:t>
            </a:r>
            <a:r>
              <a:rPr lang="en-US" sz="1400" dirty="0">
                <a:ln>
                  <a:solidFill>
                    <a:srgbClr val="00B0F0"/>
                  </a:solidFill>
                </a:ln>
                <a:solidFill>
                  <a:srgbClr val="00B0F0"/>
                </a:solidFill>
              </a:rPr>
              <a:t>, </a:t>
            </a:r>
            <a:r>
              <a:rPr lang="en-US" sz="1400" dirty="0" err="1">
                <a:ln>
                  <a:solidFill>
                    <a:srgbClr val="00B0F0"/>
                  </a:solidFill>
                </a:ln>
                <a:solidFill>
                  <a:srgbClr val="00B0F0"/>
                </a:solidFill>
              </a:rPr>
              <a:t>in_doc</a:t>
            </a:r>
            <a:r>
              <a:rPr lang="en-US" sz="1400" dirty="0">
                <a:ln>
                  <a:solidFill>
                    <a:srgbClr val="00B0F0"/>
                  </a:solidFill>
                </a:ln>
                <a:solidFill>
                  <a:srgbClr val="00B0F0"/>
                </a:solidFill>
              </a:rPr>
              <a:t>);</a:t>
            </a:r>
          </a:p>
          <a:p>
            <a:pPr>
              <a:buNone/>
            </a:pPr>
            <a:r>
              <a:rPr lang="en-US" sz="1400" dirty="0">
                <a:ln>
                  <a:solidFill>
                    <a:srgbClr val="00B0F0"/>
                  </a:solidFill>
                </a:ln>
                <a:solidFill>
                  <a:srgbClr val="00B0F0"/>
                </a:solidFill>
              </a:rPr>
              <a:t>	SELECT </a:t>
            </a:r>
            <a:r>
              <a:rPr lang="en-US" sz="1400" dirty="0" err="1">
                <a:ln>
                  <a:solidFill>
                    <a:srgbClr val="00B0F0"/>
                  </a:solidFill>
                </a:ln>
                <a:solidFill>
                  <a:srgbClr val="00B0F0"/>
                </a:solidFill>
              </a:rPr>
              <a:t>doc_blob</a:t>
            </a:r>
            <a:r>
              <a:rPr lang="en-US" sz="1400" dirty="0">
                <a:ln>
                  <a:solidFill>
                    <a:srgbClr val="00B0F0"/>
                  </a:solidFill>
                </a:ln>
                <a:solidFill>
                  <a:srgbClr val="00B0F0"/>
                </a:solidFill>
              </a:rPr>
              <a:t> INTO </a:t>
            </a:r>
            <a:r>
              <a:rPr lang="en-US" sz="1400" dirty="0" err="1">
                <a:ln>
                  <a:solidFill>
                    <a:srgbClr val="00B0F0"/>
                  </a:solidFill>
                </a:ln>
                <a:solidFill>
                  <a:srgbClr val="00B0F0"/>
                </a:solidFill>
              </a:rPr>
              <a:t>temp_blob</a:t>
            </a:r>
            <a:r>
              <a:rPr lang="en-US" sz="1400" dirty="0">
                <a:ln>
                  <a:solidFill>
                    <a:srgbClr val="00B0F0"/>
                  </a:solidFill>
                </a:ln>
                <a:solidFill>
                  <a:srgbClr val="00B0F0"/>
                </a:solidFill>
              </a:rPr>
              <a:t> FROM </a:t>
            </a:r>
            <a:r>
              <a:rPr lang="en-US" sz="1400" dirty="0" err="1">
                <a:ln>
                  <a:solidFill>
                    <a:srgbClr val="00B0F0"/>
                  </a:solidFill>
                </a:ln>
                <a:solidFill>
                  <a:srgbClr val="00B0F0"/>
                </a:solidFill>
              </a:rPr>
              <a:t>my_docs</a:t>
            </a:r>
            <a:r>
              <a:rPr lang="en-US" sz="1400" dirty="0">
                <a:ln>
                  <a:solidFill>
                    <a:srgbClr val="00B0F0"/>
                  </a:solidFill>
                </a:ln>
                <a:solidFill>
                  <a:srgbClr val="00B0F0"/>
                </a:solidFill>
              </a:rPr>
              <a:t> WHERE </a:t>
            </a:r>
            <a:r>
              <a:rPr lang="en-US" sz="1400" dirty="0" err="1">
                <a:ln>
                  <a:solidFill>
                    <a:srgbClr val="00B0F0"/>
                  </a:solidFill>
                </a:ln>
                <a:solidFill>
                  <a:srgbClr val="00B0F0"/>
                </a:solidFill>
              </a:rPr>
              <a:t>doc_id</a:t>
            </a:r>
            <a:r>
              <a:rPr lang="en-US" sz="1400" dirty="0">
                <a:ln>
                  <a:solidFill>
                    <a:srgbClr val="00B0F0"/>
                  </a:solidFill>
                </a:ln>
                <a:solidFill>
                  <a:srgbClr val="00B0F0"/>
                </a:solidFill>
              </a:rPr>
              <a:t> = </a:t>
            </a:r>
            <a:r>
              <a:rPr lang="en-US" sz="1400" dirty="0" err="1">
                <a:ln>
                  <a:solidFill>
                    <a:srgbClr val="00B0F0"/>
                  </a:solidFill>
                </a:ln>
                <a:solidFill>
                  <a:srgbClr val="00B0F0"/>
                </a:solidFill>
              </a:rPr>
              <a:t>in_id</a:t>
            </a:r>
            <a:r>
              <a:rPr lang="en-US" sz="1400" dirty="0">
                <a:ln>
                  <a:solidFill>
                    <a:srgbClr val="00B0F0"/>
                  </a:solidFill>
                </a:ln>
                <a:solidFill>
                  <a:srgbClr val="00B0F0"/>
                </a:solidFill>
              </a:rPr>
              <a:t> FOR UPDATE;</a:t>
            </a:r>
          </a:p>
          <a:p>
            <a:pPr>
              <a:buNone/>
            </a:pPr>
            <a:r>
              <a:rPr lang="en-US" sz="1400" dirty="0">
                <a:ln>
                  <a:solidFill>
                    <a:srgbClr val="00B0F0"/>
                  </a:solidFill>
                </a:ln>
                <a:solidFill>
                  <a:srgbClr val="00B0F0"/>
                </a:solidFill>
              </a:rPr>
              <a:t>	DBMS_LOB.OPEN(</a:t>
            </a:r>
            <a:r>
              <a:rPr lang="en-US" sz="1400" dirty="0" err="1">
                <a:ln>
                  <a:solidFill>
                    <a:srgbClr val="00B0F0"/>
                  </a:solidFill>
                </a:ln>
                <a:solidFill>
                  <a:srgbClr val="00B0F0"/>
                </a:solidFill>
              </a:rPr>
              <a:t>bfile_loc</a:t>
            </a:r>
            <a:r>
              <a:rPr lang="en-US" sz="1400" dirty="0">
                <a:ln>
                  <a:solidFill>
                    <a:srgbClr val="00B0F0"/>
                  </a:solidFill>
                </a:ln>
                <a:solidFill>
                  <a:srgbClr val="00B0F0"/>
                </a:solidFill>
              </a:rPr>
              <a:t>, DBMS_LOB.LOB_READONLY);</a:t>
            </a:r>
          </a:p>
          <a:p>
            <a:pPr>
              <a:buNone/>
            </a:pPr>
            <a:r>
              <a:rPr lang="en-US" sz="1400" dirty="0">
                <a:ln>
                  <a:solidFill>
                    <a:srgbClr val="00B0F0"/>
                  </a:solidFill>
                </a:ln>
                <a:solidFill>
                  <a:srgbClr val="00B0F0"/>
                </a:solidFill>
              </a:rPr>
              <a:t>	DBMS_LOB.OPEN(</a:t>
            </a:r>
            <a:r>
              <a:rPr lang="en-US" sz="1400" dirty="0" err="1">
                <a:ln>
                  <a:solidFill>
                    <a:srgbClr val="00B0F0"/>
                  </a:solidFill>
                </a:ln>
                <a:solidFill>
                  <a:srgbClr val="00B0F0"/>
                </a:solidFill>
              </a:rPr>
              <a:t>temp_blob</a:t>
            </a:r>
            <a:r>
              <a:rPr lang="en-US" sz="1400" dirty="0">
                <a:ln>
                  <a:solidFill>
                    <a:srgbClr val="00B0F0"/>
                  </a:solidFill>
                </a:ln>
                <a:solidFill>
                  <a:srgbClr val="00B0F0"/>
                </a:solidFill>
              </a:rPr>
              <a:t>, DBMS_LOB.LOB_READWRITE);</a:t>
            </a:r>
          </a:p>
          <a:p>
            <a:pPr>
              <a:buNone/>
            </a:pPr>
            <a:r>
              <a:rPr lang="en-US" sz="1400" dirty="0">
                <a:ln>
                  <a:solidFill>
                    <a:srgbClr val="00B0F0"/>
                  </a:solidFill>
                </a:ln>
                <a:solidFill>
                  <a:srgbClr val="00B0F0"/>
                </a:solidFill>
              </a:rPr>
              <a:t>	DBMS_LOB.LOADFROMFILE(</a:t>
            </a:r>
            <a:r>
              <a:rPr lang="en-US" sz="1400" dirty="0" err="1">
                <a:ln>
                  <a:solidFill>
                    <a:srgbClr val="00B0F0"/>
                  </a:solidFill>
                </a:ln>
                <a:solidFill>
                  <a:srgbClr val="00B0F0"/>
                </a:solidFill>
              </a:rPr>
              <a:t>temp_blob</a:t>
            </a:r>
            <a:r>
              <a:rPr lang="en-US" sz="1400" dirty="0">
                <a:ln>
                  <a:solidFill>
                    <a:srgbClr val="00B0F0"/>
                  </a:solidFill>
                </a:ln>
                <a:solidFill>
                  <a:srgbClr val="00B0F0"/>
                </a:solidFill>
              </a:rPr>
              <a:t>, </a:t>
            </a:r>
            <a:r>
              <a:rPr lang="en-US" sz="1400" dirty="0" err="1">
                <a:ln>
                  <a:solidFill>
                    <a:srgbClr val="00B0F0"/>
                  </a:solidFill>
                </a:ln>
                <a:solidFill>
                  <a:srgbClr val="00B0F0"/>
                </a:solidFill>
              </a:rPr>
              <a:t>bfile_loc</a:t>
            </a:r>
            <a:r>
              <a:rPr lang="en-US" sz="1400" dirty="0">
                <a:ln>
                  <a:solidFill>
                    <a:srgbClr val="00B0F0"/>
                  </a:solidFill>
                </a:ln>
                <a:solidFill>
                  <a:srgbClr val="00B0F0"/>
                </a:solidFill>
              </a:rPr>
              <a:t>, </a:t>
            </a:r>
            <a:r>
              <a:rPr lang="en-US" sz="1400" dirty="0" err="1">
                <a:ln>
                  <a:solidFill>
                    <a:srgbClr val="00B0F0"/>
                  </a:solidFill>
                </a:ln>
                <a:solidFill>
                  <a:srgbClr val="00B0F0"/>
                </a:solidFill>
              </a:rPr>
              <a:t>dbms_lob.getlength</a:t>
            </a:r>
            <a:r>
              <a:rPr lang="en-US" sz="1400" dirty="0">
                <a:ln>
                  <a:solidFill>
                    <a:srgbClr val="00B0F0"/>
                  </a:solidFill>
                </a:ln>
                <a:solidFill>
                  <a:srgbClr val="00B0F0"/>
                </a:solidFill>
              </a:rPr>
              <a:t>(</a:t>
            </a:r>
            <a:r>
              <a:rPr lang="en-US" sz="1400" dirty="0" err="1">
                <a:ln>
                  <a:solidFill>
                    <a:srgbClr val="00B0F0"/>
                  </a:solidFill>
                </a:ln>
                <a:solidFill>
                  <a:srgbClr val="00B0F0"/>
                </a:solidFill>
              </a:rPr>
              <a:t>bfile_loc</a:t>
            </a:r>
            <a:r>
              <a:rPr lang="en-US" sz="1400" dirty="0">
                <a:ln>
                  <a:solidFill>
                    <a:srgbClr val="00B0F0"/>
                  </a:solidFill>
                </a:ln>
                <a:solidFill>
                  <a:srgbClr val="00B0F0"/>
                </a:solidFill>
              </a:rPr>
              <a:t>));</a:t>
            </a:r>
          </a:p>
          <a:p>
            <a:pPr>
              <a:buNone/>
            </a:pPr>
            <a:r>
              <a:rPr lang="en-US" sz="1400" dirty="0">
                <a:ln>
                  <a:solidFill>
                    <a:srgbClr val="00B0F0"/>
                  </a:solidFill>
                </a:ln>
                <a:solidFill>
                  <a:srgbClr val="00B0F0"/>
                </a:solidFill>
              </a:rPr>
              <a:t>	DBMS_LOB.CLOSE(</a:t>
            </a:r>
            <a:r>
              <a:rPr lang="en-US" sz="1400" dirty="0" err="1">
                <a:ln>
                  <a:solidFill>
                    <a:srgbClr val="00B0F0"/>
                  </a:solidFill>
                </a:ln>
                <a:solidFill>
                  <a:srgbClr val="00B0F0"/>
                </a:solidFill>
              </a:rPr>
              <a:t>temp_blob</a:t>
            </a:r>
            <a:r>
              <a:rPr lang="en-US" sz="1400" dirty="0">
                <a:ln>
                  <a:solidFill>
                    <a:srgbClr val="00B0F0"/>
                  </a:solidFill>
                </a:ln>
                <a:solidFill>
                  <a:srgbClr val="00B0F0"/>
                </a:solidFill>
              </a:rPr>
              <a:t>);</a:t>
            </a:r>
          </a:p>
          <a:p>
            <a:pPr>
              <a:buNone/>
            </a:pPr>
            <a:r>
              <a:rPr lang="en-US" sz="1400" dirty="0">
                <a:ln>
                  <a:solidFill>
                    <a:srgbClr val="00B0F0"/>
                  </a:solidFill>
                </a:ln>
                <a:solidFill>
                  <a:srgbClr val="00B0F0"/>
                </a:solidFill>
              </a:rPr>
              <a:t>	DBMS_LOB.CLOSE(</a:t>
            </a:r>
            <a:r>
              <a:rPr lang="en-US" sz="1400" dirty="0" err="1">
                <a:ln>
                  <a:solidFill>
                    <a:srgbClr val="00B0F0"/>
                  </a:solidFill>
                </a:ln>
                <a:solidFill>
                  <a:srgbClr val="00B0F0"/>
                </a:solidFill>
              </a:rPr>
              <a:t>bfile_loc</a:t>
            </a:r>
            <a:r>
              <a:rPr lang="en-US" sz="1400" dirty="0">
                <a:ln>
                  <a:solidFill>
                    <a:srgbClr val="00B0F0"/>
                  </a:solidFill>
                </a:ln>
                <a:solidFill>
                  <a:srgbClr val="00B0F0"/>
                </a:solidFill>
              </a:rPr>
              <a:t>);</a:t>
            </a:r>
          </a:p>
          <a:p>
            <a:pPr>
              <a:buNone/>
            </a:pPr>
            <a:r>
              <a:rPr lang="en-US" sz="1400" dirty="0">
                <a:ln>
                  <a:solidFill>
                    <a:srgbClr val="00B0F0"/>
                  </a:solidFill>
                </a:ln>
                <a:solidFill>
                  <a:srgbClr val="00B0F0"/>
                </a:solidFill>
              </a:rPr>
              <a:t>	COMMIT;</a:t>
            </a:r>
          </a:p>
          <a:p>
            <a:pPr>
              <a:buNone/>
            </a:pPr>
            <a:r>
              <a:rPr lang="en-US" sz="1400" dirty="0">
                <a:ln>
                  <a:solidFill>
                    <a:srgbClr val="00B0F0"/>
                  </a:solidFill>
                </a:ln>
                <a:solidFill>
                  <a:srgbClr val="00B0F0"/>
                </a:solidFill>
              </a:rPr>
              <a:t>	END ;</a:t>
            </a:r>
          </a:p>
          <a:p>
            <a:pPr>
              <a:buNone/>
            </a:pPr>
            <a:r>
              <a:rPr lang="en-US" sz="1400" dirty="0">
                <a:ln>
                  <a:solidFill>
                    <a:srgbClr val="00B0F0"/>
                  </a:solidFill>
                </a:ln>
                <a:solidFill>
                  <a:srgbClr val="00B0F0"/>
                </a:solidFill>
              </a:rPr>
              <a:t>/</a:t>
            </a:r>
            <a:br>
              <a:rPr lang="en-US" sz="1600" dirty="0"/>
            </a:br>
            <a:endParaRPr lang="en-US" sz="1600" dirty="0">
              <a:ln>
                <a:solidFill>
                  <a:srgbClr val="00B0F0"/>
                </a:solidFill>
              </a:ln>
              <a:solidFill>
                <a:srgbClr val="00B0F0"/>
              </a:solidFill>
            </a:endParaRPr>
          </a:p>
        </p:txBody>
      </p:sp>
      <p:sp>
        <p:nvSpPr>
          <p:cNvPr id="6147" name="Rectangle 3"/>
          <p:cNvSpPr>
            <a:spLocks noGrp="1"/>
          </p:cNvSpPr>
          <p:nvPr>
            <p:ph type="title"/>
          </p:nvPr>
        </p:nvSpPr>
        <p:spPr>
          <a:xfrm>
            <a:off x="240632" y="98992"/>
            <a:ext cx="8626642" cy="536972"/>
          </a:xfrm>
          <a:noFill/>
        </p:spPr>
        <p:txBody>
          <a:bodyPr>
            <a:normAutofit fontScale="90000"/>
          </a:bodyPr>
          <a:lstStyle/>
          <a:p>
            <a:r>
              <a:rPr lang="en-US" sz="1400" b="1" dirty="0">
                <a:latin typeface="Candara"/>
              </a:rPr>
              <a:t>5.25:  BLOB</a:t>
            </a:r>
            <a:r>
              <a:rPr lang="en-US" sz="1400" dirty="0">
                <a:latin typeface="Candara"/>
              </a:rPr>
              <a:t>	   bulk Upload			</a:t>
            </a:r>
            <a:br>
              <a:rPr lang="en-US" sz="1200" b="1" dirty="0">
                <a:latin typeface="Candara"/>
              </a:rPr>
            </a:br>
            <a:r>
              <a:rPr lang="en-US" dirty="0"/>
              <a:t>Uploading Word Document to oracle database….</a:t>
            </a:r>
            <a:r>
              <a:rPr lang="en-US" dirty="0" err="1"/>
              <a:t>contd</a:t>
            </a:r>
            <a:endParaRPr lang="en-US" dirty="0"/>
          </a:p>
        </p:txBody>
      </p:sp>
    </p:spTree>
    <p:extLst>
      <p:ext uri="{BB962C8B-B14F-4D97-AF65-F5344CB8AC3E}">
        <p14:creationId xmlns:p14="http://schemas.microsoft.com/office/powerpoint/2010/main" val="11181558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0" y="757989"/>
            <a:ext cx="9144000" cy="4006516"/>
          </a:xfrm>
        </p:spPr>
        <p:txBody>
          <a:bodyPr>
            <a:noAutofit/>
          </a:bodyPr>
          <a:lstStyle/>
          <a:p>
            <a:endParaRPr lang="en-US" sz="1600" dirty="0"/>
          </a:p>
          <a:p>
            <a:r>
              <a:rPr lang="en-US" sz="1600" dirty="0"/>
              <a:t>Suppose you want to upload app1.docx file present in the DOC_DIR directory(D:\photos\ at OS level) created above.</a:t>
            </a:r>
          </a:p>
          <a:p>
            <a:pPr>
              <a:buNone/>
            </a:pPr>
            <a:endParaRPr lang="en-US" sz="1600" dirty="0"/>
          </a:p>
          <a:p>
            <a:r>
              <a:rPr lang="en-US" sz="1600" dirty="0"/>
              <a:t>The doc name is app1.docx in the D:\photos\ folder at the OS level. Execute the above procedure as given below.</a:t>
            </a:r>
          </a:p>
          <a:p>
            <a:pPr>
              <a:buNone/>
            </a:pPr>
            <a:r>
              <a:rPr lang="en-US" sz="1400" dirty="0">
                <a:ln>
                  <a:solidFill>
                    <a:srgbClr val="00B0F0"/>
                  </a:solidFill>
                </a:ln>
                <a:solidFill>
                  <a:srgbClr val="00B0F0"/>
                </a:solidFill>
              </a:rPr>
              <a:t>		exec load('app1.docx', 1);</a:t>
            </a:r>
          </a:p>
          <a:p>
            <a:pPr>
              <a:buNone/>
            </a:pPr>
            <a:endParaRPr lang="en-US" sz="1400" dirty="0">
              <a:ln>
                <a:solidFill>
                  <a:srgbClr val="00B0F0"/>
                </a:solidFill>
              </a:ln>
              <a:solidFill>
                <a:srgbClr val="00B0F0"/>
              </a:solidFill>
            </a:endParaRPr>
          </a:p>
          <a:p>
            <a:pPr>
              <a:buNone/>
            </a:pPr>
            <a:r>
              <a:rPr lang="en-US" sz="1400" dirty="0">
                <a:ln>
                  <a:solidFill>
                    <a:srgbClr val="00B0F0"/>
                  </a:solidFill>
                </a:ln>
                <a:solidFill>
                  <a:srgbClr val="00B0F0"/>
                </a:solidFill>
              </a:rPr>
              <a:t>		select count(*) from </a:t>
            </a:r>
            <a:r>
              <a:rPr lang="en-US" sz="1400" dirty="0" err="1">
                <a:ln>
                  <a:solidFill>
                    <a:srgbClr val="00B0F0"/>
                  </a:solidFill>
                </a:ln>
                <a:solidFill>
                  <a:srgbClr val="00B0F0"/>
                </a:solidFill>
              </a:rPr>
              <a:t>my_docs</a:t>
            </a:r>
            <a:r>
              <a:rPr lang="en-US" sz="1400" dirty="0">
                <a:ln>
                  <a:solidFill>
                    <a:srgbClr val="00B0F0"/>
                  </a:solidFill>
                </a:ln>
                <a:solidFill>
                  <a:srgbClr val="00B0F0"/>
                </a:solidFill>
              </a:rPr>
              <a:t>;</a:t>
            </a:r>
          </a:p>
          <a:p>
            <a:pPr>
              <a:buNone/>
            </a:pPr>
            <a:endParaRPr lang="en-US" sz="1400" dirty="0">
              <a:ln>
                <a:solidFill>
                  <a:srgbClr val="00B0F0"/>
                </a:solidFill>
              </a:ln>
              <a:solidFill>
                <a:srgbClr val="00B0F0"/>
              </a:solidFill>
            </a:endParaRPr>
          </a:p>
          <a:p>
            <a:pPr>
              <a:buNone/>
            </a:pPr>
            <a:r>
              <a:rPr lang="en-US" sz="1400" dirty="0">
                <a:ln>
                  <a:solidFill>
                    <a:srgbClr val="00B0F0"/>
                  </a:solidFill>
                </a:ln>
                <a:solidFill>
                  <a:srgbClr val="00B0F0"/>
                </a:solidFill>
              </a:rPr>
              <a:t>		select count(*) from </a:t>
            </a:r>
            <a:r>
              <a:rPr lang="en-US" sz="1400" dirty="0" err="1">
                <a:ln>
                  <a:solidFill>
                    <a:srgbClr val="00B0F0"/>
                  </a:solidFill>
                </a:ln>
                <a:solidFill>
                  <a:srgbClr val="00B0F0"/>
                </a:solidFill>
              </a:rPr>
              <a:t>my_docs</a:t>
            </a:r>
            <a:r>
              <a:rPr lang="en-US" sz="1400" dirty="0">
                <a:ln>
                  <a:solidFill>
                    <a:srgbClr val="00B0F0"/>
                  </a:solidFill>
                </a:ln>
                <a:solidFill>
                  <a:srgbClr val="00B0F0"/>
                </a:solidFill>
              </a:rPr>
              <a:t> where </a:t>
            </a:r>
            <a:r>
              <a:rPr lang="en-US" sz="1400" dirty="0" err="1">
                <a:ln>
                  <a:solidFill>
                    <a:srgbClr val="00B0F0"/>
                  </a:solidFill>
                </a:ln>
                <a:solidFill>
                  <a:srgbClr val="00B0F0"/>
                </a:solidFill>
              </a:rPr>
              <a:t>bfile_loc</a:t>
            </a:r>
            <a:r>
              <a:rPr lang="en-US" sz="1400" dirty="0">
                <a:ln>
                  <a:solidFill>
                    <a:srgbClr val="00B0F0"/>
                  </a:solidFill>
                </a:ln>
                <a:solidFill>
                  <a:srgbClr val="00B0F0"/>
                </a:solidFill>
              </a:rPr>
              <a:t>  is null;</a:t>
            </a:r>
          </a:p>
          <a:p>
            <a:pPr>
              <a:buNone/>
            </a:pPr>
            <a:endParaRPr lang="en-US" sz="1600" dirty="0"/>
          </a:p>
          <a:p>
            <a:pPr>
              <a:buNone/>
            </a:pPr>
            <a:r>
              <a:rPr lang="en-US" sz="1600" dirty="0">
                <a:ln>
                  <a:solidFill>
                    <a:srgbClr val="00B0F0"/>
                  </a:solidFill>
                </a:ln>
                <a:solidFill>
                  <a:srgbClr val="00B0F0"/>
                </a:solidFill>
              </a:rPr>
              <a:t>		select count(*) from </a:t>
            </a:r>
            <a:r>
              <a:rPr lang="en-US" sz="1600" dirty="0" err="1">
                <a:ln>
                  <a:solidFill>
                    <a:srgbClr val="00B0F0"/>
                  </a:solidFill>
                </a:ln>
                <a:solidFill>
                  <a:srgbClr val="00B0F0"/>
                </a:solidFill>
              </a:rPr>
              <a:t>my_docs</a:t>
            </a:r>
            <a:r>
              <a:rPr lang="en-US" sz="1600" dirty="0">
                <a:ln>
                  <a:solidFill>
                    <a:srgbClr val="00B0F0"/>
                  </a:solidFill>
                </a:ln>
                <a:solidFill>
                  <a:srgbClr val="00B0F0"/>
                </a:solidFill>
              </a:rPr>
              <a:t> where </a:t>
            </a:r>
            <a:r>
              <a:rPr lang="en-US" sz="1600" dirty="0" err="1">
                <a:ln>
                  <a:solidFill>
                    <a:srgbClr val="00B0F0"/>
                  </a:solidFill>
                </a:ln>
                <a:solidFill>
                  <a:srgbClr val="00B0F0"/>
                </a:solidFill>
              </a:rPr>
              <a:t>doc_blob</a:t>
            </a:r>
            <a:r>
              <a:rPr lang="en-US" sz="1600" dirty="0">
                <a:ln>
                  <a:solidFill>
                    <a:srgbClr val="00B0F0"/>
                  </a:solidFill>
                </a:ln>
                <a:solidFill>
                  <a:srgbClr val="00B0F0"/>
                </a:solidFill>
              </a:rPr>
              <a:t>  is null;</a:t>
            </a:r>
          </a:p>
          <a:p>
            <a:pPr>
              <a:buNone/>
            </a:pPr>
            <a:br>
              <a:rPr lang="en-US" sz="1600" dirty="0"/>
            </a:br>
            <a:endParaRPr lang="en-US" sz="1600" dirty="0">
              <a:ln>
                <a:solidFill>
                  <a:srgbClr val="00B0F0"/>
                </a:solidFill>
              </a:ln>
              <a:solidFill>
                <a:srgbClr val="00B0F0"/>
              </a:solidFill>
            </a:endParaRPr>
          </a:p>
        </p:txBody>
      </p:sp>
      <p:sp>
        <p:nvSpPr>
          <p:cNvPr id="6147" name="Rectangle 3"/>
          <p:cNvSpPr>
            <a:spLocks noGrp="1"/>
          </p:cNvSpPr>
          <p:nvPr>
            <p:ph type="title"/>
          </p:nvPr>
        </p:nvSpPr>
        <p:spPr>
          <a:xfrm>
            <a:off x="240632" y="98992"/>
            <a:ext cx="8626642" cy="536972"/>
          </a:xfrm>
          <a:noFill/>
        </p:spPr>
        <p:txBody>
          <a:bodyPr>
            <a:normAutofit fontScale="90000"/>
          </a:bodyPr>
          <a:lstStyle/>
          <a:p>
            <a:r>
              <a:rPr lang="en-US" sz="1400" b="1" dirty="0">
                <a:latin typeface="Candara"/>
              </a:rPr>
              <a:t>5.25:  BLOB</a:t>
            </a:r>
            <a:r>
              <a:rPr lang="en-US" sz="1400" dirty="0">
                <a:latin typeface="Candara"/>
              </a:rPr>
              <a:t>	   bulk Upload			</a:t>
            </a:r>
            <a:br>
              <a:rPr lang="en-US" sz="1200" b="1" dirty="0">
                <a:latin typeface="Candara"/>
              </a:rPr>
            </a:br>
            <a:r>
              <a:rPr lang="en-US" dirty="0"/>
              <a:t>Uploading Word Document to oracle database….</a:t>
            </a:r>
            <a:r>
              <a:rPr lang="en-US" dirty="0" err="1"/>
              <a:t>contd</a:t>
            </a:r>
            <a:endParaRPr lang="en-US" dirty="0"/>
          </a:p>
        </p:txBody>
      </p:sp>
    </p:spTree>
    <p:extLst>
      <p:ext uri="{BB962C8B-B14F-4D97-AF65-F5344CB8AC3E}">
        <p14:creationId xmlns:p14="http://schemas.microsoft.com/office/powerpoint/2010/main" val="111815586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u8VTg_P6rkuq_fbZG2oYX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PHldxlhBv0miWYXN6H8BT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xzY4oecJCE2aPB.u6loWP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1xI4A68crEiZSNCDbGy9g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cOLV5mW.q0KZi163Pl1yLQ"/>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8_pk8PYzpk.FktMHhDaTF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rciOYA.RlUiY0_0bhJg.jg"/>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jDnCrkojv0SGcwHGEYrPF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pOFNbajSUEaO0T7L3_MyVA"/>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zDbv4V7vT0WxnXgCD5MXWQ"/>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e11Y1Bb0l0irz8SJoiUMeg"/>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Zmxc0iXCQkmeiJMOi0JxKg"/>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cF9GXJfe4kWec6UHbfCPKw"/>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6kAk9o_lW0Ov.hm_5XvnyQ"/>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OxU61rCZf0ui2sg3.Ux._w"/>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0nVqnsTkbEesDolNHQoqsQ"/>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Xq6O2oonXUC.Ah4a29V_IQ"/>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0nVqnsTkbEesDolNHQoqsQ"/>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8_pk8PYzpk.FktMHhDaTFw"/>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rciOYA.RlUiY0_0bhJg.jg"/>
</p:tagLst>
</file>

<file path=ppt/theme/theme1.xml><?xml version="1.0" encoding="utf-8"?>
<a:theme xmlns:a="http://schemas.openxmlformats.org/drawingml/2006/main" name="ClassBook-LessonXX-Template Capgemini">
  <a:themeElements>
    <a:clrScheme name="Capgemini">
      <a:dk1>
        <a:srgbClr val="00264A"/>
      </a:dk1>
      <a:lt1>
        <a:sysClr val="window" lastClr="FFFFFF"/>
      </a:lt1>
      <a:dk2>
        <a:srgbClr val="9F958F"/>
      </a:dk2>
      <a:lt2>
        <a:srgbClr val="909090"/>
      </a:lt2>
      <a:accent1>
        <a:srgbClr val="F9BE01"/>
      </a:accent1>
      <a:accent2>
        <a:srgbClr val="ED771A"/>
      </a:accent2>
      <a:accent3>
        <a:srgbClr val="B70132"/>
      </a:accent3>
      <a:accent4>
        <a:srgbClr val="691E7C"/>
      </a:accent4>
      <a:accent5>
        <a:srgbClr val="0098CC"/>
      </a:accent5>
      <a:accent6>
        <a:srgbClr val="BDBD00"/>
      </a:accent6>
      <a:hlink>
        <a:srgbClr val="7DAFA5"/>
      </a:hlink>
      <a:folHlink>
        <a:srgbClr val="BA0065"/>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solidFill>
            <a:schemeClr val="tx2"/>
          </a:solidFill>
        </a:ln>
      </a:spPr>
      <a:bodyPr rtlCol="0" anchor="ctr"/>
      <a:lstStyle>
        <a:defPPr algn="ctr">
          <a:defRPr sz="2400" dirty="0" err="1" smtClean="0">
            <a:solidFill>
              <a:schemeClr val="tx2">
                <a:lumMod val="50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prstDash val="soli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400" dirty="0" err="1" smtClean="0">
            <a:solidFill>
              <a:schemeClr val="tx2">
                <a:lumMod val="50000"/>
              </a:schemeClr>
            </a:solidFill>
          </a:defRPr>
        </a:defPPr>
      </a:lstStyle>
    </a:txDef>
  </a:objectDefaults>
  <a:extraClrScheme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Closing slides">
  <a:themeElements>
    <a:clrScheme name="Capgemini Palette">
      <a:dk1>
        <a:srgbClr val="00264A"/>
      </a:dk1>
      <a:lt1>
        <a:sysClr val="window" lastClr="FFFFFF"/>
      </a:lt1>
      <a:dk2>
        <a:srgbClr val="9F958F"/>
      </a:dk2>
      <a:lt2>
        <a:srgbClr val="909090"/>
      </a:lt2>
      <a:accent1>
        <a:srgbClr val="F9BE01"/>
      </a:accent1>
      <a:accent2>
        <a:srgbClr val="ED771A"/>
      </a:accent2>
      <a:accent3>
        <a:srgbClr val="B70132"/>
      </a:accent3>
      <a:accent4>
        <a:srgbClr val="691E7C"/>
      </a:accent4>
      <a:accent5>
        <a:srgbClr val="0098CC"/>
      </a:accent5>
      <a:accent6>
        <a:srgbClr val="BDBD00"/>
      </a:accent6>
      <a:hlink>
        <a:srgbClr val="7DAFA5"/>
      </a:hlink>
      <a:folHlink>
        <a:srgbClr val="BA0065"/>
      </a:folHlink>
    </a:clrScheme>
    <a:fontScheme name="Capgemini">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aterial_x0020_Type xmlns="a85eb2a3-840f-4054-86f6-d41d0c1cba4b">Template</Material_x0020_Type>
    <FolderName xmlns="952a6df7-b138-4f89-9bc4-e7a874ea325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64F2559C04AE4488E94205E47398A2E" ma:contentTypeVersion="1" ma:contentTypeDescription="Create a new document." ma:contentTypeScope="" ma:versionID="bb2d9302acd88bfb40288f9de05848d0">
  <xsd:schema xmlns:xsd="http://www.w3.org/2001/XMLSchema" xmlns:xs="http://www.w3.org/2001/XMLSchema" xmlns:p="http://schemas.microsoft.com/office/2006/metadata/properties" xmlns:ns2="a85eb2a3-840f-4054-86f6-d41d0c1cba4b" xmlns:ns3="952a6df7-b138-4f89-9bc4-e7a874ea3254" targetNamespace="http://schemas.microsoft.com/office/2006/metadata/properties" ma:root="true" ma:fieldsID="2d7d6362be7cac7839ee051b71b7ca70" ns2:_="" ns3:_="">
    <xsd:import namespace="a85eb2a3-840f-4054-86f6-d41d0c1cba4b"/>
    <xsd:import namespace="952a6df7-b138-4f89-9bc4-e7a874ea3254"/>
    <xsd:element name="properties">
      <xsd:complexType>
        <xsd:sequence>
          <xsd:element name="documentManagement">
            <xsd:complexType>
              <xsd:all>
                <xsd:element ref="ns2:Material_x0020_Type"/>
                <xsd:element ref="ns3:FolderNa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85eb2a3-840f-4054-86f6-d41d0c1cba4b" elementFormDefault="qualified">
    <xsd:import namespace="http://schemas.microsoft.com/office/2006/documentManagement/types"/>
    <xsd:import namespace="http://schemas.microsoft.com/office/infopath/2007/PartnerControls"/>
    <xsd:element name="Material_x0020_Type" ma:index="8" ma:displayName="Material Type" ma:default="Template" ma:format="Dropdown" ma:internalName="Material_x0020_Type">
      <xsd:simpleType>
        <xsd:restriction base="dms:Choice">
          <xsd:enumeration value="Procedure"/>
          <xsd:enumeration value="Guideline"/>
          <xsd:enumeration value="Form"/>
          <xsd:enumeration value="Format"/>
          <xsd:enumeration value="General"/>
          <xsd:enumeration value="Template"/>
        </xsd:restriction>
      </xsd:simpleType>
    </xsd:element>
  </xsd:schema>
  <xsd:schema xmlns:xsd="http://www.w3.org/2001/XMLSchema" xmlns:xs="http://www.w3.org/2001/XMLSchema" xmlns:dms="http://schemas.microsoft.com/office/2006/documentManagement/types" xmlns:pc="http://schemas.microsoft.com/office/infopath/2007/PartnerControls" targetNamespace="952a6df7-b138-4f89-9bc4-e7a874ea3254" elementFormDefault="qualified">
    <xsd:import namespace="http://schemas.microsoft.com/office/2006/documentManagement/types"/>
    <xsd:import namespace="http://schemas.microsoft.com/office/infopath/2007/PartnerControls"/>
    <xsd:element name="FolderName" ma:index="9" nillable="true" ma:displayName="FolderName" ma:internalName="FolderName">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C1830C8-F522-4AF4-83DD-915E4EE23EB4}">
  <ds:schemaRefs>
    <ds:schemaRef ds:uri="http://schemas.microsoft.com/office/2006/metadata/properties"/>
    <ds:schemaRef ds:uri="http://schemas.microsoft.com/office/infopath/2007/PartnerControls"/>
    <ds:schemaRef ds:uri="a85eb2a3-840f-4054-86f6-d41d0c1cba4b"/>
    <ds:schemaRef ds:uri="952a6df7-b138-4f89-9bc4-e7a874ea3254"/>
  </ds:schemaRefs>
</ds:datastoreItem>
</file>

<file path=customXml/itemProps2.xml><?xml version="1.0" encoding="utf-8"?>
<ds:datastoreItem xmlns:ds="http://schemas.openxmlformats.org/officeDocument/2006/customXml" ds:itemID="{1B673CDC-8BE6-4391-ABD9-A817C61AB8C9}">
  <ds:schemaRefs>
    <ds:schemaRef ds:uri="http://schemas.microsoft.com/sharepoint/v3/contenttype/forms"/>
  </ds:schemaRefs>
</ds:datastoreItem>
</file>

<file path=customXml/itemProps3.xml><?xml version="1.0" encoding="utf-8"?>
<ds:datastoreItem xmlns:ds="http://schemas.openxmlformats.org/officeDocument/2006/customXml" ds:itemID="{813D12F9-4C52-4333-958E-73B490CD8B4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85eb2a3-840f-4054-86f6-d41d0c1cba4b"/>
    <ds:schemaRef ds:uri="952a6df7-b138-4f89-9bc4-e7a874ea325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ClassBook-LessonXX-Template Capgemini</Template>
  <TotalTime>88030</TotalTime>
  <Words>1989</Words>
  <Application>Microsoft Office PowerPoint</Application>
  <PresentationFormat>On-screen Show (16:9)</PresentationFormat>
  <Paragraphs>563</Paragraphs>
  <Slides>49</Slides>
  <Notes>49</Notes>
  <HiddenSlides>0</HiddenSlides>
  <MMClips>0</MMClips>
  <ScaleCrop>false</ScaleCrop>
  <HeadingPairs>
    <vt:vector size="8" baseType="variant">
      <vt:variant>
        <vt:lpstr>Fonts Used</vt:lpstr>
      </vt:variant>
      <vt:variant>
        <vt:i4>5</vt:i4>
      </vt:variant>
      <vt:variant>
        <vt:lpstr>Theme</vt:lpstr>
      </vt:variant>
      <vt:variant>
        <vt:i4>4</vt:i4>
      </vt:variant>
      <vt:variant>
        <vt:lpstr>Embedded OLE Servers</vt:lpstr>
      </vt:variant>
      <vt:variant>
        <vt:i4>1</vt:i4>
      </vt:variant>
      <vt:variant>
        <vt:lpstr>Slide Titles</vt:lpstr>
      </vt:variant>
      <vt:variant>
        <vt:i4>49</vt:i4>
      </vt:variant>
    </vt:vector>
  </HeadingPairs>
  <TitlesOfParts>
    <vt:vector size="59" baseType="lpstr">
      <vt:lpstr>Arial</vt:lpstr>
      <vt:lpstr>Calibri</vt:lpstr>
      <vt:lpstr>Candara</vt:lpstr>
      <vt:lpstr>Trebuchet MS</vt:lpstr>
      <vt:lpstr>Wingdings</vt:lpstr>
      <vt:lpstr>ClassBook-LessonXX-Template Capgemini</vt:lpstr>
      <vt:lpstr>2_Office Theme</vt:lpstr>
      <vt:lpstr>1_Office Theme</vt:lpstr>
      <vt:lpstr>Closing slides</vt:lpstr>
      <vt:lpstr>think-cell Slide</vt:lpstr>
      <vt:lpstr>Advanced PLSQL</vt:lpstr>
      <vt:lpstr>PowerPoint Presentation</vt:lpstr>
      <vt:lpstr>5.1: Introduction to Large-Objects(LOBs) What is a Large-Object</vt:lpstr>
      <vt:lpstr>5.2:  Types of LOBs Internal and External LOBs</vt:lpstr>
      <vt:lpstr>5.2:  Types of LOBs       …….contd LOB-interpretations by Oracle</vt:lpstr>
      <vt:lpstr>5.3:  Conversion between Char/Varchar and CLOB      Implicit conversion between Char/Varchar and CLOB </vt:lpstr>
      <vt:lpstr>5.4:  Alteration between Char/Varchar and CLOB      Alteration between Char/Varchar and CLOB  </vt:lpstr>
      <vt:lpstr>5.5:  Conversion between LONG and CLOB      Implicit conversion from CLOB to LONG</vt:lpstr>
      <vt:lpstr>5.6:  Alteration Between CLOB and LONG      Direct alteration from LONG to CLOB</vt:lpstr>
      <vt:lpstr>5.7:  Conversion between LONG and CLOB      Implicit conversion from BLOB to LONG RAW</vt:lpstr>
      <vt:lpstr>5.8:  Alteration Between CLOB and LONG      Direct alteration from LONG RAW to BLOB</vt:lpstr>
      <vt:lpstr>5.9:  LOBS versus LONGs     Comparison of LOB datatypes with the LONG datatypes</vt:lpstr>
      <vt:lpstr>5.10:  Explicit Conversion      TO_LOB function</vt:lpstr>
      <vt:lpstr>5.10:  Explicit Conversion      TO_LOB function      ……contd</vt:lpstr>
      <vt:lpstr>5.11:  Components of LOB      LOB Locator and LOB value     </vt:lpstr>
      <vt:lpstr>5.12:  Features of LOBs     Applicability on LOBs     </vt:lpstr>
      <vt:lpstr>5.13:  BFILE type    Read-only BFILE     </vt:lpstr>
      <vt:lpstr>5.14:  Directory Object    Abstraction for an OS folder path    </vt:lpstr>
      <vt:lpstr>5.14:  Directory Object       …..contd  Guidelines for Directory Object </vt:lpstr>
      <vt:lpstr>5.14:  Directory Object       …..contd  Managing BFILEs </vt:lpstr>
      <vt:lpstr>5.14:  Directory Object       Managing BFILEs      ….contd</vt:lpstr>
      <vt:lpstr>5.15:  BFILE columns in table       Populating BFILE Columns </vt:lpstr>
      <vt:lpstr>5.15:  BFILE columns in table       Populating BFILE Columns    ….contd</vt:lpstr>
      <vt:lpstr>5.16:  BFILENAME       Initialize a BFILE column   </vt:lpstr>
      <vt:lpstr>5.16:  BFILENAME       Initialize a BFILE column    ……contd</vt:lpstr>
      <vt:lpstr>5.17:  DBMS_LOB       BFILE operations using DBMS_LOB</vt:lpstr>
      <vt:lpstr>5.17:  DBMS_LOB       BFILE operations using DBMS_LOB  …contd</vt:lpstr>
      <vt:lpstr>5.18:  DBMS_LOB       DBMS_LOB.FILEEXISTS  </vt:lpstr>
      <vt:lpstr>5.18:  DBMS_LOB       DBMS_LOB.FILEEXISTS   ……contd </vt:lpstr>
      <vt:lpstr>5.18:  DBMS_LOB       DBMS_LOB.FILEEXISTS   ……contd </vt:lpstr>
      <vt:lpstr>5.19:  TO_CLOB and TO_BLOB       PLSQL conversion functions</vt:lpstr>
      <vt:lpstr>5.19:  TO_CLOB and TO_BLOB       PLSQL conversion functions  ……..contd</vt:lpstr>
      <vt:lpstr>5.19:  TO_CLOB and TO_BLOB       PLSQL conversion functions  ……..contd</vt:lpstr>
      <vt:lpstr>5.20:  EMPTY_CLOB and EMPTY_BLOB       Initializing and Populating LOB columns </vt:lpstr>
      <vt:lpstr>5.20:  EMPTY_CLOB and EMPTY_BLOB       Initializing and Populating LOB columns …..contd </vt:lpstr>
      <vt:lpstr>5.20:  EMPTY_CLOB and EMPTY_BLOB       Initializing and Populating LOB columns …..contd </vt:lpstr>
      <vt:lpstr>5.21:  DBMS_BLOB  in PLSQL       Updating LOB by Using DBMS_LOB in PLSQL</vt:lpstr>
      <vt:lpstr>5.21:  DBMS_BLOB  in PLSQL       Updating LOB by Using DBMS_LOB in PLSQL  …contd</vt:lpstr>
      <vt:lpstr>5.21:  DBMS_BLOB  in PLSQL       Updating LOB by Using DBMS_LOB in PLSQL  …contd</vt:lpstr>
      <vt:lpstr>5.21:  DBMS_BLOB  in PLSQL       Updating LOB by Using DBMS_LOB in PLSQL  …contd</vt:lpstr>
      <vt:lpstr>5.21:  DBMS_BLOB  in PLSQL       Updating LOB by Using DBMS_LOB in PLSQL  …contd</vt:lpstr>
      <vt:lpstr>5.22:  Removing LOBs       Setting LOBs to Empty-LOB pointer or NULL</vt:lpstr>
      <vt:lpstr>5.23:  BLOB       Storing a image file in oracle database</vt:lpstr>
      <vt:lpstr>5.24:  BLOB    bulk Upload    Doing bulk upload of images to database</vt:lpstr>
      <vt:lpstr>5.24:  BLOB    bulk Upload    Doing bulk upload of images to database ……contd</vt:lpstr>
      <vt:lpstr>5.24:  BLOB    bulk Upload    Doing bulk upload of images to database ……contd</vt:lpstr>
      <vt:lpstr>5.25:  BLOB    bulk Upload    Uploading Word Document to oracle database</vt:lpstr>
      <vt:lpstr>5.25:  BLOB    bulk Upload    Uploading Word Document to oracle database….contd</vt:lpstr>
      <vt:lpstr>5.25:  BLOB    bulk Upload    Uploading Word Document to oracle database….contd</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Name</dc:title>
  <dc:creator>hpangam</dc:creator>
  <cp:lastModifiedBy>Pangam, Hemant</cp:lastModifiedBy>
  <cp:revision>2012</cp:revision>
  <dcterms:created xsi:type="dcterms:W3CDTF">2016-10-27T07:09:48Z</dcterms:created>
  <dcterms:modified xsi:type="dcterms:W3CDTF">2019-11-20T10:01:48Z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Url">
    <vt:lpwstr/>
  </property>
  <property fmtid="{D5CDD505-2E9C-101B-9397-08002B2CF9AE}" pid="3" name="ContentTypeId">
    <vt:lpwstr>0x010100A64F2559C04AE4488E94205E47398A2E</vt:lpwstr>
  </property>
</Properties>
</file>