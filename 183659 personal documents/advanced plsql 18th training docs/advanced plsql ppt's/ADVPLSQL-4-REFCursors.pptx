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 id="2147483728" r:id="rId5"/>
    <p:sldMasterId id="2147483716" r:id="rId6"/>
    <p:sldMasterId id="2147483713" r:id="rId7"/>
  </p:sldMasterIdLst>
  <p:notesMasterIdLst>
    <p:notesMasterId r:id="rId68"/>
  </p:notesMasterIdLst>
  <p:handoutMasterIdLst>
    <p:handoutMasterId r:id="rId69"/>
  </p:handoutMasterIdLst>
  <p:sldIdLst>
    <p:sldId id="265" r:id="rId8"/>
    <p:sldId id="339" r:id="rId9"/>
    <p:sldId id="340" r:id="rId10"/>
    <p:sldId id="370" r:id="rId11"/>
    <p:sldId id="371" r:id="rId12"/>
    <p:sldId id="372" r:id="rId13"/>
    <p:sldId id="373" r:id="rId14"/>
    <p:sldId id="374" r:id="rId15"/>
    <p:sldId id="375" r:id="rId16"/>
    <p:sldId id="417" r:id="rId17"/>
    <p:sldId id="418" r:id="rId18"/>
    <p:sldId id="376" r:id="rId19"/>
    <p:sldId id="419" r:id="rId20"/>
    <p:sldId id="420" r:id="rId21"/>
    <p:sldId id="421" r:id="rId22"/>
    <p:sldId id="422" r:id="rId23"/>
    <p:sldId id="466" r:id="rId24"/>
    <p:sldId id="423" r:id="rId25"/>
    <p:sldId id="424" r:id="rId26"/>
    <p:sldId id="425" r:id="rId27"/>
    <p:sldId id="426" r:id="rId28"/>
    <p:sldId id="428" r:id="rId29"/>
    <p:sldId id="429" r:id="rId30"/>
    <p:sldId id="430" r:id="rId31"/>
    <p:sldId id="431" r:id="rId32"/>
    <p:sldId id="433" r:id="rId33"/>
    <p:sldId id="434" r:id="rId34"/>
    <p:sldId id="435" r:id="rId35"/>
    <p:sldId id="443" r:id="rId36"/>
    <p:sldId id="444" r:id="rId37"/>
    <p:sldId id="436" r:id="rId38"/>
    <p:sldId id="437" r:id="rId39"/>
    <p:sldId id="438" r:id="rId40"/>
    <p:sldId id="439" r:id="rId41"/>
    <p:sldId id="440" r:id="rId42"/>
    <p:sldId id="442" r:id="rId43"/>
    <p:sldId id="441" r:id="rId44"/>
    <p:sldId id="445" r:id="rId45"/>
    <p:sldId id="446" r:id="rId46"/>
    <p:sldId id="447" r:id="rId47"/>
    <p:sldId id="448" r:id="rId48"/>
    <p:sldId id="449" r:id="rId49"/>
    <p:sldId id="450" r:id="rId50"/>
    <p:sldId id="451" r:id="rId51"/>
    <p:sldId id="452" r:id="rId52"/>
    <p:sldId id="453" r:id="rId53"/>
    <p:sldId id="454" r:id="rId54"/>
    <p:sldId id="455" r:id="rId55"/>
    <p:sldId id="456" r:id="rId56"/>
    <p:sldId id="457" r:id="rId57"/>
    <p:sldId id="459" r:id="rId58"/>
    <p:sldId id="458" r:id="rId59"/>
    <p:sldId id="460" r:id="rId60"/>
    <p:sldId id="461" r:id="rId61"/>
    <p:sldId id="462" r:id="rId62"/>
    <p:sldId id="463" r:id="rId63"/>
    <p:sldId id="464" r:id="rId64"/>
    <p:sldId id="465" r:id="rId65"/>
    <p:sldId id="467" r:id="rId66"/>
    <p:sldId id="468" r:id="rId67"/>
  </p:sldIdLst>
  <p:sldSz cx="9144000" cy="5143500" type="screen16x9"/>
  <p:notesSz cx="6858000" cy="9144000"/>
  <p:defaultText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4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608"/>
    <a:srgbClr val="993300"/>
    <a:srgbClr val="BDBD00"/>
    <a:srgbClr val="FF9900"/>
    <a:srgbClr val="598E20"/>
    <a:srgbClr val="00234B"/>
    <a:srgbClr val="ED771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8" autoAdjust="0"/>
    <p:restoredTop sz="94227" autoAdjust="0"/>
  </p:normalViewPr>
  <p:slideViewPr>
    <p:cSldViewPr snapToGrid="0" showGuides="1">
      <p:cViewPr>
        <p:scale>
          <a:sx n="120" d="100"/>
          <a:sy n="120" d="100"/>
        </p:scale>
        <p:origin x="132" y="-1404"/>
      </p:cViewPr>
      <p:guideLst>
        <p:guide orient="horz" pos="162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9" d="100"/>
        <a:sy n="79" d="100"/>
      </p:scale>
      <p:origin x="0" y="0"/>
    </p:cViewPr>
  </p:sorterViewPr>
  <p:notesViewPr>
    <p:cSldViewPr snapToGrid="0">
      <p:cViewPr varScale="1">
        <p:scale>
          <a:sx n="67" d="100"/>
          <a:sy n="67" d="100"/>
        </p:scale>
        <p:origin x="-3168"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228672-4337-41E0-A109-2BF6C0A0EED5}" type="datetimeFigureOut">
              <a:rPr lang="en-US" smtClean="0"/>
              <a:pPr/>
              <a:t>11/22/2019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Page XX-#</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0475" y="685800"/>
            <a:ext cx="6096000" cy="3429000"/>
          </a:xfrm>
          <a:prstGeom prst="rect">
            <a:avLst/>
          </a:prstGeom>
          <a:noFill/>
          <a:ln w="12700">
            <a:solidFill>
              <a:prstClr val="black"/>
            </a:solidFill>
          </a:ln>
        </p:spPr>
        <p:txBody>
          <a:bodyPr vert="horz" lIns="91440" tIns="45720" rIns="91440" bIns="45720" rtlCol="0" anchor="ctr"/>
          <a:lstStyle/>
          <a:p>
            <a:r>
              <a:rPr lang="en-US" dirty="0"/>
              <a:t>text</a:t>
            </a:r>
          </a:p>
        </p:txBody>
      </p:sp>
      <p:sp>
        <p:nvSpPr>
          <p:cNvPr id="5" name="Notes Placeholder 4"/>
          <p:cNvSpPr>
            <a:spLocks noGrp="1"/>
          </p:cNvSpPr>
          <p:nvPr>
            <p:ph type="body" sz="quarter" idx="3"/>
          </p:nvPr>
        </p:nvSpPr>
        <p:spPr>
          <a:xfrm>
            <a:off x="2039550" y="4235826"/>
            <a:ext cx="4586881"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Line 8"/>
          <p:cNvSpPr>
            <a:spLocks noChangeShapeType="1"/>
          </p:cNvSpPr>
          <p:nvPr/>
        </p:nvSpPr>
        <p:spPr bwMode="auto">
          <a:xfrm>
            <a:off x="1905000" y="457200"/>
            <a:ext cx="0" cy="8001000"/>
          </a:xfrm>
          <a:prstGeom prst="line">
            <a:avLst/>
          </a:prstGeom>
          <a:noFill/>
          <a:ln w="9525">
            <a:solidFill>
              <a:schemeClr val="tx1"/>
            </a:solidFill>
            <a:round/>
            <a:headEnd/>
            <a:tailEnd/>
          </a:ln>
          <a:effectLst/>
        </p:spPr>
        <p:txBody>
          <a:bodyPr/>
          <a:lstStyle/>
          <a:p>
            <a:endParaRPr lang="en-US"/>
          </a:p>
        </p:txBody>
      </p:sp>
      <p:sp>
        <p:nvSpPr>
          <p:cNvPr id="11" name="Rectangle 14"/>
          <p:cNvSpPr>
            <a:spLocks noChangeArrowheads="1"/>
          </p:cNvSpPr>
          <p:nvPr/>
        </p:nvSpPr>
        <p:spPr bwMode="auto">
          <a:xfrm>
            <a:off x="241300" y="152400"/>
            <a:ext cx="6500813" cy="309563"/>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itchFamily="34" charset="0"/>
                <a:cs typeface="Arial" pitchFamily="34" charset="0"/>
              </a:rPr>
              <a:t>&lt;Course Name&gt;				&lt;Lesson Name&gt;		</a:t>
            </a:r>
            <a:endParaRPr lang="en-US" dirty="0">
              <a:latin typeface="Arial" pitchFamily="34" charset="0"/>
              <a:cs typeface="Arial" pitchFamily="34" charset="0"/>
            </a:endParaRPr>
          </a:p>
        </p:txBody>
      </p:sp>
      <p:sp>
        <p:nvSpPr>
          <p:cNvPr id="12" name="Rectangle 14"/>
          <p:cNvSpPr>
            <a:spLocks noChangeArrowheads="1"/>
          </p:cNvSpPr>
          <p:nvPr/>
        </p:nvSpPr>
        <p:spPr bwMode="auto">
          <a:xfrm>
            <a:off x="3962793" y="8591057"/>
            <a:ext cx="2762530" cy="448235"/>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latin typeface="Arial" pitchFamily="34" charset="0"/>
                <a:cs typeface="Arial" pitchFamily="34" charset="0"/>
              </a:rPr>
              <a:t>		 Page XX-</a:t>
            </a:r>
            <a:fld id="{BD9FB300-F9DC-4669-88F4-967ABA23CC04}" type="slidenum">
              <a:rPr lang="en-US" sz="1000" smtClean="0">
                <a:latin typeface="Arial" pitchFamily="34" charset="0"/>
                <a:cs typeface="Arial"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r>
              <a:rPr lang="en-US" sz="1000" dirty="0">
                <a:latin typeface="Arial" pitchFamily="34" charset="0"/>
                <a:cs typeface="Arial" pitchFamily="34" charset="0"/>
              </a:rPr>
              <a:t> </a:t>
            </a:r>
          </a:p>
          <a:p>
            <a:r>
              <a:rPr lang="en-US" sz="1000" dirty="0">
                <a:latin typeface="Arial" pitchFamily="34" charset="0"/>
                <a:cs typeface="Arial" pitchFamily="34" charset="0"/>
              </a:rPr>
              <a:t>  </a:t>
            </a: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1pPr>
    <a:lvl2pPr marL="389626"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2pPr>
    <a:lvl3pPr marL="779252"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3pPr>
    <a:lvl4pPr marL="1168878"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4pPr>
    <a:lvl5pPr marL="1558503"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5pPr>
    <a:lvl6pPr marL="1948129" algn="l" defTabSz="779252" rtl="0" eaLnBrk="1" latinLnBrk="0" hangingPunct="1">
      <a:defRPr sz="1000" kern="1200">
        <a:solidFill>
          <a:schemeClr val="tx1"/>
        </a:solidFill>
        <a:latin typeface="+mn-lt"/>
        <a:ea typeface="+mn-ea"/>
        <a:cs typeface="+mn-cs"/>
      </a:defRPr>
    </a:lvl6pPr>
    <a:lvl7pPr marL="2337755" algn="l" defTabSz="779252" rtl="0" eaLnBrk="1" latinLnBrk="0" hangingPunct="1">
      <a:defRPr sz="1000" kern="1200">
        <a:solidFill>
          <a:schemeClr val="tx1"/>
        </a:solidFill>
        <a:latin typeface="+mn-lt"/>
        <a:ea typeface="+mn-ea"/>
        <a:cs typeface="+mn-cs"/>
      </a:defRPr>
    </a:lvl7pPr>
    <a:lvl8pPr marL="2727381" algn="l" defTabSz="779252" rtl="0" eaLnBrk="1" latinLnBrk="0" hangingPunct="1">
      <a:defRPr sz="1000" kern="1200">
        <a:solidFill>
          <a:schemeClr val="tx1"/>
        </a:solidFill>
        <a:latin typeface="+mn-lt"/>
        <a:ea typeface="+mn-ea"/>
        <a:cs typeface="+mn-cs"/>
      </a:defRPr>
    </a:lvl8pPr>
    <a:lvl9pPr marL="3117007" algn="l" defTabSz="77925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0475"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Rot="1" noChangeAspect="1" noChangeArrowheads="1" noTextEdit="1"/>
          </p:cNvSpPr>
          <p:nvPr>
            <p:ph type="sldImg"/>
          </p:nvPr>
        </p:nvSpPr>
        <p:spPr>
          <a:xfrm>
            <a:off x="1192213" y="839788"/>
            <a:ext cx="6226175" cy="3503612"/>
          </a:xfrm>
          <a:ln/>
        </p:spPr>
      </p:sp>
      <p:sp>
        <p:nvSpPr>
          <p:cNvPr id="35844" name="Rectangle 4"/>
          <p:cNvSpPr>
            <a:spLocks noGrp="1" noChangeArrowheads="1"/>
          </p:cNvSpPr>
          <p:nvPr>
            <p:ph type="body" idx="1"/>
          </p:nvPr>
        </p:nvSpPr>
        <p:spPr>
          <a:xfrm>
            <a:off x="1981200" y="4572000"/>
            <a:ext cx="4648200" cy="3963988"/>
          </a:xfrm>
          <a:noFill/>
          <a:ln/>
        </p:spPr>
        <p:txBody>
          <a:bodyPr/>
          <a:lstStyle/>
          <a:p>
            <a:pPr eaLnBrk="1" hangingPunct="1"/>
            <a:endParaRPr lang="en-US"/>
          </a:p>
        </p:txBody>
      </p:sp>
      <p:sp>
        <p:nvSpPr>
          <p:cNvPr id="35845" name="Text Box 5"/>
          <p:cNvSpPr txBox="1">
            <a:spLocks noChangeArrowheads="1"/>
          </p:cNvSpPr>
          <p:nvPr/>
        </p:nvSpPr>
        <p:spPr bwMode="auto">
          <a:xfrm>
            <a:off x="152400" y="1295400"/>
            <a:ext cx="1676400" cy="396875"/>
          </a:xfrm>
          <a:prstGeom prst="rect">
            <a:avLst/>
          </a:prstGeom>
          <a:noFill/>
          <a:ln w="9525">
            <a:noFill/>
            <a:miter lim="800000"/>
            <a:headEnd/>
            <a:tailEnd/>
          </a:ln>
        </p:spPr>
        <p:txBody>
          <a:bodyPr>
            <a:spAutoFit/>
          </a:bodyPr>
          <a:lstStyle/>
          <a:p>
            <a:r>
              <a:rPr lang="en-US" sz="1000" dirty="0">
                <a:latin typeface="Trebuchet MS" pitchFamily="34" charset="0"/>
              </a:rPr>
              <a:t>Explain the lesson coverage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322206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530076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2788354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122444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4687217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9288858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243454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107540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6986034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573964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5124473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8313663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4100321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7201059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3503964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9704273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9087249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1485648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420741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1596842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483623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4294702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37144571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3532160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0365705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40259031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6069772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5239264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6774686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5112587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42374683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3930852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9337947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7014908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41106765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5327511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5350452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5034618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5713499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14670546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2429574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extLst>
      <p:ext uri="{BB962C8B-B14F-4D97-AF65-F5344CB8AC3E}">
        <p14:creationId xmlns:p14="http://schemas.microsoft.com/office/powerpoint/2010/main" val="41212640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9.xml"/><Relationship Id="rId7" Type="http://schemas.openxmlformats.org/officeDocument/2006/relationships/oleObject" Target="../embeddings/oleObject2.bin"/><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11.xml"/><Relationship Id="rId10" Type="http://schemas.openxmlformats.org/officeDocument/2006/relationships/image" Target="../media/image4.jpeg"/><Relationship Id="rId4" Type="http://schemas.openxmlformats.org/officeDocument/2006/relationships/tags" Target="../tags/tag10.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7.xml"/><Relationship Id="rId7" Type="http://schemas.openxmlformats.org/officeDocument/2006/relationships/image" Target="../media/image1.emf"/><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4.xml"/><Relationship Id="rId4" Type="http://schemas.openxmlformats.org/officeDocument/2006/relationships/tags" Target="../tags/tag28.xml"/><Relationship Id="rId9"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4469" name="think-cell Slide" r:id="rId7" imgW="360" imgH="360" progId="">
                  <p:embed/>
                </p:oleObj>
              </mc:Choice>
              <mc:Fallback>
                <p:oleObj name="think-cell Slide" r:id="rId7" imgW="360" imgH="36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Image 11" descr="GraphicTablet_shutterstock_73936774.jpg"/>
          <p:cNvPicPr>
            <a:picLocks noChangeAspect="1"/>
          </p:cNvPicPr>
          <p:nvPr userDrawn="1"/>
        </p:nvPicPr>
        <p:blipFill>
          <a:blip r:embed="rId9" cstate="print"/>
          <a:srcRect b="14021"/>
          <a:stretch>
            <a:fillRect/>
          </a:stretch>
        </p:blipFill>
        <p:spPr>
          <a:xfrm>
            <a:off x="1588" y="883526"/>
            <a:ext cx="9904413" cy="4259975"/>
          </a:xfrm>
          <a:prstGeom prst="rect">
            <a:avLst/>
          </a:prstGeom>
        </p:spPr>
      </p:pic>
      <p:sp>
        <p:nvSpPr>
          <p:cNvPr id="7" name="Rectangle 7"/>
          <p:cNvSpPr/>
          <p:nvPr userDrawn="1">
            <p:custDataLst>
              <p:tags r:id="rId3"/>
            </p:custDataLst>
          </p:nvPr>
        </p:nvSpPr>
        <p:spPr bwMode="auto">
          <a:xfrm>
            <a:off x="2" y="0"/>
            <a:ext cx="9906318" cy="20122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0 w 10560222"/>
              <a:gd name="connsiteY0" fmla="*/ 0 h 2958168"/>
              <a:gd name="connsiteX1" fmla="*/ 10559466 w 10560222"/>
              <a:gd name="connsiteY1" fmla="*/ 0 h 2958168"/>
              <a:gd name="connsiteX2" fmla="*/ 10558968 w 10560222"/>
              <a:gd name="connsiteY2" fmla="*/ 1476338 h 2958168"/>
              <a:gd name="connsiteX3" fmla="*/ 9286405 w 10560222"/>
              <a:gd name="connsiteY3" fmla="*/ 2153103 h 2958168"/>
              <a:gd name="connsiteX4" fmla="*/ 2315369 w 10560222"/>
              <a:gd name="connsiteY4" fmla="*/ 2159512 h 2958168"/>
              <a:gd name="connsiteX5" fmla="*/ 1178700 w 10560222"/>
              <a:gd name="connsiteY5" fmla="*/ 2958168 h 2958168"/>
              <a:gd name="connsiteX6" fmla="*/ 0 w 10560222"/>
              <a:gd name="connsiteY6" fmla="*/ 2174065 h 2958168"/>
              <a:gd name="connsiteX7" fmla="*/ 0 w 10560222"/>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0222" h="2958168">
                <a:moveTo>
                  <a:pt x="0" y="0"/>
                </a:moveTo>
                <a:lnTo>
                  <a:pt x="10559466" y="0"/>
                </a:lnTo>
                <a:cubicBezTo>
                  <a:pt x="10559979" y="67600"/>
                  <a:pt x="10560222" y="1432923"/>
                  <a:pt x="10558968" y="1476338"/>
                </a:cubicBezTo>
                <a:cubicBezTo>
                  <a:pt x="10081572" y="2148347"/>
                  <a:pt x="9702991" y="2158423"/>
                  <a:pt x="9286405" y="2153103"/>
                </a:cubicBezTo>
                <a:lnTo>
                  <a:pt x="2315369" y="2159512"/>
                </a:lnTo>
                <a:cubicBezTo>
                  <a:pt x="1738155" y="2192654"/>
                  <a:pt x="1370309" y="2495346"/>
                  <a:pt x="1178700" y="2958168"/>
                </a:cubicBezTo>
                <a:cubicBezTo>
                  <a:pt x="880346" y="2254391"/>
                  <a:pt x="278640" y="2173187"/>
                  <a:pt x="0" y="2174065"/>
                </a:cubicBezTo>
                <a:cubicBezTo>
                  <a:pt x="2067" y="2138552"/>
                  <a:pt x="1272" y="95582"/>
                  <a:pt x="0"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sp>
        <p:nvSpPr>
          <p:cNvPr id="9" name="Title 1"/>
          <p:cNvSpPr>
            <a:spLocks noGrp="1"/>
          </p:cNvSpPr>
          <p:nvPr>
            <p:ph type="ctrTitle" hasCustomPrompt="1"/>
            <p:custDataLst>
              <p:tags r:id="rId4"/>
            </p:custDataLst>
          </p:nvPr>
        </p:nvSpPr>
        <p:spPr>
          <a:xfrm>
            <a:off x="4943238" y="2208806"/>
            <a:ext cx="4915261" cy="823618"/>
          </a:xfrm>
        </p:spPr>
        <p:txBody>
          <a:bodyPr vert="horz" lIns="0" tIns="28173" rIns="28173" bIns="28173" rtlCol="0" anchor="t">
            <a:noAutofit/>
          </a:bodyPr>
          <a:lstStyle>
            <a:lvl1pPr marL="0" indent="0" algn="l" defTabSz="779202" rtl="0" eaLnBrk="1" latinLnBrk="0" hangingPunct="1">
              <a:lnSpc>
                <a:spcPct val="85000"/>
              </a:lnSpc>
              <a:spcBef>
                <a:spcPct val="0"/>
              </a:spcBef>
              <a:buNone/>
              <a:defRPr lang="en-US" sz="3700" b="0" kern="1200" dirty="0">
                <a:solidFill>
                  <a:schemeClr val="tx1"/>
                </a:solidFill>
                <a:latin typeface="+mj-lt"/>
                <a:ea typeface="+mj-ea"/>
                <a:cs typeface="+mj-cs"/>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10" name="Subtitle 2"/>
          <p:cNvSpPr>
            <a:spLocks noGrp="1"/>
          </p:cNvSpPr>
          <p:nvPr>
            <p:ph type="subTitle" idx="1" hasCustomPrompt="1"/>
            <p:custDataLst>
              <p:tags r:id="rId5"/>
            </p:custDataLst>
          </p:nvPr>
        </p:nvSpPr>
        <p:spPr>
          <a:xfrm>
            <a:off x="4940137" y="3324784"/>
            <a:ext cx="4918363" cy="710813"/>
          </a:xfrm>
        </p:spPr>
        <p:txBody>
          <a:bodyPr lIns="0" tIns="28173" rIns="28173" bIns="28173"/>
          <a:lstStyle>
            <a:lvl1pPr marL="0" indent="0" algn="l">
              <a:buNone/>
              <a:defRPr sz="1900" b="0">
                <a:solidFill>
                  <a:schemeClr val="tx1"/>
                </a:solidFill>
              </a:defRPr>
            </a:lvl1pPr>
            <a:lvl2pPr marL="389601" indent="0" algn="ctr">
              <a:buNone/>
              <a:defRPr>
                <a:solidFill>
                  <a:schemeClr val="tx1">
                    <a:tint val="75000"/>
                  </a:schemeClr>
                </a:solidFill>
              </a:defRPr>
            </a:lvl2pPr>
            <a:lvl3pPr marL="779202" indent="0" algn="ctr">
              <a:buNone/>
              <a:defRPr>
                <a:solidFill>
                  <a:schemeClr val="tx1">
                    <a:tint val="75000"/>
                  </a:schemeClr>
                </a:solidFill>
              </a:defRPr>
            </a:lvl3pPr>
            <a:lvl4pPr marL="1168803" indent="0" algn="ctr">
              <a:buNone/>
              <a:defRPr>
                <a:solidFill>
                  <a:schemeClr val="tx1">
                    <a:tint val="75000"/>
                  </a:schemeClr>
                </a:solidFill>
              </a:defRPr>
            </a:lvl4pPr>
            <a:lvl5pPr marL="1558405" indent="0" algn="ctr">
              <a:buNone/>
              <a:defRPr>
                <a:solidFill>
                  <a:schemeClr val="tx1">
                    <a:tint val="75000"/>
                  </a:schemeClr>
                </a:solidFill>
              </a:defRPr>
            </a:lvl5pPr>
            <a:lvl6pPr marL="1948006" indent="0" algn="ctr">
              <a:buNone/>
              <a:defRPr>
                <a:solidFill>
                  <a:schemeClr val="tx1">
                    <a:tint val="75000"/>
                  </a:schemeClr>
                </a:solidFill>
              </a:defRPr>
            </a:lvl6pPr>
            <a:lvl7pPr marL="2337607" indent="0" algn="ctr">
              <a:buNone/>
              <a:defRPr>
                <a:solidFill>
                  <a:schemeClr val="tx1">
                    <a:tint val="75000"/>
                  </a:schemeClr>
                </a:solidFill>
              </a:defRPr>
            </a:lvl7pPr>
            <a:lvl8pPr marL="2727209" indent="0" algn="ctr">
              <a:buNone/>
              <a:defRPr>
                <a:solidFill>
                  <a:schemeClr val="tx1">
                    <a:tint val="75000"/>
                  </a:schemeClr>
                </a:solidFill>
              </a:defRPr>
            </a:lvl8pPr>
            <a:lvl9pPr marL="3116810"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8" name="Image 10" descr="Capgemini_logo.jpg"/>
          <p:cNvPicPr>
            <a:picLocks noChangeAspect="1"/>
          </p:cNvPicPr>
          <p:nvPr userDrawn="1"/>
        </p:nvPicPr>
        <p:blipFill>
          <a:blip r:embed="rId10" cstate="print"/>
          <a:stretch>
            <a:fillRect/>
          </a:stretch>
        </p:blipFill>
        <p:spPr>
          <a:xfrm>
            <a:off x="735690" y="494028"/>
            <a:ext cx="2880000" cy="514535"/>
          </a:xfrm>
          <a:prstGeom prst="rect">
            <a:avLst/>
          </a:prstGeom>
        </p:spPr>
      </p:pic>
    </p:spTree>
    <p:extLst>
      <p:ext uri="{BB962C8B-B14F-4D97-AF65-F5344CB8AC3E}">
        <p14:creationId xmlns:p14="http://schemas.microsoft.com/office/powerpoint/2010/main" val="3646093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15493" name="think-cell Slide" r:id="rId6" imgW="360" imgH="360" progId="">
                  <p:embed/>
                </p:oleObj>
              </mc:Choice>
              <mc:Fallback>
                <p:oleObj name="think-cell Slide" r:id="rId6" imgW="360" imgH="360" progId="">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121076"/>
            <a:ext cx="884548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905409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121076"/>
            <a:ext cx="679376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10102" y="1371600"/>
            <a:ext cx="1985371" cy="1508760"/>
          </a:xfrm>
          <a:prstGeom prst="rect">
            <a:avLst/>
          </a:prstGeom>
        </p:spPr>
      </p:pic>
    </p:spTree>
    <p:extLst>
      <p:ext uri="{BB962C8B-B14F-4D97-AF65-F5344CB8AC3E}">
        <p14:creationId xmlns:p14="http://schemas.microsoft.com/office/powerpoint/2010/main" val="125748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20613" name="think-cell Slide" r:id="rId4" imgW="360" imgH="360" progId="">
                  <p:embed/>
                </p:oleObj>
              </mc:Choice>
              <mc:Fallback>
                <p:oleObj name="think-cell Slide" r:id="rId4" imgW="360" imgH="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904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727887C-E3D9-4956-B241-0D7B3E50E8A2}" type="datetime1">
              <a:rPr lang="en-US" smtClean="0"/>
              <a:pPr/>
              <a:t>11/22/2019</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11/22/2019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11/22/2019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11/22/2019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11/22/2019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11/22/2019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11/22/2019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11/22/2019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11/22/2019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11/22/2019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11/22/2019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11/22/2019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11/22/2019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11/22/2019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35749" cy="107989"/>
        </p:xfrm>
        <a:graphic>
          <a:graphicData uri="http://schemas.openxmlformats.org/presentationml/2006/ole">
            <mc:AlternateContent xmlns:mc="http://schemas.openxmlformats.org/markup-compatibility/2006">
              <mc:Choice xmlns:v="urn:schemas-microsoft-com:vml" Requires="v">
                <p:oleObj spid="_x0000_s69763" name="think-cell Slide" r:id="rId6" imgW="360" imgH="360" progId="">
                  <p:embed/>
                </p:oleObj>
              </mc:Choice>
              <mc:Fallback>
                <p:oleObj name="think-cell Slide" r:id="rId6" imgW="360" imgH="360" progId="">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 Rightshore</a:t>
            </a:r>
            <a:r>
              <a:rPr lang="en-US" sz="500" b="0" baseline="30000" dirty="0">
                <a:solidFill>
                  <a:schemeClr val="bg1"/>
                </a:solidFill>
                <a:latin typeface="Arial" pitchFamily="34" charset="0"/>
                <a:cs typeface="Arial" pitchFamily="34" charset="0"/>
              </a:rPr>
              <a:t>®  </a:t>
            </a:r>
            <a:r>
              <a:rPr lang="en-US" sz="500" b="0" baseline="0" dirty="0">
                <a:solidFill>
                  <a:schemeClr val="bg1"/>
                </a:solidFill>
                <a:latin typeface="Arial" pitchFamily="34" charset="0"/>
                <a:cs typeface="Arial" pitchFamily="34" charset="0"/>
              </a:rPr>
              <a:t>is a trademark belonging to Capgemini.</a:t>
            </a:r>
            <a:endParaRPr lang="en-US" sz="500" b="0" kern="0" noProof="1">
              <a:solidFill>
                <a:schemeClr val="bg1"/>
              </a:solidFill>
              <a:latin typeface="Arial" pitchFamily="34" charset="0"/>
              <a:cs typeface="Arial" pitchFamily="34" charset="0"/>
            </a:endParaRPr>
          </a:p>
        </p:txBody>
      </p:sp>
      <p:sp>
        <p:nvSpPr>
          <p:cNvPr id="10" name="Rectangle 9"/>
          <p:cNvSpPr>
            <a:spLocks noChangeArrowheads="1"/>
          </p:cNvSpPr>
          <p:nvPr userDrawn="1">
            <p:custDataLst>
              <p:tags r:id="rId4"/>
            </p:custDataLst>
          </p:nvPr>
        </p:nvSpPr>
        <p:spPr bwMode="gray">
          <a:xfrm>
            <a:off x="1021004" y="2769919"/>
            <a:ext cx="3932160" cy="1511693"/>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06792" tIns="43420" rIns="184075" bIns="122717" rtlCol="0" anchor="b"/>
          <a:lstStyle/>
          <a:p>
            <a:pPr marL="0" marR="0" indent="0" algn="just" defTabSz="888816" rtl="0" eaLnBrk="1" fontAlgn="auto" latinLnBrk="0" hangingPunct="1">
              <a:lnSpc>
                <a:spcPct val="100000"/>
              </a:lnSpc>
              <a:spcBef>
                <a:spcPts val="0"/>
              </a:spcBef>
              <a:spcAft>
                <a:spcPts val="0"/>
              </a:spcAft>
              <a:buClrTx/>
              <a:buSzTx/>
              <a:buFontTx/>
              <a:buNone/>
              <a:tabLst/>
              <a:defRPr/>
            </a:pPr>
            <a:r>
              <a:rPr lang="en-US" sz="1500" b="1" dirty="0">
                <a:solidFill>
                  <a:schemeClr val="bg1"/>
                </a:solidFill>
                <a:latin typeface="Arial"/>
                <a:cs typeface="Arial"/>
              </a:rPr>
              <a:t>About Capgemini</a:t>
            </a:r>
            <a:endParaRPr lang="en-US" sz="900" dirty="0">
              <a:solidFill>
                <a:schemeClr val="bg1"/>
              </a:solidFill>
              <a:latin typeface="Arial" pitchFamily="34" charset="0"/>
              <a:cs typeface="Arial" pitchFamily="34" charset="0"/>
            </a:endParaRPr>
          </a:p>
          <a:p>
            <a:pPr marL="0" indent="0" algn="just"/>
            <a:endParaRPr lang="en-US" sz="900" dirty="0">
              <a:solidFill>
                <a:schemeClr val="bg1"/>
              </a:solidFill>
              <a:latin typeface="Arial" pitchFamily="34" charset="0"/>
              <a:cs typeface="Arial" pitchFamily="34" charset="0"/>
            </a:endParaRPr>
          </a:p>
          <a:p>
            <a:pPr marL="0" indent="0" algn="just"/>
            <a:r>
              <a:rPr lang="en-US" sz="900" dirty="0">
                <a:solidFill>
                  <a:schemeClr val="bg1"/>
                </a:solidFill>
                <a:latin typeface="Arial" pitchFamily="34" charset="0"/>
                <a:cs typeface="Arial" pitchFamily="34" charset="0"/>
              </a:rPr>
              <a:t>With almost 140,000 people in over 40 countries, Capgemini is one of the world's foremost providers of consulting, technology and outsourcing services. The Group reported 2013</a:t>
            </a:r>
            <a:r>
              <a:rPr lang="en-US" sz="900" baseline="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global revenues of  EUR 10.1 billion.</a:t>
            </a:r>
          </a:p>
          <a:p>
            <a:pPr marL="0" indent="0" algn="just"/>
            <a:r>
              <a:rPr lang="en-US" sz="9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Experience</a:t>
            </a:r>
            <a:r>
              <a:rPr lang="en-US" sz="900" baseline="30000" dirty="0">
                <a:solidFill>
                  <a:schemeClr val="bg1"/>
                </a:solidFill>
                <a:latin typeface="Arial" pitchFamily="34" charset="0"/>
                <a:cs typeface="Arial" pitchFamily="34" charset="0"/>
              </a:rPr>
              <a:t>TM</a:t>
            </a:r>
            <a:r>
              <a:rPr lang="en-US" sz="900" dirty="0">
                <a:solidFill>
                  <a:schemeClr val="bg1"/>
                </a:solidFill>
                <a:latin typeface="Arial" pitchFamily="34" charset="0"/>
                <a:cs typeface="Arial" pitchFamily="34" charset="0"/>
              </a:rPr>
              <a:t>, and draws on Rightshore</a:t>
            </a:r>
            <a:r>
              <a:rPr lang="en-US" sz="900" b="1" baseline="3000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 its worldwide delivery model.</a:t>
            </a:r>
          </a:p>
        </p:txBody>
      </p:sp>
      <p:pic>
        <p:nvPicPr>
          <p:cNvPr id="11" name="Image 10" descr="ppt_Label_CBE.png"/>
          <p:cNvPicPr>
            <a:picLocks noChangeAspect="1"/>
          </p:cNvPicPr>
          <p:nvPr userDrawn="1"/>
        </p:nvPicPr>
        <p:blipFill>
          <a:blip r:embed="rId8" cstate="email"/>
          <a:stretch>
            <a:fillRect/>
          </a:stretch>
        </p:blipFill>
        <p:spPr>
          <a:xfrm>
            <a:off x="751798" y="2594015"/>
            <a:ext cx="531692" cy="432000"/>
          </a:xfrm>
          <a:prstGeom prst="rect">
            <a:avLst/>
          </a:prstGeom>
        </p:spPr>
      </p:pic>
      <p:pic>
        <p:nvPicPr>
          <p:cNvPr id="8" name="Image 7" descr="Locations_Map_2014.png"/>
          <p:cNvPicPr>
            <a:picLocks noChangeAspect="1"/>
          </p:cNvPicPr>
          <p:nvPr userDrawn="1"/>
        </p:nvPicPr>
        <p:blipFill>
          <a:blip r:embed="rId9" cstate="print"/>
          <a:stretch>
            <a:fillRect/>
          </a:stretch>
        </p:blipFill>
        <p:spPr>
          <a:xfrm>
            <a:off x="5042446" y="2532039"/>
            <a:ext cx="3595355" cy="1404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70787" name="think-cell Slide" r:id="rId5" imgW="360" imgH="360" progId="">
                  <p:embed/>
                </p:oleObj>
              </mc:Choice>
              <mc:Fallback>
                <p:oleObj name="think-cell Slide" r:id="rId5" imgW="360" imgH="36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a:t>
            </a:r>
            <a:r>
              <a:rPr lang="en-US" sz="500" b="0" baseline="0" dirty="0">
                <a:solidFill>
                  <a:schemeClr val="bg1"/>
                </a:solidFill>
                <a:latin typeface="Arial" pitchFamily="34" charset="0"/>
                <a:cs typeface="Arial" pitchFamily="34" charset="0"/>
              </a:rPr>
              <a:t>.</a:t>
            </a:r>
            <a:endParaRPr lang="en-US" sz="500" b="0" kern="0" noProof="1">
              <a:solidFill>
                <a:schemeClr val="bg1"/>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vmlDrawing" Target="../drawings/vmlDrawing1.vml"/><Relationship Id="rId12" Type="http://schemas.openxmlformats.org/officeDocument/2006/relationships/tags" Target="../tags/tag5.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6.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6.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8.png"/><Relationship Id="rId26" Type="http://schemas.openxmlformats.org/officeDocument/2006/relationships/image" Target="../media/image12.gif"/><Relationship Id="rId3" Type="http://schemas.openxmlformats.org/officeDocument/2006/relationships/theme" Target="../theme/theme4.xml"/><Relationship Id="rId21" Type="http://schemas.openxmlformats.org/officeDocument/2006/relationships/hyperlink" Target="http://www.twitter.com/capgemini" TargetMode="Externa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hyperlink" Target="http://www.facebook.com/Capgemini" TargetMode="External"/><Relationship Id="rId25" Type="http://schemas.openxmlformats.org/officeDocument/2006/relationships/hyperlink" Target="http://www.slideshare.net/capgemini" TargetMode="External"/><Relationship Id="rId2" Type="http://schemas.openxmlformats.org/officeDocument/2006/relationships/slideLayout" Target="../slideLayouts/slideLayout29.xml"/><Relationship Id="rId16" Type="http://schemas.openxmlformats.org/officeDocument/2006/relationships/image" Target="../media/image7.emf"/><Relationship Id="rId20" Type="http://schemas.openxmlformats.org/officeDocument/2006/relationships/image" Target="../media/image9.png"/><Relationship Id="rId1" Type="http://schemas.openxmlformats.org/officeDocument/2006/relationships/slideLayout" Target="../slideLayouts/slideLayout28.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image" Target="../media/image11.png"/><Relationship Id="rId5" Type="http://schemas.openxmlformats.org/officeDocument/2006/relationships/tags" Target="../tags/tag17.xml"/><Relationship Id="rId15" Type="http://schemas.openxmlformats.org/officeDocument/2006/relationships/image" Target="../media/image1.emf"/><Relationship Id="rId23" Type="http://schemas.openxmlformats.org/officeDocument/2006/relationships/hyperlink" Target="http://www.youtube.com/capgemini" TargetMode="External"/><Relationship Id="rId10" Type="http://schemas.openxmlformats.org/officeDocument/2006/relationships/tags" Target="../tags/tag22.xml"/><Relationship Id="rId19" Type="http://schemas.openxmlformats.org/officeDocument/2006/relationships/hyperlink" Target="http://www.linkedin.com/company/capgemini" TargetMode="External"/><Relationship Id="rId4" Type="http://schemas.openxmlformats.org/officeDocument/2006/relationships/vmlDrawing" Target="../drawings/vmlDrawing5.vml"/><Relationship Id="rId9" Type="http://schemas.openxmlformats.org/officeDocument/2006/relationships/tags" Target="../tags/tag21.xml"/><Relationship Id="rId14" Type="http://schemas.openxmlformats.org/officeDocument/2006/relationships/oleObject" Target="../embeddings/oleObject5.bin"/><Relationship Id="rId22" Type="http://schemas.openxmlformats.org/officeDocument/2006/relationships/image" Target="../media/image10.png"/><Relationship Id="rId27"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8"/>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3445" name="think-cell Slide" r:id="rId15" imgW="360" imgH="360" progId="">
                  <p:embed/>
                </p:oleObj>
              </mc:Choice>
              <mc:Fallback>
                <p:oleObj name="think-cell Slide" r:id="rId15" imgW="360" imgH="360" progId="">
                  <p:embed/>
                  <p:pic>
                    <p:nvPicPr>
                      <p:cNvPr id="0" name="Picture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9"/>
            </p:custDataLst>
          </p:nvPr>
        </p:nvSpPr>
        <p:spPr>
          <a:xfrm>
            <a:off x="2" y="0"/>
            <a:ext cx="9143999" cy="751601"/>
          </a:xfrm>
          <a:prstGeom prst="rect">
            <a:avLst/>
          </a:prstGeom>
        </p:spPr>
        <p:txBody>
          <a:bodyPr vert="horz" lIns="253554" tIns="28173" rIns="140864" bIns="28173" rtlCol="0" anchor="ctr">
            <a:noAutofit/>
          </a:bodyPr>
          <a:lstStyle/>
          <a:p>
            <a:r>
              <a:rPr lang="fr-FR" noProof="0" dirty="0"/>
              <a:t>Cliquez pour modifier le style du titre</a:t>
            </a:r>
            <a:endParaRPr lang="en-US" noProof="0" dirty="0"/>
          </a:p>
        </p:txBody>
      </p:sp>
      <p:sp>
        <p:nvSpPr>
          <p:cNvPr id="3" name="Text Placeholder 2"/>
          <p:cNvSpPr>
            <a:spLocks noGrp="1"/>
          </p:cNvSpPr>
          <p:nvPr>
            <p:ph type="body" idx="1"/>
            <p:custDataLst>
              <p:tags r:id="rId10"/>
            </p:custDataLst>
          </p:nvPr>
        </p:nvSpPr>
        <p:spPr>
          <a:xfrm>
            <a:off x="298517" y="1126483"/>
            <a:ext cx="8712115" cy="3477405"/>
          </a:xfrm>
          <a:prstGeom prst="rect">
            <a:avLst/>
          </a:prstGeom>
        </p:spPr>
        <p:txBody>
          <a:bodyPr vert="horz" lIns="92038" tIns="61358" rIns="61358" bIns="61358"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1"/>
            </p:custDataLst>
          </p:nvPr>
        </p:nvSpPr>
        <p:spPr>
          <a:xfrm>
            <a:off x="8835291" y="4990498"/>
            <a:ext cx="94578" cy="92333"/>
          </a:xfrm>
          <a:prstGeom prst="rect">
            <a:avLst/>
          </a:prstGeom>
          <a:noFill/>
        </p:spPr>
        <p:txBody>
          <a:bodyPr wrap="none" lIns="0" tIns="0" rIns="0" bIns="0" rtlCol="0" anchor="ctr">
            <a:spAutoFit/>
          </a:bodyPr>
          <a:lstStyle/>
          <a:p>
            <a:pPr algn="ctr"/>
            <a:fld id="{6A895693-0027-4F28-9367-92E39A51F51C}" type="slidenum">
              <a:rPr lang="en-US" sz="600" smtClean="0">
                <a:solidFill>
                  <a:schemeClr val="tx2"/>
                </a:solidFill>
              </a:rPr>
              <a:pPr algn="ctr"/>
              <a:t>‹#›</a:t>
            </a:fld>
            <a:endParaRPr lang="en-US" sz="600" dirty="0">
              <a:solidFill>
                <a:schemeClr val="tx2"/>
              </a:solidFill>
            </a:endParaRPr>
          </a:p>
        </p:txBody>
      </p:sp>
      <p:sp>
        <p:nvSpPr>
          <p:cNvPr id="9" name="Freeform 4"/>
          <p:cNvSpPr>
            <a:spLocks/>
          </p:cNvSpPr>
          <p:nvPr>
            <p:custDataLst>
              <p:tags r:id="rId12"/>
            </p:custDataLst>
          </p:nvPr>
        </p:nvSpPr>
        <p:spPr bwMode="auto">
          <a:xfrm>
            <a:off x="3" y="507301"/>
            <a:ext cx="9143999" cy="54609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4848" tIns="42424" rIns="84848" bIns="42424" numCol="1" anchor="t" anchorCtr="0" compatLnSpc="1">
            <a:prstTxWarp prst="textNoShape">
              <a:avLst/>
            </a:prstTxWarp>
          </a:bodyPr>
          <a:lstStyle/>
          <a:p>
            <a:endParaRPr lang="fr-FR"/>
          </a:p>
        </p:txBody>
      </p:sp>
      <p:sp>
        <p:nvSpPr>
          <p:cNvPr id="12" name="Rectangle 11"/>
          <p:cNvSpPr>
            <a:spLocks noChangeArrowheads="1"/>
          </p:cNvSpPr>
          <p:nvPr>
            <p:custDataLst>
              <p:tags r:id="rId13"/>
            </p:custDataLst>
          </p:nvPr>
        </p:nvSpPr>
        <p:spPr bwMode="auto">
          <a:xfrm>
            <a:off x="6223229" y="4967554"/>
            <a:ext cx="2455979" cy="137627"/>
          </a:xfrm>
          <a:prstGeom prst="rect">
            <a:avLst/>
          </a:prstGeom>
          <a:noFill/>
          <a:ln w="19050">
            <a:noFill/>
            <a:miter lim="800000"/>
            <a:headEnd/>
            <a:tailEnd/>
          </a:ln>
          <a:effectLst/>
        </p:spPr>
        <p:txBody>
          <a:bodyPr wrap="square" lIns="30677" tIns="30677" rIns="30677" bIns="30677" anchor="b" anchorCtr="0">
            <a:noAutofit/>
          </a:bodyPr>
          <a:lstStyle/>
          <a:p>
            <a:pPr marL="0" marR="0" lvl="0" indent="0" algn="r" defTabSz="848318" rtl="0" eaLnBrk="0" fontAlgn="auto" latinLnBrk="0" hangingPunct="0">
              <a:lnSpc>
                <a:spcPct val="90000"/>
              </a:lnSpc>
              <a:spcBef>
                <a:spcPct val="10000"/>
              </a:spcBef>
              <a:spcAft>
                <a:spcPts val="0"/>
              </a:spcAft>
              <a:buClrTx/>
              <a:buSzTx/>
              <a:buFontTx/>
              <a:buNone/>
              <a:tabLst/>
              <a:defRPr/>
            </a:pPr>
            <a:r>
              <a:rPr lang="en-US" altLang="en-US" sz="500" b="0" i="0" noProof="0" dirty="0">
                <a:solidFill>
                  <a:schemeClr val="tx2"/>
                </a:solidFill>
                <a:latin typeface="+mj-lt"/>
                <a:cs typeface="Helvetica Light"/>
              </a:rPr>
              <a:t>Copyright © </a:t>
            </a:r>
            <a:r>
              <a:rPr lang="en-US" altLang="en-US" sz="500" b="0" i="0" noProof="0" dirty="0" err="1">
                <a:solidFill>
                  <a:schemeClr val="tx2"/>
                </a:solidFill>
                <a:latin typeface="+mj-lt"/>
                <a:cs typeface="Helvetica Light"/>
              </a:rPr>
              <a:t>Capgemini</a:t>
            </a:r>
            <a:r>
              <a:rPr lang="en-US" altLang="en-US" sz="500" b="0" i="0" noProof="0" dirty="0">
                <a:solidFill>
                  <a:schemeClr val="tx2"/>
                </a:solidFill>
                <a:latin typeface="+mj-lt"/>
                <a:cs typeface="Helvetica Light"/>
              </a:rPr>
              <a:t> 2016. All Rights Reserved</a:t>
            </a:r>
          </a:p>
        </p:txBody>
      </p:sp>
      <p:cxnSp>
        <p:nvCxnSpPr>
          <p:cNvPr id="15" name="Straight Connector 5"/>
          <p:cNvCxnSpPr/>
          <p:nvPr>
            <p:custDataLst>
              <p:tags r:id="rId14"/>
            </p:custDataLst>
          </p:nvPr>
        </p:nvCxnSpPr>
        <p:spPr>
          <a:xfrm flipH="1">
            <a:off x="3" y="4772025"/>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4" name="Image 13" descr="Capgemini_logo.jpg"/>
          <p:cNvPicPr>
            <a:picLocks noChangeAspect="1"/>
          </p:cNvPicPr>
          <p:nvPr/>
        </p:nvPicPr>
        <p:blipFill>
          <a:blip r:embed="rId17" cstate="print"/>
          <a:stretch>
            <a:fillRect/>
          </a:stretch>
        </p:blipFill>
        <p:spPr>
          <a:xfrm>
            <a:off x="270463" y="4829271"/>
            <a:ext cx="1438102" cy="258734"/>
          </a:xfrm>
          <a:prstGeom prst="rect">
            <a:avLst/>
          </a:prstGeom>
          <a:noFill/>
          <a:ln>
            <a:noFill/>
          </a:ln>
        </p:spPr>
      </p:pic>
    </p:spTree>
    <p:extLst>
      <p:ext uri="{BB962C8B-B14F-4D97-AF65-F5344CB8AC3E}">
        <p14:creationId xmlns:p14="http://schemas.microsoft.com/office/powerpoint/2010/main" val="3136052492"/>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98" r:id="rId3"/>
    <p:sldLayoutId id="2147483710" r:id="rId4"/>
    <p:sldLayoutId id="2147483741" r:id="rId5"/>
  </p:sldLayoutIdLst>
  <p:txStyles>
    <p:titleStyle>
      <a:lvl1pPr marL="0" indent="0" algn="l" defTabSz="779202"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41626" indent="-141626" algn="l" defTabSz="779202" rtl="0" eaLnBrk="1" latinLnBrk="0" hangingPunct="1">
        <a:lnSpc>
          <a:spcPct val="90000"/>
        </a:lnSpc>
        <a:spcBef>
          <a:spcPts val="0"/>
        </a:spcBef>
        <a:spcAft>
          <a:spcPts val="511"/>
        </a:spcAft>
        <a:buClr>
          <a:schemeClr val="accent5"/>
        </a:buClr>
        <a:buFont typeface="Wingdings" pitchFamily="2" charset="2"/>
        <a:buChar char="§"/>
        <a:defRPr sz="1900" b="0" kern="1200">
          <a:solidFill>
            <a:schemeClr val="bg2">
              <a:lumMod val="50000"/>
            </a:schemeClr>
          </a:solidFill>
          <a:latin typeface="+mn-lt"/>
          <a:ea typeface="+mn-ea"/>
          <a:cs typeface="+mn-cs"/>
        </a:defRPr>
      </a:lvl1pPr>
      <a:lvl2pPr marL="303042" indent="-154227" algn="l" defTabSz="779202" rtl="0" eaLnBrk="1" latinLnBrk="0" hangingPunct="1">
        <a:lnSpc>
          <a:spcPct val="90000"/>
        </a:lnSpc>
        <a:spcBef>
          <a:spcPts val="0"/>
        </a:spcBef>
        <a:spcAft>
          <a:spcPts val="511"/>
        </a:spcAft>
        <a:buClr>
          <a:schemeClr val="accent3"/>
        </a:buClr>
        <a:buFont typeface="Wingdings" pitchFamily="2" charset="2"/>
        <a:buChar char="§"/>
        <a:defRPr sz="1500" kern="1200">
          <a:solidFill>
            <a:schemeClr val="bg2">
              <a:lumMod val="50000"/>
            </a:schemeClr>
          </a:solidFill>
          <a:latin typeface="+mn-lt"/>
          <a:ea typeface="+mn-ea"/>
          <a:cs typeface="+mn-cs"/>
        </a:defRPr>
      </a:lvl2pPr>
      <a:lvl3pPr marL="457269" indent="-140698" algn="l" defTabSz="779202" rtl="0" eaLnBrk="1" latinLnBrk="0" hangingPunct="1">
        <a:lnSpc>
          <a:spcPct val="90000"/>
        </a:lnSpc>
        <a:spcBef>
          <a:spcPts val="0"/>
        </a:spcBef>
        <a:spcAft>
          <a:spcPts val="511"/>
        </a:spcAft>
        <a:buClr>
          <a:schemeClr val="accent2"/>
        </a:buClr>
        <a:buFont typeface="Arial" pitchFamily="34" charset="0"/>
        <a:buChar char="•"/>
        <a:tabLst/>
        <a:defRPr sz="1400" kern="1200">
          <a:solidFill>
            <a:schemeClr val="bg2">
              <a:lumMod val="50000"/>
            </a:schemeClr>
          </a:solidFill>
          <a:latin typeface="+mn-lt"/>
          <a:ea typeface="+mn-ea"/>
          <a:cs typeface="+mn-cs"/>
        </a:defRPr>
      </a:lvl3pPr>
      <a:lvl4pPr marL="606085" indent="-140698" algn="l" defTabSz="779202" rtl="0" eaLnBrk="1" latinLnBrk="0" hangingPunct="1">
        <a:lnSpc>
          <a:spcPct val="90000"/>
        </a:lnSpc>
        <a:spcBef>
          <a:spcPts val="0"/>
        </a:spcBef>
        <a:spcAft>
          <a:spcPts val="511"/>
        </a:spcAft>
        <a:buClr>
          <a:schemeClr val="bg2"/>
        </a:buClr>
        <a:buFont typeface="Arial" pitchFamily="34" charset="0"/>
        <a:buChar char="–"/>
        <a:tabLst/>
        <a:defRPr sz="1200" kern="1200">
          <a:solidFill>
            <a:schemeClr val="bg2">
              <a:lumMod val="50000"/>
            </a:schemeClr>
          </a:solidFill>
          <a:latin typeface="+mn-lt"/>
          <a:ea typeface="+mn-ea"/>
          <a:cs typeface="+mn-cs"/>
        </a:defRPr>
      </a:lvl4pPr>
      <a:lvl5pPr marL="1371722" indent="-165040" algn="l" defTabSz="779202"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42807"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2408"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2009"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11610"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9202" rtl="0" eaLnBrk="1" latinLnBrk="0" hangingPunct="1">
        <a:defRPr sz="1500" kern="1200">
          <a:solidFill>
            <a:schemeClr val="tx1"/>
          </a:solidFill>
          <a:latin typeface="+mn-lt"/>
          <a:ea typeface="+mn-ea"/>
          <a:cs typeface="+mn-cs"/>
        </a:defRPr>
      </a:lvl1pPr>
      <a:lvl2pPr marL="389601" algn="l" defTabSz="779202" rtl="0" eaLnBrk="1" latinLnBrk="0" hangingPunct="1">
        <a:defRPr sz="1500" kern="1200">
          <a:solidFill>
            <a:schemeClr val="tx1"/>
          </a:solidFill>
          <a:latin typeface="+mn-lt"/>
          <a:ea typeface="+mn-ea"/>
          <a:cs typeface="+mn-cs"/>
        </a:defRPr>
      </a:lvl2pPr>
      <a:lvl3pPr marL="779202" algn="l" defTabSz="779202" rtl="0" eaLnBrk="1" latinLnBrk="0" hangingPunct="1">
        <a:defRPr sz="1500" kern="1200">
          <a:solidFill>
            <a:schemeClr val="tx1"/>
          </a:solidFill>
          <a:latin typeface="+mn-lt"/>
          <a:ea typeface="+mn-ea"/>
          <a:cs typeface="+mn-cs"/>
        </a:defRPr>
      </a:lvl3pPr>
      <a:lvl4pPr marL="1168803" algn="l" defTabSz="779202" rtl="0" eaLnBrk="1" latinLnBrk="0" hangingPunct="1">
        <a:defRPr sz="1500" kern="1200">
          <a:solidFill>
            <a:schemeClr val="tx1"/>
          </a:solidFill>
          <a:latin typeface="+mn-lt"/>
          <a:ea typeface="+mn-ea"/>
          <a:cs typeface="+mn-cs"/>
        </a:defRPr>
      </a:lvl4pPr>
      <a:lvl5pPr marL="1558405" algn="l" defTabSz="779202" rtl="0" eaLnBrk="1" latinLnBrk="0" hangingPunct="1">
        <a:defRPr sz="1500" kern="1200">
          <a:solidFill>
            <a:schemeClr val="tx1"/>
          </a:solidFill>
          <a:latin typeface="+mn-lt"/>
          <a:ea typeface="+mn-ea"/>
          <a:cs typeface="+mn-cs"/>
        </a:defRPr>
      </a:lvl5pPr>
      <a:lvl6pPr marL="1948006" algn="l" defTabSz="779202" rtl="0" eaLnBrk="1" latinLnBrk="0" hangingPunct="1">
        <a:defRPr sz="1500" kern="1200">
          <a:solidFill>
            <a:schemeClr val="tx1"/>
          </a:solidFill>
          <a:latin typeface="+mn-lt"/>
          <a:ea typeface="+mn-ea"/>
          <a:cs typeface="+mn-cs"/>
        </a:defRPr>
      </a:lvl6pPr>
      <a:lvl7pPr marL="2337607" algn="l" defTabSz="779202" rtl="0" eaLnBrk="1" latinLnBrk="0" hangingPunct="1">
        <a:defRPr sz="1500" kern="1200">
          <a:solidFill>
            <a:schemeClr val="tx1"/>
          </a:solidFill>
          <a:latin typeface="+mn-lt"/>
          <a:ea typeface="+mn-ea"/>
          <a:cs typeface="+mn-cs"/>
        </a:defRPr>
      </a:lvl7pPr>
      <a:lvl8pPr marL="2727209" algn="l" defTabSz="779202" rtl="0" eaLnBrk="1" latinLnBrk="0" hangingPunct="1">
        <a:defRPr sz="1500" kern="1200">
          <a:solidFill>
            <a:schemeClr val="tx1"/>
          </a:solidFill>
          <a:latin typeface="+mn-lt"/>
          <a:ea typeface="+mn-ea"/>
          <a:cs typeface="+mn-cs"/>
        </a:defRPr>
      </a:lvl8pPr>
      <a:lvl9pPr marL="3116810" algn="l" defTabSz="779202"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22,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2"/>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22,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1"/>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68739" name="think-cell Slide" r:id="rId14" imgW="360" imgH="360" progId="">
                  <p:embed/>
                </p:oleObj>
              </mc:Choice>
              <mc:Fallback>
                <p:oleObj name="think-cell Slide" r:id="rId14" imgW="360" imgH="360" progId="">
                  <p:embed/>
                  <p:pic>
                    <p:nvPicPr>
                      <p:cNvPr id="0"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529" y="1258495"/>
            <a:ext cx="9145530" cy="388500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pic>
        <p:nvPicPr>
          <p:cNvPr id="9" name="Picture 104" descr="C:\Users\UserSim\Desktop\Capgemini\moto.emf"/>
          <p:cNvPicPr>
            <a:picLocks noChangeAspect="1" noChangeArrowheads="1"/>
          </p:cNvPicPr>
          <p:nvPr>
            <p:custDataLst>
              <p:tags r:id="rId7"/>
            </p:custDataLst>
          </p:nvPr>
        </p:nvPicPr>
        <p:blipFill>
          <a:blip r:embed="rId16" cstate="email"/>
          <a:srcRect/>
          <a:stretch>
            <a:fillRect/>
          </a:stretch>
        </p:blipFill>
        <p:spPr bwMode="auto">
          <a:xfrm>
            <a:off x="5914038" y="906941"/>
            <a:ext cx="2658462" cy="172015"/>
          </a:xfrm>
          <a:prstGeom prst="rect">
            <a:avLst/>
          </a:prstGeom>
          <a:noFill/>
        </p:spPr>
      </p:pic>
      <p:sp>
        <p:nvSpPr>
          <p:cNvPr id="15" name="Rectangle 14"/>
          <p:cNvSpPr/>
          <p:nvPr>
            <p:custDataLst>
              <p:tags r:id="rId8"/>
            </p:custDataLst>
          </p:nvPr>
        </p:nvSpPr>
        <p:spPr>
          <a:xfrm>
            <a:off x="6419731" y="4055244"/>
            <a:ext cx="2152769" cy="323567"/>
          </a:xfrm>
          <a:prstGeom prst="rect">
            <a:avLst/>
          </a:prstGeom>
        </p:spPr>
        <p:txBody>
          <a:bodyPr wrap="none" lIns="0" tIns="30679" rIns="0" bIns="30679" anchor="b" anchorCtr="0">
            <a:spAutoFit/>
          </a:bodyPr>
          <a:lstStyle/>
          <a:p>
            <a:pPr algn="r"/>
            <a:r>
              <a:rPr lang="en-US" sz="17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17"/>
          </p:cNvPr>
          <p:cNvPicPr>
            <a:picLocks noChangeAspect="1" noChangeArrowheads="1"/>
          </p:cNvPicPr>
          <p:nvPr>
            <p:custDataLst>
              <p:tags r:id="rId9"/>
            </p:custDataLst>
          </p:nvPr>
        </p:nvPicPr>
        <p:blipFill>
          <a:blip r:embed="rId18" cstate="email"/>
          <a:srcRect/>
          <a:stretch>
            <a:fillRect/>
          </a:stretch>
        </p:blipFill>
        <p:spPr bwMode="auto">
          <a:xfrm>
            <a:off x="7098349" y="4449410"/>
            <a:ext cx="256821" cy="197828"/>
          </a:xfrm>
          <a:prstGeom prst="rect">
            <a:avLst/>
          </a:prstGeom>
          <a:noFill/>
        </p:spPr>
      </p:pic>
      <p:pic>
        <p:nvPicPr>
          <p:cNvPr id="17" name="Picture 4" descr="C:\Users\UserSim\Desktop\DS_icons\128x128 shadows\linkedin.png">
            <a:hlinkClick r:id="rId19"/>
          </p:cNvPr>
          <p:cNvPicPr>
            <a:picLocks noChangeAspect="1" noChangeArrowheads="1"/>
          </p:cNvPicPr>
          <p:nvPr>
            <p:custDataLst>
              <p:tags r:id="rId10"/>
            </p:custDataLst>
          </p:nvPr>
        </p:nvPicPr>
        <p:blipFill>
          <a:blip r:embed="rId20" cstate="email"/>
          <a:srcRect/>
          <a:stretch>
            <a:fillRect/>
          </a:stretch>
        </p:blipFill>
        <p:spPr bwMode="auto">
          <a:xfrm>
            <a:off x="7407960" y="4449410"/>
            <a:ext cx="259674" cy="200025"/>
          </a:xfrm>
          <a:prstGeom prst="rect">
            <a:avLst/>
          </a:prstGeom>
          <a:noFill/>
        </p:spPr>
      </p:pic>
      <p:pic>
        <p:nvPicPr>
          <p:cNvPr id="18" name="Picture 5" descr="C:\Users\UserSim\Desktop\DS_icons\128x128 shadows\twitter.png">
            <a:hlinkClick r:id="rId21"/>
          </p:cNvPr>
          <p:cNvPicPr>
            <a:picLocks noChangeAspect="1" noChangeArrowheads="1"/>
          </p:cNvPicPr>
          <p:nvPr>
            <p:custDataLst>
              <p:tags r:id="rId11"/>
            </p:custDataLst>
          </p:nvPr>
        </p:nvPicPr>
        <p:blipFill>
          <a:blip r:embed="rId22" cstate="email"/>
          <a:srcRect/>
          <a:stretch>
            <a:fillRect/>
          </a:stretch>
        </p:blipFill>
        <p:spPr bwMode="auto">
          <a:xfrm>
            <a:off x="7988626" y="4449410"/>
            <a:ext cx="259674" cy="200025"/>
          </a:xfrm>
          <a:prstGeom prst="rect">
            <a:avLst/>
          </a:prstGeom>
          <a:noFill/>
        </p:spPr>
      </p:pic>
      <p:pic>
        <p:nvPicPr>
          <p:cNvPr id="19" name="Picture 6" descr="C:\Users\UserSim\Desktop\DS_icons\128x128 shadows\youtube.png">
            <a:hlinkClick r:id="rId23"/>
          </p:cNvPr>
          <p:cNvPicPr>
            <a:picLocks noChangeAspect="1" noChangeArrowheads="1"/>
          </p:cNvPicPr>
          <p:nvPr>
            <p:custDataLst>
              <p:tags r:id="rId12"/>
            </p:custDataLst>
          </p:nvPr>
        </p:nvPicPr>
        <p:blipFill>
          <a:blip r:embed="rId24" cstate="email"/>
          <a:srcRect/>
          <a:stretch>
            <a:fillRect/>
          </a:stretch>
        </p:blipFill>
        <p:spPr bwMode="auto">
          <a:xfrm>
            <a:off x="8301091" y="4449410"/>
            <a:ext cx="259674" cy="200025"/>
          </a:xfrm>
          <a:prstGeom prst="rect">
            <a:avLst/>
          </a:prstGeom>
          <a:noFill/>
        </p:spPr>
      </p:pic>
      <p:pic>
        <p:nvPicPr>
          <p:cNvPr id="20" name="Image 22" descr="Picto_Slideshare.gif">
            <a:hlinkClick r:id="rId25"/>
          </p:cNvPr>
          <p:cNvPicPr preferRelativeResize="0">
            <a:picLocks/>
          </p:cNvPicPr>
          <p:nvPr>
            <p:custDataLst>
              <p:tags r:id="rId13"/>
            </p:custDataLst>
          </p:nvPr>
        </p:nvPicPr>
        <p:blipFill>
          <a:blip r:embed="rId26" cstate="email"/>
          <a:srcRect l="4793" t="6316" r="5718" b="7969"/>
          <a:stretch>
            <a:fillRect/>
          </a:stretch>
        </p:blipFill>
        <p:spPr>
          <a:xfrm>
            <a:off x="7720424" y="4449411"/>
            <a:ext cx="215411" cy="178594"/>
          </a:xfrm>
          <a:prstGeom prst="roundRect">
            <a:avLst/>
          </a:prstGeom>
          <a:effectLst>
            <a:outerShdw blurRad="38100" dist="25400" dir="5400000" sx="98000" sy="98000" algn="t" rotWithShape="0">
              <a:schemeClr val="tx2">
                <a:alpha val="51000"/>
              </a:schemeClr>
            </a:outerShdw>
          </a:effectLst>
        </p:spPr>
      </p:pic>
      <p:pic>
        <p:nvPicPr>
          <p:cNvPr id="13" name="Image 12" descr="Capgemini_logo.jpg"/>
          <p:cNvPicPr>
            <a:picLocks noChangeAspect="1"/>
          </p:cNvPicPr>
          <p:nvPr/>
        </p:nvPicPr>
        <p:blipFill>
          <a:blip r:embed="rId27" cstate="print"/>
          <a:stretch>
            <a:fillRect/>
          </a:stretch>
        </p:blipFill>
        <p:spPr>
          <a:xfrm>
            <a:off x="690062" y="761224"/>
            <a:ext cx="2658462" cy="514535"/>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Lst>
  <p:hf hdr="0" ftr="0" dt="0"/>
  <p:txStyles>
    <p:titleStyle>
      <a:lvl1pPr algn="ctr" defTabSz="715587" rtl="0" eaLnBrk="1" latinLnBrk="0" hangingPunct="1">
        <a:spcBef>
          <a:spcPct val="0"/>
        </a:spcBef>
        <a:buNone/>
        <a:defRPr sz="3400" kern="1200">
          <a:solidFill>
            <a:schemeClr val="tx1"/>
          </a:solidFill>
          <a:latin typeface="+mj-lt"/>
          <a:ea typeface="+mj-ea"/>
          <a:cs typeface="+mj-cs"/>
        </a:defRPr>
      </a:lvl1pPr>
    </p:titleStyle>
    <p:bodyStyle>
      <a:lvl1pPr marL="268345" indent="-268345" algn="l" defTabSz="715587" rtl="0" eaLnBrk="1" latinLnBrk="0" hangingPunct="1">
        <a:spcBef>
          <a:spcPct val="20000"/>
        </a:spcBef>
        <a:buFont typeface="Arial" pitchFamily="34" charset="0"/>
        <a:buChar char="•"/>
        <a:defRPr sz="2500" kern="1200">
          <a:solidFill>
            <a:schemeClr val="tx1"/>
          </a:solidFill>
          <a:latin typeface="+mn-lt"/>
          <a:ea typeface="+mn-ea"/>
          <a:cs typeface="+mn-cs"/>
        </a:defRPr>
      </a:lvl1pPr>
      <a:lvl2pPr marL="581414" indent="-223621" algn="l" defTabSz="715587" rtl="0" eaLnBrk="1" latinLnBrk="0" hangingPunct="1">
        <a:spcBef>
          <a:spcPct val="20000"/>
        </a:spcBef>
        <a:buFont typeface="Arial" pitchFamily="34" charset="0"/>
        <a:buChar char="–"/>
        <a:defRPr sz="2200" kern="1200">
          <a:solidFill>
            <a:schemeClr val="tx1"/>
          </a:solidFill>
          <a:latin typeface="+mn-lt"/>
          <a:ea typeface="+mn-ea"/>
          <a:cs typeface="+mn-cs"/>
        </a:defRPr>
      </a:lvl2pPr>
      <a:lvl3pPr marL="894484" indent="-178896" algn="l" defTabSz="715587" rtl="0" eaLnBrk="1" latinLnBrk="0" hangingPunct="1">
        <a:spcBef>
          <a:spcPct val="20000"/>
        </a:spcBef>
        <a:buFont typeface="Arial" pitchFamily="34" charset="0"/>
        <a:buChar char="•"/>
        <a:defRPr sz="1900" kern="1200">
          <a:solidFill>
            <a:schemeClr val="tx1"/>
          </a:solidFill>
          <a:latin typeface="+mn-lt"/>
          <a:ea typeface="+mn-ea"/>
          <a:cs typeface="+mn-cs"/>
        </a:defRPr>
      </a:lvl3pPr>
      <a:lvl4pPr marL="125227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610070"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96786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32565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683451"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304124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fr-FR"/>
      </a:defPPr>
      <a:lvl1pPr marL="0" algn="l" defTabSz="715587" rtl="0" eaLnBrk="1" latinLnBrk="0" hangingPunct="1">
        <a:defRPr sz="1400" kern="1200">
          <a:solidFill>
            <a:schemeClr val="tx1"/>
          </a:solidFill>
          <a:latin typeface="+mn-lt"/>
          <a:ea typeface="+mn-ea"/>
          <a:cs typeface="+mn-cs"/>
        </a:defRPr>
      </a:lvl1pPr>
      <a:lvl2pPr marL="357794" algn="l" defTabSz="715587" rtl="0" eaLnBrk="1" latinLnBrk="0" hangingPunct="1">
        <a:defRPr sz="1400" kern="1200">
          <a:solidFill>
            <a:schemeClr val="tx1"/>
          </a:solidFill>
          <a:latin typeface="+mn-lt"/>
          <a:ea typeface="+mn-ea"/>
          <a:cs typeface="+mn-cs"/>
        </a:defRPr>
      </a:lvl2pPr>
      <a:lvl3pPr marL="715587" algn="l" defTabSz="715587" rtl="0" eaLnBrk="1" latinLnBrk="0" hangingPunct="1">
        <a:defRPr sz="1400" kern="1200">
          <a:solidFill>
            <a:schemeClr val="tx1"/>
          </a:solidFill>
          <a:latin typeface="+mn-lt"/>
          <a:ea typeface="+mn-ea"/>
          <a:cs typeface="+mn-cs"/>
        </a:defRPr>
      </a:lvl3pPr>
      <a:lvl4pPr marL="1073380" algn="l" defTabSz="715587" rtl="0" eaLnBrk="1" latinLnBrk="0" hangingPunct="1">
        <a:defRPr sz="1400" kern="1200">
          <a:solidFill>
            <a:schemeClr val="tx1"/>
          </a:solidFill>
          <a:latin typeface="+mn-lt"/>
          <a:ea typeface="+mn-ea"/>
          <a:cs typeface="+mn-cs"/>
        </a:defRPr>
      </a:lvl4pPr>
      <a:lvl5pPr marL="1431174" algn="l" defTabSz="715587" rtl="0" eaLnBrk="1" latinLnBrk="0" hangingPunct="1">
        <a:defRPr sz="1400" kern="1200">
          <a:solidFill>
            <a:schemeClr val="tx1"/>
          </a:solidFill>
          <a:latin typeface="+mn-lt"/>
          <a:ea typeface="+mn-ea"/>
          <a:cs typeface="+mn-cs"/>
        </a:defRPr>
      </a:lvl5pPr>
      <a:lvl6pPr marL="1788967" algn="l" defTabSz="715587" rtl="0" eaLnBrk="1" latinLnBrk="0" hangingPunct="1">
        <a:defRPr sz="1400" kern="1200">
          <a:solidFill>
            <a:schemeClr val="tx1"/>
          </a:solidFill>
          <a:latin typeface="+mn-lt"/>
          <a:ea typeface="+mn-ea"/>
          <a:cs typeface="+mn-cs"/>
        </a:defRPr>
      </a:lvl6pPr>
      <a:lvl7pPr marL="2146761" algn="l" defTabSz="715587" rtl="0" eaLnBrk="1" latinLnBrk="0" hangingPunct="1">
        <a:defRPr sz="1400" kern="1200">
          <a:solidFill>
            <a:schemeClr val="tx1"/>
          </a:solidFill>
          <a:latin typeface="+mn-lt"/>
          <a:ea typeface="+mn-ea"/>
          <a:cs typeface="+mn-cs"/>
        </a:defRPr>
      </a:lvl7pPr>
      <a:lvl8pPr marL="2504554" algn="l" defTabSz="715587" rtl="0" eaLnBrk="1" latinLnBrk="0" hangingPunct="1">
        <a:defRPr sz="1400" kern="1200">
          <a:solidFill>
            <a:schemeClr val="tx1"/>
          </a:solidFill>
          <a:latin typeface="+mn-lt"/>
          <a:ea typeface="+mn-ea"/>
          <a:cs typeface="+mn-cs"/>
        </a:defRPr>
      </a:lvl8pPr>
      <a:lvl9pPr marL="2862347" algn="l" defTabSz="715587"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custDataLst>
              <p:tags r:id="rId1"/>
            </p:custDataLst>
          </p:nvPr>
        </p:nvSpPr>
        <p:spPr>
          <a:xfrm>
            <a:off x="4943238" y="2208806"/>
            <a:ext cx="4915261" cy="823618"/>
          </a:xfrm>
        </p:spPr>
        <p:txBody>
          <a:bodyPr vert="horz" lIns="0" tIns="28173" rIns="28173" bIns="28173" rtlCol="0" anchor="t">
            <a:noAutofit/>
          </a:bodyPr>
          <a:lstStyle>
            <a:lvl1pPr marL="0" indent="0" algn="l" defTabSz="914342" rtl="0" eaLnBrk="1" latinLnBrk="0" hangingPunct="1">
              <a:lnSpc>
                <a:spcPct val="85000"/>
              </a:lnSpc>
              <a:spcBef>
                <a:spcPct val="0"/>
              </a:spcBef>
              <a:buNone/>
              <a:defRPr lang="en-US" sz="4400" b="0" kern="1200" dirty="0">
                <a:solidFill>
                  <a:schemeClr val="tx1"/>
                </a:solidFill>
                <a:latin typeface="+mj-lt"/>
                <a:ea typeface="+mj-ea"/>
                <a:cs typeface="+mj-cs"/>
              </a:defRPr>
            </a:lvl1pPr>
          </a:lstStyle>
          <a:p>
            <a:r>
              <a:rPr lang="en-US" dirty="0"/>
              <a:t>Advanced PLSQL</a:t>
            </a:r>
          </a:p>
        </p:txBody>
      </p:sp>
      <p:sp>
        <p:nvSpPr>
          <p:cNvPr id="5" name="Subtitle 2"/>
          <p:cNvSpPr>
            <a:spLocks noGrp="1"/>
          </p:cNvSpPr>
          <p:nvPr>
            <p:ph type="subTitle" idx="1"/>
            <p:custDataLst>
              <p:tags r:id="rId2"/>
            </p:custDataLst>
          </p:nvPr>
        </p:nvSpPr>
        <p:spPr>
          <a:xfrm>
            <a:off x="4940137" y="3324784"/>
            <a:ext cx="4918363" cy="710813"/>
          </a:xfrm>
        </p:spPr>
        <p:txBody>
          <a:bodyPr lIns="0" tIns="28173" rIns="28173" bIns="28173"/>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sz="2000" dirty="0" err="1"/>
              <a:t>Lesson</a:t>
            </a:r>
            <a:r>
              <a:rPr lang="fr-FR" sz="2000" dirty="0"/>
              <a:t>  –  REF </a:t>
            </a:r>
            <a:r>
              <a:rPr lang="fr-FR" sz="2000" dirty="0" err="1"/>
              <a:t>Cursors</a:t>
            </a:r>
            <a:endParaRPr lang="fr-F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p:cNvSpPr>
          <p:nvPr/>
        </p:nvSpPr>
        <p:spPr bwMode="auto">
          <a:xfrm>
            <a:off x="390525" y="129781"/>
            <a:ext cx="8153400" cy="536972"/>
          </a:xfrm>
          <a:prstGeom prst="rect">
            <a:avLst/>
          </a:prstGeom>
          <a:noFill/>
          <a:ln w="9525">
            <a:noFill/>
            <a:miter lim="800000"/>
            <a:headEnd/>
            <a:tailEnd/>
          </a:ln>
        </p:spPr>
        <p:txBody>
          <a:bodyPr anchor="ctr"/>
          <a:lstStyle/>
          <a:p>
            <a:pPr eaLnBrk="0" hangingPunct="0">
              <a:lnSpc>
                <a:spcPct val="80000"/>
              </a:lnSpc>
            </a:pPr>
            <a:r>
              <a:rPr lang="en-US" sz="2800" b="1" dirty="0">
                <a:latin typeface="Candara"/>
                <a:ea typeface="+mj-ea"/>
                <a:cs typeface="Arial" pitchFamily="34" charset="0"/>
              </a:rPr>
              <a:t>Lesson Objectives</a:t>
            </a:r>
          </a:p>
        </p:txBody>
      </p:sp>
      <p:sp>
        <p:nvSpPr>
          <p:cNvPr id="5123" name="Content Placeholder 12"/>
          <p:cNvSpPr>
            <a:spLocks/>
          </p:cNvSpPr>
          <p:nvPr/>
        </p:nvSpPr>
        <p:spPr bwMode="auto">
          <a:xfrm>
            <a:off x="319088" y="925116"/>
            <a:ext cx="6157912" cy="3770709"/>
          </a:xfrm>
          <a:prstGeom prst="rect">
            <a:avLst/>
          </a:prstGeom>
          <a:noFill/>
          <a:ln w="9525">
            <a:noFill/>
            <a:miter lim="800000"/>
            <a:headEnd/>
            <a:tailEnd/>
          </a:ln>
        </p:spPr>
        <p:txBody>
          <a:bodyPr/>
          <a:lstStyle/>
          <a:p>
            <a:r>
              <a:rPr lang="en-US" dirty="0"/>
              <a:t>On completion of this lesson on REF Cursors, you will be able to:</a:t>
            </a:r>
          </a:p>
          <a:p>
            <a:pPr lvl="1"/>
            <a:r>
              <a:rPr lang="en-US" dirty="0"/>
              <a:t>State the need for REF cursors </a:t>
            </a:r>
          </a:p>
          <a:p>
            <a:pPr lvl="1"/>
            <a:r>
              <a:rPr lang="en-US" dirty="0"/>
              <a:t>Understand the ways of implementing REF cursors</a:t>
            </a:r>
          </a:p>
          <a:p>
            <a:pPr lvl="1"/>
            <a:r>
              <a:rPr lang="en-US" dirty="0"/>
              <a:t>Understand the use of the Strong and Weak </a:t>
            </a:r>
            <a:r>
              <a:rPr lang="en-US"/>
              <a:t>REF cursors</a:t>
            </a:r>
            <a:endParaRPr lang="en-US" dirty="0"/>
          </a:p>
          <a:p>
            <a:pPr lvl="1"/>
            <a:r>
              <a:rPr lang="en-US" dirty="0"/>
              <a:t>Understand the differences between Static Cursors and REF Cursors</a:t>
            </a:r>
          </a:p>
        </p:txBody>
      </p:sp>
      <p:grpSp>
        <p:nvGrpSpPr>
          <p:cNvPr id="2" name="Group 17"/>
          <p:cNvGrpSpPr>
            <a:grpSpLocks/>
          </p:cNvGrpSpPr>
          <p:nvPr/>
        </p:nvGrpSpPr>
        <p:grpSpPr bwMode="auto">
          <a:xfrm>
            <a:off x="6934200" y="1182291"/>
            <a:ext cx="1716088" cy="1103709"/>
            <a:chOff x="4176" y="993"/>
            <a:chExt cx="1273" cy="1119"/>
          </a:xfrm>
        </p:grpSpPr>
        <p:sp>
          <p:nvSpPr>
            <p:cNvPr id="5125" name="Rectangle 14"/>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5126" name="Picture 16" descr="objectives"/>
            <p:cNvPicPr>
              <a:picLocks noChangeAspect="1" noChangeArrowheads="1"/>
            </p:cNvPicPr>
            <p:nvPr/>
          </p:nvPicPr>
          <p:blipFill>
            <a:blip r:embed="rId3" cstate="print"/>
            <a:srcRect/>
            <a:stretch>
              <a:fillRect/>
            </a:stretch>
          </p:blipFill>
          <p:spPr bwMode="auto">
            <a:xfrm>
              <a:off x="4284" y="1080"/>
              <a:ext cx="1056" cy="960"/>
            </a:xfrm>
            <a:prstGeom prst="rect">
              <a:avLst/>
            </a:prstGeom>
            <a:noFill/>
            <a:ln w="9525">
              <a:noFill/>
              <a:miter lim="800000"/>
              <a:headEnd/>
              <a:tailEnd/>
            </a:ln>
          </p:spPr>
        </p:pic>
      </p:grpSp>
    </p:spTree>
    <p:extLst>
      <p:ext uri="{BB962C8B-B14F-4D97-AF65-F5344CB8AC3E}">
        <p14:creationId xmlns:p14="http://schemas.microsoft.com/office/powerpoint/2010/main" val="210533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26306"/>
            <a:ext cx="8570662" cy="3771900"/>
          </a:xfrm>
        </p:spPr>
        <p:txBody>
          <a:bodyPr>
            <a:normAutofit/>
          </a:bodyPr>
          <a:lstStyle/>
          <a:p>
            <a:pPr algn="just">
              <a:defRPr/>
            </a:pPr>
            <a:r>
              <a:rPr lang="en-US" dirty="0"/>
              <a:t>REF Cursors/Dynamic Cursors/Cursor Variables</a:t>
            </a:r>
          </a:p>
          <a:p>
            <a:pPr algn="just">
              <a:buNone/>
              <a:defRPr/>
            </a:pPr>
            <a:endParaRPr lang="en-US" dirty="0"/>
          </a:p>
          <a:p>
            <a:pPr lvl="1" algn="just">
              <a:defRPr/>
            </a:pPr>
            <a:r>
              <a:rPr lang="en-US" dirty="0"/>
              <a:t>REF Cursors, also known a Dynamic Cursors or Cursor variables are like C or Pascal pointers, which hold the memory location (address) of some item instead of the item itself. </a:t>
            </a:r>
          </a:p>
          <a:p>
            <a:pPr lvl="1" algn="just">
              <a:buNone/>
              <a:defRPr/>
            </a:pPr>
            <a:endParaRPr lang="en-US" dirty="0"/>
          </a:p>
          <a:p>
            <a:pPr lvl="1" algn="just">
              <a:defRPr/>
            </a:pPr>
            <a:r>
              <a:rPr lang="en-US" dirty="0"/>
              <a:t>So, declaring a cursor variable creates a pointer or reference to a work-area/memory-area</a:t>
            </a:r>
          </a:p>
          <a:p>
            <a:pPr lvl="1" algn="just">
              <a:buNone/>
              <a:defRPr/>
            </a:pPr>
            <a:endParaRPr lang="en-US" dirty="0"/>
          </a:p>
          <a:p>
            <a:pPr lvl="1" algn="just">
              <a:defRPr/>
            </a:pPr>
            <a:r>
              <a:rPr lang="en-US" dirty="0"/>
              <a:t>In PL/SQL, a cursor variable has datatype REF CURSOR.</a:t>
            </a:r>
          </a:p>
          <a:p>
            <a:pPr lvl="1" algn="just">
              <a:defRPr/>
            </a:pPr>
            <a:endParaRPr lang="en-US" dirty="0"/>
          </a:p>
          <a:p>
            <a:pPr lvl="1" algn="just">
              <a:defRPr/>
            </a:pPr>
            <a:r>
              <a:rPr lang="en-US" dirty="0"/>
              <a:t>You first create a REF CURSOR type and then create variables of that type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4.1: Introduction to </a:t>
            </a:r>
            <a:r>
              <a:rPr lang="en-US" sz="1400" dirty="0">
                <a:latin typeface="Candara"/>
              </a:rPr>
              <a:t>REF Cursors</a:t>
            </a:r>
            <a:br>
              <a:rPr lang="en-US" sz="1200" b="1" dirty="0">
                <a:latin typeface="Candara"/>
              </a:rPr>
            </a:br>
            <a:r>
              <a:rPr lang="en-US" b="1" dirty="0">
                <a:latin typeface="Candara"/>
              </a:rPr>
              <a:t>What is </a:t>
            </a:r>
            <a:r>
              <a:rPr lang="en-US" dirty="0">
                <a:latin typeface="Candara"/>
              </a:rPr>
              <a:t>a REF Cursor</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6"/>
            <a:ext cx="8823325" cy="3771900"/>
          </a:xfrm>
        </p:spPr>
        <p:txBody>
          <a:bodyPr>
            <a:normAutofit/>
          </a:bodyPr>
          <a:lstStyle/>
          <a:p>
            <a:pPr algn="just">
              <a:defRPr/>
            </a:pPr>
            <a:r>
              <a:rPr lang="en-US" dirty="0"/>
              <a:t>Difference between Cursors/Static cursors and REF cursors/Dynamic Cursors</a:t>
            </a:r>
          </a:p>
          <a:p>
            <a:pPr algn="just">
              <a:buNone/>
              <a:defRPr/>
            </a:pPr>
            <a:endParaRPr lang="en-US" dirty="0"/>
          </a:p>
          <a:p>
            <a:pPr lvl="1" algn="just"/>
            <a:r>
              <a:rPr lang="en-US" sz="1600" dirty="0"/>
              <a:t>Like a cursor, a cursor variable points to the current row in the result-set of a multi-row query. But, cursors differ from cursor variables the way constants differ from variables. Whereas a cursor is static, a cursor variable is dynamic because it is not tied to a specific query. You can open a cursor variable for any type-compatible query. This gives you more flexibility.</a:t>
            </a:r>
            <a:endParaRPr lang="en-US" sz="1400" dirty="0"/>
          </a:p>
          <a:p>
            <a:endParaRPr lang="en-US" sz="1800" dirty="0"/>
          </a:p>
          <a:p>
            <a:pPr lvl="1" algn="just"/>
            <a:r>
              <a:rPr lang="en-US" sz="1600" dirty="0"/>
              <a:t>Also, you can assign new values to a cursor variable and pass it as a parameter to local and stored subprograms. This gives you an easy way to centralize data retrieval, that is, pass record or result sets as parameters.</a:t>
            </a:r>
            <a:endParaRPr lang="en-US"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4.2: Cursors versus REF Cursors</a:t>
            </a:r>
            <a:br>
              <a:rPr lang="en-US" sz="1200" b="1" dirty="0">
                <a:latin typeface="Candara"/>
              </a:rPr>
            </a:br>
            <a:r>
              <a:rPr lang="en-US" dirty="0">
                <a:latin typeface="Candara"/>
              </a:rPr>
              <a:t>How are Cursors different from REF cursors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26306"/>
            <a:ext cx="8570662" cy="3771900"/>
          </a:xfrm>
        </p:spPr>
        <p:txBody>
          <a:bodyPr>
            <a:normAutofit lnSpcReduction="10000"/>
          </a:bodyPr>
          <a:lstStyle/>
          <a:p>
            <a:r>
              <a:rPr lang="en-US" dirty="0"/>
              <a:t>Steps :</a:t>
            </a:r>
          </a:p>
          <a:p>
            <a:pPr lvl="1" algn="just"/>
            <a:r>
              <a:rPr lang="en-US" dirty="0"/>
              <a:t>First, you define a REF CURSOR type</a:t>
            </a:r>
            <a:r>
              <a:rPr lang="en-US" b="1" dirty="0"/>
              <a:t> :</a:t>
            </a:r>
          </a:p>
          <a:p>
            <a:pPr>
              <a:buNone/>
            </a:pPr>
            <a:r>
              <a:rPr lang="en-US" b="1" dirty="0"/>
              <a:t>		</a:t>
            </a:r>
            <a:r>
              <a:rPr lang="en-US" sz="2000" dirty="0"/>
              <a:t>TYPE </a:t>
            </a:r>
            <a:r>
              <a:rPr lang="en-US" sz="2000" dirty="0" err="1"/>
              <a:t>ref_type_name</a:t>
            </a:r>
            <a:r>
              <a:rPr lang="en-US" sz="2000" dirty="0"/>
              <a:t> IS REF CURSOR [RETURN </a:t>
            </a:r>
            <a:r>
              <a:rPr lang="en-US" sz="2000" dirty="0" err="1"/>
              <a:t>return_type</a:t>
            </a:r>
            <a:r>
              <a:rPr lang="en-US" sz="2000" dirty="0"/>
              <a:t>]; </a:t>
            </a:r>
            <a:endParaRPr lang="en-US" sz="1800" dirty="0"/>
          </a:p>
          <a:p>
            <a:pPr>
              <a:buNone/>
            </a:pPr>
            <a:r>
              <a:rPr lang="en-US" sz="2000" dirty="0"/>
              <a:t>		</a:t>
            </a:r>
          </a:p>
          <a:p>
            <a:pPr algn="just">
              <a:buNone/>
            </a:pPr>
            <a:r>
              <a:rPr lang="en-US" sz="2000" dirty="0"/>
              <a:t>	where </a:t>
            </a:r>
            <a:r>
              <a:rPr lang="en-US" sz="2000" dirty="0" err="1"/>
              <a:t>ref_type_name</a:t>
            </a:r>
            <a:r>
              <a:rPr lang="en-US" sz="2000" dirty="0"/>
              <a:t> is a type-specifier used in subsequent declarations of cursor variables and </a:t>
            </a:r>
            <a:r>
              <a:rPr lang="en-US" sz="2000" dirty="0" err="1"/>
              <a:t>return_type</a:t>
            </a:r>
            <a:r>
              <a:rPr lang="en-US" sz="2000" dirty="0"/>
              <a:t> must represent a record or a row in a database table</a:t>
            </a:r>
          </a:p>
          <a:p>
            <a:pPr algn="just">
              <a:buNone/>
            </a:pPr>
            <a:endParaRPr lang="en-US" sz="2000" dirty="0"/>
          </a:p>
          <a:p>
            <a:pPr lvl="1" algn="just"/>
            <a:r>
              <a:rPr lang="en-US" dirty="0"/>
              <a:t>Then, you define a Cursor Variable of the REF CURSOR type</a:t>
            </a:r>
            <a:r>
              <a:rPr lang="en-US" b="1" dirty="0"/>
              <a:t> :</a:t>
            </a:r>
          </a:p>
          <a:p>
            <a:pPr>
              <a:buNone/>
            </a:pPr>
            <a:r>
              <a:rPr lang="en-US" b="1" dirty="0"/>
              <a:t>		</a:t>
            </a:r>
            <a:r>
              <a:rPr lang="en-US" sz="2000" dirty="0" err="1"/>
              <a:t>cv</a:t>
            </a:r>
            <a:r>
              <a:rPr lang="en-US" sz="2000" dirty="0"/>
              <a:t> </a:t>
            </a:r>
            <a:r>
              <a:rPr lang="en-US" sz="2000" dirty="0" err="1"/>
              <a:t>ref_type_name</a:t>
            </a:r>
            <a:r>
              <a:rPr lang="en-US" sz="2000" dirty="0"/>
              <a:t>;</a:t>
            </a:r>
          </a:p>
          <a:p>
            <a:pPr algn="just">
              <a:buNone/>
            </a:pPr>
            <a:r>
              <a:rPr lang="en-US" sz="2000" dirty="0"/>
              <a:t>	where cv is the cursor variable which would be subsequently bound with type-specific query</a:t>
            </a:r>
          </a:p>
          <a:p>
            <a:pPr algn="just">
              <a:buNone/>
            </a:pPr>
            <a:endParaRPr lang="en-US" sz="20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4.3: </a:t>
            </a:r>
            <a:r>
              <a:rPr lang="en-US" sz="1400" dirty="0">
                <a:latin typeface="Candara"/>
              </a:rPr>
              <a:t>Defining REF cursors</a:t>
            </a:r>
            <a:br>
              <a:rPr lang="en-US" sz="1200" b="1" dirty="0">
                <a:latin typeface="Candara"/>
              </a:rPr>
            </a:br>
            <a:r>
              <a:rPr lang="en-US" dirty="0">
                <a:latin typeface="Candara"/>
              </a:rPr>
              <a:t>H</a:t>
            </a:r>
            <a:r>
              <a:rPr lang="en-US" b="1" dirty="0">
                <a:latin typeface="Candara"/>
              </a:rPr>
              <a:t>ow to define a REF cursor type and a Cursor Variable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86588"/>
            <a:ext cx="8570662" cy="3711617"/>
          </a:xfrm>
        </p:spPr>
        <p:txBody>
          <a:bodyPr>
            <a:normAutofit/>
          </a:bodyPr>
          <a:lstStyle/>
          <a:p>
            <a:pPr algn="just">
              <a:buNone/>
            </a:pPr>
            <a:endParaRPr lang="en-US" dirty="0"/>
          </a:p>
          <a:p>
            <a:pPr lvl="1" algn="just"/>
            <a:r>
              <a:rPr lang="en-US" sz="1800" dirty="0"/>
              <a:t>You want more flexibility. For example, you might want to </a:t>
            </a:r>
            <a:r>
              <a:rPr lang="en-US" sz="1800" b="1" dirty="0"/>
              <a:t>defer your choice of table or query until opening the cursor.</a:t>
            </a:r>
            <a:r>
              <a:rPr lang="en-US" sz="1800" dirty="0"/>
              <a:t> </a:t>
            </a:r>
          </a:p>
          <a:p>
            <a:pPr marL="148815" lvl="1" indent="0" algn="just">
              <a:buNone/>
            </a:pPr>
            <a:endParaRPr lang="en-US" sz="1800" dirty="0"/>
          </a:p>
          <a:p>
            <a:pPr lvl="1" algn="just"/>
            <a:r>
              <a:rPr lang="en-US" sz="1800" dirty="0"/>
              <a:t>You might want your program to build </a:t>
            </a:r>
            <a:r>
              <a:rPr lang="en-US" sz="1800" b="1" dirty="0"/>
              <a:t>different search conditions for the WHERE clause</a:t>
            </a:r>
            <a:r>
              <a:rPr lang="en-US" sz="1800" dirty="0"/>
              <a:t> of a SELECT statement. </a:t>
            </a:r>
          </a:p>
          <a:p>
            <a:pPr>
              <a:buNone/>
            </a:pPr>
            <a:endParaRPr lang="en-US" dirty="0">
              <a:ln>
                <a:solidFill>
                  <a:srgbClr val="00B0F0"/>
                </a:solidFill>
              </a:ln>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4.4: Advantages of a Cursor Variable</a:t>
            </a:r>
            <a:br>
              <a:rPr lang="en-US" sz="1200" b="1" dirty="0">
                <a:latin typeface="Candara"/>
              </a:rPr>
            </a:br>
            <a:r>
              <a:rPr lang="en-US" sz="2400" dirty="0">
                <a:latin typeface="Candara"/>
              </a:rPr>
              <a:t>Dynamically deciding the query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14400"/>
            <a:ext cx="8570662" cy="3886200"/>
          </a:xfrm>
        </p:spPr>
        <p:txBody>
          <a:bodyPr>
            <a:normAutofit/>
          </a:bodyPr>
          <a:lstStyle/>
          <a:p>
            <a:pPr algn="just"/>
            <a:r>
              <a:rPr lang="en-US" sz="2000" dirty="0"/>
              <a:t>REF CURSOR types can be </a:t>
            </a:r>
            <a:r>
              <a:rPr lang="en-US" sz="2000" b="1" i="1" dirty="0"/>
              <a:t>strong</a:t>
            </a:r>
            <a:r>
              <a:rPr lang="en-US" sz="2000" b="1" dirty="0"/>
              <a:t>(restrictive)</a:t>
            </a:r>
            <a:r>
              <a:rPr lang="en-US" sz="2000" dirty="0"/>
              <a:t> or </a:t>
            </a:r>
            <a:r>
              <a:rPr lang="en-US" sz="2000" b="1" i="1" dirty="0"/>
              <a:t>weak </a:t>
            </a:r>
            <a:r>
              <a:rPr lang="en-US" sz="2000" b="1" dirty="0"/>
              <a:t>(nonrestrictive)</a:t>
            </a:r>
            <a:r>
              <a:rPr lang="en-US" sz="2000" dirty="0"/>
              <a:t>. A strong REF CURSOR type definition specifies a return type, but a weak definition does not:</a:t>
            </a:r>
          </a:p>
          <a:p>
            <a:pPr>
              <a:buNone/>
            </a:pPr>
            <a:endParaRPr lang="en-US" sz="2000" dirty="0"/>
          </a:p>
          <a:p>
            <a:r>
              <a:rPr lang="en-US" sz="2000" dirty="0"/>
              <a:t>Declaring a STRONG REF CURSOR type : </a:t>
            </a:r>
          </a:p>
          <a:p>
            <a:pPr algn="just">
              <a:buNone/>
            </a:pPr>
            <a:r>
              <a:rPr lang="en-US" sz="2000" dirty="0"/>
              <a:t>		TYPE </a:t>
            </a:r>
            <a:r>
              <a:rPr lang="en-US" sz="2000" dirty="0" err="1"/>
              <a:t>EmpCurTyp</a:t>
            </a:r>
            <a:r>
              <a:rPr lang="en-US" sz="2000" dirty="0"/>
              <a:t> IS REF CURSOR RETURN 	</a:t>
            </a:r>
            <a:r>
              <a:rPr lang="en-US" sz="2000" dirty="0" err="1"/>
              <a:t>emp%ROWTYPE</a:t>
            </a:r>
            <a:r>
              <a:rPr lang="en-US" sz="2000" dirty="0"/>
              <a:t>;</a:t>
            </a:r>
          </a:p>
          <a:p>
            <a:pPr algn="just">
              <a:buNone/>
            </a:pPr>
            <a:endParaRPr lang="en-US" sz="2000" dirty="0"/>
          </a:p>
          <a:p>
            <a:r>
              <a:rPr lang="en-US" sz="2000" dirty="0"/>
              <a:t>Declaring a WEAK REF CURSOR type :</a:t>
            </a:r>
          </a:p>
          <a:p>
            <a:pPr>
              <a:buNone/>
            </a:pPr>
            <a:r>
              <a:rPr lang="en-US" sz="2000" dirty="0"/>
              <a:t>		TYPE </a:t>
            </a:r>
            <a:r>
              <a:rPr lang="en-US" sz="2000" dirty="0" err="1"/>
              <a:t>GenericCurTyp</a:t>
            </a:r>
            <a:r>
              <a:rPr lang="en-US" sz="2000" dirty="0"/>
              <a:t> IS REF CURSOR;</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4.5: REF Cursor Types</a:t>
            </a:r>
            <a:br>
              <a:rPr lang="en-US" sz="1200" b="1" dirty="0">
                <a:latin typeface="Candara"/>
              </a:rPr>
            </a:br>
            <a:r>
              <a:rPr lang="en-US" dirty="0">
                <a:latin typeface="Candara"/>
              </a:rPr>
              <a:t>STRONG and WEAK REF Cursor type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endParaRPr lang="en-US" sz="2000" dirty="0"/>
          </a:p>
          <a:p>
            <a:pPr algn="just"/>
            <a:r>
              <a:rPr lang="en-US" sz="2000" dirty="0"/>
              <a:t>Strong REF CURSOR types are less error prone because the PL/SQL compiler lets you associate a strongly typed cursor variable only with type-compatible queries. </a:t>
            </a:r>
          </a:p>
          <a:p>
            <a:pPr algn="just">
              <a:buNone/>
            </a:pPr>
            <a:endParaRPr lang="en-US" sz="2000" dirty="0"/>
          </a:p>
          <a:p>
            <a:pPr algn="just"/>
            <a:r>
              <a:rPr lang="en-US" sz="2000" dirty="0"/>
              <a:t>However, weak REF CURSOR types are more flexible because the compiler lets you associate a weakly typed cursor variable with any query. Hence, they could cause errors, if the code is not managed/maintained appropriately</a:t>
            </a:r>
            <a:endParaRPr lang="en-US" sz="20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4.5: REF Cursor Types</a:t>
            </a:r>
            <a:br>
              <a:rPr lang="en-US" sz="800" dirty="0">
                <a:latin typeface="Candara"/>
              </a:rPr>
            </a:br>
            <a:r>
              <a:rPr lang="en-US" dirty="0">
                <a:latin typeface="Candara"/>
              </a:rPr>
              <a:t>STRONG and WEAK REF Cursor type</a:t>
            </a:r>
            <a:r>
              <a:rPr lang="en-US" b="1" dirty="0">
                <a:latin typeface="Candara"/>
              </a:rPr>
              <a:t>		….</a:t>
            </a:r>
            <a:r>
              <a:rPr lang="en-US" b="1" dirty="0" err="1">
                <a:latin typeface="Candara"/>
              </a:rPr>
              <a:t>contd</a:t>
            </a:r>
            <a:r>
              <a:rPr lang="en-US" b="1" dirty="0">
                <a:latin typeface="Candara"/>
              </a:rPr>
              <a:t> </a:t>
            </a:r>
          </a:p>
        </p:txBody>
      </p:sp>
    </p:spTree>
    <p:extLst>
      <p:ext uri="{BB962C8B-B14F-4D97-AF65-F5344CB8AC3E}">
        <p14:creationId xmlns:p14="http://schemas.microsoft.com/office/powerpoint/2010/main" val="111815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lnSpcReduction="10000"/>
          </a:bodyPr>
          <a:lstStyle/>
          <a:p>
            <a:pPr>
              <a:buNone/>
            </a:pP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declare</a:t>
            </a:r>
          </a:p>
          <a:p>
            <a:pPr>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my_emp_type</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emp%rowtype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v_emp</a:t>
            </a:r>
            <a:r>
              <a:rPr lang="en-US" sz="1400" dirty="0">
                <a:ln>
                  <a:solidFill>
                    <a:srgbClr val="00B0F0"/>
                  </a:solidFill>
                </a:ln>
                <a:solidFill>
                  <a:srgbClr val="00B0F0"/>
                </a:solidFill>
              </a:rPr>
              <a:t>  </a:t>
            </a:r>
            <a:r>
              <a:rPr lang="en-US" sz="1400" dirty="0" err="1">
                <a:ln>
                  <a:solidFill>
                    <a:srgbClr val="00B0F0"/>
                  </a:solidFill>
                </a:ln>
                <a:solidFill>
                  <a:srgbClr val="00B0F0"/>
                </a:solidFill>
              </a:rPr>
              <a:t>my_emp_type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v_edata</a:t>
            </a:r>
            <a:r>
              <a:rPr lang="en-US" sz="1400" dirty="0">
                <a:ln>
                  <a:solidFill>
                    <a:srgbClr val="00B0F0"/>
                  </a:solidFill>
                </a:ln>
                <a:solidFill>
                  <a:srgbClr val="00B0F0"/>
                </a:solidFill>
              </a:rPr>
              <a:t> </a:t>
            </a:r>
            <a:r>
              <a:rPr lang="en-US" sz="1400" dirty="0" err="1">
                <a:ln>
                  <a:solidFill>
                    <a:srgbClr val="00B0F0"/>
                  </a:solidFill>
                </a:ln>
                <a:solidFill>
                  <a:srgbClr val="00B0F0"/>
                </a:solidFill>
              </a:rPr>
              <a:t>emp%rowtype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begin</a:t>
            </a:r>
          </a:p>
          <a:p>
            <a:pPr>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v_emp</a:t>
            </a:r>
            <a:r>
              <a:rPr lang="en-US" sz="1400" dirty="0">
                <a:ln>
                  <a:solidFill>
                    <a:srgbClr val="00B0F0"/>
                  </a:solidFill>
                </a:ln>
                <a:solidFill>
                  <a:srgbClr val="00B0F0"/>
                </a:solidFill>
              </a:rPr>
              <a:t> for select *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loop</a:t>
            </a:r>
          </a:p>
          <a:p>
            <a:pPr>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v_emp</a:t>
            </a:r>
            <a:r>
              <a:rPr lang="en-US" sz="1400" dirty="0">
                <a:ln>
                  <a:solidFill>
                    <a:srgbClr val="00B0F0"/>
                  </a:solidFill>
                </a:ln>
                <a:solidFill>
                  <a:srgbClr val="00B0F0"/>
                </a:solidFill>
              </a:rPr>
              <a:t> into </a:t>
            </a:r>
            <a:r>
              <a:rPr lang="en-US" sz="1400" dirty="0" err="1">
                <a:ln>
                  <a:solidFill>
                    <a:srgbClr val="00B0F0"/>
                  </a:solidFill>
                </a:ln>
                <a:solidFill>
                  <a:srgbClr val="00B0F0"/>
                </a:solidFill>
              </a:rPr>
              <a:t>v_edata</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v_emp%notfound</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v_edata.empno</a:t>
            </a:r>
            <a:r>
              <a:rPr lang="en-US" sz="1400" dirty="0">
                <a:ln>
                  <a:solidFill>
                    <a:srgbClr val="00B0F0"/>
                  </a:solidFill>
                </a:ln>
                <a:solidFill>
                  <a:srgbClr val="00B0F0"/>
                </a:solidFill>
              </a:rPr>
              <a:t>||' '||</a:t>
            </a:r>
            <a:r>
              <a:rPr lang="en-US" sz="1400" dirty="0" err="1">
                <a:ln>
                  <a:solidFill>
                    <a:srgbClr val="00B0F0"/>
                  </a:solidFill>
                </a:ln>
                <a:solidFill>
                  <a:srgbClr val="00B0F0"/>
                </a:solidFill>
              </a:rPr>
              <a:t>v_edata.ename</a:t>
            </a:r>
            <a:r>
              <a:rPr lang="en-US" sz="1400" dirty="0">
                <a:ln>
                  <a:solidFill>
                    <a:srgbClr val="00B0F0"/>
                  </a:solidFill>
                </a:ln>
                <a:solidFill>
                  <a:srgbClr val="00B0F0"/>
                </a:solidFill>
              </a:rPr>
              <a:t>||' '||v_edata.sal);</a:t>
            </a:r>
          </a:p>
          <a:p>
            <a:pPr>
              <a:buNone/>
            </a:pPr>
            <a:r>
              <a:rPr lang="en-US" sz="1400" dirty="0">
                <a:ln>
                  <a:solidFill>
                    <a:srgbClr val="00B0F0"/>
                  </a:solidFill>
                </a:ln>
                <a:solidFill>
                  <a:srgbClr val="00B0F0"/>
                </a:solidFill>
              </a:rPr>
              <a:t>		end loop;</a:t>
            </a:r>
          </a:p>
          <a:p>
            <a:pPr>
              <a:buNone/>
            </a:pPr>
            <a:r>
              <a:rPr lang="en-US" sz="1400" dirty="0">
                <a:ln>
                  <a:solidFill>
                    <a:srgbClr val="00B0F0"/>
                  </a:solidFill>
                </a:ln>
                <a:solidFill>
                  <a:srgbClr val="00B0F0"/>
                </a:solidFill>
              </a:rPr>
              <a:t>		close </a:t>
            </a:r>
            <a:r>
              <a:rPr lang="en-US" sz="1400" dirty="0" err="1">
                <a:ln>
                  <a:solidFill>
                    <a:srgbClr val="00B0F0"/>
                  </a:solidFill>
                </a:ln>
                <a:solidFill>
                  <a:srgbClr val="00B0F0"/>
                </a:solidFill>
              </a:rPr>
              <a:t>v_emp</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end;</a:t>
            </a:r>
          </a:p>
          <a:p>
            <a:pPr>
              <a:buNone/>
            </a:pPr>
            <a:r>
              <a:rPr lang="en-US" sz="1400" dirty="0">
                <a:ln>
                  <a:solidFill>
                    <a:srgbClr val="00B0F0"/>
                  </a:solidFill>
                </a:ln>
                <a:solidFill>
                  <a:srgbClr val="00B0F0"/>
                </a:solidFill>
              </a:rPr>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4.6: STRONG REF Cursor Type</a:t>
            </a:r>
            <a:br>
              <a:rPr lang="en-US" sz="300" dirty="0">
                <a:latin typeface="Candara"/>
              </a:rPr>
            </a:br>
            <a:r>
              <a:rPr lang="en-US" sz="2400" dirty="0">
                <a:latin typeface="Candara"/>
              </a:rPr>
              <a:t>STRONG REF Cursor type : Example 1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878305"/>
            <a:ext cx="8823325" cy="4054641"/>
          </a:xfrm>
        </p:spPr>
        <p:txBody>
          <a:bodyPr>
            <a:normAutofit fontScale="47500" lnSpcReduction="20000"/>
          </a:bodyPr>
          <a:lstStyle/>
          <a:p>
            <a:pPr>
              <a:buNone/>
            </a:pPr>
            <a:r>
              <a:rPr lang="en-US" sz="1400" dirty="0">
                <a:ln>
                  <a:solidFill>
                    <a:srgbClr val="00B0F0"/>
                  </a:solidFill>
                </a:ln>
                <a:solidFill>
                  <a:srgbClr val="00B0F0"/>
                </a:solidFill>
              </a:rPr>
              <a:t> </a:t>
            </a:r>
            <a:r>
              <a:rPr lang="en-US" sz="2200" dirty="0">
                <a:ln>
                  <a:solidFill>
                    <a:srgbClr val="00B0F0"/>
                  </a:solidFill>
                </a:ln>
                <a:solidFill>
                  <a:srgbClr val="00B0F0"/>
                </a:solidFill>
              </a:rPr>
              <a:t>declare</a:t>
            </a:r>
          </a:p>
          <a:p>
            <a:pPr>
              <a:buNone/>
            </a:pPr>
            <a:r>
              <a:rPr lang="en-US" sz="2200" dirty="0">
                <a:ln>
                  <a:solidFill>
                    <a:srgbClr val="00B0F0"/>
                  </a:solidFill>
                </a:ln>
                <a:solidFill>
                  <a:srgbClr val="00B0F0"/>
                </a:solidFill>
              </a:rPr>
              <a:t>    		type </a:t>
            </a:r>
            <a:r>
              <a:rPr lang="en-US" sz="2200" dirty="0" err="1">
                <a:ln>
                  <a:solidFill>
                    <a:srgbClr val="00B0F0"/>
                  </a:solidFill>
                </a:ln>
                <a:solidFill>
                  <a:srgbClr val="00B0F0"/>
                </a:solidFill>
              </a:rPr>
              <a:t>mytype</a:t>
            </a:r>
            <a:r>
              <a:rPr lang="en-US" sz="2200" dirty="0">
                <a:ln>
                  <a:solidFill>
                    <a:srgbClr val="00B0F0"/>
                  </a:solidFill>
                </a:ln>
                <a:solidFill>
                  <a:srgbClr val="00B0F0"/>
                </a:solidFill>
              </a:rPr>
              <a:t> is record(</a:t>
            </a:r>
            <a:r>
              <a:rPr lang="en-US" sz="2200" dirty="0" err="1">
                <a:ln>
                  <a:solidFill>
                    <a:srgbClr val="00B0F0"/>
                  </a:solidFill>
                </a:ln>
                <a:solidFill>
                  <a:srgbClr val="00B0F0"/>
                </a:solidFill>
              </a:rPr>
              <a:t>gnumber</a:t>
            </a:r>
            <a:r>
              <a:rPr lang="en-US" sz="2200" dirty="0">
                <a:ln>
                  <a:solidFill>
                    <a:srgbClr val="00B0F0"/>
                  </a:solidFill>
                </a:ln>
                <a:solidFill>
                  <a:srgbClr val="00B0F0"/>
                </a:solidFill>
              </a:rPr>
              <a:t> number, </a:t>
            </a:r>
            <a:r>
              <a:rPr lang="en-US" sz="2200" dirty="0" err="1">
                <a:ln>
                  <a:solidFill>
                    <a:srgbClr val="00B0F0"/>
                  </a:solidFill>
                </a:ln>
                <a:solidFill>
                  <a:srgbClr val="00B0F0"/>
                </a:solidFill>
              </a:rPr>
              <a:t>gname</a:t>
            </a:r>
            <a:r>
              <a:rPr lang="en-US" sz="2200" dirty="0">
                <a:ln>
                  <a:solidFill>
                    <a:srgbClr val="00B0F0"/>
                  </a:solidFill>
                </a:ln>
                <a:solidFill>
                  <a:srgbClr val="00B0F0"/>
                </a:solidFill>
              </a:rPr>
              <a:t> varchar2(50), </a:t>
            </a:r>
            <a:r>
              <a:rPr lang="en-US" sz="2200" dirty="0" err="1">
                <a:ln>
                  <a:solidFill>
                    <a:srgbClr val="00B0F0"/>
                  </a:solidFill>
                </a:ln>
                <a:solidFill>
                  <a:srgbClr val="00B0F0"/>
                </a:solidFill>
              </a:rPr>
              <a:t>gdesc</a:t>
            </a:r>
            <a:r>
              <a:rPr lang="en-US" sz="2200" dirty="0">
                <a:ln>
                  <a:solidFill>
                    <a:srgbClr val="00B0F0"/>
                  </a:solidFill>
                </a:ln>
                <a:solidFill>
                  <a:srgbClr val="00B0F0"/>
                </a:solidFill>
              </a:rPr>
              <a:t> varchar2(50));</a:t>
            </a:r>
          </a:p>
          <a:p>
            <a:pPr>
              <a:buNone/>
            </a:pPr>
            <a:r>
              <a:rPr lang="en-US" sz="2200" dirty="0">
                <a:ln>
                  <a:solidFill>
                    <a:srgbClr val="00B0F0"/>
                  </a:solidFill>
                </a:ln>
                <a:solidFill>
                  <a:srgbClr val="00B0F0"/>
                </a:solidFill>
              </a:rPr>
              <a:t>    		type </a:t>
            </a:r>
            <a:r>
              <a:rPr lang="en-US" sz="2200" dirty="0" err="1">
                <a:ln>
                  <a:solidFill>
                    <a:srgbClr val="00B0F0"/>
                  </a:solidFill>
                </a:ln>
                <a:solidFill>
                  <a:srgbClr val="00B0F0"/>
                </a:solidFill>
              </a:rPr>
              <a:t>my_gen_type</a:t>
            </a:r>
            <a:r>
              <a:rPr lang="en-US" sz="2200" dirty="0">
                <a:ln>
                  <a:solidFill>
                    <a:srgbClr val="00B0F0"/>
                  </a:solidFill>
                </a:ln>
                <a:solidFill>
                  <a:srgbClr val="00B0F0"/>
                </a:solidFill>
              </a:rPr>
              <a:t> is ref cursor return </a:t>
            </a:r>
            <a:r>
              <a:rPr lang="en-US" sz="2200" dirty="0" err="1">
                <a:ln>
                  <a:solidFill>
                    <a:srgbClr val="00B0F0"/>
                  </a:solidFill>
                </a:ln>
                <a:solidFill>
                  <a:srgbClr val="00B0F0"/>
                </a:solidFill>
              </a:rPr>
              <a:t>mytype</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 </a:t>
            </a:r>
            <a:r>
              <a:rPr lang="en-US" sz="2200" dirty="0" err="1">
                <a:ln>
                  <a:solidFill>
                    <a:srgbClr val="00B0F0"/>
                  </a:solidFill>
                </a:ln>
                <a:solidFill>
                  <a:srgbClr val="00B0F0"/>
                </a:solidFill>
              </a:rPr>
              <a:t>my_gen_type</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a:t>
            </a:r>
            <a:r>
              <a:rPr lang="en-US" sz="2200" dirty="0" err="1">
                <a:ln>
                  <a:solidFill>
                    <a:srgbClr val="00B0F0"/>
                  </a:solidFill>
                </a:ln>
                <a:solidFill>
                  <a:srgbClr val="00B0F0"/>
                </a:solidFill>
              </a:rPr>
              <a:t>vdata</a:t>
            </a:r>
            <a:r>
              <a:rPr lang="en-US" sz="2200" dirty="0">
                <a:ln>
                  <a:solidFill>
                    <a:srgbClr val="00B0F0"/>
                  </a:solidFill>
                </a:ln>
                <a:solidFill>
                  <a:srgbClr val="00B0F0"/>
                </a:solidFill>
              </a:rPr>
              <a:t> </a:t>
            </a:r>
            <a:r>
              <a:rPr lang="en-US" sz="2200" dirty="0" err="1">
                <a:ln>
                  <a:solidFill>
                    <a:srgbClr val="00B0F0"/>
                  </a:solidFill>
                </a:ln>
                <a:solidFill>
                  <a:srgbClr val="00B0F0"/>
                </a:solidFill>
              </a:rPr>
              <a:t>mytype</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begin</a:t>
            </a:r>
          </a:p>
          <a:p>
            <a:pPr>
              <a:buNone/>
            </a:pPr>
            <a:r>
              <a:rPr lang="en-US" sz="2200" dirty="0">
                <a:ln>
                  <a:solidFill>
                    <a:srgbClr val="00B0F0"/>
                  </a:solidFill>
                </a:ln>
                <a:solidFill>
                  <a:srgbClr val="00B0F0"/>
                </a:solidFill>
              </a:rPr>
              <a:t>    		open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 for select </a:t>
            </a:r>
            <a:r>
              <a:rPr lang="en-US" sz="2200" dirty="0" err="1">
                <a:ln>
                  <a:solidFill>
                    <a:srgbClr val="00B0F0"/>
                  </a:solidFill>
                </a:ln>
                <a:solidFill>
                  <a:srgbClr val="00B0F0"/>
                </a:solidFill>
              </a:rPr>
              <a:t>empno</a:t>
            </a:r>
            <a:r>
              <a:rPr lang="en-US" sz="2200" dirty="0">
                <a:ln>
                  <a:solidFill>
                    <a:srgbClr val="00B0F0"/>
                  </a:solidFill>
                </a:ln>
                <a:solidFill>
                  <a:srgbClr val="00B0F0"/>
                </a:solidFill>
              </a:rPr>
              <a:t>, </a:t>
            </a:r>
            <a:r>
              <a:rPr lang="en-US" sz="2200" dirty="0" err="1">
                <a:ln>
                  <a:solidFill>
                    <a:srgbClr val="00B0F0"/>
                  </a:solidFill>
                </a:ln>
                <a:solidFill>
                  <a:srgbClr val="00B0F0"/>
                </a:solidFill>
              </a:rPr>
              <a:t>ename</a:t>
            </a:r>
            <a:r>
              <a:rPr lang="en-US" sz="2200" dirty="0">
                <a:ln>
                  <a:solidFill>
                    <a:srgbClr val="00B0F0"/>
                  </a:solidFill>
                </a:ln>
                <a:solidFill>
                  <a:srgbClr val="00B0F0"/>
                </a:solidFill>
              </a:rPr>
              <a:t>, job from </a:t>
            </a:r>
            <a:r>
              <a:rPr lang="en-US" sz="2200" dirty="0" err="1">
                <a:ln>
                  <a:solidFill>
                    <a:srgbClr val="00B0F0"/>
                  </a:solidFill>
                </a:ln>
                <a:solidFill>
                  <a:srgbClr val="00B0F0"/>
                </a:solidFill>
              </a:rPr>
              <a:t>emp</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loop</a:t>
            </a:r>
          </a:p>
          <a:p>
            <a:pPr>
              <a:buNone/>
            </a:pPr>
            <a:r>
              <a:rPr lang="en-US" sz="2200" dirty="0">
                <a:ln>
                  <a:solidFill>
                    <a:srgbClr val="00B0F0"/>
                  </a:solidFill>
                </a:ln>
                <a:solidFill>
                  <a:srgbClr val="00B0F0"/>
                </a:solidFill>
              </a:rPr>
              <a:t>            		fetch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 into </a:t>
            </a:r>
            <a:r>
              <a:rPr lang="en-US" sz="2200" dirty="0" err="1">
                <a:ln>
                  <a:solidFill>
                    <a:srgbClr val="00B0F0"/>
                  </a:solidFill>
                </a:ln>
                <a:solidFill>
                  <a:srgbClr val="00B0F0"/>
                </a:solidFill>
              </a:rPr>
              <a:t>vdata</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exit when </a:t>
            </a:r>
            <a:r>
              <a:rPr lang="en-US" sz="2200" dirty="0" err="1">
                <a:ln>
                  <a:solidFill>
                    <a:srgbClr val="00B0F0"/>
                  </a:solidFill>
                </a:ln>
                <a:solidFill>
                  <a:srgbClr val="00B0F0"/>
                </a:solidFill>
              </a:rPr>
              <a:t>v_c_gen%notfound</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a:t>
            </a:r>
            <a:r>
              <a:rPr lang="en-US" sz="2200" dirty="0" err="1">
                <a:ln>
                  <a:solidFill>
                    <a:srgbClr val="00B0F0"/>
                  </a:solidFill>
                </a:ln>
                <a:solidFill>
                  <a:srgbClr val="00B0F0"/>
                </a:solidFill>
              </a:rPr>
              <a:t>dbms_output.put_line</a:t>
            </a:r>
            <a:r>
              <a:rPr lang="en-US" sz="2200" dirty="0">
                <a:ln>
                  <a:solidFill>
                    <a:srgbClr val="00B0F0"/>
                  </a:solidFill>
                </a:ln>
                <a:solidFill>
                  <a:srgbClr val="00B0F0"/>
                </a:solidFill>
              </a:rPr>
              <a:t>(</a:t>
            </a:r>
            <a:r>
              <a:rPr lang="en-US" sz="2200" dirty="0" err="1">
                <a:ln>
                  <a:solidFill>
                    <a:srgbClr val="00B0F0"/>
                  </a:solidFill>
                </a:ln>
                <a:solidFill>
                  <a:srgbClr val="00B0F0"/>
                </a:solidFill>
              </a:rPr>
              <a:t>vdata.gnumber</a:t>
            </a:r>
            <a:r>
              <a:rPr lang="en-US" sz="2200" dirty="0">
                <a:ln>
                  <a:solidFill>
                    <a:srgbClr val="00B0F0"/>
                  </a:solidFill>
                </a:ln>
                <a:solidFill>
                  <a:srgbClr val="00B0F0"/>
                </a:solidFill>
              </a:rPr>
              <a:t>||' '||</a:t>
            </a:r>
            <a:r>
              <a:rPr lang="en-US" sz="2200" dirty="0" err="1">
                <a:ln>
                  <a:solidFill>
                    <a:srgbClr val="00B0F0"/>
                  </a:solidFill>
                </a:ln>
                <a:solidFill>
                  <a:srgbClr val="00B0F0"/>
                </a:solidFill>
              </a:rPr>
              <a:t>vdata.gname</a:t>
            </a:r>
            <a:r>
              <a:rPr lang="en-US" sz="2200" dirty="0">
                <a:ln>
                  <a:solidFill>
                    <a:srgbClr val="00B0F0"/>
                  </a:solidFill>
                </a:ln>
                <a:solidFill>
                  <a:srgbClr val="00B0F0"/>
                </a:solidFill>
              </a:rPr>
              <a:t>||' '||</a:t>
            </a:r>
            <a:r>
              <a:rPr lang="en-US" sz="2200" dirty="0" err="1">
                <a:ln>
                  <a:solidFill>
                    <a:srgbClr val="00B0F0"/>
                  </a:solidFill>
                </a:ln>
                <a:solidFill>
                  <a:srgbClr val="00B0F0"/>
                </a:solidFill>
              </a:rPr>
              <a:t>vdata.gdesc</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end loop;</a:t>
            </a:r>
          </a:p>
          <a:p>
            <a:pPr>
              <a:buNone/>
            </a:pPr>
            <a:r>
              <a:rPr lang="en-US" sz="2200" dirty="0">
                <a:ln>
                  <a:solidFill>
                    <a:srgbClr val="00B0F0"/>
                  </a:solidFill>
                </a:ln>
                <a:solidFill>
                  <a:srgbClr val="00B0F0"/>
                </a:solidFill>
              </a:rPr>
              <a:t>    		close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a:t>
            </a:r>
            <a:r>
              <a:rPr lang="en-US" sz="2200" dirty="0" err="1">
                <a:ln>
                  <a:solidFill>
                    <a:srgbClr val="00B0F0"/>
                  </a:solidFill>
                </a:ln>
                <a:solidFill>
                  <a:srgbClr val="00B0F0"/>
                </a:solidFill>
              </a:rPr>
              <a:t>dbms_output.put_line</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open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 for select </a:t>
            </a:r>
            <a:r>
              <a:rPr lang="en-US" sz="2200" dirty="0" err="1">
                <a:ln>
                  <a:solidFill>
                    <a:srgbClr val="00B0F0"/>
                  </a:solidFill>
                </a:ln>
                <a:solidFill>
                  <a:srgbClr val="00B0F0"/>
                </a:solidFill>
              </a:rPr>
              <a:t>deptno</a:t>
            </a:r>
            <a:r>
              <a:rPr lang="en-US" sz="2200" dirty="0">
                <a:ln>
                  <a:solidFill>
                    <a:srgbClr val="00B0F0"/>
                  </a:solidFill>
                </a:ln>
                <a:solidFill>
                  <a:srgbClr val="00B0F0"/>
                </a:solidFill>
              </a:rPr>
              <a:t>, </a:t>
            </a:r>
            <a:r>
              <a:rPr lang="en-US" sz="2200" dirty="0" err="1">
                <a:ln>
                  <a:solidFill>
                    <a:srgbClr val="00B0F0"/>
                  </a:solidFill>
                </a:ln>
                <a:solidFill>
                  <a:srgbClr val="00B0F0"/>
                </a:solidFill>
              </a:rPr>
              <a:t>dname</a:t>
            </a:r>
            <a:r>
              <a:rPr lang="en-US" sz="2200" dirty="0">
                <a:ln>
                  <a:solidFill>
                    <a:srgbClr val="00B0F0"/>
                  </a:solidFill>
                </a:ln>
                <a:solidFill>
                  <a:srgbClr val="00B0F0"/>
                </a:solidFill>
              </a:rPr>
              <a:t>, loc from dept;</a:t>
            </a:r>
          </a:p>
          <a:p>
            <a:pPr>
              <a:buNone/>
            </a:pPr>
            <a:r>
              <a:rPr lang="en-US" sz="2200" dirty="0">
                <a:ln>
                  <a:solidFill>
                    <a:srgbClr val="00B0F0"/>
                  </a:solidFill>
                </a:ln>
                <a:solidFill>
                  <a:srgbClr val="00B0F0"/>
                </a:solidFill>
              </a:rPr>
              <a:t>    		loop</a:t>
            </a:r>
          </a:p>
          <a:p>
            <a:pPr>
              <a:buNone/>
            </a:pPr>
            <a:r>
              <a:rPr lang="en-US" sz="2200" dirty="0">
                <a:ln>
                  <a:solidFill>
                    <a:srgbClr val="00B0F0"/>
                  </a:solidFill>
                </a:ln>
                <a:solidFill>
                  <a:srgbClr val="00B0F0"/>
                </a:solidFill>
              </a:rPr>
              <a:t>            		fetch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 into </a:t>
            </a:r>
            <a:r>
              <a:rPr lang="en-US" sz="2200" dirty="0" err="1">
                <a:ln>
                  <a:solidFill>
                    <a:srgbClr val="00B0F0"/>
                  </a:solidFill>
                </a:ln>
                <a:solidFill>
                  <a:srgbClr val="00B0F0"/>
                </a:solidFill>
              </a:rPr>
              <a:t>vdata</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exit when </a:t>
            </a:r>
            <a:r>
              <a:rPr lang="en-US" sz="2200" dirty="0" err="1">
                <a:ln>
                  <a:solidFill>
                    <a:srgbClr val="00B0F0"/>
                  </a:solidFill>
                </a:ln>
                <a:solidFill>
                  <a:srgbClr val="00B0F0"/>
                </a:solidFill>
              </a:rPr>
              <a:t>v_c_gen%notfound</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a:t>
            </a:r>
            <a:r>
              <a:rPr lang="en-US" sz="2200" dirty="0" err="1">
                <a:ln>
                  <a:solidFill>
                    <a:srgbClr val="00B0F0"/>
                  </a:solidFill>
                </a:ln>
                <a:solidFill>
                  <a:srgbClr val="00B0F0"/>
                </a:solidFill>
              </a:rPr>
              <a:t>dbms_output.put_line</a:t>
            </a:r>
            <a:r>
              <a:rPr lang="en-US" sz="2200" dirty="0">
                <a:ln>
                  <a:solidFill>
                    <a:srgbClr val="00B0F0"/>
                  </a:solidFill>
                </a:ln>
                <a:solidFill>
                  <a:srgbClr val="00B0F0"/>
                </a:solidFill>
              </a:rPr>
              <a:t>(</a:t>
            </a:r>
            <a:r>
              <a:rPr lang="en-US" sz="2200" dirty="0" err="1">
                <a:ln>
                  <a:solidFill>
                    <a:srgbClr val="00B0F0"/>
                  </a:solidFill>
                </a:ln>
                <a:solidFill>
                  <a:srgbClr val="00B0F0"/>
                </a:solidFill>
              </a:rPr>
              <a:t>vdata.gnumber</a:t>
            </a:r>
            <a:r>
              <a:rPr lang="en-US" sz="2200" dirty="0">
                <a:ln>
                  <a:solidFill>
                    <a:srgbClr val="00B0F0"/>
                  </a:solidFill>
                </a:ln>
                <a:solidFill>
                  <a:srgbClr val="00B0F0"/>
                </a:solidFill>
              </a:rPr>
              <a:t>||' '||</a:t>
            </a:r>
            <a:r>
              <a:rPr lang="en-US" sz="2200" dirty="0" err="1">
                <a:ln>
                  <a:solidFill>
                    <a:srgbClr val="00B0F0"/>
                  </a:solidFill>
                </a:ln>
                <a:solidFill>
                  <a:srgbClr val="00B0F0"/>
                </a:solidFill>
              </a:rPr>
              <a:t>vdata.gname</a:t>
            </a:r>
            <a:r>
              <a:rPr lang="en-US" sz="2200" dirty="0">
                <a:ln>
                  <a:solidFill>
                    <a:srgbClr val="00B0F0"/>
                  </a:solidFill>
                </a:ln>
                <a:solidFill>
                  <a:srgbClr val="00B0F0"/>
                </a:solidFill>
              </a:rPr>
              <a:t>||' '||</a:t>
            </a:r>
            <a:r>
              <a:rPr lang="en-US" sz="2200" dirty="0" err="1">
                <a:ln>
                  <a:solidFill>
                    <a:srgbClr val="00B0F0"/>
                  </a:solidFill>
                </a:ln>
                <a:solidFill>
                  <a:srgbClr val="00B0F0"/>
                </a:solidFill>
              </a:rPr>
              <a:t>vdata.gdesc</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end loop;</a:t>
            </a:r>
          </a:p>
          <a:p>
            <a:pPr>
              <a:buNone/>
            </a:pPr>
            <a:r>
              <a:rPr lang="en-US" sz="2200" dirty="0">
                <a:ln>
                  <a:solidFill>
                    <a:srgbClr val="00B0F0"/>
                  </a:solidFill>
                </a:ln>
                <a:solidFill>
                  <a:srgbClr val="00B0F0"/>
                </a:solidFill>
              </a:rPr>
              <a:t>    		close </a:t>
            </a:r>
            <a:r>
              <a:rPr lang="en-US" sz="2200" dirty="0" err="1">
                <a:ln>
                  <a:solidFill>
                    <a:srgbClr val="00B0F0"/>
                  </a:solidFill>
                </a:ln>
                <a:solidFill>
                  <a:srgbClr val="00B0F0"/>
                </a:solidFill>
              </a:rPr>
              <a:t>v_c_gen</a:t>
            </a:r>
            <a:r>
              <a:rPr lang="en-US" sz="2200" dirty="0">
                <a:ln>
                  <a:solidFill>
                    <a:srgbClr val="00B0F0"/>
                  </a:solidFill>
                </a:ln>
                <a:solidFill>
                  <a:srgbClr val="00B0F0"/>
                </a:solidFill>
              </a:rPr>
              <a:t>;</a:t>
            </a:r>
          </a:p>
          <a:p>
            <a:pPr>
              <a:buNone/>
            </a:pPr>
            <a:r>
              <a:rPr lang="en-US" sz="2200" dirty="0">
                <a:ln>
                  <a:solidFill>
                    <a:srgbClr val="00B0F0"/>
                  </a:solidFill>
                </a:ln>
                <a:solidFill>
                  <a:srgbClr val="00B0F0"/>
                </a:solidFill>
              </a:rPr>
              <a:t> end;</a:t>
            </a:r>
          </a:p>
          <a:p>
            <a:pPr>
              <a:buNone/>
            </a:pPr>
            <a:r>
              <a:rPr lang="en-US" sz="2200" dirty="0">
                <a:ln>
                  <a:solidFill>
                    <a:srgbClr val="00B0F0"/>
                  </a:solidFill>
                </a:ln>
                <a:solidFill>
                  <a:srgbClr val="00B0F0"/>
                </a:solidFill>
              </a:rPr>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4.6: STRONG REF Cursor Type						…..</a:t>
            </a:r>
            <a:r>
              <a:rPr lang="en-US" sz="1300" dirty="0" err="1">
                <a:latin typeface="Candara"/>
              </a:rPr>
              <a:t>contd</a:t>
            </a:r>
            <a:br>
              <a:rPr lang="en-US" sz="300" dirty="0">
                <a:latin typeface="Candara"/>
              </a:rPr>
            </a:br>
            <a:r>
              <a:rPr lang="en-US" sz="2400" dirty="0">
                <a:latin typeface="Candara"/>
              </a:rPr>
              <a:t>STRONG REF Cursor type : Example 2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18547"/>
          </a:xfrm>
        </p:spPr>
        <p:txBody>
          <a:bodyPr>
            <a:normAutofit fontScale="47500" lnSpcReduction="20000"/>
          </a:bodyPr>
          <a:lstStyle/>
          <a:p>
            <a:pPr>
              <a:buNone/>
            </a:pP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DECLARE</a:t>
            </a:r>
          </a:p>
          <a:p>
            <a:pPr>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gen_cur</a:t>
            </a:r>
            <a:r>
              <a:rPr lang="en-US" sz="1400" dirty="0">
                <a:ln>
                  <a:solidFill>
                    <a:srgbClr val="00B0F0"/>
                  </a:solidFill>
                </a:ln>
                <a:solidFill>
                  <a:srgbClr val="00B0F0"/>
                </a:solidFill>
              </a:rPr>
              <a:t> IS REF CURSOR;</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a:t>
            </a:r>
            <a:r>
              <a:rPr lang="en-US" sz="1400" dirty="0" err="1">
                <a:ln>
                  <a:solidFill>
                    <a:srgbClr val="00B0F0"/>
                  </a:solidFill>
                </a:ln>
                <a:solidFill>
                  <a:srgbClr val="00B0F0"/>
                </a:solidFill>
              </a:rPr>
              <a:t>gen_cur</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v_emp_rec</a:t>
            </a:r>
            <a:r>
              <a:rPr lang="en-US" sz="1400" dirty="0">
                <a:ln>
                  <a:solidFill>
                    <a:srgbClr val="00B0F0"/>
                  </a:solidFill>
                </a:ln>
                <a:solidFill>
                  <a:srgbClr val="00B0F0"/>
                </a:solidFill>
              </a:rPr>
              <a:t> EMP%ROWTYPE;</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v_dept_rec</a:t>
            </a:r>
            <a:r>
              <a:rPr lang="en-US" sz="1400" dirty="0">
                <a:ln>
                  <a:solidFill>
                    <a:srgbClr val="00B0F0"/>
                  </a:solidFill>
                </a:ln>
                <a:solidFill>
                  <a:srgbClr val="00B0F0"/>
                </a:solidFill>
              </a:rPr>
              <a:t> DEPT%ROWTYPE;</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v_operation</a:t>
            </a:r>
            <a:r>
              <a:rPr lang="en-US" sz="1400" dirty="0">
                <a:ln>
                  <a:solidFill>
                    <a:srgbClr val="00B0F0"/>
                  </a:solidFill>
                </a:ln>
                <a:solidFill>
                  <a:srgbClr val="00B0F0"/>
                </a:solidFill>
              </a:rPr>
              <a:t> NUMBER(1) := &amp;op;</a:t>
            </a:r>
          </a:p>
          <a:p>
            <a:pPr>
              <a:buNone/>
            </a:pPr>
            <a:r>
              <a:rPr lang="en-US" sz="1400" dirty="0">
                <a:ln>
                  <a:solidFill>
                    <a:srgbClr val="00B0F0"/>
                  </a:solidFill>
                </a:ln>
                <a:solidFill>
                  <a:srgbClr val="00B0F0"/>
                </a:solidFill>
              </a:rPr>
              <a:t>BEGIN</a:t>
            </a:r>
          </a:p>
          <a:p>
            <a:pPr>
              <a:buNone/>
            </a:pPr>
            <a:r>
              <a:rPr lang="en-US" sz="1400" dirty="0">
                <a:ln>
                  <a:solidFill>
                    <a:srgbClr val="00B0F0"/>
                  </a:solidFill>
                </a:ln>
                <a:solidFill>
                  <a:srgbClr val="00B0F0"/>
                </a:solidFill>
              </a:rPr>
              <a:t> 	IF </a:t>
            </a:r>
            <a:r>
              <a:rPr lang="en-US" sz="1400" dirty="0" err="1">
                <a:ln>
                  <a:solidFill>
                    <a:srgbClr val="00B0F0"/>
                  </a:solidFill>
                </a:ln>
                <a:solidFill>
                  <a:srgbClr val="00B0F0"/>
                </a:solidFill>
              </a:rPr>
              <a:t>v_operation</a:t>
            </a:r>
            <a:r>
              <a:rPr lang="en-US" sz="1400" dirty="0">
                <a:ln>
                  <a:solidFill>
                    <a:srgbClr val="00B0F0"/>
                  </a:solidFill>
                </a:ln>
                <a:solidFill>
                  <a:srgbClr val="00B0F0"/>
                </a:solidFill>
              </a:rPr>
              <a:t> = 1 THEN</a:t>
            </a:r>
          </a:p>
          <a:p>
            <a:pPr>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FOR SELECT *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LOOP</a:t>
            </a:r>
          </a:p>
          <a:p>
            <a:pPr>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INTO </a:t>
            </a:r>
            <a:r>
              <a:rPr lang="en-US" sz="1400" dirty="0" err="1">
                <a:ln>
                  <a:solidFill>
                    <a:srgbClr val="00B0F0"/>
                  </a:solidFill>
                </a:ln>
                <a:solidFill>
                  <a:srgbClr val="00B0F0"/>
                </a:solidFill>
              </a:rPr>
              <a:t>v_emp_rec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v_weak_cursor%NOTFOUND</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DBMS_OUTPUT.PUT_LINE('</a:t>
            </a:r>
            <a:r>
              <a:rPr lang="en-US" sz="1400" dirty="0" err="1">
                <a:ln>
                  <a:solidFill>
                    <a:srgbClr val="00B0F0"/>
                  </a:solidFill>
                </a:ln>
                <a:solidFill>
                  <a:srgbClr val="00B0F0"/>
                </a:solidFill>
              </a:rPr>
              <a:t>Ename</a:t>
            </a:r>
            <a:r>
              <a:rPr lang="en-US" sz="1400" dirty="0">
                <a:ln>
                  <a:solidFill>
                    <a:srgbClr val="00B0F0"/>
                  </a:solidFill>
                </a:ln>
                <a:solidFill>
                  <a:srgbClr val="00B0F0"/>
                </a:solidFill>
              </a:rPr>
              <a:t> :'||</a:t>
            </a:r>
            <a:r>
              <a:rPr lang="en-US" sz="1400" dirty="0" err="1">
                <a:ln>
                  <a:solidFill>
                    <a:srgbClr val="00B0F0"/>
                  </a:solidFill>
                </a:ln>
                <a:solidFill>
                  <a:srgbClr val="00B0F0"/>
                </a:solidFill>
              </a:rPr>
              <a:t>v_emp_rec.ename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END LOOP;</a:t>
            </a:r>
          </a:p>
          <a:p>
            <a:pPr>
              <a:buNone/>
            </a:pPr>
            <a:r>
              <a:rPr lang="en-US" sz="1400" dirty="0">
                <a:ln>
                  <a:solidFill>
                    <a:srgbClr val="00B0F0"/>
                  </a:solidFill>
                </a:ln>
                <a:solidFill>
                  <a:srgbClr val="00B0F0"/>
                </a:solidFill>
              </a:rPr>
              <a:t>   		CLOSE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ELSE</a:t>
            </a:r>
          </a:p>
          <a:p>
            <a:pPr>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FOR SELECT * FROM dept;</a:t>
            </a:r>
          </a:p>
          <a:p>
            <a:pPr>
              <a:buNone/>
            </a:pPr>
            <a:r>
              <a:rPr lang="en-US" sz="1400" dirty="0">
                <a:ln>
                  <a:solidFill>
                    <a:srgbClr val="00B0F0"/>
                  </a:solidFill>
                </a:ln>
                <a:solidFill>
                  <a:srgbClr val="00B0F0"/>
                </a:solidFill>
              </a:rPr>
              <a:t> 		LOOP</a:t>
            </a:r>
          </a:p>
          <a:p>
            <a:pPr>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INTO </a:t>
            </a:r>
            <a:r>
              <a:rPr lang="en-US" sz="1400" dirty="0" err="1">
                <a:ln>
                  <a:solidFill>
                    <a:srgbClr val="00B0F0"/>
                  </a:solidFill>
                </a:ln>
                <a:solidFill>
                  <a:srgbClr val="00B0F0"/>
                </a:solidFill>
              </a:rPr>
              <a:t>v_dept_rec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v_weak_cursor%NOTFOUND</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DBMS_OUTPUT.PUT_LINE('</a:t>
            </a:r>
            <a:r>
              <a:rPr lang="en-US" sz="1400" dirty="0" err="1">
                <a:ln>
                  <a:solidFill>
                    <a:srgbClr val="00B0F0"/>
                  </a:solidFill>
                </a:ln>
                <a:solidFill>
                  <a:srgbClr val="00B0F0"/>
                </a:solidFill>
              </a:rPr>
              <a:t>Deptname</a:t>
            </a:r>
            <a:r>
              <a:rPr lang="en-US" sz="1400" dirty="0">
                <a:ln>
                  <a:solidFill>
                    <a:srgbClr val="00B0F0"/>
                  </a:solidFill>
                </a:ln>
                <a:solidFill>
                  <a:srgbClr val="00B0F0"/>
                </a:solidFill>
              </a:rPr>
              <a:t> :'||</a:t>
            </a:r>
            <a:r>
              <a:rPr lang="en-US" sz="1400" dirty="0" err="1">
                <a:ln>
                  <a:solidFill>
                    <a:srgbClr val="00B0F0"/>
                  </a:solidFill>
                </a:ln>
                <a:solidFill>
                  <a:srgbClr val="00B0F0"/>
                </a:solidFill>
              </a:rPr>
              <a:t>v_dept_rec.dname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END LOOP;</a:t>
            </a:r>
          </a:p>
          <a:p>
            <a:pPr>
              <a:buNone/>
            </a:pPr>
            <a:r>
              <a:rPr lang="en-US" sz="1400" dirty="0">
                <a:ln>
                  <a:solidFill>
                    <a:srgbClr val="00B0F0"/>
                  </a:solidFill>
                </a:ln>
                <a:solidFill>
                  <a:srgbClr val="00B0F0"/>
                </a:solidFill>
              </a:rPr>
              <a:t> 		CLOSE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END IF;</a:t>
            </a:r>
          </a:p>
          <a:p>
            <a:pPr>
              <a:buNone/>
            </a:pPr>
            <a:r>
              <a:rPr lang="en-US" sz="1400" dirty="0">
                <a:ln>
                  <a:solidFill>
                    <a:srgbClr val="00B0F0"/>
                  </a:solidFill>
                </a:ln>
                <a:solidFill>
                  <a:srgbClr val="00B0F0"/>
                </a:solidFill>
              </a:rPr>
              <a:t>END;</a:t>
            </a:r>
          </a:p>
          <a:p>
            <a:pPr>
              <a:buNone/>
            </a:pPr>
            <a:r>
              <a:rPr lang="en-US" sz="1400" dirty="0">
                <a:ln>
                  <a:solidFill>
                    <a:srgbClr val="00B0F0"/>
                  </a:solidFill>
                </a:ln>
                <a:solidFill>
                  <a:srgbClr val="00B0F0"/>
                </a:solidFill>
              </a:rPr>
              <a:t>/</a:t>
            </a:r>
          </a:p>
          <a:p>
            <a:pPr>
              <a:buNone/>
            </a:pP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4.7:  WEAK REF Cursor Type</a:t>
            </a:r>
            <a:br>
              <a:rPr lang="en-US" sz="300" dirty="0">
                <a:latin typeface="Candara"/>
              </a:rPr>
            </a:br>
            <a:r>
              <a:rPr lang="en-US" sz="2400" dirty="0">
                <a:latin typeface="Candara"/>
              </a:rPr>
              <a:t> WEAK REF Cursor type : Example 1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r>
              <a:rPr lang="en-US" sz="1400" dirty="0"/>
              <a:t>Procedure which accepts a cursor variable as a parameter :</a:t>
            </a:r>
          </a:p>
          <a:p>
            <a:pPr>
              <a:buNone/>
            </a:pPr>
            <a:r>
              <a:rPr lang="en-US" sz="1400" dirty="0">
                <a:ln>
                  <a:solidFill>
                    <a:srgbClr val="00B0F0"/>
                  </a:solidFill>
                </a:ln>
                <a:solidFill>
                  <a:srgbClr val="00B0F0"/>
                </a:solidFill>
              </a:rPr>
              <a:t>create or replace procedure p1(x in </a:t>
            </a:r>
            <a:r>
              <a:rPr lang="en-US" sz="1400" dirty="0" err="1">
                <a:ln>
                  <a:solidFill>
                    <a:srgbClr val="00B0F0"/>
                  </a:solidFill>
                </a:ln>
                <a:solidFill>
                  <a:srgbClr val="00B0F0"/>
                </a:solidFill>
              </a:rPr>
              <a:t>sys_refcursor</a:t>
            </a:r>
            <a:r>
              <a:rPr lang="en-US" sz="1400" dirty="0">
                <a:ln>
                  <a:solidFill>
                    <a:srgbClr val="00B0F0"/>
                  </a:solidFill>
                </a:ln>
                <a:solidFill>
                  <a:srgbClr val="00B0F0"/>
                </a:solidFill>
              </a:rPr>
              <a:t>) is</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erec</a:t>
            </a:r>
            <a:r>
              <a:rPr lang="en-US" sz="1400" dirty="0">
                <a:ln>
                  <a:solidFill>
                    <a:srgbClr val="00B0F0"/>
                  </a:solidFill>
                </a:ln>
                <a:solidFill>
                  <a:srgbClr val="00B0F0"/>
                </a:solidFill>
              </a:rPr>
              <a:t> </a:t>
            </a:r>
            <a:r>
              <a:rPr lang="en-US" sz="1400" dirty="0" err="1">
                <a:ln>
                  <a:solidFill>
                    <a:srgbClr val="00B0F0"/>
                  </a:solidFill>
                </a:ln>
                <a:solidFill>
                  <a:srgbClr val="00B0F0"/>
                </a:solidFill>
              </a:rPr>
              <a:t>emp%rowtype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begin</a:t>
            </a:r>
          </a:p>
          <a:p>
            <a:pPr>
              <a:buNone/>
            </a:pPr>
            <a:r>
              <a:rPr lang="en-US" sz="1400" dirty="0">
                <a:ln>
                  <a:solidFill>
                    <a:srgbClr val="00B0F0"/>
                  </a:solidFill>
                </a:ln>
                <a:solidFill>
                  <a:srgbClr val="00B0F0"/>
                </a:solidFill>
              </a:rPr>
              <a:t>   	loop</a:t>
            </a:r>
          </a:p>
          <a:p>
            <a:pPr>
              <a:buNone/>
            </a:pPr>
            <a:r>
              <a:rPr lang="en-US" sz="1400" dirty="0">
                <a:ln>
                  <a:solidFill>
                    <a:srgbClr val="00B0F0"/>
                  </a:solidFill>
                </a:ln>
                <a:solidFill>
                  <a:srgbClr val="00B0F0"/>
                </a:solidFill>
              </a:rPr>
              <a:t>           		fetch x into </a:t>
            </a:r>
            <a:r>
              <a:rPr lang="en-US" sz="1400" dirty="0" err="1">
                <a:ln>
                  <a:solidFill>
                    <a:srgbClr val="00B0F0"/>
                  </a:solidFill>
                </a:ln>
                <a:solidFill>
                  <a:srgbClr val="00B0F0"/>
                </a:solidFill>
              </a:rPr>
              <a:t>erec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x%notfound</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erec.empno</a:t>
            </a:r>
            <a:r>
              <a:rPr lang="en-US" sz="1400" dirty="0">
                <a:ln>
                  <a:solidFill>
                    <a:srgbClr val="00B0F0"/>
                  </a:solidFill>
                </a:ln>
                <a:solidFill>
                  <a:srgbClr val="00B0F0"/>
                </a:solidFill>
              </a:rPr>
              <a:t>||</a:t>
            </a:r>
            <a:r>
              <a:rPr lang="en-US" sz="1400" dirty="0" err="1">
                <a:ln>
                  <a:solidFill>
                    <a:srgbClr val="00B0F0"/>
                  </a:solidFill>
                </a:ln>
                <a:solidFill>
                  <a:srgbClr val="00B0F0"/>
                </a:solidFill>
              </a:rPr>
              <a:t>erec.ename</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end loop;</a:t>
            </a:r>
          </a:p>
          <a:p>
            <a:pPr>
              <a:buNone/>
            </a:pPr>
            <a:r>
              <a:rPr lang="en-US" sz="1400" dirty="0">
                <a:ln>
                  <a:solidFill>
                    <a:srgbClr val="00B0F0"/>
                  </a:solidFill>
                </a:ln>
                <a:solidFill>
                  <a:srgbClr val="00B0F0"/>
                </a:solidFill>
              </a:rPr>
              <a:t>end;</a:t>
            </a:r>
          </a:p>
          <a:p>
            <a:pPr>
              <a:buNone/>
            </a:pPr>
            <a:r>
              <a:rPr lang="en-US" sz="1400" dirty="0">
                <a:ln>
                  <a:solidFill>
                    <a:srgbClr val="00B0F0"/>
                  </a:solidFill>
                </a:ln>
                <a:solidFill>
                  <a:srgbClr val="00B0F0"/>
                </a:solidFill>
              </a:rPr>
              <a:t>/</a:t>
            </a:r>
          </a:p>
          <a:p>
            <a:pPr>
              <a:buNone/>
            </a:pP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4.8: Cursor Variables as Parameters </a:t>
            </a:r>
            <a:br>
              <a:rPr lang="en-US" sz="1400" b="1" dirty="0">
                <a:latin typeface="Candara"/>
              </a:rPr>
            </a:br>
            <a:r>
              <a:rPr lang="en-US" dirty="0">
                <a:latin typeface="Candara"/>
              </a:rPr>
              <a:t>Cursor variables can be passed a parameters</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buNone/>
            </a:pPr>
            <a:r>
              <a:rPr lang="en-US" sz="1400" dirty="0"/>
              <a:t>Anonymous block calling the Procedure which accepts a cursor variable as a parameter :</a:t>
            </a:r>
          </a:p>
          <a:p>
            <a:pPr>
              <a:buNone/>
            </a:pP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declare</a:t>
            </a:r>
          </a:p>
          <a:p>
            <a:pPr>
              <a:buNone/>
            </a:pPr>
            <a:r>
              <a:rPr lang="en-US" sz="1400" dirty="0">
                <a:ln>
                  <a:solidFill>
                    <a:srgbClr val="00B0F0"/>
                  </a:solidFill>
                </a:ln>
                <a:solidFill>
                  <a:srgbClr val="00B0F0"/>
                </a:solidFill>
              </a:rPr>
              <a:t> 		xx </a:t>
            </a:r>
            <a:r>
              <a:rPr lang="en-US" sz="1400" dirty="0" err="1">
                <a:ln>
                  <a:solidFill>
                    <a:srgbClr val="00B0F0"/>
                  </a:solidFill>
                </a:ln>
                <a:solidFill>
                  <a:srgbClr val="00B0F0"/>
                </a:solidFill>
              </a:rPr>
              <a:t>sys_refcursor</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begin</a:t>
            </a:r>
          </a:p>
          <a:p>
            <a:pPr>
              <a:buNone/>
            </a:pPr>
            <a:r>
              <a:rPr lang="en-US" sz="1400" dirty="0">
                <a:ln>
                  <a:solidFill>
                    <a:srgbClr val="00B0F0"/>
                  </a:solidFill>
                </a:ln>
                <a:solidFill>
                  <a:srgbClr val="00B0F0"/>
                </a:solidFill>
              </a:rPr>
              <a:t> 		open xx for select *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p1(xx);</a:t>
            </a:r>
          </a:p>
          <a:p>
            <a:pPr>
              <a:buNone/>
            </a:pPr>
            <a:r>
              <a:rPr lang="en-US" sz="1400" dirty="0">
                <a:ln>
                  <a:solidFill>
                    <a:srgbClr val="00B0F0"/>
                  </a:solidFill>
                </a:ln>
                <a:solidFill>
                  <a:srgbClr val="00B0F0"/>
                </a:solidFill>
              </a:rPr>
              <a:t>end;</a:t>
            </a:r>
          </a:p>
          <a:p>
            <a:pPr>
              <a:buNone/>
            </a:pPr>
            <a:r>
              <a:rPr lang="en-US" sz="1400" dirty="0">
                <a:ln>
                  <a:solidFill>
                    <a:srgbClr val="00B0F0"/>
                  </a:solidFill>
                </a:ln>
                <a:solidFill>
                  <a:srgbClr val="00B0F0"/>
                </a:solidFill>
              </a:rPr>
              <a:t>/</a:t>
            </a:r>
          </a:p>
          <a:p>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465138" y="-1"/>
            <a:ext cx="8153400" cy="721895"/>
          </a:xfrm>
          <a:noFill/>
        </p:spPr>
        <p:txBody>
          <a:bodyPr>
            <a:normAutofit fontScale="90000"/>
          </a:bodyPr>
          <a:lstStyle/>
          <a:p>
            <a:r>
              <a:rPr lang="en-US" sz="1400" b="1" dirty="0">
                <a:latin typeface="Candara"/>
              </a:rPr>
              <a:t>4.8: Cursor Variables as Parameters </a:t>
            </a:r>
            <a:br>
              <a:rPr lang="en-US" sz="1400" b="1" dirty="0">
                <a:latin typeface="Candara"/>
              </a:rPr>
            </a:br>
            <a:r>
              <a:rPr lang="en-US" dirty="0">
                <a:latin typeface="Candara"/>
              </a:rPr>
              <a:t>Cursor variables can be passed a parameters	……</a:t>
            </a:r>
            <a:r>
              <a:rPr lang="en-US" dirty="0" err="1">
                <a:latin typeface="Candara"/>
              </a:rPr>
              <a:t>contd</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3922295"/>
          </a:xfrm>
        </p:spPr>
        <p:txBody>
          <a:bodyPr>
            <a:normAutofit fontScale="92500" lnSpcReduction="10000"/>
          </a:bodyPr>
          <a:lstStyle/>
          <a:p>
            <a:pPr algn="just">
              <a:buNone/>
            </a:pPr>
            <a:endParaRPr lang="en-US" sz="1400" dirty="0"/>
          </a:p>
          <a:p>
            <a:pPr algn="just">
              <a:buNone/>
            </a:pPr>
            <a:r>
              <a:rPr lang="en-US" sz="1400" dirty="0"/>
              <a:t>Anonymous blocks to compare cursor variables :</a:t>
            </a:r>
          </a:p>
          <a:p>
            <a:pPr>
              <a:buNone/>
            </a:pPr>
            <a:r>
              <a:rPr lang="en-US" sz="1400" dirty="0">
                <a:ln>
                  <a:solidFill>
                    <a:srgbClr val="00B0F0"/>
                  </a:solidFill>
                </a:ln>
                <a:solidFill>
                  <a:srgbClr val="00B0F0"/>
                </a:solidFill>
              </a:rPr>
              <a:t>declare</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a:t>
            </a:r>
            <a:r>
              <a:rPr lang="en-US" sz="1400" dirty="0" err="1">
                <a:ln>
                  <a:solidFill>
                    <a:srgbClr val="00B0F0"/>
                  </a:solidFill>
                </a:ln>
                <a:solidFill>
                  <a:srgbClr val="00B0F0"/>
                </a:solidFill>
              </a:rPr>
              <a:t>sys_refcursor</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v_weak_cursor1 </a:t>
            </a:r>
            <a:r>
              <a:rPr lang="en-US" sz="1400" dirty="0" err="1">
                <a:ln>
                  <a:solidFill>
                    <a:srgbClr val="00B0F0"/>
                  </a:solidFill>
                </a:ln>
                <a:solidFill>
                  <a:srgbClr val="00B0F0"/>
                </a:solidFill>
              </a:rPr>
              <a:t>sys_refcursor</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begin</a:t>
            </a:r>
          </a:p>
          <a:p>
            <a:pPr>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 FOR SELECT *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OPEN v_weak_cursor1 FOR SELECT *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if </a:t>
            </a:r>
            <a:r>
              <a:rPr lang="en-US" sz="1400" dirty="0" err="1">
                <a:ln>
                  <a:solidFill>
                    <a:srgbClr val="00B0F0"/>
                  </a:solidFill>
                </a:ln>
                <a:solidFill>
                  <a:srgbClr val="00B0F0"/>
                </a:solidFill>
              </a:rPr>
              <a:t>v_weak_cursor</a:t>
            </a:r>
            <a:r>
              <a:rPr lang="en-US" sz="1400" dirty="0">
                <a:ln>
                  <a:solidFill>
                    <a:srgbClr val="00B0F0"/>
                  </a:solidFill>
                </a:ln>
                <a:solidFill>
                  <a:srgbClr val="00B0F0"/>
                </a:solidFill>
              </a:rPr>
              <a:t>=v_weak_cursor1 then</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('are same');</a:t>
            </a:r>
          </a:p>
          <a:p>
            <a:pPr>
              <a:buNone/>
            </a:pPr>
            <a:r>
              <a:rPr lang="en-US" sz="1400" dirty="0">
                <a:ln>
                  <a:solidFill>
                    <a:srgbClr val="00B0F0"/>
                  </a:solidFill>
                </a:ln>
                <a:solidFill>
                  <a:srgbClr val="00B0F0"/>
                </a:solidFill>
              </a:rPr>
              <a:t>   		end if;</a:t>
            </a:r>
          </a:p>
          <a:p>
            <a:pPr>
              <a:buNone/>
            </a:pPr>
            <a:r>
              <a:rPr lang="en-US" sz="1400" dirty="0">
                <a:ln>
                  <a:solidFill>
                    <a:srgbClr val="00B0F0"/>
                  </a:solidFill>
                </a:ln>
                <a:solidFill>
                  <a:srgbClr val="00B0F0"/>
                </a:solidFill>
              </a:rPr>
              <a:t>end;</a:t>
            </a:r>
          </a:p>
          <a:p>
            <a:pPr>
              <a:buNone/>
            </a:pP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ERROR at line 7:</a:t>
            </a:r>
          </a:p>
          <a:p>
            <a:pPr>
              <a:buNone/>
            </a:pPr>
            <a:r>
              <a:rPr lang="en-US" sz="1400" dirty="0">
                <a:ln>
                  <a:solidFill>
                    <a:srgbClr val="00B0F0"/>
                  </a:solidFill>
                </a:ln>
                <a:solidFill>
                  <a:srgbClr val="00B0F0"/>
                </a:solidFill>
              </a:rPr>
              <a:t>ORA-06550: line 7, column 22:</a:t>
            </a:r>
          </a:p>
          <a:p>
            <a:pPr>
              <a:buNone/>
            </a:pPr>
            <a:r>
              <a:rPr lang="en-US" sz="1400" dirty="0">
                <a:ln>
                  <a:solidFill>
                    <a:srgbClr val="00B0F0"/>
                  </a:solidFill>
                </a:ln>
                <a:solidFill>
                  <a:srgbClr val="00B0F0"/>
                </a:solidFill>
              </a:rPr>
              <a:t>PLS-00306: wrong number or types of arguments in call to '='</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a:t>
            </a:r>
            <a:br>
              <a:rPr lang="en-US" sz="1400" b="1" dirty="0">
                <a:latin typeface="Candara"/>
              </a:rPr>
            </a:br>
            <a:r>
              <a:rPr lang="en-US" dirty="0">
                <a:latin typeface="Candara"/>
              </a:rPr>
              <a:t>Cursor variables cannot be compared like other scalar variables</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3922295"/>
          </a:xfrm>
        </p:spPr>
        <p:txBody>
          <a:bodyPr>
            <a:normAutofit fontScale="77500" lnSpcReduction="20000"/>
          </a:bodyPr>
          <a:lstStyle/>
          <a:p>
            <a:pPr algn="just">
              <a:buNone/>
            </a:pPr>
            <a:endParaRPr lang="en-US" sz="1400" dirty="0"/>
          </a:p>
          <a:p>
            <a:pPr algn="just">
              <a:buNone/>
            </a:pPr>
            <a:r>
              <a:rPr lang="en-US" sz="1400" dirty="0"/>
              <a:t>Cursor variables can be compared for NULL values :</a:t>
            </a:r>
          </a:p>
          <a:p>
            <a:pPr>
              <a:lnSpc>
                <a:spcPct val="80000"/>
              </a:lnSpc>
              <a:buNone/>
            </a:pPr>
            <a:r>
              <a:rPr lang="en-US" sz="1500" dirty="0">
                <a:ln>
                  <a:solidFill>
                    <a:srgbClr val="00B0F0"/>
                  </a:solidFill>
                </a:ln>
                <a:solidFill>
                  <a:srgbClr val="00B0F0"/>
                </a:solidFill>
              </a:rPr>
              <a:t>declare</a:t>
            </a: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v_weak_cursor</a:t>
            </a:r>
            <a:r>
              <a:rPr lang="en-US" sz="1500" dirty="0">
                <a:ln>
                  <a:solidFill>
                    <a:srgbClr val="00B0F0"/>
                  </a:solidFill>
                </a:ln>
                <a:solidFill>
                  <a:srgbClr val="00B0F0"/>
                </a:solidFill>
              </a:rPr>
              <a:t> </a:t>
            </a:r>
            <a:r>
              <a:rPr lang="en-US" sz="1500" dirty="0" err="1">
                <a:ln>
                  <a:solidFill>
                    <a:srgbClr val="00B0F0"/>
                  </a:solidFill>
                </a:ln>
                <a:solidFill>
                  <a:srgbClr val="00B0F0"/>
                </a:solidFill>
              </a:rPr>
              <a:t>sys_refcursor</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 		v_weak_cursor1 </a:t>
            </a:r>
            <a:r>
              <a:rPr lang="en-US" sz="1500" dirty="0" err="1">
                <a:ln>
                  <a:solidFill>
                    <a:srgbClr val="00B0F0"/>
                  </a:solidFill>
                </a:ln>
                <a:solidFill>
                  <a:srgbClr val="00B0F0"/>
                </a:solidFill>
              </a:rPr>
              <a:t>sys_refcursor</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begin</a:t>
            </a:r>
          </a:p>
          <a:p>
            <a:pPr>
              <a:lnSpc>
                <a:spcPct val="80000"/>
              </a:lnSpc>
              <a:buNone/>
            </a:pPr>
            <a:r>
              <a:rPr lang="en-US" sz="1500" dirty="0">
                <a:ln>
                  <a:solidFill>
                    <a:srgbClr val="00B0F0"/>
                  </a:solidFill>
                </a:ln>
                <a:solidFill>
                  <a:srgbClr val="00B0F0"/>
                </a:solidFill>
              </a:rPr>
              <a:t>  		OPEN </a:t>
            </a:r>
            <a:r>
              <a:rPr lang="en-US" sz="1500" dirty="0" err="1">
                <a:ln>
                  <a:solidFill>
                    <a:srgbClr val="00B0F0"/>
                  </a:solidFill>
                </a:ln>
                <a:solidFill>
                  <a:srgbClr val="00B0F0"/>
                </a:solidFill>
              </a:rPr>
              <a:t>v_weak_cursor</a:t>
            </a:r>
            <a:r>
              <a:rPr lang="en-US" sz="1500" dirty="0">
                <a:ln>
                  <a:solidFill>
                    <a:srgbClr val="00B0F0"/>
                  </a:solidFill>
                </a:ln>
                <a:solidFill>
                  <a:srgbClr val="00B0F0"/>
                </a:solidFill>
              </a:rPr>
              <a:t> FOR SELECT * FROM </a:t>
            </a:r>
            <a:r>
              <a:rPr lang="en-US" sz="1500" dirty="0" err="1">
                <a:ln>
                  <a:solidFill>
                    <a:srgbClr val="00B0F0"/>
                  </a:solidFill>
                </a:ln>
                <a:solidFill>
                  <a:srgbClr val="00B0F0"/>
                </a:solidFill>
              </a:rPr>
              <a:t>emp</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  		if </a:t>
            </a:r>
            <a:r>
              <a:rPr lang="en-US" sz="1500" dirty="0" err="1">
                <a:ln>
                  <a:solidFill>
                    <a:srgbClr val="00B0F0"/>
                  </a:solidFill>
                </a:ln>
                <a:solidFill>
                  <a:srgbClr val="00B0F0"/>
                </a:solidFill>
              </a:rPr>
              <a:t>v_weak_cursor</a:t>
            </a:r>
            <a:r>
              <a:rPr lang="en-US" sz="1500" dirty="0">
                <a:ln>
                  <a:solidFill>
                    <a:srgbClr val="00B0F0"/>
                  </a:solidFill>
                </a:ln>
                <a:solidFill>
                  <a:srgbClr val="00B0F0"/>
                </a:solidFill>
              </a:rPr>
              <a:t> is null then</a:t>
            </a: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('is null');</a:t>
            </a:r>
          </a:p>
          <a:p>
            <a:pPr>
              <a:lnSpc>
                <a:spcPct val="80000"/>
              </a:lnSpc>
              <a:buNone/>
            </a:pPr>
            <a:r>
              <a:rPr lang="en-US" sz="1500" dirty="0">
                <a:ln>
                  <a:solidFill>
                    <a:srgbClr val="00B0F0"/>
                  </a:solidFill>
                </a:ln>
                <a:solidFill>
                  <a:srgbClr val="00B0F0"/>
                </a:solidFill>
              </a:rPr>
              <a:t>  		end if;</a:t>
            </a:r>
          </a:p>
          <a:p>
            <a:pPr>
              <a:lnSpc>
                <a:spcPct val="80000"/>
              </a:lnSpc>
              <a:buNone/>
            </a:pPr>
            <a:r>
              <a:rPr lang="en-US" sz="1500" dirty="0">
                <a:ln>
                  <a:solidFill>
                    <a:srgbClr val="00B0F0"/>
                  </a:solidFill>
                </a:ln>
                <a:solidFill>
                  <a:srgbClr val="00B0F0"/>
                </a:solidFill>
              </a:rPr>
              <a:t>  		if </a:t>
            </a:r>
            <a:r>
              <a:rPr lang="en-US" sz="1500" dirty="0" err="1">
                <a:ln>
                  <a:solidFill>
                    <a:srgbClr val="00B0F0"/>
                  </a:solidFill>
                </a:ln>
                <a:solidFill>
                  <a:srgbClr val="00B0F0"/>
                </a:solidFill>
              </a:rPr>
              <a:t>v_weak_cursor</a:t>
            </a:r>
            <a:r>
              <a:rPr lang="en-US" sz="1500" dirty="0">
                <a:ln>
                  <a:solidFill>
                    <a:srgbClr val="00B0F0"/>
                  </a:solidFill>
                </a:ln>
                <a:solidFill>
                  <a:srgbClr val="00B0F0"/>
                </a:solidFill>
              </a:rPr>
              <a:t> is not null then</a:t>
            </a: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('is not null');</a:t>
            </a:r>
          </a:p>
          <a:p>
            <a:pPr>
              <a:lnSpc>
                <a:spcPct val="80000"/>
              </a:lnSpc>
              <a:buNone/>
            </a:pPr>
            <a:r>
              <a:rPr lang="en-US" sz="1500" dirty="0">
                <a:ln>
                  <a:solidFill>
                    <a:srgbClr val="00B0F0"/>
                  </a:solidFill>
                </a:ln>
                <a:solidFill>
                  <a:srgbClr val="00B0F0"/>
                </a:solidFill>
              </a:rPr>
              <a:t>  		end if;</a:t>
            </a:r>
          </a:p>
          <a:p>
            <a:pPr>
              <a:lnSpc>
                <a:spcPct val="80000"/>
              </a:lnSpc>
              <a:buNone/>
            </a:pPr>
            <a:r>
              <a:rPr lang="en-US" sz="1500" dirty="0">
                <a:ln>
                  <a:solidFill>
                    <a:srgbClr val="00B0F0"/>
                  </a:solidFill>
                </a:ln>
                <a:solidFill>
                  <a:srgbClr val="00B0F0"/>
                </a:solidFill>
              </a:rPr>
              <a:t>  	</a:t>
            </a:r>
          </a:p>
          <a:p>
            <a:pPr>
              <a:lnSpc>
                <a:spcPct val="80000"/>
              </a:lnSpc>
              <a:buNone/>
            </a:pPr>
            <a:r>
              <a:rPr lang="en-US" sz="1500" dirty="0">
                <a:ln>
                  <a:solidFill>
                    <a:srgbClr val="00B0F0"/>
                  </a:solidFill>
                </a:ln>
                <a:solidFill>
                  <a:srgbClr val="00B0F0"/>
                </a:solidFill>
              </a:rPr>
              <a:t>		if v_weak_cursor1 is null then</a:t>
            </a: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('is null');</a:t>
            </a:r>
          </a:p>
          <a:p>
            <a:pPr>
              <a:lnSpc>
                <a:spcPct val="80000"/>
              </a:lnSpc>
              <a:buNone/>
            </a:pPr>
            <a:r>
              <a:rPr lang="en-US" sz="1500" dirty="0">
                <a:ln>
                  <a:solidFill>
                    <a:srgbClr val="00B0F0"/>
                  </a:solidFill>
                </a:ln>
                <a:solidFill>
                  <a:srgbClr val="00B0F0"/>
                </a:solidFill>
              </a:rPr>
              <a:t>  		end if;</a:t>
            </a:r>
          </a:p>
          <a:p>
            <a:pPr>
              <a:lnSpc>
                <a:spcPct val="80000"/>
              </a:lnSpc>
              <a:buNone/>
            </a:pPr>
            <a:r>
              <a:rPr lang="en-US" sz="1500" dirty="0">
                <a:ln>
                  <a:solidFill>
                    <a:srgbClr val="00B0F0"/>
                  </a:solidFill>
                </a:ln>
                <a:solidFill>
                  <a:srgbClr val="00B0F0"/>
                </a:solidFill>
              </a:rPr>
              <a:t>  		if v_weak_cursor1 is not null then</a:t>
            </a: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('is not null');</a:t>
            </a:r>
          </a:p>
          <a:p>
            <a:pPr>
              <a:lnSpc>
                <a:spcPct val="80000"/>
              </a:lnSpc>
              <a:buNone/>
            </a:pPr>
            <a:r>
              <a:rPr lang="en-US" sz="1500" dirty="0">
                <a:ln>
                  <a:solidFill>
                    <a:srgbClr val="00B0F0"/>
                  </a:solidFill>
                </a:ln>
                <a:solidFill>
                  <a:srgbClr val="00B0F0"/>
                </a:solidFill>
              </a:rPr>
              <a:t>  		end if;</a:t>
            </a:r>
          </a:p>
          <a:p>
            <a:pPr>
              <a:lnSpc>
                <a:spcPct val="80000"/>
              </a:lnSpc>
              <a:buNone/>
            </a:pPr>
            <a:r>
              <a:rPr lang="en-US" sz="1500" dirty="0">
                <a:ln>
                  <a:solidFill>
                    <a:srgbClr val="00B0F0"/>
                  </a:solidFill>
                </a:ln>
                <a:solidFill>
                  <a:srgbClr val="00B0F0"/>
                </a:solidFill>
              </a:rPr>
              <a:t> end;</a:t>
            </a:r>
          </a:p>
          <a:p>
            <a:pPr>
              <a:lnSpc>
                <a:spcPct val="80000"/>
              </a:lnSpc>
              <a:buNone/>
            </a:pPr>
            <a:r>
              <a:rPr lang="en-US" sz="1500" dirty="0">
                <a:ln>
                  <a:solidFill>
                    <a:srgbClr val="00B0F0"/>
                  </a:solidFill>
                </a:ln>
                <a:solidFill>
                  <a:srgbClr val="00B0F0"/>
                </a:solidFill>
              </a:rPr>
              <a:t> /</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……contd.</a:t>
            </a:r>
            <a:br>
              <a:rPr lang="en-US" sz="1400" b="1" dirty="0">
                <a:latin typeface="Candara"/>
              </a:rPr>
            </a:br>
            <a:r>
              <a:rPr lang="en-US" dirty="0">
                <a:latin typeface="Candara"/>
              </a:rPr>
              <a:t>Cursor variables cannot be compared like other scalar variables</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lnSpcReduction="10000"/>
          </a:bodyPr>
          <a:lstStyle/>
          <a:p>
            <a:pPr algn="just">
              <a:buNone/>
            </a:pPr>
            <a:endParaRPr lang="en-US" sz="1400" dirty="0"/>
          </a:p>
          <a:p>
            <a:pPr algn="just">
              <a:buNone/>
            </a:pPr>
            <a:r>
              <a:rPr lang="en-US" sz="1400" dirty="0"/>
              <a:t>Unlike Static Cursors, Cursor variables are not compatible  with CURSOR FOR LOOP :</a:t>
            </a:r>
          </a:p>
          <a:p>
            <a:pPr>
              <a:lnSpc>
                <a:spcPct val="80000"/>
              </a:lnSpc>
              <a:buNone/>
            </a:pPr>
            <a:r>
              <a:rPr lang="en-US" sz="1500" dirty="0">
                <a:ln>
                  <a:solidFill>
                    <a:srgbClr val="00B0F0"/>
                  </a:solidFill>
                </a:ln>
                <a:solidFill>
                  <a:srgbClr val="00B0F0"/>
                </a:solidFill>
                <a:latin typeface="Courier" pitchFamily="49" charset="0"/>
              </a:rPr>
              <a:t>declare</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sys_refcursor</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emprec</a:t>
            </a: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emp%rowtype</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BEGIN</a:t>
            </a:r>
          </a:p>
          <a:p>
            <a:pPr>
              <a:lnSpc>
                <a:spcPct val="80000"/>
              </a:lnSpc>
              <a:buNone/>
            </a:pPr>
            <a:r>
              <a:rPr lang="en-US" sz="1500" dirty="0">
                <a:ln>
                  <a:solidFill>
                    <a:srgbClr val="00B0F0"/>
                  </a:solidFill>
                </a:ln>
                <a:solidFill>
                  <a:srgbClr val="00B0F0"/>
                </a:solidFill>
                <a:latin typeface="Courier" pitchFamily="49" charset="0"/>
              </a:rPr>
              <a:t>  	OPEN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FOR SELECT * FROM </a:t>
            </a:r>
            <a:r>
              <a:rPr lang="en-US" sz="1500" dirty="0" err="1">
                <a:ln>
                  <a:solidFill>
                    <a:srgbClr val="00B0F0"/>
                  </a:solidFill>
                </a:ln>
                <a:solidFill>
                  <a:srgbClr val="00B0F0"/>
                </a:solidFill>
                <a:latin typeface="Courier" pitchFamily="49" charset="0"/>
              </a:rPr>
              <a:t>emp</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  	if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is null then</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dbms_output.put_line</a:t>
            </a:r>
            <a:r>
              <a:rPr lang="en-US" sz="1500" dirty="0">
                <a:ln>
                  <a:solidFill>
                    <a:srgbClr val="00B0F0"/>
                  </a:solidFill>
                </a:ln>
                <a:solidFill>
                  <a:srgbClr val="00B0F0"/>
                </a:solidFill>
                <a:latin typeface="Courier" pitchFamily="49" charset="0"/>
              </a:rPr>
              <a:t>('is null');</a:t>
            </a:r>
          </a:p>
          <a:p>
            <a:pPr>
              <a:lnSpc>
                <a:spcPct val="80000"/>
              </a:lnSpc>
              <a:buNone/>
            </a:pPr>
            <a:r>
              <a:rPr lang="en-US" sz="1500" dirty="0">
                <a:ln>
                  <a:solidFill>
                    <a:srgbClr val="00B0F0"/>
                  </a:solidFill>
                </a:ln>
                <a:solidFill>
                  <a:srgbClr val="00B0F0"/>
                </a:solidFill>
                <a:latin typeface="Courier" pitchFamily="49" charset="0"/>
              </a:rPr>
              <a:t>  	end if;</a:t>
            </a:r>
          </a:p>
          <a:p>
            <a:pPr>
              <a:lnSpc>
                <a:spcPct val="80000"/>
              </a:lnSpc>
              <a:buNone/>
            </a:pPr>
            <a:r>
              <a:rPr lang="en-US" sz="1500" dirty="0">
                <a:ln>
                  <a:solidFill>
                    <a:srgbClr val="00B0F0"/>
                  </a:solidFill>
                </a:ln>
                <a:solidFill>
                  <a:srgbClr val="00B0F0"/>
                </a:solidFill>
                <a:latin typeface="Courier" pitchFamily="49" charset="0"/>
              </a:rPr>
              <a:t>  	if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is not null then</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dbms_output.put_line</a:t>
            </a:r>
            <a:r>
              <a:rPr lang="en-US" sz="1500" dirty="0">
                <a:ln>
                  <a:solidFill>
                    <a:srgbClr val="00B0F0"/>
                  </a:solidFill>
                </a:ln>
                <a:solidFill>
                  <a:srgbClr val="00B0F0"/>
                </a:solidFill>
                <a:latin typeface="Courier" pitchFamily="49" charset="0"/>
              </a:rPr>
              <a:t>('is not null');</a:t>
            </a:r>
          </a:p>
          <a:p>
            <a:pPr>
              <a:lnSpc>
                <a:spcPct val="80000"/>
              </a:lnSpc>
              <a:buNone/>
            </a:pPr>
            <a:r>
              <a:rPr lang="en-US" sz="1500" dirty="0">
                <a:ln>
                  <a:solidFill>
                    <a:srgbClr val="00B0F0"/>
                  </a:solidFill>
                </a:ln>
                <a:solidFill>
                  <a:srgbClr val="00B0F0"/>
                </a:solidFill>
                <a:latin typeface="Courier" pitchFamily="49" charset="0"/>
              </a:rPr>
              <a:t>  	end if;</a:t>
            </a:r>
          </a:p>
          <a:p>
            <a:pPr>
              <a:lnSpc>
                <a:spcPct val="80000"/>
              </a:lnSpc>
              <a:buNone/>
            </a:pPr>
            <a:r>
              <a:rPr lang="en-US" sz="1500" dirty="0">
                <a:ln>
                  <a:solidFill>
                    <a:srgbClr val="00B0F0"/>
                  </a:solidFill>
                </a:ln>
                <a:solidFill>
                  <a:srgbClr val="00B0F0"/>
                </a:solidFill>
                <a:latin typeface="Courier" pitchFamily="49" charset="0"/>
              </a:rPr>
              <a:t>  	--for </a:t>
            </a:r>
            <a:r>
              <a:rPr lang="en-US" sz="1500" dirty="0" err="1">
                <a:ln>
                  <a:solidFill>
                    <a:srgbClr val="00B0F0"/>
                  </a:solidFill>
                </a:ln>
                <a:solidFill>
                  <a:srgbClr val="00B0F0"/>
                </a:solidFill>
                <a:latin typeface="Courier" pitchFamily="49" charset="0"/>
              </a:rPr>
              <a:t>erec</a:t>
            </a:r>
            <a:r>
              <a:rPr lang="en-US" sz="1500" dirty="0">
                <a:ln>
                  <a:solidFill>
                    <a:srgbClr val="00B0F0"/>
                  </a:solidFill>
                </a:ln>
                <a:solidFill>
                  <a:srgbClr val="00B0F0"/>
                </a:solidFill>
                <a:latin typeface="Courier" pitchFamily="49" charset="0"/>
              </a:rPr>
              <a:t> in </a:t>
            </a:r>
            <a:r>
              <a:rPr lang="en-US" sz="1500" dirty="0" err="1">
                <a:ln>
                  <a:solidFill>
                    <a:srgbClr val="00B0F0"/>
                  </a:solidFill>
                </a:ln>
                <a:solidFill>
                  <a:srgbClr val="00B0F0"/>
                </a:solidFill>
                <a:latin typeface="Courier" pitchFamily="49" charset="0"/>
              </a:rPr>
              <a:t>v_weak_cusror</a:t>
            </a:r>
            <a:r>
              <a:rPr lang="en-US" sz="1500" dirty="0">
                <a:ln>
                  <a:solidFill>
                    <a:srgbClr val="00B0F0"/>
                  </a:solidFill>
                </a:ln>
                <a:solidFill>
                  <a:srgbClr val="00B0F0"/>
                </a:solidFill>
                <a:latin typeface="Courier" pitchFamily="49" charset="0"/>
              </a:rPr>
              <a:t> loop</a:t>
            </a:r>
          </a:p>
          <a:p>
            <a:pPr>
              <a:lnSpc>
                <a:spcPct val="80000"/>
              </a:lnSpc>
              <a:buNone/>
            </a:pPr>
            <a:r>
              <a:rPr lang="en-US" sz="1500" dirty="0">
                <a:ln>
                  <a:solidFill>
                    <a:srgbClr val="00B0F0"/>
                  </a:solidFill>
                </a:ln>
                <a:solidFill>
                  <a:srgbClr val="00B0F0"/>
                </a:solidFill>
                <a:latin typeface="Courier" pitchFamily="49" charset="0"/>
              </a:rPr>
              <a:t>		-- </a:t>
            </a:r>
            <a:r>
              <a:rPr lang="en-US" sz="1500" dirty="0" err="1">
                <a:ln>
                  <a:solidFill>
                    <a:srgbClr val="00B0F0"/>
                  </a:solidFill>
                </a:ln>
                <a:solidFill>
                  <a:srgbClr val="00B0F0"/>
                </a:solidFill>
                <a:latin typeface="Courier" pitchFamily="49" charset="0"/>
              </a:rPr>
              <a:t>dbms_output.put_line</a:t>
            </a:r>
            <a:r>
              <a:rPr lang="en-US" sz="1500" dirty="0">
                <a:ln>
                  <a:solidFill>
                    <a:srgbClr val="00B0F0"/>
                  </a:solidFill>
                </a:ln>
                <a:solidFill>
                  <a:srgbClr val="00B0F0"/>
                </a:solidFill>
                <a:latin typeface="Courier" pitchFamily="49" charset="0"/>
              </a:rPr>
              <a:t>(</a:t>
            </a:r>
            <a:r>
              <a:rPr lang="en-US" sz="1500" dirty="0" err="1">
                <a:ln>
                  <a:solidFill>
                    <a:srgbClr val="00B0F0"/>
                  </a:solidFill>
                </a:ln>
                <a:solidFill>
                  <a:srgbClr val="00B0F0"/>
                </a:solidFill>
                <a:latin typeface="Courier" pitchFamily="49" charset="0"/>
              </a:rPr>
              <a:t>erec.ename</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		--end loop;</a:t>
            </a:r>
          </a:p>
          <a:p>
            <a:pPr>
              <a:lnSpc>
                <a:spcPct val="80000"/>
              </a:lnSpc>
              <a:buNone/>
            </a:pPr>
            <a:r>
              <a:rPr lang="en-US" sz="1500" dirty="0">
                <a:ln>
                  <a:solidFill>
                    <a:srgbClr val="00B0F0"/>
                  </a:solidFill>
                </a:ln>
                <a:solidFill>
                  <a:srgbClr val="00B0F0"/>
                </a:solidFill>
                <a:latin typeface="Courier" pitchFamily="49" charset="0"/>
              </a:rPr>
              <a:t>	</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……contd.</a:t>
            </a:r>
            <a:br>
              <a:rPr lang="en-US" sz="1400" b="1" dirty="0">
                <a:latin typeface="Candara"/>
              </a:rPr>
            </a:br>
            <a:r>
              <a:rPr lang="en-US" dirty="0">
                <a:latin typeface="Candara"/>
              </a:rPr>
              <a:t>CURSOR FOR LOOP cannot be used for cursor variables</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buNone/>
            </a:pPr>
            <a:endParaRPr lang="en-US" sz="1400" dirty="0"/>
          </a:p>
          <a:p>
            <a:pPr>
              <a:lnSpc>
                <a:spcPct val="80000"/>
              </a:lnSpc>
              <a:buNone/>
            </a:pPr>
            <a:r>
              <a:rPr lang="en-US" sz="1500" dirty="0">
                <a:ln>
                  <a:solidFill>
                    <a:srgbClr val="00B0F0"/>
                  </a:solidFill>
                </a:ln>
                <a:solidFill>
                  <a:srgbClr val="00B0F0"/>
                </a:solidFill>
                <a:latin typeface="Courier" pitchFamily="49" charset="0"/>
              </a:rPr>
              <a:t>	LOOP</a:t>
            </a:r>
          </a:p>
          <a:p>
            <a:pPr>
              <a:lnSpc>
                <a:spcPct val="80000"/>
              </a:lnSpc>
              <a:buNone/>
            </a:pPr>
            <a:r>
              <a:rPr lang="en-US" sz="1500" dirty="0">
                <a:ln>
                  <a:solidFill>
                    <a:srgbClr val="00B0F0"/>
                  </a:solidFill>
                </a:ln>
                <a:solidFill>
                  <a:srgbClr val="00B0F0"/>
                </a:solidFill>
                <a:latin typeface="Courier" pitchFamily="49" charset="0"/>
              </a:rPr>
              <a:t>     		FETCH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INTO </a:t>
            </a:r>
            <a:r>
              <a:rPr lang="en-US" sz="1500" dirty="0" err="1">
                <a:ln>
                  <a:solidFill>
                    <a:srgbClr val="00B0F0"/>
                  </a:solidFill>
                </a:ln>
                <a:solidFill>
                  <a:srgbClr val="00B0F0"/>
                </a:solidFill>
                <a:latin typeface="Courier" pitchFamily="49" charset="0"/>
              </a:rPr>
              <a:t>emprec</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     		EXIT WHEN </a:t>
            </a:r>
            <a:r>
              <a:rPr lang="en-US" sz="1500" dirty="0" err="1">
                <a:ln>
                  <a:solidFill>
                    <a:srgbClr val="00B0F0"/>
                  </a:solidFill>
                </a:ln>
                <a:solidFill>
                  <a:srgbClr val="00B0F0"/>
                </a:solidFill>
                <a:latin typeface="Courier" pitchFamily="49" charset="0"/>
              </a:rPr>
              <a:t>v_weak_cursor%NOTFOUND</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     		DBMS_OUTPUT.PUT_LINE('</a:t>
            </a:r>
            <a:r>
              <a:rPr lang="en-US" sz="1500" dirty="0" err="1">
                <a:ln>
                  <a:solidFill>
                    <a:srgbClr val="00B0F0"/>
                  </a:solidFill>
                </a:ln>
                <a:solidFill>
                  <a:srgbClr val="00B0F0"/>
                </a:solidFill>
                <a:latin typeface="Courier" pitchFamily="49" charset="0"/>
              </a:rPr>
              <a:t>Ename</a:t>
            </a: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emprec.ename</a:t>
            </a:r>
            <a:r>
              <a:rPr lang="en-US" sz="1500" dirty="0">
                <a:ln>
                  <a:solidFill>
                    <a:srgbClr val="00B0F0"/>
                  </a:solidFill>
                </a:ln>
                <a:solidFill>
                  <a:srgbClr val="00B0F0"/>
                </a:solidFill>
                <a:latin typeface="Courier" pitchFamily="49" charset="0"/>
              </a:rPr>
              <a:t>);</a:t>
            </a:r>
          </a:p>
          <a:p>
            <a:pPr>
              <a:lnSpc>
                <a:spcPct val="80000"/>
              </a:lnSpc>
              <a:buNone/>
            </a:pPr>
            <a:r>
              <a:rPr lang="en-US" sz="1500" dirty="0">
                <a:ln>
                  <a:solidFill>
                    <a:srgbClr val="00B0F0"/>
                  </a:solidFill>
                </a:ln>
                <a:solidFill>
                  <a:srgbClr val="00B0F0"/>
                </a:solidFill>
                <a:latin typeface="Courier" pitchFamily="49" charset="0"/>
              </a:rPr>
              <a:t>	END LOOP;</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:=null;</a:t>
            </a:r>
          </a:p>
          <a:p>
            <a:pPr>
              <a:lnSpc>
                <a:spcPct val="80000"/>
              </a:lnSpc>
              <a:buNone/>
            </a:pPr>
            <a:r>
              <a:rPr lang="en-US" sz="1500" dirty="0">
                <a:ln>
                  <a:solidFill>
                    <a:srgbClr val="00B0F0"/>
                  </a:solidFill>
                </a:ln>
                <a:solidFill>
                  <a:srgbClr val="00B0F0"/>
                </a:solidFill>
                <a:latin typeface="Courier" pitchFamily="49" charset="0"/>
              </a:rPr>
              <a:t>  	if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is null then</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dbms_output.put_line</a:t>
            </a:r>
            <a:r>
              <a:rPr lang="en-US" sz="1500" dirty="0">
                <a:ln>
                  <a:solidFill>
                    <a:srgbClr val="00B0F0"/>
                  </a:solidFill>
                </a:ln>
                <a:solidFill>
                  <a:srgbClr val="00B0F0"/>
                </a:solidFill>
                <a:latin typeface="Courier" pitchFamily="49" charset="0"/>
              </a:rPr>
              <a:t>('is null');</a:t>
            </a:r>
          </a:p>
          <a:p>
            <a:pPr>
              <a:lnSpc>
                <a:spcPct val="80000"/>
              </a:lnSpc>
              <a:buNone/>
            </a:pPr>
            <a:r>
              <a:rPr lang="en-US" sz="1500" dirty="0">
                <a:ln>
                  <a:solidFill>
                    <a:srgbClr val="00B0F0"/>
                  </a:solidFill>
                </a:ln>
                <a:solidFill>
                  <a:srgbClr val="00B0F0"/>
                </a:solidFill>
                <a:latin typeface="Courier" pitchFamily="49" charset="0"/>
              </a:rPr>
              <a:t>  	end if;</a:t>
            </a:r>
          </a:p>
          <a:p>
            <a:pPr>
              <a:lnSpc>
                <a:spcPct val="80000"/>
              </a:lnSpc>
              <a:buNone/>
            </a:pPr>
            <a:r>
              <a:rPr lang="en-US" sz="1500" dirty="0">
                <a:ln>
                  <a:solidFill>
                    <a:srgbClr val="00B0F0"/>
                  </a:solidFill>
                </a:ln>
                <a:solidFill>
                  <a:srgbClr val="00B0F0"/>
                </a:solidFill>
                <a:latin typeface="Courier" pitchFamily="49" charset="0"/>
              </a:rPr>
              <a:t>  	if </a:t>
            </a:r>
            <a:r>
              <a:rPr lang="en-US" sz="1500" dirty="0" err="1">
                <a:ln>
                  <a:solidFill>
                    <a:srgbClr val="00B0F0"/>
                  </a:solidFill>
                </a:ln>
                <a:solidFill>
                  <a:srgbClr val="00B0F0"/>
                </a:solidFill>
                <a:latin typeface="Courier" pitchFamily="49" charset="0"/>
              </a:rPr>
              <a:t>v_weak_cursor</a:t>
            </a:r>
            <a:r>
              <a:rPr lang="en-US" sz="1500" dirty="0">
                <a:ln>
                  <a:solidFill>
                    <a:srgbClr val="00B0F0"/>
                  </a:solidFill>
                </a:ln>
                <a:solidFill>
                  <a:srgbClr val="00B0F0"/>
                </a:solidFill>
                <a:latin typeface="Courier" pitchFamily="49" charset="0"/>
              </a:rPr>
              <a:t> is not null then</a:t>
            </a:r>
          </a:p>
          <a:p>
            <a:pPr>
              <a:lnSpc>
                <a:spcPct val="80000"/>
              </a:lnSpc>
              <a:buNone/>
            </a:pPr>
            <a:r>
              <a:rPr lang="en-US" sz="1500" dirty="0">
                <a:ln>
                  <a:solidFill>
                    <a:srgbClr val="00B0F0"/>
                  </a:solidFill>
                </a:ln>
                <a:solidFill>
                  <a:srgbClr val="00B0F0"/>
                </a:solidFill>
                <a:latin typeface="Courier" pitchFamily="49" charset="0"/>
              </a:rPr>
              <a:t>  		</a:t>
            </a:r>
            <a:r>
              <a:rPr lang="en-US" sz="1500" dirty="0" err="1">
                <a:ln>
                  <a:solidFill>
                    <a:srgbClr val="00B0F0"/>
                  </a:solidFill>
                </a:ln>
                <a:solidFill>
                  <a:srgbClr val="00B0F0"/>
                </a:solidFill>
                <a:latin typeface="Courier" pitchFamily="49" charset="0"/>
              </a:rPr>
              <a:t>dbms_output.put_line</a:t>
            </a:r>
            <a:r>
              <a:rPr lang="en-US" sz="1500" dirty="0">
                <a:ln>
                  <a:solidFill>
                    <a:srgbClr val="00B0F0"/>
                  </a:solidFill>
                </a:ln>
                <a:solidFill>
                  <a:srgbClr val="00B0F0"/>
                </a:solidFill>
                <a:latin typeface="Courier" pitchFamily="49" charset="0"/>
              </a:rPr>
              <a:t>('is not null');</a:t>
            </a:r>
          </a:p>
          <a:p>
            <a:pPr>
              <a:lnSpc>
                <a:spcPct val="80000"/>
              </a:lnSpc>
              <a:buNone/>
            </a:pPr>
            <a:r>
              <a:rPr lang="en-US" sz="1500" dirty="0">
                <a:ln>
                  <a:solidFill>
                    <a:srgbClr val="00B0F0"/>
                  </a:solidFill>
                </a:ln>
                <a:solidFill>
                  <a:srgbClr val="00B0F0"/>
                </a:solidFill>
                <a:latin typeface="Courier" pitchFamily="49" charset="0"/>
              </a:rPr>
              <a:t>  	end if;</a:t>
            </a:r>
          </a:p>
          <a:p>
            <a:pPr>
              <a:lnSpc>
                <a:spcPct val="80000"/>
              </a:lnSpc>
              <a:buNone/>
            </a:pPr>
            <a:r>
              <a:rPr lang="en-US" sz="1500" dirty="0">
                <a:ln>
                  <a:solidFill>
                    <a:srgbClr val="00B0F0"/>
                  </a:solidFill>
                </a:ln>
                <a:solidFill>
                  <a:srgbClr val="00B0F0"/>
                </a:solidFill>
                <a:latin typeface="Courier" pitchFamily="49" charset="0"/>
              </a:rPr>
              <a:t>END;</a:t>
            </a:r>
          </a:p>
          <a:p>
            <a:pPr>
              <a:lnSpc>
                <a:spcPct val="80000"/>
              </a:lnSpc>
              <a:buNone/>
            </a:pPr>
            <a:r>
              <a:rPr lang="en-US" sz="1500" dirty="0">
                <a:ln>
                  <a:solidFill>
                    <a:srgbClr val="00B0F0"/>
                  </a:solidFill>
                </a:ln>
                <a:solidFill>
                  <a:srgbClr val="00B0F0"/>
                </a:solidFill>
                <a:latin typeface="Courier" pitchFamily="49" charset="0"/>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……contd.</a:t>
            </a:r>
            <a:br>
              <a:rPr lang="en-US" sz="1400" b="1" dirty="0">
                <a:latin typeface="Candara"/>
              </a:rPr>
            </a:br>
            <a:r>
              <a:rPr lang="en-US" dirty="0">
                <a:latin typeface="Candara"/>
              </a:rPr>
              <a:t>CURSOR FOR LOOP cannot be used for cursor variables</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649737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buNone/>
            </a:pPr>
            <a:r>
              <a:rPr lang="en-US" sz="1400" dirty="0"/>
              <a:t>We cannot fetch from a cursor-variable which is not associated with a query or which is null :</a:t>
            </a:r>
          </a:p>
          <a:p>
            <a:pPr algn="just">
              <a:buNone/>
            </a:pPr>
            <a:r>
              <a:rPr lang="en-US" sz="1400" dirty="0">
                <a:ln>
                  <a:solidFill>
                    <a:srgbClr val="00B0F0"/>
                  </a:solidFill>
                </a:ln>
                <a:solidFill>
                  <a:srgbClr val="00B0F0"/>
                </a:solidFill>
              </a:rPr>
              <a:t>declare</a:t>
            </a:r>
            <a:endParaRPr lang="en-US" sz="1500" dirty="0">
              <a:ln>
                <a:solidFill>
                  <a:srgbClr val="00B0F0"/>
                </a:solidFill>
              </a:ln>
              <a:solidFill>
                <a:srgbClr val="00B0F0"/>
              </a:solidFill>
            </a:endParaRP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v_weak_cursor</a:t>
            </a:r>
            <a:r>
              <a:rPr lang="en-US" sz="1500" dirty="0">
                <a:ln>
                  <a:solidFill>
                    <a:srgbClr val="00B0F0"/>
                  </a:solidFill>
                </a:ln>
                <a:solidFill>
                  <a:srgbClr val="00B0F0"/>
                </a:solidFill>
              </a:rPr>
              <a:t> </a:t>
            </a:r>
            <a:r>
              <a:rPr lang="en-US" sz="1500" dirty="0" err="1">
                <a:ln>
                  <a:solidFill>
                    <a:srgbClr val="00B0F0"/>
                  </a:solidFill>
                </a:ln>
                <a:solidFill>
                  <a:srgbClr val="00B0F0"/>
                </a:solidFill>
              </a:rPr>
              <a:t>sys_refcursor</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emprec</a:t>
            </a:r>
            <a:r>
              <a:rPr lang="en-US" sz="1500" dirty="0">
                <a:ln>
                  <a:solidFill>
                    <a:srgbClr val="00B0F0"/>
                  </a:solidFill>
                </a:ln>
                <a:solidFill>
                  <a:srgbClr val="00B0F0"/>
                </a:solidFill>
              </a:rPr>
              <a:t> </a:t>
            </a:r>
            <a:r>
              <a:rPr lang="en-US" sz="1500" dirty="0" err="1">
                <a:ln>
                  <a:solidFill>
                    <a:srgbClr val="00B0F0"/>
                  </a:solidFill>
                </a:ln>
                <a:solidFill>
                  <a:srgbClr val="00B0F0"/>
                </a:solidFill>
              </a:rPr>
              <a:t>emp%rowtype</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begin</a:t>
            </a:r>
          </a:p>
          <a:p>
            <a:pPr>
              <a:lnSpc>
                <a:spcPct val="80000"/>
              </a:lnSpc>
              <a:buNone/>
            </a:pPr>
            <a:r>
              <a:rPr lang="en-US" sz="1500" dirty="0">
                <a:ln>
                  <a:solidFill>
                    <a:srgbClr val="00B0F0"/>
                  </a:solidFill>
                </a:ln>
                <a:solidFill>
                  <a:srgbClr val="00B0F0"/>
                </a:solidFill>
              </a:rPr>
              <a:t> 	LOOP</a:t>
            </a:r>
          </a:p>
          <a:p>
            <a:pPr>
              <a:lnSpc>
                <a:spcPct val="80000"/>
              </a:lnSpc>
              <a:buNone/>
            </a:pPr>
            <a:r>
              <a:rPr lang="en-US" sz="1500" dirty="0">
                <a:ln>
                  <a:solidFill>
                    <a:srgbClr val="00B0F0"/>
                  </a:solidFill>
                </a:ln>
                <a:solidFill>
                  <a:srgbClr val="00B0F0"/>
                </a:solidFill>
              </a:rPr>
              <a:t>			FETCH </a:t>
            </a:r>
            <a:r>
              <a:rPr lang="en-US" sz="1500" dirty="0" err="1">
                <a:ln>
                  <a:solidFill>
                    <a:srgbClr val="00B0F0"/>
                  </a:solidFill>
                </a:ln>
                <a:solidFill>
                  <a:srgbClr val="00B0F0"/>
                </a:solidFill>
              </a:rPr>
              <a:t>v_weak_cursor</a:t>
            </a:r>
            <a:r>
              <a:rPr lang="en-US" sz="1500" dirty="0">
                <a:ln>
                  <a:solidFill>
                    <a:srgbClr val="00B0F0"/>
                  </a:solidFill>
                </a:ln>
                <a:solidFill>
                  <a:srgbClr val="00B0F0"/>
                </a:solidFill>
              </a:rPr>
              <a:t> INTO </a:t>
            </a:r>
            <a:r>
              <a:rPr lang="en-US" sz="1500" dirty="0" err="1">
                <a:ln>
                  <a:solidFill>
                    <a:srgbClr val="00B0F0"/>
                  </a:solidFill>
                </a:ln>
                <a:solidFill>
                  <a:srgbClr val="00B0F0"/>
                </a:solidFill>
              </a:rPr>
              <a:t>emprec</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   		EXIT WHEN </a:t>
            </a:r>
            <a:r>
              <a:rPr lang="en-US" sz="1500" dirty="0" err="1">
                <a:ln>
                  <a:solidFill>
                    <a:srgbClr val="00B0F0"/>
                  </a:solidFill>
                </a:ln>
                <a:solidFill>
                  <a:srgbClr val="00B0F0"/>
                </a:solidFill>
              </a:rPr>
              <a:t>v_weak_cursor%NOTFOUND</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   		DBMS_OUTPUT.PUT_LINE('</a:t>
            </a:r>
            <a:r>
              <a:rPr lang="en-US" sz="1500" dirty="0" err="1">
                <a:ln>
                  <a:solidFill>
                    <a:srgbClr val="00B0F0"/>
                  </a:solidFill>
                </a:ln>
                <a:solidFill>
                  <a:srgbClr val="00B0F0"/>
                </a:solidFill>
              </a:rPr>
              <a:t>Ename</a:t>
            </a:r>
            <a:r>
              <a:rPr lang="en-US" sz="1500" dirty="0">
                <a:ln>
                  <a:solidFill>
                    <a:srgbClr val="00B0F0"/>
                  </a:solidFill>
                </a:ln>
                <a:solidFill>
                  <a:srgbClr val="00B0F0"/>
                </a:solidFill>
              </a:rPr>
              <a:t> :'||</a:t>
            </a:r>
            <a:r>
              <a:rPr lang="en-US" sz="1500" dirty="0" err="1">
                <a:ln>
                  <a:solidFill>
                    <a:srgbClr val="00B0F0"/>
                  </a:solidFill>
                </a:ln>
                <a:solidFill>
                  <a:srgbClr val="00B0F0"/>
                </a:solidFill>
              </a:rPr>
              <a:t>emprec.ename</a:t>
            </a: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	END LOOP;</a:t>
            </a:r>
          </a:p>
          <a:p>
            <a:pPr>
              <a:lnSpc>
                <a:spcPct val="80000"/>
              </a:lnSpc>
              <a:buNone/>
            </a:pPr>
            <a:r>
              <a:rPr lang="en-US" sz="1500" dirty="0">
                <a:ln>
                  <a:solidFill>
                    <a:srgbClr val="00B0F0"/>
                  </a:solidFill>
                </a:ln>
                <a:solidFill>
                  <a:srgbClr val="00B0F0"/>
                </a:solidFill>
              </a:rPr>
              <a:t>END;</a:t>
            </a:r>
          </a:p>
          <a:p>
            <a:pPr>
              <a:lnSpc>
                <a:spcPct val="80000"/>
              </a:lnSpc>
              <a:buNone/>
            </a:pPr>
            <a:r>
              <a:rPr lang="en-US" sz="1500" dirty="0">
                <a:ln>
                  <a:solidFill>
                    <a:srgbClr val="00B0F0"/>
                  </a:solidFill>
                </a:ln>
                <a:solidFill>
                  <a:srgbClr val="00B0F0"/>
                </a:solidFill>
              </a:rPr>
              <a:t>/</a:t>
            </a:r>
          </a:p>
          <a:p>
            <a:pPr>
              <a:lnSpc>
                <a:spcPct val="80000"/>
              </a:lnSpc>
              <a:buNone/>
            </a:pPr>
            <a:r>
              <a:rPr lang="en-US" sz="1500" dirty="0">
                <a:ln>
                  <a:solidFill>
                    <a:srgbClr val="00B0F0"/>
                  </a:solidFill>
                </a:ln>
                <a:solidFill>
                  <a:srgbClr val="00B0F0"/>
                </a:solidFill>
              </a:rPr>
              <a:t>ERROR at line 1:</a:t>
            </a:r>
          </a:p>
          <a:p>
            <a:pPr>
              <a:lnSpc>
                <a:spcPct val="80000"/>
              </a:lnSpc>
              <a:buNone/>
            </a:pPr>
            <a:r>
              <a:rPr lang="en-US" sz="1500" dirty="0">
                <a:ln>
                  <a:solidFill>
                    <a:srgbClr val="00B0F0"/>
                  </a:solidFill>
                </a:ln>
                <a:solidFill>
                  <a:srgbClr val="00B0F0"/>
                </a:solidFill>
              </a:rPr>
              <a:t>ORA-01001: invalid cursor</a:t>
            </a:r>
          </a:p>
          <a:p>
            <a:pPr>
              <a:lnSpc>
                <a:spcPct val="80000"/>
              </a:lnSpc>
              <a:buNone/>
            </a:pPr>
            <a:r>
              <a:rPr lang="en-US" sz="1500" dirty="0">
                <a:ln>
                  <a:solidFill>
                    <a:srgbClr val="00B0F0"/>
                  </a:solidFill>
                </a:ln>
                <a:solidFill>
                  <a:srgbClr val="00B0F0"/>
                </a:solidFill>
              </a:rPr>
              <a:t>ORA-06512: at line 6</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……contd.</a:t>
            </a:r>
            <a:br>
              <a:rPr lang="en-US" sz="1400" b="1" dirty="0">
                <a:latin typeface="Candara"/>
              </a:rPr>
            </a:br>
            <a:r>
              <a:rPr lang="en-US" dirty="0">
                <a:latin typeface="Candara"/>
              </a:rPr>
              <a:t>Cannot fetch from a non-open cursor variable</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r>
              <a:rPr lang="en-US" sz="1400" dirty="0"/>
              <a:t>You cannot declare cursor variables in a package. Unlike packaged variables, cursor variables do not have persistent state. Remember, declaring a cursor variable creates a pointer, not an item. So, cursor variables cannot be saved in the database :</a:t>
            </a:r>
          </a:p>
          <a:p>
            <a:pPr algn="just"/>
            <a:endParaRPr lang="en-US" sz="1400" dirty="0"/>
          </a:p>
          <a:p>
            <a:pPr algn="just">
              <a:buNone/>
            </a:pPr>
            <a:r>
              <a:rPr lang="en-US" sz="1400" dirty="0">
                <a:ln>
                  <a:solidFill>
                    <a:srgbClr val="00B0F0"/>
                  </a:solidFill>
                </a:ln>
                <a:solidFill>
                  <a:srgbClr val="00B0F0"/>
                </a:solidFill>
              </a:rPr>
              <a:t>Create or replace package </a:t>
            </a:r>
            <a:r>
              <a:rPr lang="en-US" sz="1400" dirty="0" err="1">
                <a:ln>
                  <a:solidFill>
                    <a:srgbClr val="00B0F0"/>
                  </a:solidFill>
                </a:ln>
                <a:solidFill>
                  <a:srgbClr val="00B0F0"/>
                </a:solidFill>
              </a:rPr>
              <a:t>mypack</a:t>
            </a:r>
            <a:r>
              <a:rPr lang="en-US" sz="1400" dirty="0">
                <a:ln>
                  <a:solidFill>
                    <a:srgbClr val="00B0F0"/>
                  </a:solidFill>
                </a:ln>
                <a:solidFill>
                  <a:srgbClr val="00B0F0"/>
                </a:solidFill>
              </a:rPr>
              <a:t> is</a:t>
            </a:r>
          </a:p>
          <a:p>
            <a:pPr algn="just">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dept%ROWTYPE</a:t>
            </a:r>
            <a:r>
              <a:rPr lang="en-US" sz="1400" dirty="0">
                <a:ln>
                  <a:solidFill>
                    <a:srgbClr val="00B0F0"/>
                  </a:solidFill>
                </a:ln>
                <a:solidFill>
                  <a:srgbClr val="00B0F0"/>
                </a:solidFill>
              </a:rPr>
              <a:t>;</a:t>
            </a:r>
          </a:p>
          <a:p>
            <a:pPr algn="just">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dept_cv</a:t>
            </a:r>
            <a:r>
              <a:rPr lang="en-US" sz="1400" dirty="0">
                <a:ln>
                  <a:solidFill>
                    <a:srgbClr val="00B0F0"/>
                  </a:solidFill>
                </a:ln>
                <a:solidFill>
                  <a:srgbClr val="00B0F0"/>
                </a:solidFill>
              </a:rPr>
              <a:t>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 declare cursor variable</a:t>
            </a:r>
          </a:p>
          <a:p>
            <a:pPr algn="just">
              <a:buNone/>
            </a:pPr>
            <a:r>
              <a:rPr lang="en-US" sz="1400" dirty="0">
                <a:ln>
                  <a:solidFill>
                    <a:srgbClr val="00B0F0"/>
                  </a:solidFill>
                </a:ln>
                <a:solidFill>
                  <a:srgbClr val="00B0F0"/>
                </a:solidFill>
              </a:rPr>
              <a:t>end;</a:t>
            </a:r>
          </a:p>
          <a:p>
            <a:pPr algn="just">
              <a:buNone/>
            </a:pPr>
            <a:r>
              <a:rPr lang="en-US" sz="1400" dirty="0">
                <a:ln>
                  <a:solidFill>
                    <a:srgbClr val="00B0F0"/>
                  </a:solidFill>
                </a:ln>
                <a:solidFill>
                  <a:srgbClr val="00B0F0"/>
                </a:solidFill>
              </a:rPr>
              <a:t>/</a:t>
            </a:r>
          </a:p>
          <a:p>
            <a:pPr>
              <a:lnSpc>
                <a:spcPct val="80000"/>
              </a:lnSpc>
              <a:buNone/>
            </a:pPr>
            <a:r>
              <a:rPr lang="en-US" sz="1400" dirty="0">
                <a:ln>
                  <a:solidFill>
                    <a:srgbClr val="00B0F0"/>
                  </a:solidFill>
                </a:ln>
                <a:solidFill>
                  <a:srgbClr val="00B0F0"/>
                </a:solidFill>
              </a:rPr>
              <a:t>Show errors</a:t>
            </a:r>
          </a:p>
          <a:p>
            <a:pPr>
              <a:lnSpc>
                <a:spcPct val="80000"/>
              </a:lnSpc>
              <a:buNone/>
            </a:pPr>
            <a:r>
              <a:rPr lang="en-US" sz="1400" dirty="0"/>
              <a:t>Errors for PACKAGE MYPACK:</a:t>
            </a:r>
          </a:p>
          <a:p>
            <a:pPr>
              <a:lnSpc>
                <a:spcPct val="80000"/>
              </a:lnSpc>
              <a:buNone/>
            </a:pPr>
            <a:r>
              <a:rPr lang="en-US" sz="1400" dirty="0"/>
              <a:t>LINE/COL 	ERROR</a:t>
            </a:r>
          </a:p>
          <a:p>
            <a:pPr>
              <a:lnSpc>
                <a:spcPct val="80000"/>
              </a:lnSpc>
              <a:buNone/>
            </a:pPr>
            <a:r>
              <a:rPr lang="en-US" sz="1400" dirty="0"/>
              <a:t>-------- 		-----------------------------------------------------------------</a:t>
            </a:r>
          </a:p>
          <a:p>
            <a:pPr>
              <a:lnSpc>
                <a:spcPct val="80000"/>
              </a:lnSpc>
              <a:buNone/>
            </a:pPr>
            <a:r>
              <a:rPr lang="en-US" sz="1400" dirty="0"/>
              <a:t>3/10     		PL/SQL: Declaration ignored</a:t>
            </a:r>
          </a:p>
          <a:p>
            <a:pPr>
              <a:lnSpc>
                <a:spcPct val="80000"/>
              </a:lnSpc>
              <a:buNone/>
            </a:pPr>
            <a:r>
              <a:rPr lang="en-US" sz="1400" dirty="0"/>
              <a:t>3/10     		PLS-00994: Cursor Variables cannot be declared as part of a package</a:t>
            </a:r>
          </a:p>
          <a:p>
            <a:pPr>
              <a:lnSpc>
                <a:spcPct val="80000"/>
              </a:lnSpc>
              <a:buNone/>
            </a:pPr>
            <a:endParaRPr lang="en-US" sz="1400" dirty="0"/>
          </a:p>
          <a:p>
            <a:pPr marL="0" indent="0">
              <a:lnSpc>
                <a:spcPct val="80000"/>
              </a:lnSpc>
              <a:buNone/>
            </a:pPr>
            <a:endParaRPr lang="en-US" sz="1400" dirty="0"/>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……contd.</a:t>
            </a:r>
            <a:br>
              <a:rPr lang="en-US" sz="1400" b="1" dirty="0">
                <a:latin typeface="Candara"/>
              </a:rPr>
            </a:br>
            <a:r>
              <a:rPr lang="en-US" dirty="0"/>
              <a:t>You cannot declare cursor variables in a package</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buNone/>
            </a:pPr>
            <a:r>
              <a:rPr lang="en-US" sz="1400" dirty="0"/>
              <a:t>	Unlike packaged variables, cursor variables do not have persistent state. Remember, declaring a cursor variable creates a pointer, not an item :</a:t>
            </a:r>
          </a:p>
          <a:p>
            <a:pPr algn="just">
              <a:buNone/>
            </a:pPr>
            <a:r>
              <a:rPr lang="en-US" sz="1400" dirty="0">
                <a:ln>
                  <a:solidFill>
                    <a:srgbClr val="00B0F0"/>
                  </a:solidFill>
                </a:ln>
                <a:solidFill>
                  <a:srgbClr val="00B0F0"/>
                </a:solidFill>
              </a:rPr>
              <a:t>Create or replace package </a:t>
            </a:r>
            <a:r>
              <a:rPr lang="en-US" sz="1400" dirty="0" err="1">
                <a:ln>
                  <a:solidFill>
                    <a:srgbClr val="00B0F0"/>
                  </a:solidFill>
                </a:ln>
                <a:solidFill>
                  <a:srgbClr val="00B0F0"/>
                </a:solidFill>
              </a:rPr>
              <a:t>mypack</a:t>
            </a:r>
            <a:r>
              <a:rPr lang="en-US" sz="1400" dirty="0">
                <a:ln>
                  <a:solidFill>
                    <a:srgbClr val="00B0F0"/>
                  </a:solidFill>
                </a:ln>
                <a:solidFill>
                  <a:srgbClr val="00B0F0"/>
                </a:solidFill>
              </a:rPr>
              <a:t> is</a:t>
            </a:r>
          </a:p>
          <a:p>
            <a:pPr algn="just">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dept%ROWTYPE</a:t>
            </a:r>
            <a:r>
              <a:rPr lang="en-US" sz="1400" dirty="0">
                <a:ln>
                  <a:solidFill>
                    <a:srgbClr val="00B0F0"/>
                  </a:solidFill>
                </a:ln>
                <a:solidFill>
                  <a:srgbClr val="00B0F0"/>
                </a:solidFill>
              </a:rPr>
              <a:t>;</a:t>
            </a:r>
          </a:p>
          <a:p>
            <a:pPr algn="just">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dept_cv</a:t>
            </a:r>
            <a:r>
              <a:rPr lang="en-US" sz="1400" dirty="0">
                <a:ln>
                  <a:solidFill>
                    <a:srgbClr val="00B0F0"/>
                  </a:solidFill>
                </a:ln>
                <a:solidFill>
                  <a:srgbClr val="00B0F0"/>
                </a:solidFill>
              </a:rPr>
              <a:t>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 declare cursor variable</a:t>
            </a:r>
          </a:p>
          <a:p>
            <a:pPr algn="just">
              <a:buNone/>
            </a:pPr>
            <a:r>
              <a:rPr lang="en-US" sz="1400" dirty="0">
                <a:ln>
                  <a:solidFill>
                    <a:srgbClr val="00B0F0"/>
                  </a:solidFill>
                </a:ln>
                <a:solidFill>
                  <a:srgbClr val="00B0F0"/>
                </a:solidFill>
              </a:rPr>
              <a:t>end;</a:t>
            </a:r>
          </a:p>
          <a:p>
            <a:pPr algn="just">
              <a:buNone/>
            </a:pPr>
            <a:r>
              <a:rPr lang="en-US" sz="1400" dirty="0">
                <a:ln>
                  <a:solidFill>
                    <a:srgbClr val="00B0F0"/>
                  </a:solidFill>
                </a:ln>
                <a:solidFill>
                  <a:srgbClr val="00B0F0"/>
                </a:solidFill>
              </a:rPr>
              <a:t>/</a:t>
            </a:r>
          </a:p>
          <a:p>
            <a:pPr>
              <a:lnSpc>
                <a:spcPct val="80000"/>
              </a:lnSpc>
              <a:buNone/>
            </a:pPr>
            <a:endParaRPr lang="en-US" sz="1500" dirty="0">
              <a:ln>
                <a:solidFill>
                  <a:srgbClr val="00B0F0"/>
                </a:solidFill>
              </a:ln>
              <a:solidFill>
                <a:srgbClr val="00B0F0"/>
              </a:solidFill>
            </a:endParaRPr>
          </a:p>
          <a:p>
            <a:pPr>
              <a:lnSpc>
                <a:spcPct val="80000"/>
              </a:lnSpc>
              <a:buNone/>
            </a:pPr>
            <a:r>
              <a:rPr lang="en-US" sz="1400" dirty="0"/>
              <a:t>Package created</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4.9: Limitations of Cursor Variables  						……contd.</a:t>
            </a:r>
            <a:br>
              <a:rPr lang="en-US" sz="1400" b="1" dirty="0">
                <a:latin typeface="Candara"/>
              </a:rPr>
            </a:br>
            <a:r>
              <a:rPr lang="en-US" dirty="0"/>
              <a:t>You cannot declare cursor variables in a package</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3125132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203717" y="774219"/>
            <a:ext cx="8570662" cy="4066673"/>
          </a:xfrm>
        </p:spPr>
        <p:txBody>
          <a:bodyPr>
            <a:normAutofit/>
          </a:bodyPr>
          <a:lstStyle/>
          <a:p>
            <a:pPr algn="just"/>
            <a:r>
              <a:rPr lang="en-US" dirty="0"/>
              <a:t>In the RETURN clause of a STRONG REF cursor type definition, you can use %ROWTYPE to specify a record type that represents a row returned by a strongly (not weakly) typed cursor variable, as follows:</a:t>
            </a:r>
          </a:p>
          <a:p>
            <a:pPr marL="0" indent="0">
              <a:buNone/>
            </a:pPr>
            <a:r>
              <a:rPr lang="en-US" dirty="0"/>
              <a:t> </a:t>
            </a:r>
          </a:p>
          <a:p>
            <a:pPr marL="0" indent="0">
              <a:buNone/>
            </a:pPr>
            <a:r>
              <a:rPr lang="en-US" sz="1400" dirty="0">
                <a:ln>
                  <a:solidFill>
                    <a:srgbClr val="00B0F0"/>
                  </a:solidFill>
                </a:ln>
                <a:solidFill>
                  <a:srgbClr val="00B0F0"/>
                </a:solidFill>
              </a:rPr>
              <a:t>DECLARE</a:t>
            </a:r>
          </a:p>
          <a:p>
            <a:pPr marL="0" indent="0">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TmpCurTyp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emp%ROWTYPE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tmp_cv</a:t>
            </a:r>
            <a:r>
              <a:rPr lang="en-US" sz="1400" dirty="0">
                <a:ln>
                  <a:solidFill>
                    <a:srgbClr val="00B0F0"/>
                  </a:solidFill>
                </a:ln>
                <a:solidFill>
                  <a:srgbClr val="00B0F0"/>
                </a:solidFill>
              </a:rPr>
              <a:t> </a:t>
            </a:r>
            <a:r>
              <a:rPr lang="en-US" sz="1400" dirty="0" err="1">
                <a:ln>
                  <a:solidFill>
                    <a:srgbClr val="00B0F0"/>
                  </a:solidFill>
                </a:ln>
                <a:solidFill>
                  <a:srgbClr val="00B0F0"/>
                </a:solidFill>
              </a:rPr>
              <a:t>TmpCurTyp</a:t>
            </a:r>
            <a:r>
              <a:rPr lang="en-US" sz="1400" dirty="0">
                <a:ln>
                  <a:solidFill>
                    <a:srgbClr val="00B0F0"/>
                  </a:solidFill>
                </a:ln>
                <a:solidFill>
                  <a:srgbClr val="00B0F0"/>
                </a:solidFill>
              </a:rPr>
              <a:t>; -- declare cursor variable</a:t>
            </a:r>
          </a:p>
          <a:p>
            <a:pPr marL="0" indent="0">
              <a:buNone/>
            </a:pPr>
            <a:r>
              <a:rPr lang="en-US" sz="1400" dirty="0">
                <a:ln>
                  <a:solidFill>
                    <a:srgbClr val="00B0F0"/>
                  </a:solidFill>
                </a:ln>
                <a:solidFill>
                  <a:srgbClr val="00B0F0"/>
                </a:solidFill>
              </a:rPr>
              <a:t> </a:t>
            </a:r>
          </a:p>
          <a:p>
            <a:pPr marL="0" indent="0">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tmp_cv%rowTYPE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 declare cursor variable</a:t>
            </a:r>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null;</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4.10: Declaring STRONG REF cursor types</a:t>
            </a:r>
            <a:br>
              <a:rPr lang="en-US" sz="1400" b="1" dirty="0">
                <a:latin typeface="Candara"/>
              </a:rPr>
            </a:br>
            <a:r>
              <a:rPr lang="en-US" dirty="0"/>
              <a:t>Using %ROWTYPE</a:t>
            </a:r>
            <a:endParaRPr lang="en-US" sz="2400" b="1" dirty="0">
              <a:latin typeface="Candara"/>
            </a:endParaRPr>
          </a:p>
        </p:txBody>
      </p:sp>
    </p:spTree>
    <p:extLst>
      <p:ext uri="{BB962C8B-B14F-4D97-AF65-F5344CB8AC3E}">
        <p14:creationId xmlns:p14="http://schemas.microsoft.com/office/powerpoint/2010/main" val="1769812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203717" y="774219"/>
            <a:ext cx="8570662" cy="4066673"/>
          </a:xfrm>
        </p:spPr>
        <p:txBody>
          <a:bodyPr>
            <a:normAutofit/>
          </a:bodyPr>
          <a:lstStyle/>
          <a:p>
            <a:pPr algn="just"/>
            <a:endParaRPr lang="en-US" dirty="0"/>
          </a:p>
          <a:p>
            <a:pPr algn="just"/>
            <a:r>
              <a:rPr lang="en-US" dirty="0"/>
              <a:t>In the RETURN clause of a STRONG REF cursor type definition, you cannot use %TYPE representing a column of a table :</a:t>
            </a:r>
          </a:p>
          <a:p>
            <a:pPr marL="0" indent="0">
              <a:buNone/>
            </a:pPr>
            <a:r>
              <a:rPr lang="en-US" dirty="0"/>
              <a:t> </a:t>
            </a:r>
          </a:p>
          <a:p>
            <a:pPr marL="0" indent="0">
              <a:buNone/>
            </a:pPr>
            <a:r>
              <a:rPr lang="en-US" sz="1400" dirty="0">
                <a:ln>
                  <a:solidFill>
                    <a:srgbClr val="00B0F0"/>
                  </a:solidFill>
                </a:ln>
                <a:solidFill>
                  <a:srgbClr val="00B0F0"/>
                </a:solidFill>
              </a:rPr>
              <a:t>DECLARE</a:t>
            </a:r>
          </a:p>
          <a:p>
            <a:pPr marL="0" indent="0">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TmpCurTyp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emp.ename%TYPE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tmp_cv</a:t>
            </a:r>
            <a:r>
              <a:rPr lang="en-US" sz="1400" dirty="0">
                <a:ln>
                  <a:solidFill>
                    <a:srgbClr val="00B0F0"/>
                  </a:solidFill>
                </a:ln>
                <a:solidFill>
                  <a:srgbClr val="00B0F0"/>
                </a:solidFill>
              </a:rPr>
              <a:t> </a:t>
            </a:r>
            <a:r>
              <a:rPr lang="en-US" sz="1400" dirty="0" err="1">
                <a:ln>
                  <a:solidFill>
                    <a:srgbClr val="00B0F0"/>
                  </a:solidFill>
                </a:ln>
                <a:solidFill>
                  <a:srgbClr val="00B0F0"/>
                </a:solidFill>
              </a:rPr>
              <a:t>TmpCurTyp</a:t>
            </a:r>
            <a:r>
              <a:rPr lang="en-US" sz="1400" dirty="0">
                <a:ln>
                  <a:solidFill>
                    <a:srgbClr val="00B0F0"/>
                  </a:solidFill>
                </a:ln>
                <a:solidFill>
                  <a:srgbClr val="00B0F0"/>
                </a:solidFill>
              </a:rPr>
              <a:t>; -- declare cursor variable</a:t>
            </a:r>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null;</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buNone/>
            </a:pPr>
            <a:endParaRPr lang="en-US" sz="1400" dirty="0">
              <a:ln>
                <a:solidFill>
                  <a:srgbClr val="00B0F0"/>
                </a:solidFill>
              </a:ln>
              <a:solidFill>
                <a:srgbClr val="00B0F0"/>
              </a:solidFill>
            </a:endParaRPr>
          </a:p>
          <a:p>
            <a:pPr marL="0" indent="0">
              <a:buNone/>
            </a:pPr>
            <a:r>
              <a:rPr lang="en-US" sz="1400" dirty="0"/>
              <a:t>Invalid cursor return type; 'EMP.ENAME%TYPE' must be a record type</a:t>
            </a: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4.10: Declaring STRONG REF cursor types						…</a:t>
            </a:r>
            <a:r>
              <a:rPr lang="en-US" sz="1400" b="1" dirty="0" err="1">
                <a:latin typeface="Candara"/>
              </a:rPr>
              <a:t>contd</a:t>
            </a:r>
            <a:br>
              <a:rPr lang="en-US" sz="1400" b="1" dirty="0">
                <a:latin typeface="Candara"/>
              </a:rPr>
            </a:br>
            <a:r>
              <a:rPr lang="en-US" dirty="0"/>
              <a:t>Using %TYPE</a:t>
            </a:r>
            <a:endParaRPr lang="en-US" sz="2400" b="1" dirty="0">
              <a:latin typeface="Candara"/>
            </a:endParaRPr>
          </a:p>
        </p:txBody>
      </p:sp>
    </p:spTree>
    <p:extLst>
      <p:ext uri="{BB962C8B-B14F-4D97-AF65-F5344CB8AC3E}">
        <p14:creationId xmlns:p14="http://schemas.microsoft.com/office/powerpoint/2010/main" val="2184213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203717" y="774219"/>
            <a:ext cx="8570662" cy="4066673"/>
          </a:xfrm>
        </p:spPr>
        <p:txBody>
          <a:bodyPr>
            <a:normAutofit/>
          </a:bodyPr>
          <a:lstStyle/>
          <a:p>
            <a:pPr algn="just"/>
            <a:endParaRPr lang="en-US" dirty="0"/>
          </a:p>
          <a:p>
            <a:pPr algn="just"/>
            <a:r>
              <a:rPr lang="en-US" dirty="0"/>
              <a:t>You can user %type in the RETURN clause of STRONG REF CURSOR only for a variable which is based on %ROWTYPE:</a:t>
            </a:r>
          </a:p>
          <a:p>
            <a:pPr marL="0" indent="0">
              <a:buNone/>
            </a:pPr>
            <a:r>
              <a:rPr lang="en-US" dirty="0"/>
              <a:t> </a:t>
            </a:r>
          </a:p>
          <a:p>
            <a:pPr marL="0" indent="0">
              <a:lnSpc>
                <a:spcPct val="100000"/>
              </a:lnSpc>
              <a:buNone/>
            </a:pPr>
            <a:r>
              <a:rPr lang="en-US" sz="1400" dirty="0">
                <a:ln>
                  <a:solidFill>
                    <a:srgbClr val="00B0F0"/>
                  </a:solidFill>
                </a:ln>
                <a:solidFill>
                  <a:srgbClr val="00B0F0"/>
                </a:solidFill>
              </a:rPr>
              <a:t>DECLARE </a:t>
            </a:r>
          </a:p>
          <a:p>
            <a:pPr marL="0" indent="0">
              <a:lnSpc>
                <a:spcPct val="10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dept_rec</a:t>
            </a:r>
            <a:r>
              <a:rPr lang="en-US" sz="1400" dirty="0">
                <a:ln>
                  <a:solidFill>
                    <a:srgbClr val="00B0F0"/>
                  </a:solidFill>
                </a:ln>
                <a:solidFill>
                  <a:srgbClr val="00B0F0"/>
                </a:solidFill>
              </a:rPr>
              <a:t> </a:t>
            </a:r>
            <a:r>
              <a:rPr lang="en-US" sz="1400" dirty="0" err="1">
                <a:ln>
                  <a:solidFill>
                    <a:srgbClr val="00B0F0"/>
                  </a:solidFill>
                </a:ln>
                <a:solidFill>
                  <a:srgbClr val="00B0F0"/>
                </a:solidFill>
              </a:rPr>
              <a:t>dept%ROWTYPE</a:t>
            </a:r>
            <a:r>
              <a:rPr lang="en-US" sz="1400" dirty="0">
                <a:ln>
                  <a:solidFill>
                    <a:srgbClr val="00B0F0"/>
                  </a:solidFill>
                </a:ln>
                <a:solidFill>
                  <a:srgbClr val="00B0F0"/>
                </a:solidFill>
              </a:rPr>
              <a:t>; -- declare record variable </a:t>
            </a:r>
          </a:p>
          <a:p>
            <a:pPr marL="0" indent="0">
              <a:lnSpc>
                <a:spcPct val="100000"/>
              </a:lnSpc>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dept_rec%TYPE</a:t>
            </a:r>
            <a:r>
              <a:rPr lang="en-US" sz="1400" dirty="0">
                <a:ln>
                  <a:solidFill>
                    <a:srgbClr val="00B0F0"/>
                  </a:solidFill>
                </a:ln>
                <a:solidFill>
                  <a:srgbClr val="00B0F0"/>
                </a:solidFill>
              </a:rPr>
              <a:t>; </a:t>
            </a:r>
          </a:p>
          <a:p>
            <a:pPr marL="0" indent="0">
              <a:lnSpc>
                <a:spcPct val="10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dept_cv</a:t>
            </a:r>
            <a:r>
              <a:rPr lang="en-US" sz="1400" dirty="0">
                <a:ln>
                  <a:solidFill>
                    <a:srgbClr val="00B0F0"/>
                  </a:solidFill>
                </a:ln>
                <a:solidFill>
                  <a:srgbClr val="00B0F0"/>
                </a:solidFill>
              </a:rPr>
              <a:t>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 declare cursor variable</a:t>
            </a:r>
          </a:p>
          <a:p>
            <a:pPr marL="0" indent="0">
              <a:lnSpc>
                <a:spcPct val="100000"/>
              </a:lnSpc>
              <a:buNone/>
            </a:pPr>
            <a:r>
              <a:rPr lang="en-US" sz="1400" dirty="0">
                <a:ln>
                  <a:solidFill>
                    <a:srgbClr val="00B0F0"/>
                  </a:solidFill>
                </a:ln>
                <a:solidFill>
                  <a:srgbClr val="00B0F0"/>
                </a:solidFill>
              </a:rPr>
              <a:t>begin</a:t>
            </a:r>
          </a:p>
          <a:p>
            <a:pPr marL="0" indent="0">
              <a:lnSpc>
                <a:spcPct val="100000"/>
              </a:lnSpc>
              <a:buNone/>
            </a:pPr>
            <a:r>
              <a:rPr lang="en-US" sz="1400" dirty="0">
                <a:ln>
                  <a:solidFill>
                    <a:srgbClr val="00B0F0"/>
                  </a:solidFill>
                </a:ln>
                <a:solidFill>
                  <a:srgbClr val="00B0F0"/>
                </a:solidFill>
              </a:rPr>
              <a:t>	null;</a:t>
            </a:r>
          </a:p>
          <a:p>
            <a:pPr marL="0" indent="0">
              <a:lnSpc>
                <a:spcPct val="100000"/>
              </a:lnSpc>
              <a:buNone/>
            </a:pPr>
            <a:r>
              <a:rPr lang="en-US" sz="1400" dirty="0">
                <a:ln>
                  <a:solidFill>
                    <a:srgbClr val="00B0F0"/>
                  </a:solidFill>
                </a:ln>
                <a:solidFill>
                  <a:srgbClr val="00B0F0"/>
                </a:solidFill>
              </a:rPr>
              <a:t>end;</a:t>
            </a:r>
          </a:p>
          <a:p>
            <a:pPr marL="0" indent="0">
              <a:lnSpc>
                <a:spcPct val="100000"/>
              </a:lnSpc>
              <a:buNone/>
            </a:pPr>
            <a:r>
              <a:rPr lang="en-US" sz="1400" dirty="0">
                <a:ln>
                  <a:solidFill>
                    <a:srgbClr val="00B0F0"/>
                  </a:solidFill>
                </a:ln>
                <a:solidFill>
                  <a:srgbClr val="00B0F0"/>
                </a:solidFill>
              </a:rPr>
              <a:t>/</a:t>
            </a:r>
          </a:p>
          <a:p>
            <a:pPr marL="0" indent="0">
              <a:buNone/>
            </a:pP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4.10: Declaring STRONG REF cursor types</a:t>
            </a:r>
            <a:br>
              <a:rPr lang="en-US" sz="1400" b="1" dirty="0">
                <a:latin typeface="Candara"/>
              </a:rPr>
            </a:br>
            <a:r>
              <a:rPr lang="en-US" dirty="0"/>
              <a:t>Using %TYPE							….</a:t>
            </a:r>
            <a:r>
              <a:rPr lang="en-US" dirty="0" err="1"/>
              <a:t>contd</a:t>
            </a:r>
            <a:endParaRPr lang="en-US" sz="2400" b="1" dirty="0">
              <a:latin typeface="Candara"/>
            </a:endParaRPr>
          </a:p>
        </p:txBody>
      </p:sp>
    </p:spTree>
    <p:extLst>
      <p:ext uri="{BB962C8B-B14F-4D97-AF65-F5344CB8AC3E}">
        <p14:creationId xmlns:p14="http://schemas.microsoft.com/office/powerpoint/2010/main" val="1263911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203717" y="774219"/>
            <a:ext cx="8570662" cy="4066673"/>
          </a:xfrm>
        </p:spPr>
        <p:txBody>
          <a:bodyPr>
            <a:normAutofit/>
          </a:bodyPr>
          <a:lstStyle/>
          <a:p>
            <a:pPr algn="just"/>
            <a:endParaRPr lang="en-US" dirty="0"/>
          </a:p>
          <a:p>
            <a:pPr algn="just"/>
            <a:r>
              <a:rPr lang="en-US" dirty="0"/>
              <a:t>In the RETURN clause of a STRONG REF cursor type definition, you cannot use %TYPE of a variable which is itself based on %type of column  of a table:</a:t>
            </a:r>
          </a:p>
          <a:p>
            <a:pPr marL="0" indent="0">
              <a:buNone/>
            </a:pPr>
            <a:r>
              <a:rPr lang="en-US" dirty="0"/>
              <a:t> </a:t>
            </a:r>
          </a:p>
          <a:p>
            <a:pPr marL="0" indent="0">
              <a:lnSpc>
                <a:spcPct val="100000"/>
              </a:lnSpc>
              <a:buNone/>
            </a:pPr>
            <a:r>
              <a:rPr lang="en-US" sz="1400" dirty="0">
                <a:ln>
                  <a:solidFill>
                    <a:srgbClr val="00B0F0"/>
                  </a:solidFill>
                </a:ln>
                <a:solidFill>
                  <a:srgbClr val="00B0F0"/>
                </a:solidFill>
              </a:rPr>
              <a:t>DECLARE </a:t>
            </a:r>
          </a:p>
          <a:p>
            <a:pPr marL="0" indent="0">
              <a:lnSpc>
                <a:spcPct val="10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dept_rec</a:t>
            </a:r>
            <a:r>
              <a:rPr lang="en-US" sz="1400" dirty="0">
                <a:ln>
                  <a:solidFill>
                    <a:srgbClr val="00B0F0"/>
                  </a:solidFill>
                </a:ln>
                <a:solidFill>
                  <a:srgbClr val="00B0F0"/>
                </a:solidFill>
              </a:rPr>
              <a:t> </a:t>
            </a:r>
            <a:r>
              <a:rPr lang="en-US" sz="1400" dirty="0" err="1">
                <a:ln>
                  <a:solidFill>
                    <a:srgbClr val="00B0F0"/>
                  </a:solidFill>
                </a:ln>
                <a:solidFill>
                  <a:srgbClr val="00B0F0"/>
                </a:solidFill>
              </a:rPr>
              <a:t>dept.dname%TYPE</a:t>
            </a:r>
            <a:r>
              <a:rPr lang="en-US" sz="1400" dirty="0">
                <a:ln>
                  <a:solidFill>
                    <a:srgbClr val="00B0F0"/>
                  </a:solidFill>
                </a:ln>
                <a:solidFill>
                  <a:srgbClr val="00B0F0"/>
                </a:solidFill>
              </a:rPr>
              <a:t>; -- declare scalar variable </a:t>
            </a:r>
          </a:p>
          <a:p>
            <a:pPr marL="0" indent="0">
              <a:lnSpc>
                <a:spcPct val="100000"/>
              </a:lnSpc>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dept_rec%TYPE</a:t>
            </a:r>
            <a:r>
              <a:rPr lang="en-US" sz="1400" dirty="0">
                <a:ln>
                  <a:solidFill>
                    <a:srgbClr val="00B0F0"/>
                  </a:solidFill>
                </a:ln>
                <a:solidFill>
                  <a:srgbClr val="00B0F0"/>
                </a:solidFill>
              </a:rPr>
              <a:t>; </a:t>
            </a:r>
          </a:p>
          <a:p>
            <a:pPr marL="0" indent="0">
              <a:lnSpc>
                <a:spcPct val="10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dept_cv</a:t>
            </a:r>
            <a:r>
              <a:rPr lang="en-US" sz="1400" dirty="0">
                <a:ln>
                  <a:solidFill>
                    <a:srgbClr val="00B0F0"/>
                  </a:solidFill>
                </a:ln>
                <a:solidFill>
                  <a:srgbClr val="00B0F0"/>
                </a:solidFill>
              </a:rPr>
              <a:t> </a:t>
            </a:r>
            <a:r>
              <a:rPr lang="en-US" sz="1400" dirty="0" err="1">
                <a:ln>
                  <a:solidFill>
                    <a:srgbClr val="00B0F0"/>
                  </a:solidFill>
                </a:ln>
                <a:solidFill>
                  <a:srgbClr val="00B0F0"/>
                </a:solidFill>
              </a:rPr>
              <a:t>DeptCurTyp</a:t>
            </a:r>
            <a:r>
              <a:rPr lang="en-US" sz="1400" dirty="0">
                <a:ln>
                  <a:solidFill>
                    <a:srgbClr val="00B0F0"/>
                  </a:solidFill>
                </a:ln>
                <a:solidFill>
                  <a:srgbClr val="00B0F0"/>
                </a:solidFill>
              </a:rPr>
              <a:t>; -- declare cursor variable</a:t>
            </a:r>
          </a:p>
          <a:p>
            <a:pPr marL="0" indent="0">
              <a:lnSpc>
                <a:spcPct val="100000"/>
              </a:lnSpc>
              <a:buNone/>
            </a:pPr>
            <a:r>
              <a:rPr lang="en-US" sz="1400" dirty="0">
                <a:ln>
                  <a:solidFill>
                    <a:srgbClr val="00B0F0"/>
                  </a:solidFill>
                </a:ln>
                <a:solidFill>
                  <a:srgbClr val="00B0F0"/>
                </a:solidFill>
              </a:rPr>
              <a:t>begin</a:t>
            </a:r>
          </a:p>
          <a:p>
            <a:pPr marL="0" indent="0">
              <a:lnSpc>
                <a:spcPct val="10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('hello');</a:t>
            </a:r>
          </a:p>
          <a:p>
            <a:pPr marL="0" indent="0">
              <a:lnSpc>
                <a:spcPct val="100000"/>
              </a:lnSpc>
              <a:buNone/>
            </a:pPr>
            <a:r>
              <a:rPr lang="en-US" sz="1400" dirty="0">
                <a:ln>
                  <a:solidFill>
                    <a:srgbClr val="00B0F0"/>
                  </a:solidFill>
                </a:ln>
                <a:solidFill>
                  <a:srgbClr val="00B0F0"/>
                </a:solidFill>
              </a:rPr>
              <a:t>end;</a:t>
            </a:r>
          </a:p>
          <a:p>
            <a:pPr marL="0" indent="0">
              <a:lnSpc>
                <a:spcPct val="100000"/>
              </a:lnSpc>
              <a:buNone/>
            </a:pPr>
            <a:r>
              <a:rPr lang="en-US" sz="1400" dirty="0">
                <a:ln>
                  <a:solidFill>
                    <a:srgbClr val="00B0F0"/>
                  </a:solidFill>
                </a:ln>
                <a:solidFill>
                  <a:srgbClr val="00B0F0"/>
                </a:solidFill>
              </a:rPr>
              <a:t>/</a:t>
            </a:r>
          </a:p>
          <a:p>
            <a:pPr marL="0" indent="0">
              <a:buNone/>
            </a:pPr>
            <a:r>
              <a:rPr lang="en-US" sz="1400" dirty="0"/>
              <a:t>Invalid cursor return type; 'DEPT_REC%TYPE' must be a record type</a:t>
            </a: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4.10: Declaring STRONG REF cursor types</a:t>
            </a:r>
            <a:br>
              <a:rPr lang="en-US" sz="1400" b="1" dirty="0">
                <a:latin typeface="Candara"/>
              </a:rPr>
            </a:br>
            <a:r>
              <a:rPr lang="en-US" dirty="0"/>
              <a:t>Using %TYPE							….</a:t>
            </a:r>
            <a:r>
              <a:rPr lang="en-US" dirty="0" err="1"/>
              <a:t>contd</a:t>
            </a:r>
            <a:endParaRPr lang="en-US" sz="2400" b="1" dirty="0">
              <a:latin typeface="Candara"/>
            </a:endParaRPr>
          </a:p>
        </p:txBody>
      </p:sp>
    </p:spTree>
    <p:extLst>
      <p:ext uri="{BB962C8B-B14F-4D97-AF65-F5344CB8AC3E}">
        <p14:creationId xmlns:p14="http://schemas.microsoft.com/office/powerpoint/2010/main" val="1233943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203717" y="774219"/>
            <a:ext cx="8570662" cy="4066673"/>
          </a:xfrm>
        </p:spPr>
        <p:txBody>
          <a:bodyPr>
            <a:normAutofit fontScale="77500" lnSpcReduction="20000"/>
          </a:bodyPr>
          <a:lstStyle/>
          <a:p>
            <a:pPr algn="just"/>
            <a:endParaRPr lang="en-US" dirty="0"/>
          </a:p>
          <a:p>
            <a:pPr algn="just"/>
            <a:r>
              <a:rPr lang="en-US" dirty="0"/>
              <a:t>In the RETURN clause of a STRONG REF cursor type definition, you cannot use %TYPE of another variable which is based on Strong ref cursor type whose return type is %</a:t>
            </a:r>
            <a:r>
              <a:rPr lang="en-US" dirty="0" err="1"/>
              <a:t>rowtype</a:t>
            </a:r>
            <a:r>
              <a:rPr lang="en-US" dirty="0"/>
              <a:t> of some table:</a:t>
            </a:r>
          </a:p>
          <a:p>
            <a:pPr marL="0" indent="0">
              <a:buNone/>
            </a:pPr>
            <a:r>
              <a:rPr lang="en-US" dirty="0"/>
              <a:t> </a:t>
            </a:r>
          </a:p>
          <a:p>
            <a:pPr marL="0" indent="0">
              <a:lnSpc>
                <a:spcPct val="120000"/>
              </a:lnSpc>
              <a:buNone/>
            </a:pPr>
            <a:r>
              <a:rPr lang="en-US" sz="1500" dirty="0">
                <a:ln>
                  <a:solidFill>
                    <a:srgbClr val="00B0F0"/>
                  </a:solidFill>
                </a:ln>
                <a:solidFill>
                  <a:srgbClr val="00B0F0"/>
                </a:solidFill>
              </a:rPr>
              <a:t>DECLARE</a:t>
            </a:r>
          </a:p>
          <a:p>
            <a:pPr marL="0" indent="0">
              <a:lnSpc>
                <a:spcPct val="120000"/>
              </a:lnSpc>
              <a:buNone/>
            </a:pPr>
            <a:r>
              <a:rPr lang="en-US" sz="1500" dirty="0">
                <a:ln>
                  <a:solidFill>
                    <a:srgbClr val="00B0F0"/>
                  </a:solidFill>
                </a:ln>
                <a:solidFill>
                  <a:srgbClr val="00B0F0"/>
                </a:solidFill>
              </a:rPr>
              <a:t> 	TYPE </a:t>
            </a:r>
            <a:r>
              <a:rPr lang="en-US" sz="1500" dirty="0" err="1">
                <a:ln>
                  <a:solidFill>
                    <a:srgbClr val="00B0F0"/>
                  </a:solidFill>
                </a:ln>
                <a:solidFill>
                  <a:srgbClr val="00B0F0"/>
                </a:solidFill>
              </a:rPr>
              <a:t>TmpCurTyp</a:t>
            </a:r>
            <a:r>
              <a:rPr lang="en-US" sz="1500" dirty="0">
                <a:ln>
                  <a:solidFill>
                    <a:srgbClr val="00B0F0"/>
                  </a:solidFill>
                </a:ln>
                <a:solidFill>
                  <a:srgbClr val="00B0F0"/>
                </a:solidFill>
              </a:rPr>
              <a:t> IS REF CURSOR RETURN </a:t>
            </a:r>
            <a:r>
              <a:rPr lang="en-US" sz="1500" dirty="0" err="1">
                <a:ln>
                  <a:solidFill>
                    <a:srgbClr val="00B0F0"/>
                  </a:solidFill>
                </a:ln>
                <a:solidFill>
                  <a:srgbClr val="00B0F0"/>
                </a:solidFill>
              </a:rPr>
              <a:t>emp%ROWTYPE</a:t>
            </a:r>
            <a:r>
              <a:rPr lang="en-US" sz="1500" dirty="0">
                <a:ln>
                  <a:solidFill>
                    <a:srgbClr val="00B0F0"/>
                  </a:solidFill>
                </a:ln>
                <a:solidFill>
                  <a:srgbClr val="00B0F0"/>
                </a:solidFill>
              </a:rPr>
              <a:t>;</a:t>
            </a:r>
          </a:p>
          <a:p>
            <a:pPr marL="0" indent="0">
              <a:lnSpc>
                <a:spcPct val="12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tmp_cv</a:t>
            </a:r>
            <a:r>
              <a:rPr lang="en-US" sz="1500" dirty="0">
                <a:ln>
                  <a:solidFill>
                    <a:srgbClr val="00B0F0"/>
                  </a:solidFill>
                </a:ln>
                <a:solidFill>
                  <a:srgbClr val="00B0F0"/>
                </a:solidFill>
              </a:rPr>
              <a:t> </a:t>
            </a:r>
            <a:r>
              <a:rPr lang="en-US" sz="1500" dirty="0" err="1">
                <a:ln>
                  <a:solidFill>
                    <a:srgbClr val="00B0F0"/>
                  </a:solidFill>
                </a:ln>
                <a:solidFill>
                  <a:srgbClr val="00B0F0"/>
                </a:solidFill>
              </a:rPr>
              <a:t>TmpCurTyp</a:t>
            </a:r>
            <a:r>
              <a:rPr lang="en-US" sz="1500" dirty="0">
                <a:ln>
                  <a:solidFill>
                    <a:srgbClr val="00B0F0"/>
                  </a:solidFill>
                </a:ln>
                <a:solidFill>
                  <a:srgbClr val="00B0F0"/>
                </a:solidFill>
              </a:rPr>
              <a:t>; -- declare cursor variable</a:t>
            </a:r>
          </a:p>
          <a:p>
            <a:pPr marL="0" indent="0">
              <a:lnSpc>
                <a:spcPct val="120000"/>
              </a:lnSpc>
              <a:buNone/>
            </a:pPr>
            <a:r>
              <a:rPr lang="en-US" sz="1500" dirty="0">
                <a:ln>
                  <a:solidFill>
                    <a:srgbClr val="00B0F0"/>
                  </a:solidFill>
                </a:ln>
                <a:solidFill>
                  <a:srgbClr val="00B0F0"/>
                </a:solidFill>
              </a:rPr>
              <a:t> </a:t>
            </a:r>
          </a:p>
          <a:p>
            <a:pPr marL="0" indent="0">
              <a:lnSpc>
                <a:spcPct val="120000"/>
              </a:lnSpc>
              <a:buNone/>
            </a:pPr>
            <a:r>
              <a:rPr lang="en-US" sz="1500" dirty="0">
                <a:ln>
                  <a:solidFill>
                    <a:srgbClr val="00B0F0"/>
                  </a:solidFill>
                </a:ln>
                <a:solidFill>
                  <a:srgbClr val="00B0F0"/>
                </a:solidFill>
              </a:rPr>
              <a:t>	--following line will cause the error </a:t>
            </a:r>
          </a:p>
          <a:p>
            <a:pPr marL="0" indent="0">
              <a:lnSpc>
                <a:spcPct val="120000"/>
              </a:lnSpc>
              <a:buNone/>
            </a:pPr>
            <a:r>
              <a:rPr lang="en-US" sz="1500" dirty="0">
                <a:ln>
                  <a:solidFill>
                    <a:srgbClr val="00B0F0"/>
                  </a:solidFill>
                </a:ln>
                <a:solidFill>
                  <a:srgbClr val="00B0F0"/>
                </a:solidFill>
              </a:rPr>
              <a:t>	TYPE </a:t>
            </a:r>
            <a:r>
              <a:rPr lang="en-US" sz="1500" dirty="0" err="1">
                <a:ln>
                  <a:solidFill>
                    <a:srgbClr val="00B0F0"/>
                  </a:solidFill>
                </a:ln>
                <a:solidFill>
                  <a:srgbClr val="00B0F0"/>
                </a:solidFill>
              </a:rPr>
              <a:t>EmpCurTyp</a:t>
            </a:r>
            <a:r>
              <a:rPr lang="en-US" sz="1500" dirty="0">
                <a:ln>
                  <a:solidFill>
                    <a:srgbClr val="00B0F0"/>
                  </a:solidFill>
                </a:ln>
                <a:solidFill>
                  <a:srgbClr val="00B0F0"/>
                </a:solidFill>
              </a:rPr>
              <a:t> IS REF CURSOR RETURN </a:t>
            </a:r>
            <a:r>
              <a:rPr lang="en-US" sz="1500" dirty="0" err="1">
                <a:ln>
                  <a:solidFill>
                    <a:srgbClr val="00B0F0"/>
                  </a:solidFill>
                </a:ln>
                <a:solidFill>
                  <a:srgbClr val="00B0F0"/>
                </a:solidFill>
              </a:rPr>
              <a:t>tmp_cv%TYPE</a:t>
            </a:r>
            <a:r>
              <a:rPr lang="en-US" sz="1500" dirty="0">
                <a:ln>
                  <a:solidFill>
                    <a:srgbClr val="00B0F0"/>
                  </a:solidFill>
                </a:ln>
                <a:solidFill>
                  <a:srgbClr val="00B0F0"/>
                </a:solidFill>
              </a:rPr>
              <a:t>;</a:t>
            </a:r>
          </a:p>
          <a:p>
            <a:pPr marL="0" indent="0">
              <a:lnSpc>
                <a:spcPct val="12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emp_cv</a:t>
            </a:r>
            <a:r>
              <a:rPr lang="en-US" sz="1500" dirty="0">
                <a:ln>
                  <a:solidFill>
                    <a:srgbClr val="00B0F0"/>
                  </a:solidFill>
                </a:ln>
                <a:solidFill>
                  <a:srgbClr val="00B0F0"/>
                </a:solidFill>
              </a:rPr>
              <a:t> </a:t>
            </a:r>
            <a:r>
              <a:rPr lang="en-US" sz="1500" dirty="0" err="1">
                <a:ln>
                  <a:solidFill>
                    <a:srgbClr val="00B0F0"/>
                  </a:solidFill>
                </a:ln>
                <a:solidFill>
                  <a:srgbClr val="00B0F0"/>
                </a:solidFill>
              </a:rPr>
              <a:t>EmpCurTyp</a:t>
            </a:r>
            <a:r>
              <a:rPr lang="en-US" sz="1500" dirty="0">
                <a:ln>
                  <a:solidFill>
                    <a:srgbClr val="00B0F0"/>
                  </a:solidFill>
                </a:ln>
                <a:solidFill>
                  <a:srgbClr val="00B0F0"/>
                </a:solidFill>
              </a:rPr>
              <a:t>; -- declare cursor variable.</a:t>
            </a:r>
          </a:p>
          <a:p>
            <a:pPr marL="0" indent="0">
              <a:lnSpc>
                <a:spcPct val="120000"/>
              </a:lnSpc>
              <a:buNone/>
            </a:pPr>
            <a:r>
              <a:rPr lang="en-US" sz="1500" dirty="0">
                <a:ln>
                  <a:solidFill>
                    <a:srgbClr val="00B0F0"/>
                  </a:solidFill>
                </a:ln>
                <a:solidFill>
                  <a:srgbClr val="00B0F0"/>
                </a:solidFill>
              </a:rPr>
              <a:t> begin</a:t>
            </a:r>
          </a:p>
          <a:p>
            <a:pPr marL="0" indent="0">
              <a:lnSpc>
                <a:spcPct val="12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('hello');</a:t>
            </a:r>
          </a:p>
          <a:p>
            <a:pPr marL="0" indent="0">
              <a:lnSpc>
                <a:spcPct val="120000"/>
              </a:lnSpc>
              <a:buNone/>
            </a:pPr>
            <a:r>
              <a:rPr lang="en-US" sz="1500" dirty="0">
                <a:ln>
                  <a:solidFill>
                    <a:srgbClr val="00B0F0"/>
                  </a:solidFill>
                </a:ln>
                <a:solidFill>
                  <a:srgbClr val="00B0F0"/>
                </a:solidFill>
              </a:rPr>
              <a:t> end;</a:t>
            </a:r>
          </a:p>
          <a:p>
            <a:pPr marL="0" indent="0">
              <a:lnSpc>
                <a:spcPct val="120000"/>
              </a:lnSpc>
              <a:buNone/>
            </a:pPr>
            <a:r>
              <a:rPr lang="en-US" sz="1500" dirty="0">
                <a:ln>
                  <a:solidFill>
                    <a:srgbClr val="00B0F0"/>
                  </a:solidFill>
                </a:ln>
                <a:solidFill>
                  <a:srgbClr val="00B0F0"/>
                </a:solidFill>
              </a:rPr>
              <a:t>/</a:t>
            </a:r>
          </a:p>
          <a:p>
            <a:pPr marL="0" indent="0">
              <a:lnSpc>
                <a:spcPct val="120000"/>
              </a:lnSpc>
              <a:buNone/>
            </a:pPr>
            <a:r>
              <a:rPr lang="en-US" sz="1800" dirty="0"/>
              <a:t>invalid cursor return type; 'TMP_CV%TYPE' must be a record type</a:t>
            </a:r>
            <a:endParaRPr lang="en-US" sz="18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4.10: Declaring STRONG REF cursor types</a:t>
            </a:r>
            <a:br>
              <a:rPr lang="en-US" sz="1400" b="1" dirty="0">
                <a:latin typeface="Candara"/>
              </a:rPr>
            </a:br>
            <a:r>
              <a:rPr lang="en-US" dirty="0"/>
              <a:t>Using %TYPE							….</a:t>
            </a:r>
            <a:r>
              <a:rPr lang="en-US" dirty="0" err="1"/>
              <a:t>contd</a:t>
            </a:r>
            <a:endParaRPr lang="en-US" sz="2400" b="1" dirty="0">
              <a:latin typeface="Candara"/>
            </a:endParaRPr>
          </a:p>
        </p:txBody>
      </p:sp>
    </p:spTree>
    <p:extLst>
      <p:ext uri="{BB962C8B-B14F-4D97-AF65-F5344CB8AC3E}">
        <p14:creationId xmlns:p14="http://schemas.microsoft.com/office/powerpoint/2010/main" val="3727581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203716" y="774219"/>
            <a:ext cx="8940283" cy="4066673"/>
          </a:xfrm>
        </p:spPr>
        <p:txBody>
          <a:bodyPr>
            <a:normAutofit/>
          </a:bodyPr>
          <a:lstStyle/>
          <a:p>
            <a:pPr algn="just"/>
            <a:endParaRPr lang="en-US" dirty="0"/>
          </a:p>
          <a:p>
            <a:pPr algn="just"/>
            <a:r>
              <a:rPr lang="en-US" dirty="0"/>
              <a:t>In the RETURN clause of a STRONG REF cursor type definition, you can use a user-defined record-type :</a:t>
            </a:r>
          </a:p>
          <a:p>
            <a:pPr marL="0" indent="0">
              <a:buNone/>
            </a:pPr>
            <a:r>
              <a:rPr lang="en-US" dirty="0"/>
              <a:t> </a:t>
            </a:r>
          </a:p>
          <a:p>
            <a:pPr marL="0" indent="0">
              <a:lnSpc>
                <a:spcPct val="110000"/>
              </a:lnSpc>
              <a:buNone/>
            </a:pPr>
            <a:r>
              <a:rPr lang="en-US" sz="1400" dirty="0">
                <a:ln>
                  <a:solidFill>
                    <a:srgbClr val="00B0F0"/>
                  </a:solidFill>
                </a:ln>
                <a:solidFill>
                  <a:srgbClr val="00B0F0"/>
                </a:solidFill>
              </a:rPr>
              <a:t>DECLARE </a:t>
            </a:r>
          </a:p>
          <a:p>
            <a:pPr marL="0" indent="0">
              <a:lnSpc>
                <a:spcPct val="110000"/>
              </a:lnSpc>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EmpRecTyp</a:t>
            </a:r>
            <a:r>
              <a:rPr lang="en-US" sz="1400" dirty="0">
                <a:ln>
                  <a:solidFill>
                    <a:srgbClr val="00B0F0"/>
                  </a:solidFill>
                </a:ln>
                <a:solidFill>
                  <a:srgbClr val="00B0F0"/>
                </a:solidFill>
              </a:rPr>
              <a:t> IS RECORD(</a:t>
            </a:r>
            <a:r>
              <a:rPr lang="en-US" sz="1400" dirty="0" err="1">
                <a:ln>
                  <a:solidFill>
                    <a:srgbClr val="00B0F0"/>
                  </a:solidFill>
                </a:ln>
                <a:solidFill>
                  <a:srgbClr val="00B0F0"/>
                </a:solidFill>
              </a:rPr>
              <a:t>empno</a:t>
            </a:r>
            <a:r>
              <a:rPr lang="en-US" sz="1400" dirty="0">
                <a:ln>
                  <a:solidFill>
                    <a:srgbClr val="00B0F0"/>
                  </a:solidFill>
                </a:ln>
                <a:solidFill>
                  <a:srgbClr val="00B0F0"/>
                </a:solidFill>
              </a:rPr>
              <a:t> NUMBER(4), </a:t>
            </a:r>
            <a:r>
              <a:rPr lang="en-US" sz="1400" dirty="0" err="1">
                <a:ln>
                  <a:solidFill>
                    <a:srgbClr val="00B0F0"/>
                  </a:solidFill>
                </a:ln>
                <a:solidFill>
                  <a:srgbClr val="00B0F0"/>
                </a:solidFill>
              </a:rPr>
              <a:t>ename</a:t>
            </a:r>
            <a:r>
              <a:rPr lang="en-US" sz="1400" dirty="0">
                <a:ln>
                  <a:solidFill>
                    <a:srgbClr val="00B0F0"/>
                  </a:solidFill>
                </a:ln>
                <a:solidFill>
                  <a:srgbClr val="00B0F0"/>
                </a:solidFill>
              </a:rPr>
              <a:t> VARCHAR2(10), </a:t>
            </a:r>
            <a:r>
              <a:rPr lang="en-US" sz="1400" dirty="0" err="1">
                <a:ln>
                  <a:solidFill>
                    <a:srgbClr val="00B0F0"/>
                  </a:solidFill>
                </a:ln>
                <a:solidFill>
                  <a:srgbClr val="00B0F0"/>
                </a:solidFill>
              </a:rPr>
              <a:t>sal</a:t>
            </a:r>
            <a:r>
              <a:rPr lang="en-US" sz="1400" dirty="0">
                <a:ln>
                  <a:solidFill>
                    <a:srgbClr val="00B0F0"/>
                  </a:solidFill>
                </a:ln>
                <a:solidFill>
                  <a:srgbClr val="00B0F0"/>
                </a:solidFill>
              </a:rPr>
              <a:t> NUMBER(7,2)); </a:t>
            </a:r>
          </a:p>
          <a:p>
            <a:pPr marL="0" indent="0">
              <a:lnSpc>
                <a:spcPct val="110000"/>
              </a:lnSpc>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EmpRecTyp</a:t>
            </a:r>
            <a:r>
              <a:rPr lang="en-US" sz="1400" dirty="0">
                <a:ln>
                  <a:solidFill>
                    <a:srgbClr val="00B0F0"/>
                  </a:solidFill>
                </a:ln>
                <a:solidFill>
                  <a:srgbClr val="00B0F0"/>
                </a:solidFill>
              </a:rPr>
              <a:t>; </a:t>
            </a:r>
          </a:p>
          <a:p>
            <a:pPr marL="0" indent="0">
              <a:lnSpc>
                <a:spcPct val="11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 declare cursor variable</a:t>
            </a:r>
          </a:p>
          <a:p>
            <a:pPr marL="0" indent="0">
              <a:lnSpc>
                <a:spcPct val="110000"/>
              </a:lnSpc>
              <a:buNone/>
            </a:pPr>
            <a:r>
              <a:rPr lang="en-US" sz="1400" dirty="0">
                <a:ln>
                  <a:solidFill>
                    <a:srgbClr val="00B0F0"/>
                  </a:solidFill>
                </a:ln>
                <a:solidFill>
                  <a:srgbClr val="00B0F0"/>
                </a:solidFill>
              </a:rPr>
              <a:t>begin</a:t>
            </a:r>
          </a:p>
          <a:p>
            <a:pPr marL="0" indent="0">
              <a:lnSpc>
                <a:spcPct val="110000"/>
              </a:lnSpc>
              <a:buNone/>
            </a:pPr>
            <a:r>
              <a:rPr lang="en-US" sz="1400" dirty="0">
                <a:ln>
                  <a:solidFill>
                    <a:srgbClr val="00B0F0"/>
                  </a:solidFill>
                </a:ln>
                <a:solidFill>
                  <a:srgbClr val="00B0F0"/>
                </a:solidFill>
              </a:rPr>
              <a:t>	null;</a:t>
            </a:r>
          </a:p>
          <a:p>
            <a:pPr marL="0" indent="0">
              <a:lnSpc>
                <a:spcPct val="110000"/>
              </a:lnSpc>
              <a:buNone/>
            </a:pPr>
            <a:r>
              <a:rPr lang="en-US" sz="1400" dirty="0">
                <a:ln>
                  <a:solidFill>
                    <a:srgbClr val="00B0F0"/>
                  </a:solidFill>
                </a:ln>
                <a:solidFill>
                  <a:srgbClr val="00B0F0"/>
                </a:solidFill>
              </a:rPr>
              <a:t>end;</a:t>
            </a:r>
          </a:p>
          <a:p>
            <a:pPr marL="0" indent="0">
              <a:lnSpc>
                <a:spcPct val="110000"/>
              </a:lnSpc>
              <a:buNone/>
            </a:pPr>
            <a:r>
              <a:rPr lang="en-US" sz="14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4.10: Declaring STRONG REF cursor types</a:t>
            </a:r>
            <a:br>
              <a:rPr lang="en-US" sz="1400" b="1" dirty="0">
                <a:latin typeface="Candara"/>
              </a:rPr>
            </a:br>
            <a:r>
              <a:rPr lang="en-US" dirty="0"/>
              <a:t>Using user-defined Record-type	</a:t>
            </a:r>
            <a:endParaRPr lang="en-US" sz="2400" b="1" dirty="0">
              <a:latin typeface="Candara"/>
            </a:endParaRPr>
          </a:p>
        </p:txBody>
      </p:sp>
    </p:spTree>
    <p:extLst>
      <p:ext uri="{BB962C8B-B14F-4D97-AF65-F5344CB8AC3E}">
        <p14:creationId xmlns:p14="http://schemas.microsoft.com/office/powerpoint/2010/main" val="1049182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fontScale="55000" lnSpcReduction="20000"/>
          </a:bodyPr>
          <a:lstStyle/>
          <a:p>
            <a:pPr algn="just"/>
            <a:endParaRPr lang="en-US" dirty="0"/>
          </a:p>
          <a:p>
            <a:pPr algn="just"/>
            <a:r>
              <a:rPr lang="en-US" sz="2500" dirty="0"/>
              <a:t>Example of IN OUT mode :</a:t>
            </a:r>
          </a:p>
          <a:p>
            <a:pPr marL="0" indent="0">
              <a:buNone/>
            </a:pPr>
            <a:r>
              <a:rPr lang="en-US" dirty="0"/>
              <a:t> </a:t>
            </a:r>
          </a:p>
          <a:p>
            <a:pPr marL="0" indent="0">
              <a:lnSpc>
                <a:spcPct val="130000"/>
              </a:lnSpc>
              <a:buNone/>
            </a:pPr>
            <a:r>
              <a:rPr lang="en-US" sz="2500" dirty="0">
                <a:ln>
                  <a:solidFill>
                    <a:srgbClr val="00B0F0"/>
                  </a:solidFill>
                </a:ln>
                <a:solidFill>
                  <a:srgbClr val="00B0F0"/>
                </a:solidFill>
              </a:rPr>
              <a:t>DECLARE</a:t>
            </a:r>
          </a:p>
          <a:p>
            <a:pPr marL="0" indent="0">
              <a:lnSpc>
                <a:spcPct val="130000"/>
              </a:lnSpc>
              <a:buNone/>
            </a:pPr>
            <a:r>
              <a:rPr lang="en-US" sz="2500" dirty="0">
                <a:ln>
                  <a:solidFill>
                    <a:srgbClr val="00B0F0"/>
                  </a:solidFill>
                </a:ln>
                <a:solidFill>
                  <a:srgbClr val="00B0F0"/>
                </a:solidFill>
              </a:rPr>
              <a:t>	TYPE </a:t>
            </a:r>
            <a:r>
              <a:rPr lang="en-US" sz="2500" dirty="0" err="1">
                <a:ln>
                  <a:solidFill>
                    <a:srgbClr val="00B0F0"/>
                  </a:solidFill>
                </a:ln>
                <a:solidFill>
                  <a:srgbClr val="00B0F0"/>
                </a:solidFill>
              </a:rPr>
              <a:t>EmpCurTyp</a:t>
            </a:r>
            <a:r>
              <a:rPr lang="en-US" sz="2500" dirty="0">
                <a:ln>
                  <a:solidFill>
                    <a:srgbClr val="00B0F0"/>
                  </a:solidFill>
                </a:ln>
                <a:solidFill>
                  <a:srgbClr val="00B0F0"/>
                </a:solidFill>
              </a:rPr>
              <a:t> IS REF CURSOR RETURN </a:t>
            </a:r>
            <a:r>
              <a:rPr lang="en-US" sz="2500" dirty="0" err="1">
                <a:ln>
                  <a:solidFill>
                    <a:srgbClr val="00B0F0"/>
                  </a:solidFill>
                </a:ln>
                <a:solidFill>
                  <a:srgbClr val="00B0F0"/>
                </a:solidFill>
              </a:rPr>
              <a:t>emp%ROWTYPE</a:t>
            </a:r>
            <a:r>
              <a:rPr lang="en-US" sz="2500" dirty="0">
                <a:ln>
                  <a:solidFill>
                    <a:srgbClr val="00B0F0"/>
                  </a:solidFill>
                </a:ln>
                <a:solidFill>
                  <a:srgbClr val="00B0F0"/>
                </a:solidFill>
              </a:rPr>
              <a:t>;</a:t>
            </a:r>
          </a:p>
          <a:p>
            <a:pPr marL="0" indent="0">
              <a:lnSpc>
                <a:spcPct val="130000"/>
              </a:lnSpc>
              <a:buNone/>
            </a:pPr>
            <a:r>
              <a:rPr lang="en-US" sz="2500" dirty="0">
                <a:ln>
                  <a:solidFill>
                    <a:srgbClr val="00B0F0"/>
                  </a:solidFill>
                </a:ln>
                <a:solidFill>
                  <a:srgbClr val="00B0F0"/>
                </a:solidFill>
              </a:rPr>
              <a:t>	x </a:t>
            </a:r>
            <a:r>
              <a:rPr lang="en-US" sz="2500" dirty="0" err="1">
                <a:ln>
                  <a:solidFill>
                    <a:srgbClr val="00B0F0"/>
                  </a:solidFill>
                </a:ln>
                <a:solidFill>
                  <a:srgbClr val="00B0F0"/>
                </a:solidFill>
              </a:rPr>
              <a:t>empcurtyp</a:t>
            </a:r>
            <a:r>
              <a:rPr lang="en-US" sz="2500" dirty="0">
                <a:ln>
                  <a:solidFill>
                    <a:srgbClr val="00B0F0"/>
                  </a:solidFill>
                </a:ln>
                <a:solidFill>
                  <a:srgbClr val="00B0F0"/>
                </a:solidFill>
              </a:rPr>
              <a:t>;</a:t>
            </a:r>
          </a:p>
          <a:p>
            <a:pPr marL="0" indent="0">
              <a:lnSpc>
                <a:spcPct val="130000"/>
              </a:lnSpc>
              <a:buNone/>
            </a:pPr>
            <a:r>
              <a:rPr lang="en-US" sz="2500" dirty="0">
                <a:ln>
                  <a:solidFill>
                    <a:srgbClr val="00B0F0"/>
                  </a:solidFill>
                </a:ln>
                <a:solidFill>
                  <a:srgbClr val="00B0F0"/>
                </a:solidFill>
              </a:rPr>
              <a:t>	Y </a:t>
            </a:r>
            <a:r>
              <a:rPr lang="en-US" sz="2500" dirty="0" err="1">
                <a:ln>
                  <a:solidFill>
                    <a:srgbClr val="00B0F0"/>
                  </a:solidFill>
                </a:ln>
                <a:solidFill>
                  <a:srgbClr val="00B0F0"/>
                </a:solidFill>
              </a:rPr>
              <a:t>emp%rowtype</a:t>
            </a:r>
            <a:r>
              <a:rPr lang="en-US" sz="2500" dirty="0">
                <a:ln>
                  <a:solidFill>
                    <a:srgbClr val="00B0F0"/>
                  </a:solidFill>
                </a:ln>
                <a:solidFill>
                  <a:srgbClr val="00B0F0"/>
                </a:solidFill>
              </a:rPr>
              <a:t>;</a:t>
            </a:r>
          </a:p>
          <a:p>
            <a:pPr marL="0" indent="0">
              <a:lnSpc>
                <a:spcPct val="130000"/>
              </a:lnSpc>
              <a:buNone/>
            </a:pPr>
            <a:r>
              <a:rPr lang="en-US" sz="2500" dirty="0">
                <a:ln>
                  <a:solidFill>
                    <a:srgbClr val="00B0F0"/>
                  </a:solidFill>
                </a:ln>
                <a:solidFill>
                  <a:srgbClr val="00B0F0"/>
                </a:solidFill>
              </a:rPr>
              <a:t>	PROCEDURE </a:t>
            </a:r>
            <a:r>
              <a:rPr lang="en-US" sz="2500" dirty="0" err="1">
                <a:ln>
                  <a:solidFill>
                    <a:srgbClr val="00B0F0"/>
                  </a:solidFill>
                </a:ln>
                <a:solidFill>
                  <a:srgbClr val="00B0F0"/>
                </a:solidFill>
              </a:rPr>
              <a:t>open_emp_cv</a:t>
            </a:r>
            <a:r>
              <a:rPr lang="en-US" sz="2500" dirty="0">
                <a:ln>
                  <a:solidFill>
                    <a:srgbClr val="00B0F0"/>
                  </a:solidFill>
                </a:ln>
                <a:solidFill>
                  <a:srgbClr val="00B0F0"/>
                </a:solidFill>
              </a:rPr>
              <a:t> (</a:t>
            </a:r>
            <a:r>
              <a:rPr lang="en-US" sz="2500" dirty="0" err="1">
                <a:ln>
                  <a:solidFill>
                    <a:srgbClr val="00B0F0"/>
                  </a:solidFill>
                </a:ln>
                <a:solidFill>
                  <a:srgbClr val="00B0F0"/>
                </a:solidFill>
              </a:rPr>
              <a:t>emp_cv</a:t>
            </a:r>
            <a:r>
              <a:rPr lang="en-US" sz="2500" dirty="0">
                <a:ln>
                  <a:solidFill>
                    <a:srgbClr val="00B0F0"/>
                  </a:solidFill>
                </a:ln>
                <a:solidFill>
                  <a:srgbClr val="00B0F0"/>
                </a:solidFill>
              </a:rPr>
              <a:t> IN OUT </a:t>
            </a:r>
            <a:r>
              <a:rPr lang="en-US" sz="2500" dirty="0" err="1">
                <a:ln>
                  <a:solidFill>
                    <a:srgbClr val="00B0F0"/>
                  </a:solidFill>
                </a:ln>
                <a:solidFill>
                  <a:srgbClr val="00B0F0"/>
                </a:solidFill>
              </a:rPr>
              <a:t>EmpCurTyp</a:t>
            </a:r>
            <a:r>
              <a:rPr lang="en-US" sz="2500" dirty="0">
                <a:ln>
                  <a:solidFill>
                    <a:srgbClr val="00B0F0"/>
                  </a:solidFill>
                </a:ln>
                <a:solidFill>
                  <a:srgbClr val="00B0F0"/>
                </a:solidFill>
              </a:rPr>
              <a:t>) IS</a:t>
            </a:r>
          </a:p>
          <a:p>
            <a:pPr marL="0" indent="0">
              <a:lnSpc>
                <a:spcPct val="130000"/>
              </a:lnSpc>
              <a:buNone/>
            </a:pPr>
            <a:r>
              <a:rPr lang="en-US" sz="2500" dirty="0">
                <a:ln>
                  <a:solidFill>
                    <a:srgbClr val="00B0F0"/>
                  </a:solidFill>
                </a:ln>
                <a:solidFill>
                  <a:srgbClr val="00B0F0"/>
                </a:solidFill>
              </a:rPr>
              <a:t>	Begin</a:t>
            </a:r>
          </a:p>
          <a:p>
            <a:pPr marL="0" indent="0">
              <a:lnSpc>
                <a:spcPct val="130000"/>
              </a:lnSpc>
              <a:buNone/>
            </a:pPr>
            <a:r>
              <a:rPr lang="en-US" sz="2500" dirty="0">
                <a:ln>
                  <a:solidFill>
                    <a:srgbClr val="00B0F0"/>
                  </a:solidFill>
                </a:ln>
                <a:solidFill>
                  <a:srgbClr val="00B0F0"/>
                </a:solidFill>
              </a:rPr>
              <a:t>		open </a:t>
            </a:r>
            <a:r>
              <a:rPr lang="en-US" sz="2500" dirty="0" err="1">
                <a:ln>
                  <a:solidFill>
                    <a:srgbClr val="00B0F0"/>
                  </a:solidFill>
                </a:ln>
                <a:solidFill>
                  <a:srgbClr val="00B0F0"/>
                </a:solidFill>
              </a:rPr>
              <a:t>emp_cv</a:t>
            </a:r>
            <a:r>
              <a:rPr lang="en-US" sz="2500" dirty="0">
                <a:ln>
                  <a:solidFill>
                    <a:srgbClr val="00B0F0"/>
                  </a:solidFill>
                </a:ln>
                <a:solidFill>
                  <a:srgbClr val="00B0F0"/>
                </a:solidFill>
              </a:rPr>
              <a:t> for select * from </a:t>
            </a:r>
            <a:r>
              <a:rPr lang="en-US" sz="2500" dirty="0" err="1">
                <a:ln>
                  <a:solidFill>
                    <a:srgbClr val="00B0F0"/>
                  </a:solidFill>
                </a:ln>
                <a:solidFill>
                  <a:srgbClr val="00B0F0"/>
                </a:solidFill>
              </a:rPr>
              <a:t>emp</a:t>
            </a:r>
            <a:r>
              <a:rPr lang="en-US" sz="2500" dirty="0">
                <a:ln>
                  <a:solidFill>
                    <a:srgbClr val="00B0F0"/>
                  </a:solidFill>
                </a:ln>
                <a:solidFill>
                  <a:srgbClr val="00B0F0"/>
                </a:solidFill>
              </a:rPr>
              <a:t>;</a:t>
            </a:r>
          </a:p>
          <a:p>
            <a:pPr marL="0" indent="0">
              <a:lnSpc>
                <a:spcPct val="130000"/>
              </a:lnSpc>
              <a:buNone/>
            </a:pPr>
            <a:r>
              <a:rPr lang="en-US" sz="2500" dirty="0">
                <a:ln>
                  <a:solidFill>
                    <a:srgbClr val="00B0F0"/>
                  </a:solidFill>
                </a:ln>
                <a:solidFill>
                  <a:srgbClr val="00B0F0"/>
                </a:solidFill>
              </a:rPr>
              <a:t>	end;</a:t>
            </a:r>
          </a:p>
          <a:p>
            <a:pPr marL="0" indent="0">
              <a:lnSpc>
                <a:spcPct val="130000"/>
              </a:lnSpc>
              <a:buNone/>
            </a:pPr>
            <a:r>
              <a:rPr lang="en-US" sz="2500" dirty="0">
                <a:ln>
                  <a:solidFill>
                    <a:srgbClr val="00B0F0"/>
                  </a:solidFill>
                </a:ln>
                <a:solidFill>
                  <a:srgbClr val="00B0F0"/>
                </a:solidFill>
              </a:rPr>
              <a:t>begin</a:t>
            </a:r>
          </a:p>
          <a:p>
            <a:pPr marL="0" indent="0">
              <a:lnSpc>
                <a:spcPct val="130000"/>
              </a:lnSpc>
              <a:buNone/>
            </a:pPr>
            <a:r>
              <a:rPr lang="en-US" sz="2500" dirty="0">
                <a:ln>
                  <a:solidFill>
                    <a:srgbClr val="00B0F0"/>
                  </a:solidFill>
                </a:ln>
                <a:solidFill>
                  <a:srgbClr val="00B0F0"/>
                </a:solidFill>
              </a:rPr>
              <a:t>	</a:t>
            </a:r>
            <a:r>
              <a:rPr lang="en-US" sz="2500" dirty="0" err="1">
                <a:ln>
                  <a:solidFill>
                    <a:srgbClr val="00B0F0"/>
                  </a:solidFill>
                </a:ln>
                <a:solidFill>
                  <a:srgbClr val="00B0F0"/>
                </a:solidFill>
              </a:rPr>
              <a:t>dbms_output.put_line</a:t>
            </a:r>
            <a:r>
              <a:rPr lang="en-US" sz="2500" dirty="0">
                <a:ln>
                  <a:solidFill>
                    <a:srgbClr val="00B0F0"/>
                  </a:solidFill>
                </a:ln>
                <a:solidFill>
                  <a:srgbClr val="00B0F0"/>
                </a:solidFill>
              </a:rPr>
              <a:t>('hello');</a:t>
            </a:r>
          </a:p>
          <a:p>
            <a:pPr marL="0" indent="0">
              <a:lnSpc>
                <a:spcPct val="130000"/>
              </a:lnSpc>
              <a:buNone/>
            </a:pPr>
            <a:r>
              <a:rPr lang="en-US" sz="2500" dirty="0">
                <a:ln>
                  <a:solidFill>
                    <a:srgbClr val="00B0F0"/>
                  </a:solidFill>
                </a:ln>
                <a:solidFill>
                  <a:srgbClr val="00B0F0"/>
                </a:solidFill>
              </a:rPr>
              <a:t>	</a:t>
            </a:r>
            <a:r>
              <a:rPr lang="en-US" sz="2500" dirty="0" err="1">
                <a:ln>
                  <a:solidFill>
                    <a:srgbClr val="00B0F0"/>
                  </a:solidFill>
                </a:ln>
                <a:solidFill>
                  <a:srgbClr val="00B0F0"/>
                </a:solidFill>
              </a:rPr>
              <a:t>open_emp_cv</a:t>
            </a:r>
            <a:r>
              <a:rPr lang="en-US" sz="2500" dirty="0">
                <a:ln>
                  <a:solidFill>
                    <a:srgbClr val="00B0F0"/>
                  </a:solidFill>
                </a:ln>
                <a:solidFill>
                  <a:srgbClr val="00B0F0"/>
                </a:solidFill>
              </a:rPr>
              <a:t>(x);</a:t>
            </a: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STRONNG REF cursor types as IN, OUT and IN OUT parameter modes</a:t>
            </a:r>
            <a:br>
              <a:rPr lang="en-US" sz="1400" b="1" dirty="0">
                <a:latin typeface="Candara"/>
              </a:rPr>
            </a:br>
            <a:r>
              <a:rPr lang="en-US" dirty="0"/>
              <a:t>IN OUT mode for Strong Ref cursor type 	</a:t>
            </a:r>
            <a:endParaRPr lang="en-US" sz="2400" b="1" dirty="0">
              <a:latin typeface="Candara"/>
            </a:endParaRPr>
          </a:p>
        </p:txBody>
      </p:sp>
    </p:spTree>
    <p:extLst>
      <p:ext uri="{BB962C8B-B14F-4D97-AF65-F5344CB8AC3E}">
        <p14:creationId xmlns:p14="http://schemas.microsoft.com/office/powerpoint/2010/main" val="3040767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a:bodyPr>
          <a:lstStyle/>
          <a:p>
            <a:pPr marL="0" indent="0">
              <a:buNone/>
            </a:pPr>
            <a:r>
              <a:rPr lang="en-US" dirty="0"/>
              <a:t> </a:t>
            </a:r>
          </a:p>
          <a:p>
            <a:pPr marL="0" indent="0">
              <a:lnSpc>
                <a:spcPct val="130000"/>
              </a:lnSpc>
              <a:buNone/>
            </a:pPr>
            <a:r>
              <a:rPr lang="en-US" sz="1400" dirty="0">
                <a:ln>
                  <a:solidFill>
                    <a:srgbClr val="00B0F0"/>
                  </a:solidFill>
                </a:ln>
                <a:solidFill>
                  <a:srgbClr val="00B0F0"/>
                </a:solidFill>
              </a:rPr>
              <a:t>	loop</a:t>
            </a:r>
          </a:p>
          <a:p>
            <a:pPr marL="0" indent="0">
              <a:lnSpc>
                <a:spcPct val="130000"/>
              </a:lnSpc>
              <a:buNone/>
            </a:pPr>
            <a:r>
              <a:rPr lang="en-US" sz="1400" dirty="0">
                <a:ln>
                  <a:solidFill>
                    <a:srgbClr val="00B0F0"/>
                  </a:solidFill>
                </a:ln>
                <a:solidFill>
                  <a:srgbClr val="00B0F0"/>
                </a:solidFill>
              </a:rPr>
              <a:t>		fetch x into y;</a:t>
            </a:r>
          </a:p>
          <a:p>
            <a:pPr marL="0" indent="0">
              <a:lnSpc>
                <a:spcPct val="130000"/>
              </a:lnSpc>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x%notfound</a:t>
            </a:r>
            <a:r>
              <a:rPr lang="en-US" sz="1400" dirty="0">
                <a:ln>
                  <a:solidFill>
                    <a:srgbClr val="00B0F0"/>
                  </a:solidFill>
                </a:ln>
                <a:solidFill>
                  <a:srgbClr val="00B0F0"/>
                </a:solidFill>
              </a:rPr>
              <a:t>;</a:t>
            </a:r>
          </a:p>
          <a:p>
            <a:pPr marL="0" indent="0">
              <a:lnSpc>
                <a:spcPct val="130000"/>
              </a:lnSpc>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y.empno</a:t>
            </a:r>
            <a:r>
              <a:rPr lang="en-US" sz="1400" dirty="0">
                <a:ln>
                  <a:solidFill>
                    <a:srgbClr val="00B0F0"/>
                  </a:solidFill>
                </a:ln>
                <a:solidFill>
                  <a:srgbClr val="00B0F0"/>
                </a:solidFill>
              </a:rPr>
              <a:t>||</a:t>
            </a:r>
            <a:r>
              <a:rPr lang="en-US" sz="1400" dirty="0" err="1">
                <a:ln>
                  <a:solidFill>
                    <a:srgbClr val="00B0F0"/>
                  </a:solidFill>
                </a:ln>
                <a:solidFill>
                  <a:srgbClr val="00B0F0"/>
                </a:solidFill>
              </a:rPr>
              <a:t>y.ename</a:t>
            </a:r>
            <a:r>
              <a:rPr lang="en-US" sz="1400" dirty="0">
                <a:ln>
                  <a:solidFill>
                    <a:srgbClr val="00B0F0"/>
                  </a:solidFill>
                </a:ln>
                <a:solidFill>
                  <a:srgbClr val="00B0F0"/>
                </a:solidFill>
              </a:rPr>
              <a:t>);</a:t>
            </a:r>
          </a:p>
          <a:p>
            <a:pPr marL="0" indent="0">
              <a:lnSpc>
                <a:spcPct val="130000"/>
              </a:lnSpc>
              <a:buNone/>
            </a:pPr>
            <a:r>
              <a:rPr lang="en-US" sz="1400" dirty="0">
                <a:ln>
                  <a:solidFill>
                    <a:srgbClr val="00B0F0"/>
                  </a:solidFill>
                </a:ln>
                <a:solidFill>
                  <a:srgbClr val="00B0F0"/>
                </a:solidFill>
              </a:rPr>
              <a:t>	end loop;</a:t>
            </a:r>
          </a:p>
          <a:p>
            <a:pPr marL="0" indent="0">
              <a:lnSpc>
                <a:spcPct val="130000"/>
              </a:lnSpc>
              <a:buNone/>
            </a:pPr>
            <a:r>
              <a:rPr lang="en-US" sz="1400" dirty="0">
                <a:ln>
                  <a:solidFill>
                    <a:srgbClr val="00B0F0"/>
                  </a:solidFill>
                </a:ln>
                <a:solidFill>
                  <a:srgbClr val="00B0F0"/>
                </a:solidFill>
              </a:rPr>
              <a:t>end;</a:t>
            </a:r>
          </a:p>
          <a:p>
            <a:pPr marL="0" indent="0">
              <a:lnSpc>
                <a:spcPct val="130000"/>
              </a:lnSpc>
              <a:buNone/>
            </a:pPr>
            <a:r>
              <a:rPr lang="en-US" sz="14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IN OUT mode for Strong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2763935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164046"/>
          </a:xfrm>
        </p:spPr>
        <p:txBody>
          <a:bodyPr>
            <a:normAutofit fontScale="25000" lnSpcReduction="20000"/>
          </a:bodyPr>
          <a:lstStyle/>
          <a:p>
            <a:pPr algn="just"/>
            <a:r>
              <a:rPr lang="en-US" sz="5600" dirty="0"/>
              <a:t>Example 2 of IN OUT mode :</a:t>
            </a:r>
          </a:p>
          <a:p>
            <a:pPr marL="0" indent="0">
              <a:buNone/>
            </a:pPr>
            <a:r>
              <a:rPr lang="en-US" sz="5600" dirty="0"/>
              <a:t> </a:t>
            </a:r>
            <a:r>
              <a:rPr lang="en-US" sz="5600" dirty="0">
                <a:ln>
                  <a:solidFill>
                    <a:srgbClr val="00B0F0"/>
                  </a:solidFill>
                </a:ln>
                <a:solidFill>
                  <a:srgbClr val="00B0F0"/>
                </a:solidFill>
              </a:rPr>
              <a:t>Create table emp1 as select </a:t>
            </a:r>
            <a:r>
              <a:rPr lang="en-US" sz="5600" dirty="0" err="1">
                <a:ln>
                  <a:solidFill>
                    <a:srgbClr val="00B0F0"/>
                  </a:solidFill>
                </a:ln>
                <a:solidFill>
                  <a:srgbClr val="00B0F0"/>
                </a:solidFill>
              </a:rPr>
              <a:t>empno</a:t>
            </a:r>
            <a:r>
              <a:rPr lang="en-US" sz="5600" dirty="0">
                <a:ln>
                  <a:solidFill>
                    <a:srgbClr val="00B0F0"/>
                  </a:solidFill>
                </a:ln>
                <a:solidFill>
                  <a:srgbClr val="00B0F0"/>
                </a:solidFill>
              </a:rPr>
              <a:t>, </a:t>
            </a:r>
            <a:r>
              <a:rPr lang="en-US" sz="5600" dirty="0" err="1">
                <a:ln>
                  <a:solidFill>
                    <a:srgbClr val="00B0F0"/>
                  </a:solidFill>
                </a:ln>
                <a:solidFill>
                  <a:srgbClr val="00B0F0"/>
                </a:solidFill>
              </a:rPr>
              <a:t>ename</a:t>
            </a:r>
            <a:r>
              <a:rPr lang="en-US" sz="5600" dirty="0">
                <a:ln>
                  <a:solidFill>
                    <a:srgbClr val="00B0F0"/>
                  </a:solidFill>
                </a:ln>
                <a:solidFill>
                  <a:srgbClr val="00B0F0"/>
                </a:solidFill>
              </a:rPr>
              <a:t> from </a:t>
            </a:r>
            <a:r>
              <a:rPr lang="en-US" sz="5600" dirty="0" err="1">
                <a:ln>
                  <a:solidFill>
                    <a:srgbClr val="00B0F0"/>
                  </a:solidFill>
                </a:ln>
                <a:solidFill>
                  <a:srgbClr val="00B0F0"/>
                </a:solidFill>
              </a:rPr>
              <a:t>emp</a:t>
            </a:r>
            <a:r>
              <a:rPr lang="en-US" sz="5600" dirty="0">
                <a:ln>
                  <a:solidFill>
                    <a:srgbClr val="00B0F0"/>
                  </a:solidFill>
                </a:ln>
                <a:solidFill>
                  <a:srgbClr val="00B0F0"/>
                </a:solidFill>
              </a:rPr>
              <a:t>;</a:t>
            </a:r>
          </a:p>
          <a:p>
            <a:pPr marL="0" indent="0">
              <a:buNone/>
            </a:pPr>
            <a:endParaRPr lang="en-US" sz="2400" dirty="0">
              <a:ln>
                <a:solidFill>
                  <a:srgbClr val="00B0F0"/>
                </a:solidFill>
              </a:ln>
              <a:solidFill>
                <a:srgbClr val="00B0F0"/>
              </a:solidFill>
            </a:endParaRPr>
          </a:p>
          <a:p>
            <a:pPr marL="0" indent="0">
              <a:buNone/>
            </a:pPr>
            <a:r>
              <a:rPr lang="en-US" sz="5600" dirty="0">
                <a:ln>
                  <a:solidFill>
                    <a:srgbClr val="00B0F0"/>
                  </a:solidFill>
                </a:ln>
                <a:solidFill>
                  <a:srgbClr val="00B0F0"/>
                </a:solidFill>
              </a:rPr>
              <a:t>DECLARE</a:t>
            </a:r>
          </a:p>
          <a:p>
            <a:pPr marL="0" indent="0">
              <a:buNone/>
            </a:pPr>
            <a:r>
              <a:rPr lang="en-US" sz="5600" dirty="0">
                <a:ln>
                  <a:solidFill>
                    <a:srgbClr val="00B0F0"/>
                  </a:solidFill>
                </a:ln>
                <a:solidFill>
                  <a:srgbClr val="00B0F0"/>
                </a:solidFill>
              </a:rPr>
              <a:t> 	a emp1.empno%type;</a:t>
            </a:r>
          </a:p>
          <a:p>
            <a:pPr marL="0" indent="0">
              <a:buNone/>
            </a:pPr>
            <a:r>
              <a:rPr lang="en-US" sz="5600" dirty="0">
                <a:ln>
                  <a:solidFill>
                    <a:srgbClr val="00B0F0"/>
                  </a:solidFill>
                </a:ln>
                <a:solidFill>
                  <a:srgbClr val="00B0F0"/>
                </a:solidFill>
              </a:rPr>
              <a:t> 	b emp1.ename%type;</a:t>
            </a:r>
          </a:p>
          <a:p>
            <a:pPr marL="0" indent="0">
              <a:buNone/>
            </a:pPr>
            <a:r>
              <a:rPr lang="en-US" sz="5600" dirty="0">
                <a:ln>
                  <a:solidFill>
                    <a:srgbClr val="00B0F0"/>
                  </a:solidFill>
                </a:ln>
                <a:solidFill>
                  <a:srgbClr val="00B0F0"/>
                </a:solidFill>
              </a:rPr>
              <a:t> 	TYPE </a:t>
            </a:r>
            <a:r>
              <a:rPr lang="en-US" sz="5600" dirty="0" err="1">
                <a:ln>
                  <a:solidFill>
                    <a:srgbClr val="00B0F0"/>
                  </a:solidFill>
                </a:ln>
                <a:solidFill>
                  <a:srgbClr val="00B0F0"/>
                </a:solidFill>
              </a:rPr>
              <a:t>EmpCurTyp</a:t>
            </a:r>
            <a:r>
              <a:rPr lang="en-US" sz="5600" dirty="0">
                <a:ln>
                  <a:solidFill>
                    <a:srgbClr val="00B0F0"/>
                  </a:solidFill>
                </a:ln>
                <a:solidFill>
                  <a:srgbClr val="00B0F0"/>
                </a:solidFill>
              </a:rPr>
              <a:t> IS REF CURSOR RETURN emp1%ROWTYPE;</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abcd</a:t>
            </a:r>
            <a:r>
              <a:rPr lang="en-US" sz="5600" dirty="0">
                <a:ln>
                  <a:solidFill>
                    <a:srgbClr val="00B0F0"/>
                  </a:solidFill>
                </a:ln>
                <a:solidFill>
                  <a:srgbClr val="00B0F0"/>
                </a:solidFill>
              </a:rPr>
              <a:t> </a:t>
            </a:r>
            <a:r>
              <a:rPr lang="en-US" sz="5600" dirty="0" err="1">
                <a:ln>
                  <a:solidFill>
                    <a:srgbClr val="00B0F0"/>
                  </a:solidFill>
                </a:ln>
                <a:solidFill>
                  <a:srgbClr val="00B0F0"/>
                </a:solidFill>
              </a:rPr>
              <a:t>EmpCurTyp</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PROCEDURE </a:t>
            </a:r>
            <a:r>
              <a:rPr lang="en-US" sz="5600" dirty="0" err="1">
                <a:ln>
                  <a:solidFill>
                    <a:srgbClr val="00B0F0"/>
                  </a:solidFill>
                </a:ln>
                <a:solidFill>
                  <a:srgbClr val="00B0F0"/>
                </a:solidFill>
              </a:rPr>
              <a:t>open_emp_cv</a:t>
            </a:r>
            <a:r>
              <a:rPr lang="en-US" sz="5600" dirty="0">
                <a:ln>
                  <a:solidFill>
                    <a:srgbClr val="00B0F0"/>
                  </a:solidFill>
                </a:ln>
                <a:solidFill>
                  <a:srgbClr val="00B0F0"/>
                </a:solidFill>
              </a:rPr>
              <a:t>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IN OUT </a:t>
            </a:r>
            <a:r>
              <a:rPr lang="en-US" sz="5600" dirty="0" err="1">
                <a:ln>
                  <a:solidFill>
                    <a:srgbClr val="00B0F0"/>
                  </a:solidFill>
                </a:ln>
                <a:solidFill>
                  <a:srgbClr val="00B0F0"/>
                </a:solidFill>
              </a:rPr>
              <a:t>EmpCurTyp</a:t>
            </a:r>
            <a:r>
              <a:rPr lang="en-US" sz="5600" dirty="0">
                <a:ln>
                  <a:solidFill>
                    <a:srgbClr val="00B0F0"/>
                  </a:solidFill>
                </a:ln>
                <a:solidFill>
                  <a:srgbClr val="00B0F0"/>
                </a:solidFill>
              </a:rPr>
              <a:t>) IS</a:t>
            </a:r>
          </a:p>
          <a:p>
            <a:pPr marL="0" indent="0">
              <a:buNone/>
            </a:pPr>
            <a:r>
              <a:rPr lang="en-US" sz="5600" dirty="0">
                <a:ln>
                  <a:solidFill>
                    <a:srgbClr val="00B0F0"/>
                  </a:solidFill>
                </a:ln>
                <a:solidFill>
                  <a:srgbClr val="00B0F0"/>
                </a:solidFill>
              </a:rPr>
              <a:t> 	Begin</a:t>
            </a:r>
          </a:p>
          <a:p>
            <a:pPr marL="0" indent="0">
              <a:buNone/>
            </a:pPr>
            <a:r>
              <a:rPr lang="en-US" sz="5600" dirty="0">
                <a:ln>
                  <a:solidFill>
                    <a:srgbClr val="00B0F0"/>
                  </a:solidFill>
                </a:ln>
                <a:solidFill>
                  <a:srgbClr val="00B0F0"/>
                </a:solidFill>
              </a:rPr>
              <a:t>    		if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is null then</a:t>
            </a:r>
          </a:p>
          <a:p>
            <a:pPr marL="0" indent="0">
              <a:buNone/>
            </a:pPr>
            <a:r>
              <a:rPr lang="en-US" sz="5600" dirty="0">
                <a:ln>
                  <a:solidFill>
                    <a:srgbClr val="00B0F0"/>
                  </a:solidFill>
                </a:ln>
                <a:solidFill>
                  <a:srgbClr val="00B0F0"/>
                </a:solidFill>
              </a:rPr>
              <a:t>         			open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for select * from emp1;</a:t>
            </a:r>
          </a:p>
          <a:p>
            <a:pPr marL="0" indent="0">
              <a:buNone/>
            </a:pPr>
            <a:r>
              <a:rPr lang="en-US" sz="5600" dirty="0">
                <a:ln>
                  <a:solidFill>
                    <a:srgbClr val="00B0F0"/>
                  </a:solidFill>
                </a:ln>
                <a:solidFill>
                  <a:srgbClr val="00B0F0"/>
                </a:solidFill>
              </a:rPr>
              <a:t>    		else</a:t>
            </a:r>
          </a:p>
          <a:p>
            <a:pPr marL="0" indent="0">
              <a:buNone/>
            </a:pPr>
            <a:r>
              <a:rPr lang="en-US" sz="5600" dirty="0">
                <a:ln>
                  <a:solidFill>
                    <a:srgbClr val="00B0F0"/>
                  </a:solidFill>
                </a:ln>
                <a:solidFill>
                  <a:srgbClr val="00B0F0"/>
                </a:solidFill>
              </a:rPr>
              <a:t>         			loop</a:t>
            </a:r>
          </a:p>
          <a:p>
            <a:pPr marL="0" indent="0">
              <a:buNone/>
            </a:pPr>
            <a:r>
              <a:rPr lang="en-US" sz="5600" dirty="0">
                <a:ln>
                  <a:solidFill>
                    <a:srgbClr val="00B0F0"/>
                  </a:solidFill>
                </a:ln>
                <a:solidFill>
                  <a:srgbClr val="00B0F0"/>
                </a:solidFill>
              </a:rPr>
              <a:t>		                    	fetch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into </a:t>
            </a:r>
            <a:r>
              <a:rPr lang="en-US" sz="5600" dirty="0" err="1">
                <a:ln>
                  <a:solidFill>
                    <a:srgbClr val="00B0F0"/>
                  </a:solidFill>
                </a:ln>
                <a:solidFill>
                  <a:srgbClr val="00B0F0"/>
                </a:solidFill>
              </a:rPr>
              <a:t>a,b</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exit when </a:t>
            </a:r>
            <a:r>
              <a:rPr lang="en-US" sz="5600" dirty="0" err="1">
                <a:ln>
                  <a:solidFill>
                    <a:srgbClr val="00B0F0"/>
                  </a:solidFill>
                </a:ln>
                <a:solidFill>
                  <a:srgbClr val="00B0F0"/>
                </a:solidFill>
              </a:rPr>
              <a:t>emp_cv%notfound</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('Number: '||a||' Name :'||b);</a:t>
            </a:r>
          </a:p>
          <a:p>
            <a:pPr marL="0" indent="0">
              <a:buNone/>
            </a:pPr>
            <a:r>
              <a:rPr lang="en-US" sz="5600" dirty="0">
                <a:ln>
                  <a:solidFill>
                    <a:srgbClr val="00B0F0"/>
                  </a:solidFill>
                </a:ln>
                <a:solidFill>
                  <a:srgbClr val="00B0F0"/>
                </a:solidFill>
              </a:rPr>
              <a:t>            			end loop;</a:t>
            </a:r>
          </a:p>
          <a:p>
            <a:pPr marL="0" indent="0">
              <a:buNone/>
            </a:pPr>
            <a:r>
              <a:rPr lang="en-US" sz="5600" dirty="0">
                <a:ln>
                  <a:solidFill>
                    <a:srgbClr val="00B0F0"/>
                  </a:solidFill>
                </a:ln>
                <a:solidFill>
                  <a:srgbClr val="00B0F0"/>
                </a:solidFill>
              </a:rPr>
              <a:t>    		end if;</a:t>
            </a:r>
          </a:p>
          <a:p>
            <a:pPr marL="0" indent="0">
              <a:buNone/>
            </a:pPr>
            <a:r>
              <a:rPr lang="en-US" sz="5600" dirty="0">
                <a:ln>
                  <a:solidFill>
                    <a:srgbClr val="00B0F0"/>
                  </a:solidFill>
                </a:ln>
                <a:solidFill>
                  <a:srgbClr val="00B0F0"/>
                </a:solidFill>
              </a:rPr>
              <a:t> 	end;</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IN OUT mode for Strong Ref cursor type 		…..</a:t>
            </a:r>
            <a:r>
              <a:rPr lang="en-US" dirty="0" err="1"/>
              <a:t>contd</a:t>
            </a:r>
            <a:endParaRPr lang="en-US" sz="2400" b="1" dirty="0">
              <a:latin typeface="Candara"/>
            </a:endParaRPr>
          </a:p>
        </p:txBody>
      </p:sp>
    </p:spTree>
    <p:extLst>
      <p:ext uri="{BB962C8B-B14F-4D97-AF65-F5344CB8AC3E}">
        <p14:creationId xmlns:p14="http://schemas.microsoft.com/office/powerpoint/2010/main" val="1731732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fontScale="40000" lnSpcReduction="20000"/>
          </a:bodyPr>
          <a:lstStyle/>
          <a:p>
            <a:pPr algn="just"/>
            <a:endParaRPr lang="en-US" dirty="0"/>
          </a:p>
          <a:p>
            <a:pPr algn="just"/>
            <a:r>
              <a:rPr lang="en-US" sz="3500" dirty="0"/>
              <a:t>Example 2 of IN OUT mode :</a:t>
            </a:r>
          </a:p>
          <a:p>
            <a:pPr marL="0" indent="0">
              <a:lnSpc>
                <a:spcPct val="130000"/>
              </a:lnSpc>
              <a:buNone/>
            </a:pPr>
            <a:r>
              <a:rPr lang="en-US" dirty="0"/>
              <a:t> </a:t>
            </a:r>
            <a:r>
              <a:rPr lang="en-US" sz="3500" dirty="0">
                <a:ln>
                  <a:solidFill>
                    <a:srgbClr val="00B0F0"/>
                  </a:solidFill>
                </a:ln>
                <a:solidFill>
                  <a:srgbClr val="00B0F0"/>
                </a:solidFill>
              </a:rPr>
              <a:t>begin</a:t>
            </a:r>
          </a:p>
          <a:p>
            <a:pPr marL="0" indent="0">
              <a:lnSpc>
                <a:spcPct val="130000"/>
              </a:lnSpc>
              <a:buNone/>
            </a:pPr>
            <a:r>
              <a:rPr lang="en-US" sz="3500" dirty="0">
                <a:ln>
                  <a:solidFill>
                    <a:srgbClr val="00B0F0"/>
                  </a:solidFill>
                </a:ln>
                <a:solidFill>
                  <a:srgbClr val="00B0F0"/>
                </a:solidFill>
              </a:rPr>
              <a:t> 	</a:t>
            </a:r>
            <a:r>
              <a:rPr lang="en-US" sz="3500" dirty="0" err="1">
                <a:ln>
                  <a:solidFill>
                    <a:srgbClr val="00B0F0"/>
                  </a:solidFill>
                </a:ln>
                <a:solidFill>
                  <a:srgbClr val="00B0F0"/>
                </a:solidFill>
              </a:rPr>
              <a:t>open_emp_cv</a:t>
            </a:r>
            <a:r>
              <a:rPr lang="en-US" sz="3500" dirty="0">
                <a:ln>
                  <a:solidFill>
                    <a:srgbClr val="00B0F0"/>
                  </a:solidFill>
                </a:ln>
                <a:solidFill>
                  <a:srgbClr val="00B0F0"/>
                </a:solidFill>
              </a:rPr>
              <a:t>(</a:t>
            </a:r>
            <a:r>
              <a:rPr lang="en-US" sz="3500" dirty="0" err="1">
                <a:ln>
                  <a:solidFill>
                    <a:srgbClr val="00B0F0"/>
                  </a:solidFill>
                </a:ln>
                <a:solidFill>
                  <a:srgbClr val="00B0F0"/>
                </a:solidFill>
              </a:rPr>
              <a:t>abcd</a:t>
            </a:r>
            <a:r>
              <a:rPr lang="en-US" sz="3500" dirty="0">
                <a:ln>
                  <a:solidFill>
                    <a:srgbClr val="00B0F0"/>
                  </a:solidFill>
                </a:ln>
                <a:solidFill>
                  <a:srgbClr val="00B0F0"/>
                </a:solidFill>
              </a:rPr>
              <a:t>);</a:t>
            </a:r>
          </a:p>
          <a:p>
            <a:pPr marL="0" indent="0">
              <a:lnSpc>
                <a:spcPct val="130000"/>
              </a:lnSpc>
              <a:buNone/>
            </a:pPr>
            <a:r>
              <a:rPr lang="en-US" sz="3500" dirty="0">
                <a:ln>
                  <a:solidFill>
                    <a:srgbClr val="00B0F0"/>
                  </a:solidFill>
                </a:ln>
                <a:solidFill>
                  <a:srgbClr val="00B0F0"/>
                </a:solidFill>
              </a:rPr>
              <a:t> 	loop</a:t>
            </a:r>
          </a:p>
          <a:p>
            <a:pPr marL="0" indent="0">
              <a:lnSpc>
                <a:spcPct val="130000"/>
              </a:lnSpc>
              <a:buNone/>
            </a:pPr>
            <a:r>
              <a:rPr lang="en-US" sz="3500" dirty="0">
                <a:ln>
                  <a:solidFill>
                    <a:srgbClr val="00B0F0"/>
                  </a:solidFill>
                </a:ln>
                <a:solidFill>
                  <a:srgbClr val="00B0F0"/>
                </a:solidFill>
              </a:rPr>
              <a:t> 		fetch </a:t>
            </a:r>
            <a:r>
              <a:rPr lang="en-US" sz="3500" dirty="0" err="1">
                <a:ln>
                  <a:solidFill>
                    <a:srgbClr val="00B0F0"/>
                  </a:solidFill>
                </a:ln>
                <a:solidFill>
                  <a:srgbClr val="00B0F0"/>
                </a:solidFill>
              </a:rPr>
              <a:t>abcd</a:t>
            </a:r>
            <a:r>
              <a:rPr lang="en-US" sz="3500" dirty="0">
                <a:ln>
                  <a:solidFill>
                    <a:srgbClr val="00B0F0"/>
                  </a:solidFill>
                </a:ln>
                <a:solidFill>
                  <a:srgbClr val="00B0F0"/>
                </a:solidFill>
              </a:rPr>
              <a:t> into </a:t>
            </a:r>
            <a:r>
              <a:rPr lang="en-US" sz="3500" dirty="0" err="1">
                <a:ln>
                  <a:solidFill>
                    <a:srgbClr val="00B0F0"/>
                  </a:solidFill>
                </a:ln>
                <a:solidFill>
                  <a:srgbClr val="00B0F0"/>
                </a:solidFill>
              </a:rPr>
              <a:t>a,b</a:t>
            </a:r>
            <a:r>
              <a:rPr lang="en-US" sz="3500" dirty="0">
                <a:ln>
                  <a:solidFill>
                    <a:srgbClr val="00B0F0"/>
                  </a:solidFill>
                </a:ln>
                <a:solidFill>
                  <a:srgbClr val="00B0F0"/>
                </a:solidFill>
              </a:rPr>
              <a:t>;</a:t>
            </a:r>
          </a:p>
          <a:p>
            <a:pPr marL="0" indent="0">
              <a:lnSpc>
                <a:spcPct val="130000"/>
              </a:lnSpc>
              <a:buNone/>
            </a:pPr>
            <a:r>
              <a:rPr lang="en-US" sz="3500" dirty="0">
                <a:ln>
                  <a:solidFill>
                    <a:srgbClr val="00B0F0"/>
                  </a:solidFill>
                </a:ln>
                <a:solidFill>
                  <a:srgbClr val="00B0F0"/>
                </a:solidFill>
              </a:rPr>
              <a:t>            		exit when </a:t>
            </a:r>
            <a:r>
              <a:rPr lang="en-US" sz="3500" dirty="0" err="1">
                <a:ln>
                  <a:solidFill>
                    <a:srgbClr val="00B0F0"/>
                  </a:solidFill>
                </a:ln>
                <a:solidFill>
                  <a:srgbClr val="00B0F0"/>
                </a:solidFill>
              </a:rPr>
              <a:t>abcd%notfound</a:t>
            </a:r>
            <a:r>
              <a:rPr lang="en-US" sz="3500" dirty="0">
                <a:ln>
                  <a:solidFill>
                    <a:srgbClr val="00B0F0"/>
                  </a:solidFill>
                </a:ln>
                <a:solidFill>
                  <a:srgbClr val="00B0F0"/>
                </a:solidFill>
              </a:rPr>
              <a:t>;</a:t>
            </a:r>
          </a:p>
          <a:p>
            <a:pPr marL="0" indent="0">
              <a:lnSpc>
                <a:spcPct val="130000"/>
              </a:lnSpc>
              <a:buNone/>
            </a:pPr>
            <a:r>
              <a:rPr lang="en-US" sz="3500" dirty="0">
                <a:ln>
                  <a:solidFill>
                    <a:srgbClr val="00B0F0"/>
                  </a:solidFill>
                </a:ln>
                <a:solidFill>
                  <a:srgbClr val="00B0F0"/>
                </a:solidFill>
              </a:rPr>
              <a:t> 		</a:t>
            </a:r>
            <a:r>
              <a:rPr lang="en-US" sz="3500" dirty="0" err="1">
                <a:ln>
                  <a:solidFill>
                    <a:srgbClr val="00B0F0"/>
                  </a:solidFill>
                </a:ln>
                <a:solidFill>
                  <a:srgbClr val="00B0F0"/>
                </a:solidFill>
              </a:rPr>
              <a:t>dbms_output.put_line</a:t>
            </a:r>
            <a:r>
              <a:rPr lang="en-US" sz="3500" dirty="0">
                <a:ln>
                  <a:solidFill>
                    <a:srgbClr val="00B0F0"/>
                  </a:solidFill>
                </a:ln>
                <a:solidFill>
                  <a:srgbClr val="00B0F0"/>
                </a:solidFill>
              </a:rPr>
              <a:t>('Number: '||a||' Name :'||b);</a:t>
            </a:r>
          </a:p>
          <a:p>
            <a:pPr marL="0" indent="0">
              <a:lnSpc>
                <a:spcPct val="130000"/>
              </a:lnSpc>
              <a:buNone/>
            </a:pPr>
            <a:r>
              <a:rPr lang="en-US" sz="3500" dirty="0">
                <a:ln>
                  <a:solidFill>
                    <a:srgbClr val="00B0F0"/>
                  </a:solidFill>
                </a:ln>
                <a:solidFill>
                  <a:srgbClr val="00B0F0"/>
                </a:solidFill>
              </a:rPr>
              <a:t> 	end loop;</a:t>
            </a:r>
          </a:p>
          <a:p>
            <a:pPr marL="0" indent="0">
              <a:lnSpc>
                <a:spcPct val="130000"/>
              </a:lnSpc>
              <a:buNone/>
            </a:pPr>
            <a:r>
              <a:rPr lang="en-US" sz="3500" dirty="0">
                <a:ln>
                  <a:solidFill>
                    <a:srgbClr val="00B0F0"/>
                  </a:solidFill>
                </a:ln>
                <a:solidFill>
                  <a:srgbClr val="00B0F0"/>
                </a:solidFill>
              </a:rPr>
              <a:t> 	</a:t>
            </a:r>
            <a:r>
              <a:rPr lang="en-US" sz="3500" dirty="0" err="1">
                <a:ln>
                  <a:solidFill>
                    <a:srgbClr val="00B0F0"/>
                  </a:solidFill>
                </a:ln>
                <a:solidFill>
                  <a:srgbClr val="00B0F0"/>
                </a:solidFill>
              </a:rPr>
              <a:t>dbms_output.put_line</a:t>
            </a:r>
            <a:r>
              <a:rPr lang="en-US" sz="3500" dirty="0">
                <a:ln>
                  <a:solidFill>
                    <a:srgbClr val="00B0F0"/>
                  </a:solidFill>
                </a:ln>
                <a:solidFill>
                  <a:srgbClr val="00B0F0"/>
                </a:solidFill>
              </a:rPr>
              <a:t>('hello');</a:t>
            </a:r>
          </a:p>
          <a:p>
            <a:pPr marL="0" indent="0">
              <a:lnSpc>
                <a:spcPct val="130000"/>
              </a:lnSpc>
              <a:buNone/>
            </a:pPr>
            <a:r>
              <a:rPr lang="en-US" sz="3500" dirty="0">
                <a:ln>
                  <a:solidFill>
                    <a:srgbClr val="00B0F0"/>
                  </a:solidFill>
                </a:ln>
                <a:solidFill>
                  <a:srgbClr val="00B0F0"/>
                </a:solidFill>
              </a:rPr>
              <a:t> 	open </a:t>
            </a:r>
            <a:r>
              <a:rPr lang="en-US" sz="3500" dirty="0" err="1">
                <a:ln>
                  <a:solidFill>
                    <a:srgbClr val="00B0F0"/>
                  </a:solidFill>
                </a:ln>
                <a:solidFill>
                  <a:srgbClr val="00B0F0"/>
                </a:solidFill>
              </a:rPr>
              <a:t>abcd</a:t>
            </a:r>
            <a:r>
              <a:rPr lang="en-US" sz="3500" dirty="0">
                <a:ln>
                  <a:solidFill>
                    <a:srgbClr val="00B0F0"/>
                  </a:solidFill>
                </a:ln>
                <a:solidFill>
                  <a:srgbClr val="00B0F0"/>
                </a:solidFill>
              </a:rPr>
              <a:t> for select </a:t>
            </a:r>
            <a:r>
              <a:rPr lang="en-US" sz="3500" dirty="0" err="1">
                <a:ln>
                  <a:solidFill>
                    <a:srgbClr val="00B0F0"/>
                  </a:solidFill>
                </a:ln>
                <a:solidFill>
                  <a:srgbClr val="00B0F0"/>
                </a:solidFill>
              </a:rPr>
              <a:t>deptno</a:t>
            </a:r>
            <a:r>
              <a:rPr lang="en-US" sz="3500" dirty="0">
                <a:ln>
                  <a:solidFill>
                    <a:srgbClr val="00B0F0"/>
                  </a:solidFill>
                </a:ln>
                <a:solidFill>
                  <a:srgbClr val="00B0F0"/>
                </a:solidFill>
              </a:rPr>
              <a:t>, </a:t>
            </a:r>
            <a:r>
              <a:rPr lang="en-US" sz="3500" dirty="0" err="1">
                <a:ln>
                  <a:solidFill>
                    <a:srgbClr val="00B0F0"/>
                  </a:solidFill>
                </a:ln>
                <a:solidFill>
                  <a:srgbClr val="00B0F0"/>
                </a:solidFill>
              </a:rPr>
              <a:t>dname</a:t>
            </a:r>
            <a:r>
              <a:rPr lang="en-US" sz="3500" dirty="0">
                <a:ln>
                  <a:solidFill>
                    <a:srgbClr val="00B0F0"/>
                  </a:solidFill>
                </a:ln>
                <a:solidFill>
                  <a:srgbClr val="00B0F0"/>
                </a:solidFill>
              </a:rPr>
              <a:t> from dept1;</a:t>
            </a:r>
          </a:p>
          <a:p>
            <a:pPr marL="0" indent="0">
              <a:lnSpc>
                <a:spcPct val="130000"/>
              </a:lnSpc>
              <a:buNone/>
            </a:pPr>
            <a:r>
              <a:rPr lang="en-US" sz="3500" dirty="0">
                <a:ln>
                  <a:solidFill>
                    <a:srgbClr val="00B0F0"/>
                  </a:solidFill>
                </a:ln>
                <a:solidFill>
                  <a:srgbClr val="00B0F0"/>
                </a:solidFill>
              </a:rPr>
              <a:t> 	</a:t>
            </a:r>
            <a:r>
              <a:rPr lang="en-US" sz="3500" dirty="0" err="1">
                <a:ln>
                  <a:solidFill>
                    <a:srgbClr val="00B0F0"/>
                  </a:solidFill>
                </a:ln>
                <a:solidFill>
                  <a:srgbClr val="00B0F0"/>
                </a:solidFill>
              </a:rPr>
              <a:t>open_emp_cv</a:t>
            </a:r>
            <a:r>
              <a:rPr lang="en-US" sz="3500" dirty="0">
                <a:ln>
                  <a:solidFill>
                    <a:srgbClr val="00B0F0"/>
                  </a:solidFill>
                </a:ln>
                <a:solidFill>
                  <a:srgbClr val="00B0F0"/>
                </a:solidFill>
              </a:rPr>
              <a:t>(</a:t>
            </a:r>
            <a:r>
              <a:rPr lang="en-US" sz="3500" dirty="0" err="1">
                <a:ln>
                  <a:solidFill>
                    <a:srgbClr val="00B0F0"/>
                  </a:solidFill>
                </a:ln>
                <a:solidFill>
                  <a:srgbClr val="00B0F0"/>
                </a:solidFill>
              </a:rPr>
              <a:t>abcd</a:t>
            </a:r>
            <a:r>
              <a:rPr lang="en-US" sz="3500" dirty="0">
                <a:ln>
                  <a:solidFill>
                    <a:srgbClr val="00B0F0"/>
                  </a:solidFill>
                </a:ln>
                <a:solidFill>
                  <a:srgbClr val="00B0F0"/>
                </a:solidFill>
              </a:rPr>
              <a:t>);</a:t>
            </a:r>
          </a:p>
          <a:p>
            <a:pPr marL="0" indent="0">
              <a:lnSpc>
                <a:spcPct val="130000"/>
              </a:lnSpc>
              <a:buNone/>
            </a:pPr>
            <a:r>
              <a:rPr lang="en-US" sz="3500" dirty="0">
                <a:ln>
                  <a:solidFill>
                    <a:srgbClr val="00B0F0"/>
                  </a:solidFill>
                </a:ln>
                <a:solidFill>
                  <a:srgbClr val="00B0F0"/>
                </a:solidFill>
              </a:rPr>
              <a:t> end;</a:t>
            </a:r>
          </a:p>
          <a:p>
            <a:pPr marL="0" indent="0">
              <a:lnSpc>
                <a:spcPct val="130000"/>
              </a:lnSpc>
              <a:buNone/>
            </a:pPr>
            <a:r>
              <a:rPr lang="en-US" sz="35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IN OUT mode for Strong Ref cursor type 		…..</a:t>
            </a:r>
            <a:r>
              <a:rPr lang="en-US" dirty="0" err="1"/>
              <a:t>contd</a:t>
            </a:r>
            <a:endParaRPr lang="en-US" sz="2400" b="1" dirty="0">
              <a:latin typeface="Candara"/>
            </a:endParaRPr>
          </a:p>
        </p:txBody>
      </p:sp>
    </p:spTree>
    <p:extLst>
      <p:ext uri="{BB962C8B-B14F-4D97-AF65-F5344CB8AC3E}">
        <p14:creationId xmlns:p14="http://schemas.microsoft.com/office/powerpoint/2010/main" val="304974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fontScale="40000" lnSpcReduction="20000"/>
          </a:bodyPr>
          <a:lstStyle/>
          <a:p>
            <a:pPr algn="just"/>
            <a:endParaRPr lang="en-US" dirty="0"/>
          </a:p>
          <a:p>
            <a:pPr algn="just"/>
            <a:r>
              <a:rPr lang="en-US" sz="3500" dirty="0"/>
              <a:t>Example of IN mode :</a:t>
            </a:r>
          </a:p>
          <a:p>
            <a:pPr marL="0" indent="0">
              <a:buNone/>
            </a:pPr>
            <a:endParaRPr lang="en-US" sz="3500" dirty="0">
              <a:ln>
                <a:solidFill>
                  <a:srgbClr val="00B0F0"/>
                </a:solidFill>
              </a:ln>
              <a:solidFill>
                <a:srgbClr val="00B0F0"/>
              </a:solidFill>
            </a:endParaRPr>
          </a:p>
          <a:p>
            <a:pPr marL="0" indent="0">
              <a:buNone/>
            </a:pPr>
            <a:r>
              <a:rPr lang="en-US" sz="3500" dirty="0">
                <a:ln>
                  <a:solidFill>
                    <a:srgbClr val="00B0F0"/>
                  </a:solidFill>
                </a:ln>
                <a:solidFill>
                  <a:srgbClr val="00B0F0"/>
                </a:solidFill>
              </a:rPr>
              <a:t>Create table emp1 as select </a:t>
            </a:r>
            <a:r>
              <a:rPr lang="en-US" sz="3500" dirty="0" err="1">
                <a:ln>
                  <a:solidFill>
                    <a:srgbClr val="00B0F0"/>
                  </a:solidFill>
                </a:ln>
                <a:solidFill>
                  <a:srgbClr val="00B0F0"/>
                </a:solidFill>
              </a:rPr>
              <a:t>emono</a:t>
            </a:r>
            <a:r>
              <a:rPr lang="en-US" sz="3500" dirty="0">
                <a:ln>
                  <a:solidFill>
                    <a:srgbClr val="00B0F0"/>
                  </a:solidFill>
                </a:ln>
                <a:solidFill>
                  <a:srgbClr val="00B0F0"/>
                </a:solidFill>
              </a:rPr>
              <a:t>, </a:t>
            </a:r>
            <a:r>
              <a:rPr lang="en-US" sz="3500" dirty="0" err="1">
                <a:ln>
                  <a:solidFill>
                    <a:srgbClr val="00B0F0"/>
                  </a:solidFill>
                </a:ln>
                <a:solidFill>
                  <a:srgbClr val="00B0F0"/>
                </a:solidFill>
              </a:rPr>
              <a:t>ename</a:t>
            </a:r>
            <a:r>
              <a:rPr lang="en-US" sz="3500" dirty="0">
                <a:ln>
                  <a:solidFill>
                    <a:srgbClr val="00B0F0"/>
                  </a:solidFill>
                </a:ln>
                <a:solidFill>
                  <a:srgbClr val="00B0F0"/>
                </a:solidFill>
              </a:rPr>
              <a:t> from </a:t>
            </a:r>
            <a:r>
              <a:rPr lang="en-US" sz="3500" dirty="0" err="1">
                <a:ln>
                  <a:solidFill>
                    <a:srgbClr val="00B0F0"/>
                  </a:solidFill>
                </a:ln>
                <a:solidFill>
                  <a:srgbClr val="00B0F0"/>
                </a:solidFill>
              </a:rPr>
              <a:t>emp</a:t>
            </a:r>
            <a:r>
              <a:rPr lang="en-US" sz="3500" dirty="0">
                <a:ln>
                  <a:solidFill>
                    <a:srgbClr val="00B0F0"/>
                  </a:solidFill>
                </a:ln>
                <a:solidFill>
                  <a:srgbClr val="00B0F0"/>
                </a:solidFill>
              </a:rPr>
              <a:t>;</a:t>
            </a:r>
          </a:p>
          <a:p>
            <a:pPr marL="0" indent="0">
              <a:buNone/>
            </a:pPr>
            <a:endParaRPr lang="en-US" dirty="0"/>
          </a:p>
          <a:p>
            <a:pPr marL="0" indent="0">
              <a:buNone/>
            </a:pPr>
            <a:r>
              <a:rPr lang="en-US" sz="3500" dirty="0">
                <a:ln>
                  <a:solidFill>
                    <a:srgbClr val="00B0F0"/>
                  </a:solidFill>
                </a:ln>
                <a:solidFill>
                  <a:srgbClr val="00B0F0"/>
                </a:solidFill>
              </a:rPr>
              <a:t>DECLARE</a:t>
            </a:r>
          </a:p>
          <a:p>
            <a:pPr marL="0" indent="0">
              <a:buNone/>
            </a:pPr>
            <a:r>
              <a:rPr lang="en-US" sz="3500" dirty="0">
                <a:ln>
                  <a:solidFill>
                    <a:srgbClr val="00B0F0"/>
                  </a:solidFill>
                </a:ln>
                <a:solidFill>
                  <a:srgbClr val="00B0F0"/>
                </a:solidFill>
              </a:rPr>
              <a:t>	a emp1.empno%type;</a:t>
            </a:r>
          </a:p>
          <a:p>
            <a:pPr marL="0" indent="0">
              <a:buNone/>
            </a:pPr>
            <a:r>
              <a:rPr lang="en-US" sz="3500" dirty="0">
                <a:ln>
                  <a:solidFill>
                    <a:srgbClr val="00B0F0"/>
                  </a:solidFill>
                </a:ln>
                <a:solidFill>
                  <a:srgbClr val="00B0F0"/>
                </a:solidFill>
              </a:rPr>
              <a:t>	b emp1.ename%type;</a:t>
            </a:r>
          </a:p>
          <a:p>
            <a:pPr marL="0" indent="0">
              <a:buNone/>
            </a:pPr>
            <a:r>
              <a:rPr lang="en-US" sz="3500" dirty="0">
                <a:ln>
                  <a:solidFill>
                    <a:srgbClr val="00B0F0"/>
                  </a:solidFill>
                </a:ln>
                <a:solidFill>
                  <a:srgbClr val="00B0F0"/>
                </a:solidFill>
              </a:rPr>
              <a:t>	TYPE </a:t>
            </a:r>
            <a:r>
              <a:rPr lang="en-US" sz="3500" dirty="0" err="1">
                <a:ln>
                  <a:solidFill>
                    <a:srgbClr val="00B0F0"/>
                  </a:solidFill>
                </a:ln>
                <a:solidFill>
                  <a:srgbClr val="00B0F0"/>
                </a:solidFill>
              </a:rPr>
              <a:t>EmpCurTyp</a:t>
            </a:r>
            <a:r>
              <a:rPr lang="en-US" sz="3500" dirty="0">
                <a:ln>
                  <a:solidFill>
                    <a:srgbClr val="00B0F0"/>
                  </a:solidFill>
                </a:ln>
                <a:solidFill>
                  <a:srgbClr val="00B0F0"/>
                </a:solidFill>
              </a:rPr>
              <a:t> IS REF CURSOR RETURN emp1%ROWTYPE;</a:t>
            </a:r>
          </a:p>
          <a:p>
            <a:pPr marL="0" indent="0">
              <a:buNone/>
            </a:pPr>
            <a:r>
              <a:rPr lang="en-US" sz="3500" dirty="0">
                <a:ln>
                  <a:solidFill>
                    <a:srgbClr val="00B0F0"/>
                  </a:solidFill>
                </a:ln>
                <a:solidFill>
                  <a:srgbClr val="00B0F0"/>
                </a:solidFill>
              </a:rPr>
              <a:t>	</a:t>
            </a:r>
            <a:r>
              <a:rPr lang="en-US" sz="3500" dirty="0" err="1">
                <a:ln>
                  <a:solidFill>
                    <a:srgbClr val="00B0F0"/>
                  </a:solidFill>
                </a:ln>
                <a:solidFill>
                  <a:srgbClr val="00B0F0"/>
                </a:solidFill>
              </a:rPr>
              <a:t>abcd</a:t>
            </a:r>
            <a:r>
              <a:rPr lang="en-US" sz="3500" dirty="0">
                <a:ln>
                  <a:solidFill>
                    <a:srgbClr val="00B0F0"/>
                  </a:solidFill>
                </a:ln>
                <a:solidFill>
                  <a:srgbClr val="00B0F0"/>
                </a:solidFill>
              </a:rPr>
              <a:t> </a:t>
            </a:r>
            <a:r>
              <a:rPr lang="en-US" sz="3500" dirty="0" err="1">
                <a:ln>
                  <a:solidFill>
                    <a:srgbClr val="00B0F0"/>
                  </a:solidFill>
                </a:ln>
                <a:solidFill>
                  <a:srgbClr val="00B0F0"/>
                </a:solidFill>
              </a:rPr>
              <a:t>EmpCurTyp</a:t>
            </a:r>
            <a:r>
              <a:rPr lang="en-US" sz="3500" dirty="0">
                <a:ln>
                  <a:solidFill>
                    <a:srgbClr val="00B0F0"/>
                  </a:solidFill>
                </a:ln>
                <a:solidFill>
                  <a:srgbClr val="00B0F0"/>
                </a:solidFill>
              </a:rPr>
              <a:t>;</a:t>
            </a:r>
          </a:p>
          <a:p>
            <a:pPr marL="0" indent="0">
              <a:buNone/>
            </a:pPr>
            <a:r>
              <a:rPr lang="en-US" sz="3500" dirty="0">
                <a:ln>
                  <a:solidFill>
                    <a:srgbClr val="00B0F0"/>
                  </a:solidFill>
                </a:ln>
                <a:solidFill>
                  <a:srgbClr val="00B0F0"/>
                </a:solidFill>
              </a:rPr>
              <a:t>	PROCEDURE </a:t>
            </a:r>
            <a:r>
              <a:rPr lang="en-US" sz="3500" dirty="0" err="1">
                <a:ln>
                  <a:solidFill>
                    <a:srgbClr val="00B0F0"/>
                  </a:solidFill>
                </a:ln>
                <a:solidFill>
                  <a:srgbClr val="00B0F0"/>
                </a:solidFill>
              </a:rPr>
              <a:t>open_emp_cv</a:t>
            </a:r>
            <a:r>
              <a:rPr lang="en-US" sz="3500" dirty="0">
                <a:ln>
                  <a:solidFill>
                    <a:srgbClr val="00B0F0"/>
                  </a:solidFill>
                </a:ln>
                <a:solidFill>
                  <a:srgbClr val="00B0F0"/>
                </a:solidFill>
              </a:rPr>
              <a:t> (</a:t>
            </a:r>
            <a:r>
              <a:rPr lang="en-US" sz="3500" dirty="0" err="1">
                <a:ln>
                  <a:solidFill>
                    <a:srgbClr val="00B0F0"/>
                  </a:solidFill>
                </a:ln>
                <a:solidFill>
                  <a:srgbClr val="00B0F0"/>
                </a:solidFill>
              </a:rPr>
              <a:t>emp_cv</a:t>
            </a:r>
            <a:r>
              <a:rPr lang="en-US" sz="3500" dirty="0">
                <a:ln>
                  <a:solidFill>
                    <a:srgbClr val="00B0F0"/>
                  </a:solidFill>
                </a:ln>
                <a:solidFill>
                  <a:srgbClr val="00B0F0"/>
                </a:solidFill>
              </a:rPr>
              <a:t> IN  </a:t>
            </a:r>
            <a:r>
              <a:rPr lang="en-US" sz="3500" dirty="0" err="1">
                <a:ln>
                  <a:solidFill>
                    <a:srgbClr val="00B0F0"/>
                  </a:solidFill>
                </a:ln>
                <a:solidFill>
                  <a:srgbClr val="00B0F0"/>
                </a:solidFill>
              </a:rPr>
              <a:t>EmpCurTyp</a:t>
            </a:r>
            <a:r>
              <a:rPr lang="en-US" sz="3500" dirty="0">
                <a:ln>
                  <a:solidFill>
                    <a:srgbClr val="00B0F0"/>
                  </a:solidFill>
                </a:ln>
                <a:solidFill>
                  <a:srgbClr val="00B0F0"/>
                </a:solidFill>
              </a:rPr>
              <a:t>) IS</a:t>
            </a:r>
          </a:p>
          <a:p>
            <a:pPr marL="0" indent="0">
              <a:buNone/>
            </a:pPr>
            <a:r>
              <a:rPr lang="en-US" sz="3500" dirty="0">
                <a:ln>
                  <a:solidFill>
                    <a:srgbClr val="00B0F0"/>
                  </a:solidFill>
                </a:ln>
                <a:solidFill>
                  <a:srgbClr val="00B0F0"/>
                </a:solidFill>
              </a:rPr>
              <a:t>	Begin</a:t>
            </a:r>
          </a:p>
          <a:p>
            <a:pPr marL="0" indent="0">
              <a:buNone/>
            </a:pPr>
            <a:r>
              <a:rPr lang="en-US" sz="3500" dirty="0">
                <a:ln>
                  <a:solidFill>
                    <a:srgbClr val="00B0F0"/>
                  </a:solidFill>
                </a:ln>
                <a:solidFill>
                  <a:srgbClr val="00B0F0"/>
                </a:solidFill>
              </a:rPr>
              <a:t>  		--open </a:t>
            </a:r>
            <a:r>
              <a:rPr lang="en-US" sz="3500" dirty="0" err="1">
                <a:ln>
                  <a:solidFill>
                    <a:srgbClr val="00B0F0"/>
                  </a:solidFill>
                </a:ln>
                <a:solidFill>
                  <a:srgbClr val="00B0F0"/>
                </a:solidFill>
              </a:rPr>
              <a:t>emp_cv</a:t>
            </a:r>
            <a:r>
              <a:rPr lang="en-US" sz="3500" dirty="0">
                <a:ln>
                  <a:solidFill>
                    <a:srgbClr val="00B0F0"/>
                  </a:solidFill>
                </a:ln>
                <a:solidFill>
                  <a:srgbClr val="00B0F0"/>
                </a:solidFill>
              </a:rPr>
              <a:t> for select * from emp1;</a:t>
            </a:r>
          </a:p>
          <a:p>
            <a:pPr marL="0" indent="0">
              <a:buNone/>
            </a:pPr>
            <a:r>
              <a:rPr lang="en-US" sz="3500" dirty="0">
                <a:ln>
                  <a:solidFill>
                    <a:srgbClr val="00B0F0"/>
                  </a:solidFill>
                </a:ln>
                <a:solidFill>
                  <a:srgbClr val="00B0F0"/>
                </a:solidFill>
              </a:rPr>
              <a:t>  		loop</a:t>
            </a:r>
          </a:p>
          <a:p>
            <a:pPr marL="0" indent="0">
              <a:buNone/>
            </a:pPr>
            <a:r>
              <a:rPr lang="en-US" sz="3500" dirty="0">
                <a:ln>
                  <a:solidFill>
                    <a:srgbClr val="00B0F0"/>
                  </a:solidFill>
                </a:ln>
                <a:solidFill>
                  <a:srgbClr val="00B0F0"/>
                </a:solidFill>
              </a:rPr>
              <a:t>      			fetch </a:t>
            </a:r>
            <a:r>
              <a:rPr lang="en-US" sz="3500" dirty="0" err="1">
                <a:ln>
                  <a:solidFill>
                    <a:srgbClr val="00B0F0"/>
                  </a:solidFill>
                </a:ln>
                <a:solidFill>
                  <a:srgbClr val="00B0F0"/>
                </a:solidFill>
              </a:rPr>
              <a:t>emp_cv</a:t>
            </a:r>
            <a:r>
              <a:rPr lang="en-US" sz="3500" dirty="0">
                <a:ln>
                  <a:solidFill>
                    <a:srgbClr val="00B0F0"/>
                  </a:solidFill>
                </a:ln>
                <a:solidFill>
                  <a:srgbClr val="00B0F0"/>
                </a:solidFill>
              </a:rPr>
              <a:t> into </a:t>
            </a:r>
            <a:r>
              <a:rPr lang="en-US" sz="3500" dirty="0" err="1">
                <a:ln>
                  <a:solidFill>
                    <a:srgbClr val="00B0F0"/>
                  </a:solidFill>
                </a:ln>
                <a:solidFill>
                  <a:srgbClr val="00B0F0"/>
                </a:solidFill>
              </a:rPr>
              <a:t>a,b</a:t>
            </a:r>
            <a:r>
              <a:rPr lang="en-US" sz="3500" dirty="0">
                <a:ln>
                  <a:solidFill>
                    <a:srgbClr val="00B0F0"/>
                  </a:solidFill>
                </a:ln>
                <a:solidFill>
                  <a:srgbClr val="00B0F0"/>
                </a:solidFill>
              </a:rPr>
              <a:t>;</a:t>
            </a:r>
          </a:p>
          <a:p>
            <a:pPr marL="0" indent="0">
              <a:buNone/>
            </a:pPr>
            <a:r>
              <a:rPr lang="en-US" sz="3500" dirty="0">
                <a:ln>
                  <a:solidFill>
                    <a:srgbClr val="00B0F0"/>
                  </a:solidFill>
                </a:ln>
                <a:solidFill>
                  <a:srgbClr val="00B0F0"/>
                </a:solidFill>
              </a:rPr>
              <a:t>     			exit when </a:t>
            </a:r>
            <a:r>
              <a:rPr lang="en-US" sz="3500" dirty="0" err="1">
                <a:ln>
                  <a:solidFill>
                    <a:srgbClr val="00B0F0"/>
                  </a:solidFill>
                </a:ln>
                <a:solidFill>
                  <a:srgbClr val="00B0F0"/>
                </a:solidFill>
              </a:rPr>
              <a:t>emp_cv%notfound</a:t>
            </a:r>
            <a:r>
              <a:rPr lang="en-US" sz="3500" dirty="0">
                <a:ln>
                  <a:solidFill>
                    <a:srgbClr val="00B0F0"/>
                  </a:solidFill>
                </a:ln>
                <a:solidFill>
                  <a:srgbClr val="00B0F0"/>
                </a:solidFill>
              </a:rPr>
              <a:t>;</a:t>
            </a:r>
          </a:p>
          <a:p>
            <a:pPr marL="0" indent="0">
              <a:buNone/>
            </a:pPr>
            <a:r>
              <a:rPr lang="en-US" sz="3500" dirty="0">
                <a:ln>
                  <a:solidFill>
                    <a:srgbClr val="00B0F0"/>
                  </a:solidFill>
                </a:ln>
                <a:solidFill>
                  <a:srgbClr val="00B0F0"/>
                </a:solidFill>
              </a:rPr>
              <a:t>      			</a:t>
            </a:r>
            <a:r>
              <a:rPr lang="en-US" sz="3500" dirty="0" err="1">
                <a:ln>
                  <a:solidFill>
                    <a:srgbClr val="00B0F0"/>
                  </a:solidFill>
                </a:ln>
                <a:solidFill>
                  <a:srgbClr val="00B0F0"/>
                </a:solidFill>
              </a:rPr>
              <a:t>dbms_output.put_line</a:t>
            </a:r>
            <a:r>
              <a:rPr lang="en-US" sz="3500" dirty="0">
                <a:ln>
                  <a:solidFill>
                    <a:srgbClr val="00B0F0"/>
                  </a:solidFill>
                </a:ln>
                <a:solidFill>
                  <a:srgbClr val="00B0F0"/>
                </a:solidFill>
              </a:rPr>
              <a:t>('</a:t>
            </a:r>
            <a:r>
              <a:rPr lang="en-US" sz="3500" dirty="0" err="1">
                <a:ln>
                  <a:solidFill>
                    <a:srgbClr val="00B0F0"/>
                  </a:solidFill>
                </a:ln>
                <a:solidFill>
                  <a:srgbClr val="00B0F0"/>
                </a:solidFill>
              </a:rPr>
              <a:t>Emp</a:t>
            </a:r>
            <a:r>
              <a:rPr lang="en-US" sz="3500" dirty="0">
                <a:ln>
                  <a:solidFill>
                    <a:srgbClr val="00B0F0"/>
                  </a:solidFill>
                </a:ln>
                <a:solidFill>
                  <a:srgbClr val="00B0F0"/>
                </a:solidFill>
              </a:rPr>
              <a:t> Number: '||a||' </a:t>
            </a:r>
            <a:r>
              <a:rPr lang="en-US" sz="3500" dirty="0" err="1">
                <a:ln>
                  <a:solidFill>
                    <a:srgbClr val="00B0F0"/>
                  </a:solidFill>
                </a:ln>
                <a:solidFill>
                  <a:srgbClr val="00B0F0"/>
                </a:solidFill>
              </a:rPr>
              <a:t>Empname</a:t>
            </a:r>
            <a:r>
              <a:rPr lang="en-US" sz="3500" dirty="0">
                <a:ln>
                  <a:solidFill>
                    <a:srgbClr val="00B0F0"/>
                  </a:solidFill>
                </a:ln>
                <a:solidFill>
                  <a:srgbClr val="00B0F0"/>
                </a:solidFill>
              </a:rPr>
              <a:t> :'||b);</a:t>
            </a:r>
          </a:p>
          <a:p>
            <a:pPr marL="0" indent="0">
              <a:buNone/>
            </a:pPr>
            <a:r>
              <a:rPr lang="en-US" sz="3500" dirty="0">
                <a:ln>
                  <a:solidFill>
                    <a:srgbClr val="00B0F0"/>
                  </a:solidFill>
                </a:ln>
                <a:solidFill>
                  <a:srgbClr val="00B0F0"/>
                </a:solidFill>
              </a:rPr>
              <a:t>  		end loop;</a:t>
            </a:r>
          </a:p>
          <a:p>
            <a:pPr marL="0" indent="0">
              <a:buNone/>
            </a:pPr>
            <a:r>
              <a:rPr lang="en-US" sz="3500" dirty="0">
                <a:ln>
                  <a:solidFill>
                    <a:srgbClr val="00B0F0"/>
                  </a:solidFill>
                </a:ln>
                <a:solidFill>
                  <a:srgbClr val="00B0F0"/>
                </a:solidFill>
              </a:rPr>
              <a:t>	end;</a:t>
            </a: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IN mode for Strong Ref cursor type 	</a:t>
            </a:r>
            <a:endParaRPr lang="en-US" sz="2400" b="1" dirty="0">
              <a:latin typeface="Candara"/>
            </a:endParaRPr>
          </a:p>
        </p:txBody>
      </p:sp>
    </p:spTree>
    <p:extLst>
      <p:ext uri="{BB962C8B-B14F-4D97-AF65-F5344CB8AC3E}">
        <p14:creationId xmlns:p14="http://schemas.microsoft.com/office/powerpoint/2010/main" val="55573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a:bodyPr>
          <a:lstStyle/>
          <a:p>
            <a:pPr algn="just"/>
            <a:endParaRPr lang="en-US" dirty="0"/>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abcd</a:t>
            </a:r>
            <a:r>
              <a:rPr lang="en-US" sz="1400" dirty="0">
                <a:ln>
                  <a:solidFill>
                    <a:srgbClr val="00B0F0"/>
                  </a:solidFill>
                </a:ln>
                <a:solidFill>
                  <a:srgbClr val="00B0F0"/>
                </a:solidFill>
              </a:rPr>
              <a:t> for select </a:t>
            </a:r>
            <a:r>
              <a:rPr lang="en-US" sz="1400" dirty="0" err="1">
                <a:ln>
                  <a:solidFill>
                    <a:srgbClr val="00B0F0"/>
                  </a:solidFill>
                </a:ln>
                <a:solidFill>
                  <a:srgbClr val="00B0F0"/>
                </a:solidFill>
              </a:rPr>
              <a:t>empno</a:t>
            </a:r>
            <a:r>
              <a:rPr lang="en-US" sz="1400" dirty="0">
                <a:ln>
                  <a:solidFill>
                    <a:srgbClr val="00B0F0"/>
                  </a:solidFill>
                </a:ln>
                <a:solidFill>
                  <a:srgbClr val="00B0F0"/>
                </a:solidFill>
              </a:rPr>
              <a:t>, </a:t>
            </a:r>
            <a:r>
              <a:rPr lang="en-US" sz="1400" dirty="0" err="1">
                <a:ln>
                  <a:solidFill>
                    <a:srgbClr val="00B0F0"/>
                  </a:solidFill>
                </a:ln>
                <a:solidFill>
                  <a:srgbClr val="00B0F0"/>
                </a:solidFill>
              </a:rPr>
              <a:t>ename</a:t>
            </a:r>
            <a:r>
              <a:rPr lang="en-US" sz="1400" dirty="0">
                <a:ln>
                  <a:solidFill>
                    <a:srgbClr val="00B0F0"/>
                  </a:solidFill>
                </a:ln>
                <a:solidFill>
                  <a:srgbClr val="00B0F0"/>
                </a:solidFill>
              </a:rPr>
              <a:t>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 where </a:t>
            </a:r>
            <a:r>
              <a:rPr lang="en-US" sz="1400" dirty="0" err="1">
                <a:ln>
                  <a:solidFill>
                    <a:srgbClr val="00B0F0"/>
                  </a:solidFill>
                </a:ln>
                <a:solidFill>
                  <a:srgbClr val="00B0F0"/>
                </a:solidFill>
              </a:rPr>
              <a:t>deptno</a:t>
            </a:r>
            <a:r>
              <a:rPr lang="en-US" sz="1400" dirty="0">
                <a:ln>
                  <a:solidFill>
                    <a:srgbClr val="00B0F0"/>
                  </a:solidFill>
                </a:ln>
                <a:solidFill>
                  <a:srgbClr val="00B0F0"/>
                </a:solidFill>
              </a:rPr>
              <a:t>=10;</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open_emp_cv</a:t>
            </a:r>
            <a:r>
              <a:rPr lang="en-US" sz="1400" dirty="0">
                <a:ln>
                  <a:solidFill>
                    <a:srgbClr val="00B0F0"/>
                  </a:solidFill>
                </a:ln>
                <a:solidFill>
                  <a:srgbClr val="00B0F0"/>
                </a:solidFill>
              </a:rPr>
              <a:t>(</a:t>
            </a:r>
            <a:r>
              <a:rPr lang="en-US" sz="1400" dirty="0" err="1">
                <a:ln>
                  <a:solidFill>
                    <a:srgbClr val="00B0F0"/>
                  </a:solidFill>
                </a:ln>
                <a:solidFill>
                  <a:srgbClr val="00B0F0"/>
                </a:solidFill>
              </a:rPr>
              <a:t>abcd</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('hello');</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abcd</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--The above line will give an error as </a:t>
            </a:r>
            <a:r>
              <a:rPr lang="en-US" sz="1400" dirty="0" err="1">
                <a:ln>
                  <a:solidFill>
                    <a:srgbClr val="00B0F0"/>
                  </a:solidFill>
                </a:ln>
                <a:solidFill>
                  <a:srgbClr val="00B0F0"/>
                </a:solidFill>
              </a:rPr>
              <a:t>abcd</a:t>
            </a:r>
            <a:r>
              <a:rPr lang="en-US" sz="1400" dirty="0">
                <a:ln>
                  <a:solidFill>
                    <a:srgbClr val="00B0F0"/>
                  </a:solidFill>
                </a:ln>
                <a:solidFill>
                  <a:srgbClr val="00B0F0"/>
                </a:solidFill>
              </a:rPr>
              <a:t> is of REF(address) type and addresses cannot  be printed</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IN mode for Strong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3366042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lnSpcReduction="10000"/>
          </a:bodyPr>
          <a:lstStyle/>
          <a:p>
            <a:pPr algn="just"/>
            <a:endParaRPr lang="en-US" dirty="0"/>
          </a:p>
          <a:p>
            <a:pPr algn="just"/>
            <a:r>
              <a:rPr lang="en-US" sz="1500" dirty="0"/>
              <a:t>Example of OUT mode :</a:t>
            </a:r>
          </a:p>
          <a:p>
            <a:pPr marL="0" indent="0">
              <a:buNone/>
            </a:pPr>
            <a:r>
              <a:rPr lang="en-US" sz="1500" dirty="0">
                <a:ln>
                  <a:solidFill>
                    <a:srgbClr val="00B0F0"/>
                  </a:solidFill>
                </a:ln>
                <a:solidFill>
                  <a:srgbClr val="00B0F0"/>
                </a:solidFill>
              </a:rPr>
              <a:t>Create table emp1 as select </a:t>
            </a:r>
            <a:r>
              <a:rPr lang="en-US" sz="1500" dirty="0" err="1">
                <a:ln>
                  <a:solidFill>
                    <a:srgbClr val="00B0F0"/>
                  </a:solidFill>
                </a:ln>
                <a:solidFill>
                  <a:srgbClr val="00B0F0"/>
                </a:solidFill>
              </a:rPr>
              <a:t>empno</a:t>
            </a:r>
            <a:r>
              <a:rPr lang="en-US" sz="1500" dirty="0">
                <a:ln>
                  <a:solidFill>
                    <a:srgbClr val="00B0F0"/>
                  </a:solidFill>
                </a:ln>
                <a:solidFill>
                  <a:srgbClr val="00B0F0"/>
                </a:solidFill>
              </a:rPr>
              <a:t>, </a:t>
            </a:r>
            <a:r>
              <a:rPr lang="en-US" sz="1500" dirty="0" err="1">
                <a:ln>
                  <a:solidFill>
                    <a:srgbClr val="00B0F0"/>
                  </a:solidFill>
                </a:ln>
                <a:solidFill>
                  <a:srgbClr val="00B0F0"/>
                </a:solidFill>
              </a:rPr>
              <a:t>ename</a:t>
            </a:r>
            <a:r>
              <a:rPr lang="en-US" sz="1500" dirty="0">
                <a:ln>
                  <a:solidFill>
                    <a:srgbClr val="00B0F0"/>
                  </a:solidFill>
                </a:ln>
                <a:solidFill>
                  <a:srgbClr val="00B0F0"/>
                </a:solidFill>
              </a:rPr>
              <a:t> from emp;</a:t>
            </a:r>
          </a:p>
          <a:p>
            <a:pPr marL="0" indent="0">
              <a:buNone/>
            </a:pPr>
            <a:endParaRPr lang="en-US" sz="1800" dirty="0"/>
          </a:p>
          <a:p>
            <a:pPr marL="0" indent="0">
              <a:buNone/>
            </a:pPr>
            <a:r>
              <a:rPr lang="en-US" sz="1500" dirty="0">
                <a:ln>
                  <a:solidFill>
                    <a:srgbClr val="00B0F0"/>
                  </a:solidFill>
                </a:ln>
                <a:solidFill>
                  <a:srgbClr val="00B0F0"/>
                </a:solidFill>
              </a:rPr>
              <a:t>DECLARE</a:t>
            </a:r>
          </a:p>
          <a:p>
            <a:pPr marL="0" indent="0">
              <a:buNone/>
            </a:pPr>
            <a:r>
              <a:rPr lang="en-US" sz="1500" dirty="0">
                <a:ln>
                  <a:solidFill>
                    <a:srgbClr val="00B0F0"/>
                  </a:solidFill>
                </a:ln>
                <a:solidFill>
                  <a:srgbClr val="00B0F0"/>
                </a:solidFill>
              </a:rPr>
              <a:t>	a emp1.empno%type;</a:t>
            </a:r>
          </a:p>
          <a:p>
            <a:pPr marL="0" indent="0">
              <a:buNone/>
            </a:pPr>
            <a:r>
              <a:rPr lang="en-US" sz="1500" dirty="0">
                <a:ln>
                  <a:solidFill>
                    <a:srgbClr val="00B0F0"/>
                  </a:solidFill>
                </a:ln>
                <a:solidFill>
                  <a:srgbClr val="00B0F0"/>
                </a:solidFill>
              </a:rPr>
              <a:t>	b emp1.ename%type;</a:t>
            </a:r>
          </a:p>
          <a:p>
            <a:pPr marL="0" indent="0">
              <a:buNone/>
            </a:pPr>
            <a:r>
              <a:rPr lang="en-US" sz="1500" dirty="0">
                <a:ln>
                  <a:solidFill>
                    <a:srgbClr val="00B0F0"/>
                  </a:solidFill>
                </a:ln>
                <a:solidFill>
                  <a:srgbClr val="00B0F0"/>
                </a:solidFill>
              </a:rPr>
              <a:t>	TYPE </a:t>
            </a:r>
            <a:r>
              <a:rPr lang="en-US" sz="1500" dirty="0" err="1">
                <a:ln>
                  <a:solidFill>
                    <a:srgbClr val="00B0F0"/>
                  </a:solidFill>
                </a:ln>
                <a:solidFill>
                  <a:srgbClr val="00B0F0"/>
                </a:solidFill>
              </a:rPr>
              <a:t>EmpCurTyp</a:t>
            </a:r>
            <a:r>
              <a:rPr lang="en-US" sz="1500" dirty="0">
                <a:ln>
                  <a:solidFill>
                    <a:srgbClr val="00B0F0"/>
                  </a:solidFill>
                </a:ln>
                <a:solidFill>
                  <a:srgbClr val="00B0F0"/>
                </a:solidFill>
              </a:rPr>
              <a:t> IS REF CURSOR RETURN emp1%ROWTYPE;</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abcd</a:t>
            </a:r>
            <a:r>
              <a:rPr lang="en-US" sz="1500" dirty="0">
                <a:ln>
                  <a:solidFill>
                    <a:srgbClr val="00B0F0"/>
                  </a:solidFill>
                </a:ln>
                <a:solidFill>
                  <a:srgbClr val="00B0F0"/>
                </a:solidFill>
              </a:rPr>
              <a:t> </a:t>
            </a:r>
            <a:r>
              <a:rPr lang="en-US" sz="1500" dirty="0" err="1">
                <a:ln>
                  <a:solidFill>
                    <a:srgbClr val="00B0F0"/>
                  </a:solidFill>
                </a:ln>
                <a:solidFill>
                  <a:srgbClr val="00B0F0"/>
                </a:solidFill>
              </a:rPr>
              <a:t>EmpCurTyp</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PROCEDURE </a:t>
            </a:r>
            <a:r>
              <a:rPr lang="en-US" sz="1500" dirty="0" err="1">
                <a:ln>
                  <a:solidFill>
                    <a:srgbClr val="00B0F0"/>
                  </a:solidFill>
                </a:ln>
                <a:solidFill>
                  <a:srgbClr val="00B0F0"/>
                </a:solidFill>
              </a:rPr>
              <a:t>open_emp_cv</a:t>
            </a:r>
            <a:r>
              <a:rPr lang="en-US" sz="1500" dirty="0">
                <a:ln>
                  <a:solidFill>
                    <a:srgbClr val="00B0F0"/>
                  </a:solidFill>
                </a:ln>
                <a:solidFill>
                  <a:srgbClr val="00B0F0"/>
                </a:solidFill>
              </a:rPr>
              <a:t> (</a:t>
            </a:r>
            <a:r>
              <a:rPr lang="en-US" sz="1500" dirty="0" err="1">
                <a:ln>
                  <a:solidFill>
                    <a:srgbClr val="00B0F0"/>
                  </a:solidFill>
                </a:ln>
                <a:solidFill>
                  <a:srgbClr val="00B0F0"/>
                </a:solidFill>
              </a:rPr>
              <a:t>emp_cv</a:t>
            </a:r>
            <a:r>
              <a:rPr lang="en-US" sz="1500" dirty="0">
                <a:ln>
                  <a:solidFill>
                    <a:srgbClr val="00B0F0"/>
                  </a:solidFill>
                </a:ln>
                <a:solidFill>
                  <a:srgbClr val="00B0F0"/>
                </a:solidFill>
              </a:rPr>
              <a:t> OUT  </a:t>
            </a:r>
            <a:r>
              <a:rPr lang="en-US" sz="1500" dirty="0" err="1">
                <a:ln>
                  <a:solidFill>
                    <a:srgbClr val="00B0F0"/>
                  </a:solidFill>
                </a:ln>
                <a:solidFill>
                  <a:srgbClr val="00B0F0"/>
                </a:solidFill>
              </a:rPr>
              <a:t>EmpCurTyp</a:t>
            </a:r>
            <a:r>
              <a:rPr lang="en-US" sz="1500" dirty="0">
                <a:ln>
                  <a:solidFill>
                    <a:srgbClr val="00B0F0"/>
                  </a:solidFill>
                </a:ln>
                <a:solidFill>
                  <a:srgbClr val="00B0F0"/>
                </a:solidFill>
              </a:rPr>
              <a:t>) IS</a:t>
            </a:r>
          </a:p>
          <a:p>
            <a:pPr marL="0" indent="0">
              <a:buNone/>
            </a:pPr>
            <a:r>
              <a:rPr lang="en-US" sz="1500" dirty="0">
                <a:ln>
                  <a:solidFill>
                    <a:srgbClr val="00B0F0"/>
                  </a:solidFill>
                </a:ln>
                <a:solidFill>
                  <a:srgbClr val="00B0F0"/>
                </a:solidFill>
              </a:rPr>
              <a:t>	Begin</a:t>
            </a:r>
          </a:p>
          <a:p>
            <a:pPr marL="0" indent="0">
              <a:buNone/>
            </a:pPr>
            <a:r>
              <a:rPr lang="en-US" sz="1500" dirty="0">
                <a:ln>
                  <a:solidFill>
                    <a:srgbClr val="00B0F0"/>
                  </a:solidFill>
                </a:ln>
                <a:solidFill>
                  <a:srgbClr val="00B0F0"/>
                </a:solidFill>
              </a:rPr>
              <a:t>    		open </a:t>
            </a:r>
            <a:r>
              <a:rPr lang="en-US" sz="1500" dirty="0" err="1">
                <a:ln>
                  <a:solidFill>
                    <a:srgbClr val="00B0F0"/>
                  </a:solidFill>
                </a:ln>
                <a:solidFill>
                  <a:srgbClr val="00B0F0"/>
                </a:solidFill>
              </a:rPr>
              <a:t>emp_cv</a:t>
            </a:r>
            <a:r>
              <a:rPr lang="en-US" sz="1500" dirty="0">
                <a:ln>
                  <a:solidFill>
                    <a:srgbClr val="00B0F0"/>
                  </a:solidFill>
                </a:ln>
                <a:solidFill>
                  <a:srgbClr val="00B0F0"/>
                </a:solidFill>
              </a:rPr>
              <a:t> for select * from emp1;</a:t>
            </a:r>
          </a:p>
          <a:p>
            <a:pPr marL="0" indent="0">
              <a:buNone/>
            </a:pPr>
            <a:r>
              <a:rPr lang="en-US" sz="1500" dirty="0">
                <a:ln>
                  <a:solidFill>
                    <a:srgbClr val="00B0F0"/>
                  </a:solidFill>
                </a:ln>
                <a:solidFill>
                  <a:srgbClr val="00B0F0"/>
                </a:solidFill>
              </a:rPr>
              <a:t>    	end;</a:t>
            </a:r>
          </a:p>
          <a:p>
            <a:pPr marL="0" indent="0">
              <a:buNone/>
            </a:pPr>
            <a:r>
              <a:rPr lang="en-US" sz="1500" dirty="0">
                <a:ln>
                  <a:solidFill>
                    <a:srgbClr val="00B0F0"/>
                  </a:solidFill>
                </a:ln>
                <a:solidFill>
                  <a:srgbClr val="00B0F0"/>
                </a:solidFill>
              </a:rPr>
              <a:t>begin</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open_emp_cv</a:t>
            </a:r>
            <a:r>
              <a:rPr lang="en-US" sz="1500" dirty="0">
                <a:ln>
                  <a:solidFill>
                    <a:srgbClr val="00B0F0"/>
                  </a:solidFill>
                </a:ln>
                <a:solidFill>
                  <a:srgbClr val="00B0F0"/>
                </a:solidFill>
              </a:rPr>
              <a:t>(</a:t>
            </a:r>
            <a:r>
              <a:rPr lang="en-US" sz="1500" dirty="0" err="1">
                <a:ln>
                  <a:solidFill>
                    <a:srgbClr val="00B0F0"/>
                  </a:solidFill>
                </a:ln>
                <a:solidFill>
                  <a:srgbClr val="00B0F0"/>
                </a:solidFill>
              </a:rPr>
              <a:t>abcd</a:t>
            </a:r>
            <a:r>
              <a:rPr lang="en-US" sz="1500" dirty="0">
                <a:ln>
                  <a:solidFill>
                    <a:srgbClr val="00B0F0"/>
                  </a:solidFill>
                </a:ln>
                <a:solidFill>
                  <a:srgbClr val="00B0F0"/>
                </a:solidFill>
              </a:rPr>
              <a:t>);</a:t>
            </a:r>
          </a:p>
          <a:p>
            <a:pPr marL="0" indent="0">
              <a:buNone/>
            </a:pPr>
            <a:endParaRPr lang="en-US" sz="1800" dirty="0">
              <a:ln>
                <a:solidFill>
                  <a:srgbClr val="00B0F0"/>
                </a:solidFill>
              </a:ln>
              <a:solidFill>
                <a:srgbClr val="00B0F0"/>
              </a:solidFill>
            </a:endParaRPr>
          </a:p>
          <a:p>
            <a:pPr marL="0" indent="0">
              <a:buNone/>
            </a:pPr>
            <a:endParaRPr lang="en-US" sz="1800" dirty="0">
              <a:ln>
                <a:solidFill>
                  <a:srgbClr val="00B0F0"/>
                </a:solidFill>
              </a:ln>
              <a:solidFill>
                <a:srgbClr val="00B0F0"/>
              </a:solidFill>
            </a:endParaRPr>
          </a:p>
          <a:p>
            <a:pPr marL="0" indent="0">
              <a:buNone/>
            </a:pPr>
            <a:endParaRPr lang="en-US" sz="18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OUT mode for Strong Ref cursor type 	</a:t>
            </a:r>
            <a:endParaRPr lang="en-US" sz="2400" b="1" dirty="0">
              <a:latin typeface="Candara"/>
            </a:endParaRPr>
          </a:p>
        </p:txBody>
      </p:sp>
    </p:spTree>
    <p:extLst>
      <p:ext uri="{BB962C8B-B14F-4D97-AF65-F5344CB8AC3E}">
        <p14:creationId xmlns:p14="http://schemas.microsoft.com/office/powerpoint/2010/main" val="3855864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a:bodyPr>
          <a:lstStyle/>
          <a:p>
            <a:pPr algn="just"/>
            <a:endParaRPr lang="en-US" dirty="0"/>
          </a:p>
          <a:p>
            <a:pPr marL="0" indent="0">
              <a:buNone/>
            </a:pPr>
            <a:r>
              <a:rPr lang="en-US" sz="1400" dirty="0">
                <a:ln>
                  <a:solidFill>
                    <a:srgbClr val="00B0F0"/>
                  </a:solidFill>
                </a:ln>
                <a:solidFill>
                  <a:srgbClr val="00B0F0"/>
                </a:solidFill>
              </a:rPr>
              <a:t>	loop</a:t>
            </a:r>
          </a:p>
          <a:p>
            <a:pPr marL="0" indent="0">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abcd</a:t>
            </a:r>
            <a:r>
              <a:rPr lang="en-US" sz="1400" dirty="0">
                <a:ln>
                  <a:solidFill>
                    <a:srgbClr val="00B0F0"/>
                  </a:solidFill>
                </a:ln>
                <a:solidFill>
                  <a:srgbClr val="00B0F0"/>
                </a:solidFill>
              </a:rPr>
              <a:t> into </a:t>
            </a:r>
            <a:r>
              <a:rPr lang="en-US" sz="1400" dirty="0" err="1">
                <a:ln>
                  <a:solidFill>
                    <a:srgbClr val="00B0F0"/>
                  </a:solidFill>
                </a:ln>
                <a:solidFill>
                  <a:srgbClr val="00B0F0"/>
                </a:solidFill>
              </a:rPr>
              <a:t>a,b</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abcd%notfound</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Emp</a:t>
            </a:r>
            <a:r>
              <a:rPr lang="en-US" sz="1400" dirty="0">
                <a:ln>
                  <a:solidFill>
                    <a:srgbClr val="00B0F0"/>
                  </a:solidFill>
                </a:ln>
                <a:solidFill>
                  <a:srgbClr val="00B0F0"/>
                </a:solidFill>
              </a:rPr>
              <a:t> Number: '||a||' </a:t>
            </a:r>
            <a:r>
              <a:rPr lang="en-US" sz="1400" dirty="0" err="1">
                <a:ln>
                  <a:solidFill>
                    <a:srgbClr val="00B0F0"/>
                  </a:solidFill>
                </a:ln>
                <a:solidFill>
                  <a:srgbClr val="00B0F0"/>
                </a:solidFill>
              </a:rPr>
              <a:t>Empname</a:t>
            </a:r>
            <a:r>
              <a:rPr lang="en-US" sz="1400" dirty="0">
                <a:ln>
                  <a:solidFill>
                    <a:srgbClr val="00B0F0"/>
                  </a:solidFill>
                </a:ln>
                <a:solidFill>
                  <a:srgbClr val="00B0F0"/>
                </a:solidFill>
              </a:rPr>
              <a:t> :'||b);</a:t>
            </a:r>
          </a:p>
          <a:p>
            <a:pPr marL="0" indent="0">
              <a:buNone/>
            </a:pPr>
            <a:r>
              <a:rPr lang="en-US" sz="1400" dirty="0">
                <a:ln>
                  <a:solidFill>
                    <a:srgbClr val="00B0F0"/>
                  </a:solidFill>
                </a:ln>
                <a:solidFill>
                  <a:srgbClr val="00B0F0"/>
                </a:solidFill>
              </a:rPr>
              <a:t>    	end loop;</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4.11: STRONG REF cursor types as IN, OUT and IN OUT parameter modes</a:t>
            </a:r>
            <a:br>
              <a:rPr lang="en-US" sz="1400" b="1" dirty="0">
                <a:latin typeface="Candara"/>
              </a:rPr>
            </a:br>
            <a:r>
              <a:rPr lang="en-US" dirty="0"/>
              <a:t>OUT mode for Strong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606795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907694"/>
            <a:ext cx="8940283" cy="4066673"/>
          </a:xfrm>
        </p:spPr>
        <p:txBody>
          <a:bodyPr>
            <a:normAutofit fontScale="85000" lnSpcReduction="20000"/>
          </a:bodyPr>
          <a:lstStyle/>
          <a:p>
            <a:pPr algn="just"/>
            <a:r>
              <a:rPr lang="en-US" dirty="0"/>
              <a:t>Unlike cursors, cursor variables take no parameters. </a:t>
            </a:r>
          </a:p>
          <a:p>
            <a:pPr algn="just"/>
            <a:endParaRPr lang="en-US" dirty="0"/>
          </a:p>
          <a:p>
            <a:pPr algn="just"/>
            <a:r>
              <a:rPr lang="en-US" dirty="0"/>
              <a:t>However, no flexibility is lost because you can pass whole queries (not just parameters) to a cursor variable at runtime. </a:t>
            </a:r>
          </a:p>
          <a:p>
            <a:pPr algn="just"/>
            <a:endParaRPr lang="en-US" dirty="0"/>
          </a:p>
          <a:p>
            <a:pPr algn="just"/>
            <a:r>
              <a:rPr lang="en-US" dirty="0"/>
              <a:t>Hence, the query of the cursor variable can reference the parameters, variables  of the blocks in which they are used.</a:t>
            </a:r>
          </a:p>
          <a:p>
            <a:pPr algn="just"/>
            <a:endParaRPr lang="en-US" dirty="0"/>
          </a:p>
          <a:p>
            <a:pPr marL="0" indent="0">
              <a:buNone/>
            </a:pPr>
            <a:r>
              <a:rPr lang="en-US" sz="1600" dirty="0">
                <a:ln>
                  <a:solidFill>
                    <a:srgbClr val="00B0F0"/>
                  </a:solidFill>
                </a:ln>
                <a:solidFill>
                  <a:srgbClr val="00B0F0"/>
                </a:solidFill>
              </a:rPr>
              <a:t>DECLARE</a:t>
            </a:r>
          </a:p>
          <a:p>
            <a:pPr marL="0" indent="0">
              <a:buNone/>
            </a:pPr>
            <a:r>
              <a:rPr lang="en-US" sz="1600" dirty="0">
                <a:ln>
                  <a:solidFill>
                    <a:srgbClr val="00B0F0"/>
                  </a:solidFill>
                </a:ln>
                <a:solidFill>
                  <a:srgbClr val="00B0F0"/>
                </a:solidFill>
              </a:rPr>
              <a:t>	a </a:t>
            </a:r>
            <a:r>
              <a:rPr lang="en-US" sz="1600" dirty="0" err="1">
                <a:ln>
                  <a:solidFill>
                    <a:srgbClr val="00B0F0"/>
                  </a:solidFill>
                </a:ln>
                <a:solidFill>
                  <a:srgbClr val="00B0F0"/>
                </a:solidFill>
              </a:rPr>
              <a:t>emp.empno%type</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b </a:t>
            </a:r>
            <a:r>
              <a:rPr lang="en-US" sz="1600" dirty="0" err="1">
                <a:ln>
                  <a:solidFill>
                    <a:srgbClr val="00B0F0"/>
                  </a:solidFill>
                </a:ln>
                <a:solidFill>
                  <a:srgbClr val="00B0F0"/>
                </a:solidFill>
              </a:rPr>
              <a:t>emp.ename%type</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TYPE </a:t>
            </a:r>
            <a:r>
              <a:rPr lang="en-US" sz="1600" dirty="0" err="1">
                <a:ln>
                  <a:solidFill>
                    <a:srgbClr val="00B0F0"/>
                  </a:solidFill>
                </a:ln>
                <a:solidFill>
                  <a:srgbClr val="00B0F0"/>
                </a:solidFill>
              </a:rPr>
              <a:t>EmpCurTyp</a:t>
            </a:r>
            <a:r>
              <a:rPr lang="en-US" sz="1600" dirty="0">
                <a:ln>
                  <a:solidFill>
                    <a:srgbClr val="00B0F0"/>
                  </a:solidFill>
                </a:ln>
                <a:solidFill>
                  <a:srgbClr val="00B0F0"/>
                </a:solidFill>
              </a:rPr>
              <a:t> IS REF CURSOR RETURN emp1%ROWTYPE;</a:t>
            </a:r>
          </a:p>
          <a:p>
            <a:pPr marL="0" indent="0">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abcd</a:t>
            </a:r>
            <a:r>
              <a:rPr lang="en-US" sz="1600" dirty="0">
                <a:ln>
                  <a:solidFill>
                    <a:srgbClr val="00B0F0"/>
                  </a:solidFill>
                </a:ln>
                <a:solidFill>
                  <a:srgbClr val="00B0F0"/>
                </a:solidFill>
              </a:rPr>
              <a:t> </a:t>
            </a:r>
            <a:r>
              <a:rPr lang="en-US" sz="1600" dirty="0" err="1">
                <a:ln>
                  <a:solidFill>
                    <a:srgbClr val="00B0F0"/>
                  </a:solidFill>
                </a:ln>
                <a:solidFill>
                  <a:srgbClr val="00B0F0"/>
                </a:solidFill>
              </a:rPr>
              <a:t>EmpCurTyp</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PROCEDURE </a:t>
            </a:r>
            <a:r>
              <a:rPr lang="en-US" sz="1600" dirty="0" err="1">
                <a:ln>
                  <a:solidFill>
                    <a:srgbClr val="00B0F0"/>
                  </a:solidFill>
                </a:ln>
                <a:solidFill>
                  <a:srgbClr val="00B0F0"/>
                </a:solidFill>
              </a:rPr>
              <a:t>open_emp_cv</a:t>
            </a:r>
            <a:r>
              <a:rPr lang="en-US" sz="1600" dirty="0">
                <a:ln>
                  <a:solidFill>
                    <a:srgbClr val="00B0F0"/>
                  </a:solidFill>
                </a:ln>
                <a:solidFill>
                  <a:srgbClr val="00B0F0"/>
                </a:solidFill>
              </a:rPr>
              <a:t>(</a:t>
            </a:r>
            <a:r>
              <a:rPr lang="en-US" sz="1600" dirty="0" err="1">
                <a:ln>
                  <a:solidFill>
                    <a:srgbClr val="00B0F0"/>
                  </a:solidFill>
                </a:ln>
                <a:solidFill>
                  <a:srgbClr val="00B0F0"/>
                </a:solidFill>
              </a:rPr>
              <a:t>emp_cv</a:t>
            </a:r>
            <a:r>
              <a:rPr lang="en-US" sz="1600" dirty="0">
                <a:ln>
                  <a:solidFill>
                    <a:srgbClr val="00B0F0"/>
                  </a:solidFill>
                </a:ln>
                <a:solidFill>
                  <a:srgbClr val="00B0F0"/>
                </a:solidFill>
              </a:rPr>
              <a:t> OUT </a:t>
            </a:r>
            <a:r>
              <a:rPr lang="en-US" sz="1600" dirty="0" err="1">
                <a:ln>
                  <a:solidFill>
                    <a:srgbClr val="00B0F0"/>
                  </a:solidFill>
                </a:ln>
                <a:solidFill>
                  <a:srgbClr val="00B0F0"/>
                </a:solidFill>
              </a:rPr>
              <a:t>EmpCurTyp</a:t>
            </a:r>
            <a:r>
              <a:rPr lang="en-US" sz="1600" dirty="0">
                <a:ln>
                  <a:solidFill>
                    <a:srgbClr val="00B0F0"/>
                  </a:solidFill>
                </a:ln>
                <a:solidFill>
                  <a:srgbClr val="00B0F0"/>
                </a:solidFill>
              </a:rPr>
              <a:t>, d in number) IS</a:t>
            </a:r>
          </a:p>
          <a:p>
            <a:pPr marL="0" indent="0">
              <a:buNone/>
            </a:pPr>
            <a:r>
              <a:rPr lang="en-US" sz="1600" dirty="0">
                <a:ln>
                  <a:solidFill>
                    <a:srgbClr val="00B0F0"/>
                  </a:solidFill>
                </a:ln>
                <a:solidFill>
                  <a:srgbClr val="00B0F0"/>
                </a:solidFill>
              </a:rPr>
              <a:t>	Begin</a:t>
            </a:r>
          </a:p>
          <a:p>
            <a:pPr marL="0" indent="0">
              <a:buNone/>
            </a:pPr>
            <a:r>
              <a:rPr lang="en-US" sz="1600" dirty="0">
                <a:ln>
                  <a:solidFill>
                    <a:srgbClr val="00B0F0"/>
                  </a:solidFill>
                </a:ln>
                <a:solidFill>
                  <a:srgbClr val="00B0F0"/>
                </a:solidFill>
              </a:rPr>
              <a:t>    		open </a:t>
            </a:r>
            <a:r>
              <a:rPr lang="en-US" sz="1600" dirty="0" err="1">
                <a:ln>
                  <a:solidFill>
                    <a:srgbClr val="00B0F0"/>
                  </a:solidFill>
                </a:ln>
                <a:solidFill>
                  <a:srgbClr val="00B0F0"/>
                </a:solidFill>
              </a:rPr>
              <a:t>emp_cv</a:t>
            </a:r>
            <a:r>
              <a:rPr lang="en-US" sz="1600" dirty="0">
                <a:ln>
                  <a:solidFill>
                    <a:srgbClr val="00B0F0"/>
                  </a:solidFill>
                </a:ln>
                <a:solidFill>
                  <a:srgbClr val="00B0F0"/>
                </a:solidFill>
              </a:rPr>
              <a:t> for select </a:t>
            </a:r>
            <a:r>
              <a:rPr lang="en-US" sz="1600" dirty="0" err="1">
                <a:ln>
                  <a:solidFill>
                    <a:srgbClr val="00B0F0"/>
                  </a:solidFill>
                </a:ln>
                <a:solidFill>
                  <a:srgbClr val="00B0F0"/>
                </a:solidFill>
              </a:rPr>
              <a:t>empno</a:t>
            </a:r>
            <a:r>
              <a:rPr lang="en-US" sz="1600" dirty="0">
                <a:ln>
                  <a:solidFill>
                    <a:srgbClr val="00B0F0"/>
                  </a:solidFill>
                </a:ln>
                <a:solidFill>
                  <a:srgbClr val="00B0F0"/>
                </a:solidFill>
              </a:rPr>
              <a:t>, </a:t>
            </a:r>
            <a:r>
              <a:rPr lang="en-US" sz="1600" dirty="0" err="1">
                <a:ln>
                  <a:solidFill>
                    <a:srgbClr val="00B0F0"/>
                  </a:solidFill>
                </a:ln>
                <a:solidFill>
                  <a:srgbClr val="00B0F0"/>
                </a:solidFill>
              </a:rPr>
              <a:t>ename</a:t>
            </a:r>
            <a:r>
              <a:rPr lang="en-US" sz="1600" dirty="0">
                <a:ln>
                  <a:solidFill>
                    <a:srgbClr val="00B0F0"/>
                  </a:solidFill>
                </a:ln>
                <a:solidFill>
                  <a:srgbClr val="00B0F0"/>
                </a:solidFill>
              </a:rPr>
              <a:t> from </a:t>
            </a:r>
            <a:r>
              <a:rPr lang="en-US" sz="1600" dirty="0" err="1">
                <a:ln>
                  <a:solidFill>
                    <a:srgbClr val="00B0F0"/>
                  </a:solidFill>
                </a:ln>
                <a:solidFill>
                  <a:srgbClr val="00B0F0"/>
                </a:solidFill>
              </a:rPr>
              <a:t>emp</a:t>
            </a:r>
            <a:r>
              <a:rPr lang="en-US" sz="1600" dirty="0">
                <a:ln>
                  <a:solidFill>
                    <a:srgbClr val="00B0F0"/>
                  </a:solidFill>
                </a:ln>
                <a:solidFill>
                  <a:srgbClr val="00B0F0"/>
                </a:solidFill>
              </a:rPr>
              <a:t> where </a:t>
            </a:r>
            <a:r>
              <a:rPr lang="en-US" sz="1600" dirty="0" err="1">
                <a:ln>
                  <a:solidFill>
                    <a:srgbClr val="00B0F0"/>
                  </a:solidFill>
                </a:ln>
                <a:solidFill>
                  <a:srgbClr val="00B0F0"/>
                </a:solidFill>
              </a:rPr>
              <a:t>deptno</a:t>
            </a:r>
            <a:r>
              <a:rPr lang="en-US" sz="1600" dirty="0">
                <a:ln>
                  <a:solidFill>
                    <a:srgbClr val="00B0F0"/>
                  </a:solidFill>
                </a:ln>
                <a:solidFill>
                  <a:srgbClr val="00B0F0"/>
                </a:solidFill>
              </a:rPr>
              <a:t>=d;</a:t>
            </a:r>
          </a:p>
          <a:p>
            <a:pPr marL="0" indent="0">
              <a:buNone/>
            </a:pPr>
            <a:r>
              <a:rPr lang="en-US" sz="1600" dirty="0">
                <a:ln>
                  <a:solidFill>
                    <a:srgbClr val="00B0F0"/>
                  </a:solidFill>
                </a:ln>
                <a:solidFill>
                  <a:srgbClr val="00B0F0"/>
                </a:solidFill>
              </a:rPr>
              <a:t>	end;</a:t>
            </a:r>
          </a:p>
          <a:p>
            <a:pPr marL="0" indent="0">
              <a:buNone/>
            </a:pPr>
            <a:endParaRPr lang="en-US" dirty="0"/>
          </a:p>
          <a:p>
            <a:pPr algn="just"/>
            <a:endParaRPr lang="en-US" dirty="0"/>
          </a:p>
          <a:p>
            <a:pPr marL="0" indent="0" algn="just">
              <a:buNone/>
            </a:pPr>
            <a:endParaRPr lang="en-US" dirty="0"/>
          </a:p>
          <a:p>
            <a:pPr marL="0" indent="0" algn="just">
              <a:buNone/>
            </a:pPr>
            <a:endParaRPr lang="en-US" dirty="0"/>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4.12: REF cursor do not support parameter </a:t>
            </a:r>
            <a:br>
              <a:rPr lang="en-US" sz="1400" b="1" dirty="0">
                <a:latin typeface="Candara"/>
              </a:rPr>
            </a:br>
            <a:r>
              <a:rPr lang="en-US" dirty="0"/>
              <a:t>No </a:t>
            </a:r>
            <a:r>
              <a:rPr lang="en-US" dirty="0" err="1"/>
              <a:t>parametererized</a:t>
            </a:r>
            <a:r>
              <a:rPr lang="en-US" dirty="0"/>
              <a:t> REF Cursors</a:t>
            </a:r>
            <a:endParaRPr lang="en-US" sz="2400" b="1" dirty="0">
              <a:latin typeface="Candara"/>
            </a:endParaRPr>
          </a:p>
        </p:txBody>
      </p:sp>
    </p:spTree>
    <p:extLst>
      <p:ext uri="{BB962C8B-B14F-4D97-AF65-F5344CB8AC3E}">
        <p14:creationId xmlns:p14="http://schemas.microsoft.com/office/powerpoint/2010/main" val="3799927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829340"/>
            <a:ext cx="8940283" cy="3911102"/>
          </a:xfrm>
        </p:spPr>
        <p:txBody>
          <a:bodyPr>
            <a:normAutofit fontScale="25000" lnSpcReduction="20000"/>
          </a:bodyPr>
          <a:lstStyle/>
          <a:p>
            <a:pPr marL="0" indent="0">
              <a:buNone/>
            </a:pPr>
            <a:r>
              <a:rPr lang="en-US" sz="5600" dirty="0">
                <a:ln>
                  <a:solidFill>
                    <a:srgbClr val="00B0F0"/>
                  </a:solidFill>
                </a:ln>
                <a:solidFill>
                  <a:srgbClr val="00B0F0"/>
                </a:solidFill>
              </a:rPr>
              <a:t>	PROCEDURE </a:t>
            </a:r>
            <a:r>
              <a:rPr lang="en-US" sz="5600" dirty="0" err="1">
                <a:ln>
                  <a:solidFill>
                    <a:srgbClr val="00B0F0"/>
                  </a:solidFill>
                </a:ln>
                <a:solidFill>
                  <a:srgbClr val="00B0F0"/>
                </a:solidFill>
              </a:rPr>
              <a:t>open_dept_cv</a:t>
            </a:r>
            <a:r>
              <a:rPr lang="en-US" sz="5600" dirty="0">
                <a:ln>
                  <a:solidFill>
                    <a:srgbClr val="00B0F0"/>
                  </a:solidFill>
                </a:ln>
                <a:solidFill>
                  <a:srgbClr val="00B0F0"/>
                </a:solidFill>
              </a:rPr>
              <a:t>(</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OUT </a:t>
            </a:r>
            <a:r>
              <a:rPr lang="en-US" sz="5600" dirty="0" err="1">
                <a:ln>
                  <a:solidFill>
                    <a:srgbClr val="00B0F0"/>
                  </a:solidFill>
                </a:ln>
                <a:solidFill>
                  <a:srgbClr val="00B0F0"/>
                </a:solidFill>
              </a:rPr>
              <a:t>EmpCurTyp</a:t>
            </a:r>
            <a:r>
              <a:rPr lang="en-US" sz="5600" dirty="0">
                <a:ln>
                  <a:solidFill>
                    <a:srgbClr val="00B0F0"/>
                  </a:solidFill>
                </a:ln>
                <a:solidFill>
                  <a:srgbClr val="00B0F0"/>
                </a:solidFill>
              </a:rPr>
              <a:t>, d in number) IS</a:t>
            </a:r>
          </a:p>
          <a:p>
            <a:pPr marL="0" indent="0">
              <a:buNone/>
            </a:pPr>
            <a:r>
              <a:rPr lang="en-US" sz="5600" dirty="0">
                <a:ln>
                  <a:solidFill>
                    <a:srgbClr val="00B0F0"/>
                  </a:solidFill>
                </a:ln>
                <a:solidFill>
                  <a:srgbClr val="00B0F0"/>
                </a:solidFill>
              </a:rPr>
              <a:t>	Begin</a:t>
            </a:r>
          </a:p>
          <a:p>
            <a:pPr marL="0" indent="0">
              <a:buNone/>
            </a:pPr>
            <a:r>
              <a:rPr lang="en-US" sz="5600" dirty="0">
                <a:ln>
                  <a:solidFill>
                    <a:srgbClr val="00B0F0"/>
                  </a:solidFill>
                </a:ln>
                <a:solidFill>
                  <a:srgbClr val="00B0F0"/>
                </a:solidFill>
              </a:rPr>
              <a:t>    		open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for select </a:t>
            </a:r>
            <a:r>
              <a:rPr lang="en-US" sz="5600" dirty="0" err="1">
                <a:ln>
                  <a:solidFill>
                    <a:srgbClr val="00B0F0"/>
                  </a:solidFill>
                </a:ln>
                <a:solidFill>
                  <a:srgbClr val="00B0F0"/>
                </a:solidFill>
              </a:rPr>
              <a:t>deptno</a:t>
            </a:r>
            <a:r>
              <a:rPr lang="en-US" sz="5600" dirty="0">
                <a:ln>
                  <a:solidFill>
                    <a:srgbClr val="00B0F0"/>
                  </a:solidFill>
                </a:ln>
                <a:solidFill>
                  <a:srgbClr val="00B0F0"/>
                </a:solidFill>
              </a:rPr>
              <a:t>, </a:t>
            </a:r>
            <a:r>
              <a:rPr lang="en-US" sz="5600" dirty="0" err="1">
                <a:ln>
                  <a:solidFill>
                    <a:srgbClr val="00B0F0"/>
                  </a:solidFill>
                </a:ln>
                <a:solidFill>
                  <a:srgbClr val="00B0F0"/>
                </a:solidFill>
              </a:rPr>
              <a:t>dname</a:t>
            </a:r>
            <a:r>
              <a:rPr lang="en-US" sz="5600" dirty="0">
                <a:ln>
                  <a:solidFill>
                    <a:srgbClr val="00B0F0"/>
                  </a:solidFill>
                </a:ln>
                <a:solidFill>
                  <a:srgbClr val="00B0F0"/>
                </a:solidFill>
              </a:rPr>
              <a:t> from </a:t>
            </a:r>
            <a:r>
              <a:rPr lang="en-US" sz="5600" dirty="0" err="1">
                <a:ln>
                  <a:solidFill>
                    <a:srgbClr val="00B0F0"/>
                  </a:solidFill>
                </a:ln>
                <a:solidFill>
                  <a:srgbClr val="00B0F0"/>
                </a:solidFill>
              </a:rPr>
              <a:t>dept</a:t>
            </a:r>
            <a:r>
              <a:rPr lang="en-US" sz="5600" dirty="0">
                <a:ln>
                  <a:solidFill>
                    <a:srgbClr val="00B0F0"/>
                  </a:solidFill>
                </a:ln>
                <a:solidFill>
                  <a:srgbClr val="00B0F0"/>
                </a:solidFill>
              </a:rPr>
              <a:t> where </a:t>
            </a:r>
            <a:r>
              <a:rPr lang="en-US" sz="5600" dirty="0" err="1">
                <a:ln>
                  <a:solidFill>
                    <a:srgbClr val="00B0F0"/>
                  </a:solidFill>
                </a:ln>
                <a:solidFill>
                  <a:srgbClr val="00B0F0"/>
                </a:solidFill>
              </a:rPr>
              <a:t>deptno</a:t>
            </a:r>
            <a:r>
              <a:rPr lang="en-US" sz="5600" dirty="0">
                <a:ln>
                  <a:solidFill>
                    <a:srgbClr val="00B0F0"/>
                  </a:solidFill>
                </a:ln>
                <a:solidFill>
                  <a:srgbClr val="00B0F0"/>
                </a:solidFill>
              </a:rPr>
              <a:t>&lt;=d;</a:t>
            </a:r>
          </a:p>
          <a:p>
            <a:pPr marL="0" indent="0">
              <a:buNone/>
            </a:pPr>
            <a:r>
              <a:rPr lang="en-US" sz="5600" dirty="0">
                <a:ln>
                  <a:solidFill>
                    <a:srgbClr val="00B0F0"/>
                  </a:solidFill>
                </a:ln>
                <a:solidFill>
                  <a:srgbClr val="00B0F0"/>
                </a:solidFill>
              </a:rPr>
              <a:t>	end;</a:t>
            </a:r>
          </a:p>
          <a:p>
            <a:pPr marL="0" indent="0">
              <a:buNone/>
            </a:pPr>
            <a:r>
              <a:rPr lang="en-US" sz="5600" dirty="0">
                <a:ln>
                  <a:solidFill>
                    <a:srgbClr val="00B0F0"/>
                  </a:solidFill>
                </a:ln>
                <a:solidFill>
                  <a:srgbClr val="00B0F0"/>
                </a:solidFill>
              </a:rPr>
              <a:t>begin</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open_emp_cv</a:t>
            </a:r>
            <a:r>
              <a:rPr lang="en-US" sz="5600" dirty="0">
                <a:ln>
                  <a:solidFill>
                    <a:srgbClr val="00B0F0"/>
                  </a:solidFill>
                </a:ln>
                <a:solidFill>
                  <a:srgbClr val="00B0F0"/>
                </a:solidFill>
              </a:rPr>
              <a:t>(abcd,20);</a:t>
            </a:r>
          </a:p>
          <a:p>
            <a:pPr marL="0" indent="0">
              <a:buNone/>
            </a:pPr>
            <a:r>
              <a:rPr lang="en-US" sz="5600" dirty="0">
                <a:ln>
                  <a:solidFill>
                    <a:srgbClr val="00B0F0"/>
                  </a:solidFill>
                </a:ln>
                <a:solidFill>
                  <a:srgbClr val="00B0F0"/>
                </a:solidFill>
              </a:rPr>
              <a:t>	loop</a:t>
            </a:r>
          </a:p>
          <a:p>
            <a:pPr marL="0" indent="0">
              <a:buNone/>
            </a:pPr>
            <a:r>
              <a:rPr lang="en-US" sz="5600" dirty="0">
                <a:ln>
                  <a:solidFill>
                    <a:srgbClr val="00B0F0"/>
                  </a:solidFill>
                </a:ln>
                <a:solidFill>
                  <a:srgbClr val="00B0F0"/>
                </a:solidFill>
              </a:rPr>
              <a:t>         		fetch </a:t>
            </a:r>
            <a:r>
              <a:rPr lang="en-US" sz="5600" dirty="0" err="1">
                <a:ln>
                  <a:solidFill>
                    <a:srgbClr val="00B0F0"/>
                  </a:solidFill>
                </a:ln>
                <a:solidFill>
                  <a:srgbClr val="00B0F0"/>
                </a:solidFill>
              </a:rPr>
              <a:t>abcd</a:t>
            </a:r>
            <a:r>
              <a:rPr lang="en-US" sz="5600" dirty="0">
                <a:ln>
                  <a:solidFill>
                    <a:srgbClr val="00B0F0"/>
                  </a:solidFill>
                </a:ln>
                <a:solidFill>
                  <a:srgbClr val="00B0F0"/>
                </a:solidFill>
              </a:rPr>
              <a:t> into </a:t>
            </a:r>
            <a:r>
              <a:rPr lang="en-US" sz="5600" dirty="0" err="1">
                <a:ln>
                  <a:solidFill>
                    <a:srgbClr val="00B0F0"/>
                  </a:solidFill>
                </a:ln>
                <a:solidFill>
                  <a:srgbClr val="00B0F0"/>
                </a:solidFill>
              </a:rPr>
              <a:t>a,b</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exit when </a:t>
            </a:r>
            <a:r>
              <a:rPr lang="en-US" sz="5600" dirty="0" err="1">
                <a:ln>
                  <a:solidFill>
                    <a:srgbClr val="00B0F0"/>
                  </a:solidFill>
                </a:ln>
                <a:solidFill>
                  <a:srgbClr val="00B0F0"/>
                </a:solidFill>
              </a:rPr>
              <a:t>abcd%notfound</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a:t>
            </a:r>
            <a:r>
              <a:rPr lang="en-US" sz="5600" dirty="0" err="1">
                <a:ln>
                  <a:solidFill>
                    <a:srgbClr val="00B0F0"/>
                  </a:solidFill>
                </a:ln>
                <a:solidFill>
                  <a:srgbClr val="00B0F0"/>
                </a:solidFill>
              </a:rPr>
              <a:t>Emp</a:t>
            </a:r>
            <a:r>
              <a:rPr lang="en-US" sz="5600" dirty="0">
                <a:ln>
                  <a:solidFill>
                    <a:srgbClr val="00B0F0"/>
                  </a:solidFill>
                </a:ln>
                <a:solidFill>
                  <a:srgbClr val="00B0F0"/>
                </a:solidFill>
              </a:rPr>
              <a:t> Number: '||a||' </a:t>
            </a:r>
            <a:r>
              <a:rPr lang="en-US" sz="5600" dirty="0" err="1">
                <a:ln>
                  <a:solidFill>
                    <a:srgbClr val="00B0F0"/>
                  </a:solidFill>
                </a:ln>
                <a:solidFill>
                  <a:srgbClr val="00B0F0"/>
                </a:solidFill>
              </a:rPr>
              <a:t>Empname</a:t>
            </a:r>
            <a:r>
              <a:rPr lang="en-US" sz="5600" dirty="0">
                <a:ln>
                  <a:solidFill>
                    <a:srgbClr val="00B0F0"/>
                  </a:solidFill>
                </a:ln>
                <a:solidFill>
                  <a:srgbClr val="00B0F0"/>
                </a:solidFill>
              </a:rPr>
              <a:t> :'||b);</a:t>
            </a:r>
          </a:p>
          <a:p>
            <a:pPr marL="0" indent="0">
              <a:buNone/>
            </a:pPr>
            <a:r>
              <a:rPr lang="en-US" sz="5600" dirty="0">
                <a:ln>
                  <a:solidFill>
                    <a:srgbClr val="00B0F0"/>
                  </a:solidFill>
                </a:ln>
                <a:solidFill>
                  <a:srgbClr val="00B0F0"/>
                </a:solidFill>
              </a:rPr>
              <a:t>    	end loop;</a:t>
            </a:r>
          </a:p>
          <a:p>
            <a:pPr marL="0" indent="0">
              <a:buNone/>
            </a:pPr>
            <a:endParaRPr lang="en-US" sz="5600" dirty="0">
              <a:ln>
                <a:solidFill>
                  <a:srgbClr val="00B0F0"/>
                </a:solidFill>
              </a:ln>
              <a:solidFill>
                <a:srgbClr val="00B0F0"/>
              </a:solidFill>
            </a:endParaRP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('hello');</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open_emp_cv</a:t>
            </a:r>
            <a:r>
              <a:rPr lang="en-US" sz="5600" dirty="0">
                <a:ln>
                  <a:solidFill>
                    <a:srgbClr val="00B0F0"/>
                  </a:solidFill>
                </a:ln>
                <a:solidFill>
                  <a:srgbClr val="00B0F0"/>
                </a:solidFill>
              </a:rPr>
              <a:t>(abcd,10);</a:t>
            </a:r>
          </a:p>
          <a:p>
            <a:pPr marL="0" indent="0">
              <a:buNone/>
            </a:pPr>
            <a:r>
              <a:rPr lang="en-US" sz="5600" dirty="0">
                <a:ln>
                  <a:solidFill>
                    <a:srgbClr val="00B0F0"/>
                  </a:solidFill>
                </a:ln>
                <a:solidFill>
                  <a:srgbClr val="00B0F0"/>
                </a:solidFill>
              </a:rPr>
              <a:t>	loop</a:t>
            </a:r>
          </a:p>
          <a:p>
            <a:pPr marL="0" indent="0">
              <a:buNone/>
            </a:pPr>
            <a:r>
              <a:rPr lang="en-US" sz="5600" dirty="0">
                <a:ln>
                  <a:solidFill>
                    <a:srgbClr val="00B0F0"/>
                  </a:solidFill>
                </a:ln>
                <a:solidFill>
                  <a:srgbClr val="00B0F0"/>
                </a:solidFill>
              </a:rPr>
              <a:t>         		fetch </a:t>
            </a:r>
            <a:r>
              <a:rPr lang="en-US" sz="5600" dirty="0" err="1">
                <a:ln>
                  <a:solidFill>
                    <a:srgbClr val="00B0F0"/>
                  </a:solidFill>
                </a:ln>
                <a:solidFill>
                  <a:srgbClr val="00B0F0"/>
                </a:solidFill>
              </a:rPr>
              <a:t>abcd</a:t>
            </a:r>
            <a:r>
              <a:rPr lang="en-US" sz="5600" dirty="0">
                <a:ln>
                  <a:solidFill>
                    <a:srgbClr val="00B0F0"/>
                  </a:solidFill>
                </a:ln>
                <a:solidFill>
                  <a:srgbClr val="00B0F0"/>
                </a:solidFill>
              </a:rPr>
              <a:t> into </a:t>
            </a:r>
            <a:r>
              <a:rPr lang="en-US" sz="5600" dirty="0" err="1">
                <a:ln>
                  <a:solidFill>
                    <a:srgbClr val="00B0F0"/>
                  </a:solidFill>
                </a:ln>
                <a:solidFill>
                  <a:srgbClr val="00B0F0"/>
                </a:solidFill>
              </a:rPr>
              <a:t>a,b</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exit when </a:t>
            </a:r>
            <a:r>
              <a:rPr lang="en-US" sz="5600" dirty="0" err="1">
                <a:ln>
                  <a:solidFill>
                    <a:srgbClr val="00B0F0"/>
                  </a:solidFill>
                </a:ln>
                <a:solidFill>
                  <a:srgbClr val="00B0F0"/>
                </a:solidFill>
              </a:rPr>
              <a:t>abcd%notfound</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a:t>
            </a:r>
            <a:r>
              <a:rPr lang="en-US" sz="5600" dirty="0" err="1">
                <a:ln>
                  <a:solidFill>
                    <a:srgbClr val="00B0F0"/>
                  </a:solidFill>
                </a:ln>
                <a:solidFill>
                  <a:srgbClr val="00B0F0"/>
                </a:solidFill>
              </a:rPr>
              <a:t>Emp</a:t>
            </a:r>
            <a:r>
              <a:rPr lang="en-US" sz="5600" dirty="0">
                <a:ln>
                  <a:solidFill>
                    <a:srgbClr val="00B0F0"/>
                  </a:solidFill>
                </a:ln>
                <a:solidFill>
                  <a:srgbClr val="00B0F0"/>
                </a:solidFill>
              </a:rPr>
              <a:t> Number: '||a||' </a:t>
            </a:r>
            <a:r>
              <a:rPr lang="en-US" sz="5600" dirty="0" err="1">
                <a:ln>
                  <a:solidFill>
                    <a:srgbClr val="00B0F0"/>
                  </a:solidFill>
                </a:ln>
                <a:solidFill>
                  <a:srgbClr val="00B0F0"/>
                </a:solidFill>
              </a:rPr>
              <a:t>Empname</a:t>
            </a:r>
            <a:r>
              <a:rPr lang="en-US" sz="5600" dirty="0">
                <a:ln>
                  <a:solidFill>
                    <a:srgbClr val="00B0F0"/>
                  </a:solidFill>
                </a:ln>
                <a:solidFill>
                  <a:srgbClr val="00B0F0"/>
                </a:solidFill>
              </a:rPr>
              <a:t> :'||b);</a:t>
            </a:r>
          </a:p>
          <a:p>
            <a:pPr marL="0" indent="0">
              <a:buNone/>
            </a:pPr>
            <a:r>
              <a:rPr lang="en-US" sz="5600" dirty="0">
                <a:ln>
                  <a:solidFill>
                    <a:srgbClr val="00B0F0"/>
                  </a:solidFill>
                </a:ln>
                <a:solidFill>
                  <a:srgbClr val="00B0F0"/>
                </a:solidFill>
              </a:rPr>
              <a:t>	end loop;</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4.12: REF cursor do not support parameter </a:t>
            </a:r>
            <a:br>
              <a:rPr lang="en-US" sz="1400" b="1" dirty="0">
                <a:latin typeface="Candara"/>
              </a:rPr>
            </a:br>
            <a:r>
              <a:rPr lang="en-US" dirty="0"/>
              <a:t>No </a:t>
            </a:r>
            <a:r>
              <a:rPr lang="en-US" dirty="0" err="1"/>
              <a:t>parametererized</a:t>
            </a:r>
            <a:r>
              <a:rPr lang="en-US" dirty="0"/>
              <a:t> REF Cursors			…..</a:t>
            </a:r>
            <a:r>
              <a:rPr lang="en-US" dirty="0" err="1"/>
              <a:t>contd</a:t>
            </a:r>
            <a:endParaRPr lang="en-US" sz="2400" b="1" dirty="0">
              <a:latin typeface="Candara"/>
            </a:endParaRPr>
          </a:p>
        </p:txBody>
      </p:sp>
    </p:spTree>
    <p:extLst>
      <p:ext uri="{BB962C8B-B14F-4D97-AF65-F5344CB8AC3E}">
        <p14:creationId xmlns:p14="http://schemas.microsoft.com/office/powerpoint/2010/main" val="2693643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a:bodyPr>
          <a:lstStyle/>
          <a:p>
            <a:endParaRPr lang="en-US" dirty="0"/>
          </a:p>
          <a:p>
            <a:pPr marL="0" indent="0">
              <a:buNone/>
            </a:pP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('hi');</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open_dept_cv</a:t>
            </a:r>
            <a:r>
              <a:rPr lang="en-US" sz="1400" dirty="0">
                <a:ln>
                  <a:solidFill>
                    <a:srgbClr val="00B0F0"/>
                  </a:solidFill>
                </a:ln>
                <a:solidFill>
                  <a:srgbClr val="00B0F0"/>
                </a:solidFill>
              </a:rPr>
              <a:t>(abcd,20);</a:t>
            </a:r>
          </a:p>
          <a:p>
            <a:pPr marL="0" indent="0">
              <a:buNone/>
            </a:pPr>
            <a:r>
              <a:rPr lang="en-US" sz="1400" dirty="0">
                <a:ln>
                  <a:solidFill>
                    <a:srgbClr val="00B0F0"/>
                  </a:solidFill>
                </a:ln>
                <a:solidFill>
                  <a:srgbClr val="00B0F0"/>
                </a:solidFill>
              </a:rPr>
              <a:t>	loop</a:t>
            </a:r>
          </a:p>
          <a:p>
            <a:pPr marL="0" indent="0">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abcd</a:t>
            </a:r>
            <a:r>
              <a:rPr lang="en-US" sz="1400" dirty="0">
                <a:ln>
                  <a:solidFill>
                    <a:srgbClr val="00B0F0"/>
                  </a:solidFill>
                </a:ln>
                <a:solidFill>
                  <a:srgbClr val="00B0F0"/>
                </a:solidFill>
              </a:rPr>
              <a:t> into </a:t>
            </a:r>
            <a:r>
              <a:rPr lang="en-US" sz="1400" dirty="0" err="1">
                <a:ln>
                  <a:solidFill>
                    <a:srgbClr val="00B0F0"/>
                  </a:solidFill>
                </a:ln>
                <a:solidFill>
                  <a:srgbClr val="00B0F0"/>
                </a:solidFill>
              </a:rPr>
              <a:t>a,b</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abcd%notfound</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Dept</a:t>
            </a:r>
            <a:r>
              <a:rPr lang="en-US" sz="1400" dirty="0">
                <a:ln>
                  <a:solidFill>
                    <a:srgbClr val="00B0F0"/>
                  </a:solidFill>
                </a:ln>
                <a:solidFill>
                  <a:srgbClr val="00B0F0"/>
                </a:solidFill>
              </a:rPr>
              <a:t> Number: '||a||' </a:t>
            </a:r>
            <a:r>
              <a:rPr lang="en-US" sz="1400" dirty="0" err="1">
                <a:ln>
                  <a:solidFill>
                    <a:srgbClr val="00B0F0"/>
                  </a:solidFill>
                </a:ln>
                <a:solidFill>
                  <a:srgbClr val="00B0F0"/>
                </a:solidFill>
              </a:rPr>
              <a:t>Deptname</a:t>
            </a:r>
            <a:r>
              <a:rPr lang="en-US" sz="1400" dirty="0">
                <a:ln>
                  <a:solidFill>
                    <a:srgbClr val="00B0F0"/>
                  </a:solidFill>
                </a:ln>
                <a:solidFill>
                  <a:srgbClr val="00B0F0"/>
                </a:solidFill>
              </a:rPr>
              <a:t> :'||b);</a:t>
            </a:r>
          </a:p>
          <a:p>
            <a:pPr marL="0" indent="0">
              <a:buNone/>
            </a:pPr>
            <a:r>
              <a:rPr lang="en-US" sz="1400" dirty="0">
                <a:ln>
                  <a:solidFill>
                    <a:srgbClr val="00B0F0"/>
                  </a:solidFill>
                </a:ln>
                <a:solidFill>
                  <a:srgbClr val="00B0F0"/>
                </a:solidFill>
              </a:rPr>
              <a:t>	end loop;</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4.12: REF cursor do not support parameter </a:t>
            </a:r>
            <a:br>
              <a:rPr lang="en-US" sz="1400" b="1" dirty="0">
                <a:latin typeface="Candara"/>
              </a:rPr>
            </a:br>
            <a:r>
              <a:rPr lang="en-US" dirty="0"/>
              <a:t>No </a:t>
            </a:r>
            <a:r>
              <a:rPr lang="en-US" dirty="0" err="1"/>
              <a:t>parametererized</a:t>
            </a:r>
            <a:r>
              <a:rPr lang="en-US" dirty="0"/>
              <a:t> REF Cursors			…..</a:t>
            </a:r>
            <a:r>
              <a:rPr lang="en-US" dirty="0" err="1"/>
              <a:t>contd</a:t>
            </a:r>
            <a:endParaRPr lang="en-US" sz="2400" b="1" dirty="0">
              <a:latin typeface="Candara"/>
            </a:endParaRPr>
          </a:p>
        </p:txBody>
      </p:sp>
    </p:spTree>
    <p:extLst>
      <p:ext uri="{BB962C8B-B14F-4D97-AF65-F5344CB8AC3E}">
        <p14:creationId xmlns:p14="http://schemas.microsoft.com/office/powerpoint/2010/main" val="3814928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fontScale="70000" lnSpcReduction="20000"/>
          </a:bodyPr>
          <a:lstStyle/>
          <a:p>
            <a:pPr algn="just"/>
            <a:endParaRPr lang="en-US" dirty="0"/>
          </a:p>
          <a:p>
            <a:pPr algn="just"/>
            <a:r>
              <a:rPr lang="en-US" sz="2500" dirty="0"/>
              <a:t>Example of IN OUT mode :</a:t>
            </a:r>
          </a:p>
          <a:p>
            <a:pPr marL="0" indent="0">
              <a:buNone/>
            </a:pPr>
            <a:r>
              <a:rPr lang="en-US" dirty="0"/>
              <a:t> </a:t>
            </a:r>
          </a:p>
          <a:p>
            <a:pPr marL="0" indent="0">
              <a:buNone/>
            </a:pPr>
            <a:r>
              <a:rPr lang="en-US" sz="2000" dirty="0">
                <a:ln>
                  <a:solidFill>
                    <a:srgbClr val="00B0F0"/>
                  </a:solidFill>
                </a:ln>
                <a:solidFill>
                  <a:srgbClr val="00B0F0"/>
                </a:solidFill>
              </a:rPr>
              <a:t>DECLARE</a:t>
            </a:r>
          </a:p>
          <a:p>
            <a:pPr marL="0" indent="0">
              <a:buNone/>
            </a:pPr>
            <a:r>
              <a:rPr lang="en-US" sz="2000" dirty="0">
                <a:ln>
                  <a:solidFill>
                    <a:srgbClr val="00B0F0"/>
                  </a:solidFill>
                </a:ln>
                <a:solidFill>
                  <a:srgbClr val="00B0F0"/>
                </a:solidFill>
              </a:rPr>
              <a:t>	X </a:t>
            </a:r>
            <a:r>
              <a:rPr lang="en-US" sz="2000" dirty="0" err="1">
                <a:ln>
                  <a:solidFill>
                    <a:srgbClr val="00B0F0"/>
                  </a:solidFill>
                </a:ln>
                <a:solidFill>
                  <a:srgbClr val="00B0F0"/>
                </a:solidFill>
              </a:rPr>
              <a:t>emp%rowtype</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Y </a:t>
            </a:r>
            <a:r>
              <a:rPr lang="en-US" sz="2000" dirty="0" err="1">
                <a:ln>
                  <a:solidFill>
                    <a:srgbClr val="00B0F0"/>
                  </a:solidFill>
                </a:ln>
                <a:solidFill>
                  <a:srgbClr val="00B0F0"/>
                </a:solidFill>
              </a:rPr>
              <a:t>dept%rowtype</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TYPE </a:t>
            </a:r>
            <a:r>
              <a:rPr lang="en-US" sz="2000" dirty="0" err="1">
                <a:ln>
                  <a:solidFill>
                    <a:srgbClr val="00B0F0"/>
                  </a:solidFill>
                </a:ln>
                <a:solidFill>
                  <a:srgbClr val="00B0F0"/>
                </a:solidFill>
              </a:rPr>
              <a:t>GenCurTyp</a:t>
            </a:r>
            <a:r>
              <a:rPr lang="en-US" sz="2000" dirty="0">
                <a:ln>
                  <a:solidFill>
                    <a:srgbClr val="00B0F0"/>
                  </a:solidFill>
                </a:ln>
                <a:solidFill>
                  <a:srgbClr val="00B0F0"/>
                </a:solidFill>
              </a:rPr>
              <a:t> IS REF CURSOR;</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abcd</a:t>
            </a:r>
            <a:r>
              <a:rPr lang="en-US" sz="2000" dirty="0">
                <a:ln>
                  <a:solidFill>
                    <a:srgbClr val="00B0F0"/>
                  </a:solidFill>
                </a:ln>
                <a:solidFill>
                  <a:srgbClr val="00B0F0"/>
                </a:solidFill>
              </a:rPr>
              <a:t> </a:t>
            </a:r>
            <a:r>
              <a:rPr lang="en-US" sz="2000" dirty="0" err="1">
                <a:ln>
                  <a:solidFill>
                    <a:srgbClr val="00B0F0"/>
                  </a:solidFill>
                </a:ln>
                <a:solidFill>
                  <a:srgbClr val="00B0F0"/>
                </a:solidFill>
              </a:rPr>
              <a:t>GenCurTyp</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PROCEDURE </a:t>
            </a:r>
            <a:r>
              <a:rPr lang="en-US" sz="2000" dirty="0" err="1">
                <a:ln>
                  <a:solidFill>
                    <a:srgbClr val="00B0F0"/>
                  </a:solidFill>
                </a:ln>
                <a:solidFill>
                  <a:srgbClr val="00B0F0"/>
                </a:solidFill>
              </a:rPr>
              <a:t>open_cv</a:t>
            </a:r>
            <a:r>
              <a:rPr lang="en-US" sz="2000" dirty="0">
                <a:ln>
                  <a:solidFill>
                    <a:srgbClr val="00B0F0"/>
                  </a:solidFill>
                </a:ln>
                <a:solidFill>
                  <a:srgbClr val="00B0F0"/>
                </a:solidFill>
              </a:rPr>
              <a:t> (</a:t>
            </a:r>
            <a:r>
              <a:rPr lang="en-US" sz="2000" dirty="0" err="1">
                <a:ln>
                  <a:solidFill>
                    <a:srgbClr val="00B0F0"/>
                  </a:solidFill>
                </a:ln>
                <a:solidFill>
                  <a:srgbClr val="00B0F0"/>
                </a:solidFill>
              </a:rPr>
              <a:t>par_cv</a:t>
            </a:r>
            <a:r>
              <a:rPr lang="en-US" sz="2000" dirty="0">
                <a:ln>
                  <a:solidFill>
                    <a:srgbClr val="00B0F0"/>
                  </a:solidFill>
                </a:ln>
                <a:solidFill>
                  <a:srgbClr val="00B0F0"/>
                </a:solidFill>
              </a:rPr>
              <a:t> IN OUT </a:t>
            </a:r>
            <a:r>
              <a:rPr lang="en-US" sz="2000" dirty="0" err="1">
                <a:ln>
                  <a:solidFill>
                    <a:srgbClr val="00B0F0"/>
                  </a:solidFill>
                </a:ln>
                <a:solidFill>
                  <a:srgbClr val="00B0F0"/>
                </a:solidFill>
              </a:rPr>
              <a:t>GenCurTyp</a:t>
            </a:r>
            <a:r>
              <a:rPr lang="en-US" sz="2000" dirty="0">
                <a:ln>
                  <a:solidFill>
                    <a:srgbClr val="00B0F0"/>
                  </a:solidFill>
                </a:ln>
                <a:solidFill>
                  <a:srgbClr val="00B0F0"/>
                </a:solidFill>
              </a:rPr>
              <a:t>) IS</a:t>
            </a:r>
          </a:p>
          <a:p>
            <a:pPr marL="0" indent="0">
              <a:buNone/>
            </a:pPr>
            <a:r>
              <a:rPr lang="en-US" sz="2000" dirty="0">
                <a:ln>
                  <a:solidFill>
                    <a:srgbClr val="00B0F0"/>
                  </a:solidFill>
                </a:ln>
                <a:solidFill>
                  <a:srgbClr val="00B0F0"/>
                </a:solidFill>
              </a:rPr>
              <a:t>	Begin</a:t>
            </a:r>
          </a:p>
          <a:p>
            <a:pPr marL="0" indent="0">
              <a:buNone/>
            </a:pPr>
            <a:r>
              <a:rPr lang="en-US" sz="2000" dirty="0">
                <a:ln>
                  <a:solidFill>
                    <a:srgbClr val="00B0F0"/>
                  </a:solidFill>
                </a:ln>
                <a:solidFill>
                  <a:srgbClr val="00B0F0"/>
                </a:solidFill>
              </a:rPr>
              <a:t>    		if </a:t>
            </a:r>
            <a:r>
              <a:rPr lang="en-US" sz="2000" dirty="0" err="1">
                <a:ln>
                  <a:solidFill>
                    <a:srgbClr val="00B0F0"/>
                  </a:solidFill>
                </a:ln>
                <a:solidFill>
                  <a:srgbClr val="00B0F0"/>
                </a:solidFill>
              </a:rPr>
              <a:t>par_cv</a:t>
            </a:r>
            <a:r>
              <a:rPr lang="en-US" sz="2000" dirty="0">
                <a:ln>
                  <a:solidFill>
                    <a:srgbClr val="00B0F0"/>
                  </a:solidFill>
                </a:ln>
                <a:solidFill>
                  <a:srgbClr val="00B0F0"/>
                </a:solidFill>
              </a:rPr>
              <a:t> is null then	</a:t>
            </a:r>
          </a:p>
          <a:p>
            <a:pPr marL="0" indent="0">
              <a:buNone/>
            </a:pPr>
            <a:r>
              <a:rPr lang="en-US" sz="2000" dirty="0">
                <a:ln>
                  <a:solidFill>
                    <a:srgbClr val="00B0F0"/>
                  </a:solidFill>
                </a:ln>
                <a:solidFill>
                  <a:srgbClr val="00B0F0"/>
                </a:solidFill>
              </a:rPr>
              <a:t>    			open </a:t>
            </a:r>
            <a:r>
              <a:rPr lang="en-US" sz="2000" dirty="0" err="1">
                <a:ln>
                  <a:solidFill>
                    <a:srgbClr val="00B0F0"/>
                  </a:solidFill>
                </a:ln>
                <a:solidFill>
                  <a:srgbClr val="00B0F0"/>
                </a:solidFill>
              </a:rPr>
              <a:t>par_cv</a:t>
            </a:r>
            <a:r>
              <a:rPr lang="en-US" sz="2000" dirty="0">
                <a:ln>
                  <a:solidFill>
                    <a:srgbClr val="00B0F0"/>
                  </a:solidFill>
                </a:ln>
                <a:solidFill>
                  <a:srgbClr val="00B0F0"/>
                </a:solidFill>
              </a:rPr>
              <a:t> for select * from </a:t>
            </a:r>
            <a:r>
              <a:rPr lang="en-US" sz="2000" dirty="0" err="1">
                <a:ln>
                  <a:solidFill>
                    <a:srgbClr val="00B0F0"/>
                  </a:solidFill>
                </a:ln>
                <a:solidFill>
                  <a:srgbClr val="00B0F0"/>
                </a:solidFill>
              </a:rPr>
              <a:t>emp</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loop</a:t>
            </a:r>
          </a:p>
          <a:p>
            <a:pPr marL="0" indent="0">
              <a:buNone/>
            </a:pPr>
            <a:r>
              <a:rPr lang="en-US" sz="2000" dirty="0">
                <a:ln>
                  <a:solidFill>
                    <a:srgbClr val="00B0F0"/>
                  </a:solidFill>
                </a:ln>
                <a:solidFill>
                  <a:srgbClr val="00B0F0"/>
                </a:solidFill>
              </a:rPr>
              <a:t>         				fetch </a:t>
            </a:r>
            <a:r>
              <a:rPr lang="en-US" sz="2000" dirty="0" err="1">
                <a:ln>
                  <a:solidFill>
                    <a:srgbClr val="00B0F0"/>
                  </a:solidFill>
                </a:ln>
                <a:solidFill>
                  <a:srgbClr val="00B0F0"/>
                </a:solidFill>
              </a:rPr>
              <a:t>par_cv</a:t>
            </a:r>
            <a:r>
              <a:rPr lang="en-US" sz="2000" dirty="0">
                <a:ln>
                  <a:solidFill>
                    <a:srgbClr val="00B0F0"/>
                  </a:solidFill>
                </a:ln>
                <a:solidFill>
                  <a:srgbClr val="00B0F0"/>
                </a:solidFill>
              </a:rPr>
              <a:t> into x;</a:t>
            </a:r>
          </a:p>
          <a:p>
            <a:pPr marL="0" indent="0">
              <a:buNone/>
            </a:pPr>
            <a:r>
              <a:rPr lang="en-US" sz="2000" dirty="0">
                <a:ln>
                  <a:solidFill>
                    <a:srgbClr val="00B0F0"/>
                  </a:solidFill>
                </a:ln>
                <a:solidFill>
                  <a:srgbClr val="00B0F0"/>
                </a:solidFill>
              </a:rPr>
              <a:t>         				exit when </a:t>
            </a:r>
            <a:r>
              <a:rPr lang="en-US" sz="2000" dirty="0" err="1">
                <a:ln>
                  <a:solidFill>
                    <a:srgbClr val="00B0F0"/>
                  </a:solidFill>
                </a:ln>
                <a:solidFill>
                  <a:srgbClr val="00B0F0"/>
                </a:solidFill>
              </a:rPr>
              <a:t>par_cv%notfound</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dbms_output.put_line</a:t>
            </a:r>
            <a:r>
              <a:rPr lang="en-US" sz="2000" dirty="0">
                <a:ln>
                  <a:solidFill>
                    <a:srgbClr val="00B0F0"/>
                  </a:solidFill>
                </a:ln>
                <a:solidFill>
                  <a:srgbClr val="00B0F0"/>
                </a:solidFill>
              </a:rPr>
              <a:t>('</a:t>
            </a:r>
            <a:r>
              <a:rPr lang="en-US" sz="2000" dirty="0" err="1">
                <a:ln>
                  <a:solidFill>
                    <a:srgbClr val="00B0F0"/>
                  </a:solidFill>
                </a:ln>
                <a:solidFill>
                  <a:srgbClr val="00B0F0"/>
                </a:solidFill>
              </a:rPr>
              <a:t>emp</a:t>
            </a:r>
            <a:r>
              <a:rPr lang="en-US" sz="2000" dirty="0">
                <a:ln>
                  <a:solidFill>
                    <a:srgbClr val="00B0F0"/>
                  </a:solidFill>
                </a:ln>
                <a:solidFill>
                  <a:srgbClr val="00B0F0"/>
                </a:solidFill>
              </a:rPr>
              <a:t> number  '||</a:t>
            </a:r>
            <a:r>
              <a:rPr lang="en-US" sz="2000" dirty="0" err="1">
                <a:ln>
                  <a:solidFill>
                    <a:srgbClr val="00B0F0"/>
                  </a:solidFill>
                </a:ln>
                <a:solidFill>
                  <a:srgbClr val="00B0F0"/>
                </a:solidFill>
              </a:rPr>
              <a:t>x.empno</a:t>
            </a:r>
            <a:r>
              <a:rPr lang="en-US" sz="2000" dirty="0">
                <a:ln>
                  <a:solidFill>
                    <a:srgbClr val="00B0F0"/>
                  </a:solidFill>
                </a:ln>
                <a:solidFill>
                  <a:srgbClr val="00B0F0"/>
                </a:solidFill>
              </a:rPr>
              <a:t>||' </a:t>
            </a:r>
            <a:r>
              <a:rPr lang="en-US" sz="2000" dirty="0" err="1">
                <a:ln>
                  <a:solidFill>
                    <a:srgbClr val="00B0F0"/>
                  </a:solidFill>
                </a:ln>
                <a:solidFill>
                  <a:srgbClr val="00B0F0"/>
                </a:solidFill>
              </a:rPr>
              <a:t>emp</a:t>
            </a:r>
            <a:r>
              <a:rPr lang="en-US" sz="2000" dirty="0">
                <a:ln>
                  <a:solidFill>
                    <a:srgbClr val="00B0F0"/>
                  </a:solidFill>
                </a:ln>
                <a:solidFill>
                  <a:srgbClr val="00B0F0"/>
                </a:solidFill>
              </a:rPr>
              <a:t> name ' || 					</a:t>
            </a:r>
            <a:r>
              <a:rPr lang="en-US" sz="2000" dirty="0" err="1">
                <a:ln>
                  <a:solidFill>
                    <a:srgbClr val="00B0F0"/>
                  </a:solidFill>
                </a:ln>
                <a:solidFill>
                  <a:srgbClr val="00B0F0"/>
                </a:solidFill>
              </a:rPr>
              <a:t>x.ename</a:t>
            </a:r>
            <a:r>
              <a:rPr lang="en-US" sz="2000" dirty="0">
                <a:ln>
                  <a:solidFill>
                    <a:srgbClr val="00B0F0"/>
                  </a:solidFill>
                </a:ln>
                <a:solidFill>
                  <a:srgbClr val="00B0F0"/>
                </a:solidFill>
              </a:rPr>
              <a:t>||' Salary' ||</a:t>
            </a:r>
            <a:r>
              <a:rPr lang="en-US" sz="2000" dirty="0" err="1">
                <a:ln>
                  <a:solidFill>
                    <a:srgbClr val="00B0F0"/>
                  </a:solidFill>
                </a:ln>
                <a:solidFill>
                  <a:srgbClr val="00B0F0"/>
                </a:solidFill>
              </a:rPr>
              <a:t>x.sal</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end loop;</a:t>
            </a:r>
          </a:p>
          <a:p>
            <a:pPr marL="0" indent="0">
              <a:buNone/>
            </a:pPr>
            <a:r>
              <a:rPr lang="en-US" sz="2000" dirty="0">
                <a:ln>
                  <a:solidFill>
                    <a:srgbClr val="00B0F0"/>
                  </a:solidFill>
                </a:ln>
                <a:solidFill>
                  <a:srgbClr val="00B0F0"/>
                </a:solidFill>
              </a:rPr>
              <a:t>    </a:t>
            </a: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4.13: WEAK REF cursor types as IN, OUT and IN OUT parameter modes</a:t>
            </a:r>
            <a:br>
              <a:rPr lang="en-US" sz="1400" b="1" dirty="0">
                <a:latin typeface="Candara"/>
              </a:rPr>
            </a:br>
            <a:r>
              <a:rPr lang="en-US" dirty="0"/>
              <a:t>IN OUT mode for WEAK Ref cursor type 	</a:t>
            </a:r>
            <a:endParaRPr lang="en-US" sz="2400" b="1" dirty="0">
              <a:latin typeface="Candara"/>
            </a:endParaRPr>
          </a:p>
        </p:txBody>
      </p:sp>
    </p:spTree>
    <p:extLst>
      <p:ext uri="{BB962C8B-B14F-4D97-AF65-F5344CB8AC3E}">
        <p14:creationId xmlns:p14="http://schemas.microsoft.com/office/powerpoint/2010/main" val="1722891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673768"/>
            <a:ext cx="8940283" cy="4066673"/>
          </a:xfrm>
        </p:spPr>
        <p:txBody>
          <a:bodyPr>
            <a:normAutofit fontScale="92500" lnSpcReduction="10000"/>
          </a:bodyPr>
          <a:lstStyle/>
          <a:p>
            <a:pPr marL="0" indent="0">
              <a:buNone/>
            </a:pPr>
            <a:r>
              <a:rPr lang="en-US" dirty="0"/>
              <a:t> </a:t>
            </a:r>
          </a:p>
          <a:p>
            <a:pPr marL="0" indent="0">
              <a:buNone/>
            </a:pPr>
            <a:r>
              <a:rPr lang="en-US" sz="1500" dirty="0">
                <a:ln>
                  <a:solidFill>
                    <a:srgbClr val="00B0F0"/>
                  </a:solidFill>
                </a:ln>
                <a:solidFill>
                  <a:srgbClr val="00B0F0"/>
                </a:solidFill>
              </a:rPr>
              <a:t>    	else</a:t>
            </a:r>
          </a:p>
          <a:p>
            <a:pPr marL="0" indent="0">
              <a:buNone/>
            </a:pPr>
            <a:r>
              <a:rPr lang="en-US" sz="1500" dirty="0">
                <a:ln>
                  <a:solidFill>
                    <a:srgbClr val="00B0F0"/>
                  </a:solidFill>
                </a:ln>
                <a:solidFill>
                  <a:srgbClr val="00B0F0"/>
                </a:solidFill>
              </a:rPr>
              <a:t>    		loop</a:t>
            </a:r>
          </a:p>
          <a:p>
            <a:pPr marL="0" indent="0">
              <a:buNone/>
            </a:pPr>
            <a:r>
              <a:rPr lang="en-US" sz="1500" dirty="0">
                <a:ln>
                  <a:solidFill>
                    <a:srgbClr val="00B0F0"/>
                  </a:solidFill>
                </a:ln>
                <a:solidFill>
                  <a:srgbClr val="00B0F0"/>
                </a:solidFill>
              </a:rPr>
              <a:t>         			fetch </a:t>
            </a:r>
            <a:r>
              <a:rPr lang="en-US" sz="1500" dirty="0" err="1">
                <a:ln>
                  <a:solidFill>
                    <a:srgbClr val="00B0F0"/>
                  </a:solidFill>
                </a:ln>
                <a:solidFill>
                  <a:srgbClr val="00B0F0"/>
                </a:solidFill>
              </a:rPr>
              <a:t>par_cv</a:t>
            </a:r>
            <a:r>
              <a:rPr lang="en-US" sz="1500" dirty="0">
                <a:ln>
                  <a:solidFill>
                    <a:srgbClr val="00B0F0"/>
                  </a:solidFill>
                </a:ln>
                <a:solidFill>
                  <a:srgbClr val="00B0F0"/>
                </a:solidFill>
              </a:rPr>
              <a:t> into y;</a:t>
            </a:r>
          </a:p>
          <a:p>
            <a:pPr marL="0" indent="0">
              <a:buNone/>
            </a:pPr>
            <a:r>
              <a:rPr lang="en-US" sz="1500" dirty="0">
                <a:ln>
                  <a:solidFill>
                    <a:srgbClr val="00B0F0"/>
                  </a:solidFill>
                </a:ln>
                <a:solidFill>
                  <a:srgbClr val="00B0F0"/>
                </a:solidFill>
              </a:rPr>
              <a:t>         			exit when </a:t>
            </a:r>
            <a:r>
              <a:rPr lang="en-US" sz="1500" dirty="0" err="1">
                <a:ln>
                  <a:solidFill>
                    <a:srgbClr val="00B0F0"/>
                  </a:solidFill>
                </a:ln>
                <a:solidFill>
                  <a:srgbClr val="00B0F0"/>
                </a:solidFill>
              </a:rPr>
              <a:t>par_cv%notfound</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a:t>
            </a:r>
            <a:r>
              <a:rPr lang="en-US" sz="1500" dirty="0" err="1">
                <a:ln>
                  <a:solidFill>
                    <a:srgbClr val="00B0F0"/>
                  </a:solidFill>
                </a:ln>
                <a:solidFill>
                  <a:srgbClr val="00B0F0"/>
                </a:solidFill>
              </a:rPr>
              <a:t>dept</a:t>
            </a:r>
            <a:r>
              <a:rPr lang="en-US" sz="1500" dirty="0">
                <a:ln>
                  <a:solidFill>
                    <a:srgbClr val="00B0F0"/>
                  </a:solidFill>
                </a:ln>
                <a:solidFill>
                  <a:srgbClr val="00B0F0"/>
                </a:solidFill>
              </a:rPr>
              <a:t> number  '||</a:t>
            </a:r>
            <a:r>
              <a:rPr lang="en-US" sz="1500" dirty="0" err="1">
                <a:ln>
                  <a:solidFill>
                    <a:srgbClr val="00B0F0"/>
                  </a:solidFill>
                </a:ln>
                <a:solidFill>
                  <a:srgbClr val="00B0F0"/>
                </a:solidFill>
              </a:rPr>
              <a:t>y.deptno</a:t>
            </a:r>
            <a:r>
              <a:rPr lang="en-US" sz="1500" dirty="0">
                <a:ln>
                  <a:solidFill>
                    <a:srgbClr val="00B0F0"/>
                  </a:solidFill>
                </a:ln>
                <a:solidFill>
                  <a:srgbClr val="00B0F0"/>
                </a:solidFill>
              </a:rPr>
              <a:t>||' </a:t>
            </a:r>
            <a:r>
              <a:rPr lang="en-US" sz="1500" dirty="0" err="1">
                <a:ln>
                  <a:solidFill>
                    <a:srgbClr val="00B0F0"/>
                  </a:solidFill>
                </a:ln>
                <a:solidFill>
                  <a:srgbClr val="00B0F0"/>
                </a:solidFill>
              </a:rPr>
              <a:t>dept</a:t>
            </a:r>
            <a:r>
              <a:rPr lang="en-US" sz="1500" dirty="0">
                <a:ln>
                  <a:solidFill>
                    <a:srgbClr val="00B0F0"/>
                  </a:solidFill>
                </a:ln>
                <a:solidFill>
                  <a:srgbClr val="00B0F0"/>
                </a:solidFill>
              </a:rPr>
              <a:t> name ' || </a:t>
            </a:r>
            <a:r>
              <a:rPr lang="en-US" sz="1500" dirty="0" err="1">
                <a:ln>
                  <a:solidFill>
                    <a:srgbClr val="00B0F0"/>
                  </a:solidFill>
                </a:ln>
                <a:solidFill>
                  <a:srgbClr val="00B0F0"/>
                </a:solidFill>
              </a:rPr>
              <a:t>y.dname</a:t>
            </a:r>
            <a:r>
              <a:rPr lang="en-US" sz="1500" dirty="0">
                <a:ln>
                  <a:solidFill>
                    <a:srgbClr val="00B0F0"/>
                  </a:solidFill>
                </a:ln>
                <a:solidFill>
                  <a:srgbClr val="00B0F0"/>
                </a:solidFill>
              </a:rPr>
              <a:t>||' location' 			||</a:t>
            </a:r>
            <a:r>
              <a:rPr lang="en-US" sz="1500" dirty="0" err="1">
                <a:ln>
                  <a:solidFill>
                    <a:srgbClr val="00B0F0"/>
                  </a:solidFill>
                </a:ln>
                <a:solidFill>
                  <a:srgbClr val="00B0F0"/>
                </a:solidFill>
              </a:rPr>
              <a:t>y.loc</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end loop;</a:t>
            </a:r>
          </a:p>
          <a:p>
            <a:pPr marL="0" indent="0">
              <a:buNone/>
            </a:pPr>
            <a:r>
              <a:rPr lang="en-US" sz="1500" dirty="0">
                <a:ln>
                  <a:solidFill>
                    <a:srgbClr val="00B0F0"/>
                  </a:solidFill>
                </a:ln>
                <a:solidFill>
                  <a:srgbClr val="00B0F0"/>
                </a:solidFill>
              </a:rPr>
              <a:t>    	end if;</a:t>
            </a:r>
          </a:p>
          <a:p>
            <a:pPr marL="0" indent="0">
              <a:buNone/>
            </a:pPr>
            <a:r>
              <a:rPr lang="en-US" sz="1500" dirty="0">
                <a:ln>
                  <a:solidFill>
                    <a:srgbClr val="00B0F0"/>
                  </a:solidFill>
                </a:ln>
                <a:solidFill>
                  <a:srgbClr val="00B0F0"/>
                </a:solidFill>
              </a:rPr>
              <a:t>  	end;</a:t>
            </a:r>
          </a:p>
          <a:p>
            <a:pPr marL="0" indent="0">
              <a:buNone/>
            </a:pPr>
            <a:r>
              <a:rPr lang="en-US" sz="1500" dirty="0">
                <a:ln>
                  <a:solidFill>
                    <a:srgbClr val="00B0F0"/>
                  </a:solidFill>
                </a:ln>
                <a:solidFill>
                  <a:srgbClr val="00B0F0"/>
                </a:solidFill>
              </a:rPr>
              <a:t>begin</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open_cv</a:t>
            </a:r>
            <a:r>
              <a:rPr lang="en-US" sz="1500" dirty="0">
                <a:ln>
                  <a:solidFill>
                    <a:srgbClr val="00B0F0"/>
                  </a:solidFill>
                </a:ln>
                <a:solidFill>
                  <a:srgbClr val="00B0F0"/>
                </a:solidFill>
              </a:rPr>
              <a:t>(</a:t>
            </a:r>
            <a:r>
              <a:rPr lang="en-US" sz="1500" dirty="0" err="1">
                <a:ln>
                  <a:solidFill>
                    <a:srgbClr val="00B0F0"/>
                  </a:solidFill>
                </a:ln>
                <a:solidFill>
                  <a:srgbClr val="00B0F0"/>
                </a:solidFill>
              </a:rPr>
              <a:t>abcd</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('hello');</a:t>
            </a:r>
          </a:p>
          <a:p>
            <a:pPr marL="0" indent="0">
              <a:buNone/>
            </a:pPr>
            <a:r>
              <a:rPr lang="en-US" sz="1500" dirty="0">
                <a:ln>
                  <a:solidFill>
                    <a:srgbClr val="00B0F0"/>
                  </a:solidFill>
                </a:ln>
                <a:solidFill>
                  <a:srgbClr val="00B0F0"/>
                </a:solidFill>
              </a:rPr>
              <a:t>	open </a:t>
            </a:r>
            <a:r>
              <a:rPr lang="en-US" sz="1500" dirty="0" err="1">
                <a:ln>
                  <a:solidFill>
                    <a:srgbClr val="00B0F0"/>
                  </a:solidFill>
                </a:ln>
                <a:solidFill>
                  <a:srgbClr val="00B0F0"/>
                </a:solidFill>
              </a:rPr>
              <a:t>abcd</a:t>
            </a:r>
            <a:r>
              <a:rPr lang="en-US" sz="1500" dirty="0">
                <a:ln>
                  <a:solidFill>
                    <a:srgbClr val="00B0F0"/>
                  </a:solidFill>
                </a:ln>
                <a:solidFill>
                  <a:srgbClr val="00B0F0"/>
                </a:solidFill>
              </a:rPr>
              <a:t> for select * from </a:t>
            </a:r>
            <a:r>
              <a:rPr lang="en-US" sz="1500" dirty="0" err="1">
                <a:ln>
                  <a:solidFill>
                    <a:srgbClr val="00B0F0"/>
                  </a:solidFill>
                </a:ln>
                <a:solidFill>
                  <a:srgbClr val="00B0F0"/>
                </a:solidFill>
              </a:rPr>
              <a:t>dept</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open_cv</a:t>
            </a:r>
            <a:r>
              <a:rPr lang="en-US" sz="1500" dirty="0">
                <a:ln>
                  <a:solidFill>
                    <a:srgbClr val="00B0F0"/>
                  </a:solidFill>
                </a:ln>
                <a:solidFill>
                  <a:srgbClr val="00B0F0"/>
                </a:solidFill>
              </a:rPr>
              <a:t>(</a:t>
            </a:r>
            <a:r>
              <a:rPr lang="en-US" sz="1500" dirty="0" err="1">
                <a:ln>
                  <a:solidFill>
                    <a:srgbClr val="00B0F0"/>
                  </a:solidFill>
                </a:ln>
                <a:solidFill>
                  <a:srgbClr val="00B0F0"/>
                </a:solidFill>
              </a:rPr>
              <a:t>abcd</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end;</a:t>
            </a:r>
          </a:p>
          <a:p>
            <a:pPr marL="0" indent="0">
              <a:buNone/>
            </a:pPr>
            <a:r>
              <a:rPr lang="en-US" sz="15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4.13: WEAK REF cursor types as IN, OUT and IN OUT parameter modes</a:t>
            </a:r>
            <a:br>
              <a:rPr lang="en-US" sz="1400" b="1" dirty="0">
                <a:latin typeface="Candara"/>
              </a:rPr>
            </a:br>
            <a:r>
              <a:rPr lang="en-US" dirty="0"/>
              <a:t>IN OUT mode for Strong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4145904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801364"/>
            <a:ext cx="8940283" cy="4066673"/>
          </a:xfrm>
        </p:spPr>
        <p:txBody>
          <a:bodyPr>
            <a:normAutofit fontScale="70000" lnSpcReduction="20000"/>
          </a:bodyPr>
          <a:lstStyle/>
          <a:p>
            <a:pPr algn="just"/>
            <a:endParaRPr lang="en-US" dirty="0"/>
          </a:p>
          <a:p>
            <a:pPr algn="just"/>
            <a:r>
              <a:rPr lang="en-US" sz="2500" dirty="0"/>
              <a:t>Example of IN mode :</a:t>
            </a:r>
          </a:p>
          <a:p>
            <a:pPr marL="0" indent="0">
              <a:buNone/>
            </a:pPr>
            <a:r>
              <a:rPr lang="en-US" sz="2000" dirty="0">
                <a:ln>
                  <a:solidFill>
                    <a:srgbClr val="00B0F0"/>
                  </a:solidFill>
                </a:ln>
                <a:solidFill>
                  <a:srgbClr val="00B0F0"/>
                </a:solidFill>
              </a:rPr>
              <a:t>Create table emp1 as select </a:t>
            </a:r>
            <a:r>
              <a:rPr lang="en-US" sz="2000" dirty="0" err="1">
                <a:ln>
                  <a:solidFill>
                    <a:srgbClr val="00B0F0"/>
                  </a:solidFill>
                </a:ln>
                <a:solidFill>
                  <a:srgbClr val="00B0F0"/>
                </a:solidFill>
              </a:rPr>
              <a:t>empno</a:t>
            </a:r>
            <a:r>
              <a:rPr lang="en-US" sz="2000" dirty="0">
                <a:ln>
                  <a:solidFill>
                    <a:srgbClr val="00B0F0"/>
                  </a:solidFill>
                </a:ln>
                <a:solidFill>
                  <a:srgbClr val="00B0F0"/>
                </a:solidFill>
              </a:rPr>
              <a:t>, </a:t>
            </a:r>
            <a:r>
              <a:rPr lang="en-US" sz="2000" dirty="0" err="1">
                <a:ln>
                  <a:solidFill>
                    <a:srgbClr val="00B0F0"/>
                  </a:solidFill>
                </a:ln>
                <a:solidFill>
                  <a:srgbClr val="00B0F0"/>
                </a:solidFill>
              </a:rPr>
              <a:t>ename</a:t>
            </a:r>
            <a:r>
              <a:rPr lang="en-US" sz="2000" dirty="0">
                <a:ln>
                  <a:solidFill>
                    <a:srgbClr val="00B0F0"/>
                  </a:solidFill>
                </a:ln>
                <a:solidFill>
                  <a:srgbClr val="00B0F0"/>
                </a:solidFill>
              </a:rPr>
              <a:t> from </a:t>
            </a:r>
            <a:r>
              <a:rPr lang="en-US" sz="2000" dirty="0" err="1">
                <a:ln>
                  <a:solidFill>
                    <a:srgbClr val="00B0F0"/>
                  </a:solidFill>
                </a:ln>
                <a:solidFill>
                  <a:srgbClr val="00B0F0"/>
                </a:solidFill>
              </a:rPr>
              <a:t>emp</a:t>
            </a:r>
            <a:r>
              <a:rPr lang="en-US" sz="2000" dirty="0">
                <a:ln>
                  <a:solidFill>
                    <a:srgbClr val="00B0F0"/>
                  </a:solidFill>
                </a:ln>
                <a:solidFill>
                  <a:srgbClr val="00B0F0"/>
                </a:solidFill>
              </a:rPr>
              <a:t>;</a:t>
            </a:r>
          </a:p>
          <a:p>
            <a:pPr marL="0" indent="0">
              <a:buNone/>
            </a:pPr>
            <a:endParaRPr lang="en-US" sz="2000" dirty="0">
              <a:ln>
                <a:solidFill>
                  <a:srgbClr val="00B0F0"/>
                </a:solidFill>
              </a:ln>
              <a:solidFill>
                <a:srgbClr val="00B0F0"/>
              </a:solidFill>
            </a:endParaRPr>
          </a:p>
          <a:p>
            <a:pPr marL="0" indent="0">
              <a:buNone/>
            </a:pPr>
            <a:r>
              <a:rPr lang="en-US" sz="2000" dirty="0">
                <a:ln>
                  <a:solidFill>
                    <a:srgbClr val="00B0F0"/>
                  </a:solidFill>
                </a:ln>
                <a:solidFill>
                  <a:srgbClr val="00B0F0"/>
                </a:solidFill>
              </a:rPr>
              <a:t>DECLARE</a:t>
            </a:r>
          </a:p>
          <a:p>
            <a:pPr marL="0" indent="0">
              <a:buNone/>
            </a:pPr>
            <a:r>
              <a:rPr lang="en-US" sz="2000" dirty="0">
                <a:ln>
                  <a:solidFill>
                    <a:srgbClr val="00B0F0"/>
                  </a:solidFill>
                </a:ln>
                <a:solidFill>
                  <a:srgbClr val="00B0F0"/>
                </a:solidFill>
              </a:rPr>
              <a:t>	a emp1.empno%type;</a:t>
            </a:r>
          </a:p>
          <a:p>
            <a:pPr marL="0" indent="0">
              <a:buNone/>
            </a:pPr>
            <a:r>
              <a:rPr lang="en-US" sz="2000" dirty="0">
                <a:ln>
                  <a:solidFill>
                    <a:srgbClr val="00B0F0"/>
                  </a:solidFill>
                </a:ln>
                <a:solidFill>
                  <a:srgbClr val="00B0F0"/>
                </a:solidFill>
              </a:rPr>
              <a:t>	b emp1.ename%type;</a:t>
            </a:r>
          </a:p>
          <a:p>
            <a:pPr marL="0" indent="0">
              <a:buNone/>
            </a:pPr>
            <a:r>
              <a:rPr lang="en-US" sz="2000" dirty="0">
                <a:ln>
                  <a:solidFill>
                    <a:srgbClr val="00B0F0"/>
                  </a:solidFill>
                </a:ln>
                <a:solidFill>
                  <a:srgbClr val="00B0F0"/>
                </a:solidFill>
              </a:rPr>
              <a:t>	TYPE </a:t>
            </a:r>
            <a:r>
              <a:rPr lang="en-US" sz="2000" dirty="0" err="1">
                <a:ln>
                  <a:solidFill>
                    <a:srgbClr val="00B0F0"/>
                  </a:solidFill>
                </a:ln>
                <a:solidFill>
                  <a:srgbClr val="00B0F0"/>
                </a:solidFill>
              </a:rPr>
              <a:t>GenCurTyp</a:t>
            </a:r>
            <a:r>
              <a:rPr lang="en-US" sz="2000" dirty="0">
                <a:ln>
                  <a:solidFill>
                    <a:srgbClr val="00B0F0"/>
                  </a:solidFill>
                </a:ln>
                <a:solidFill>
                  <a:srgbClr val="00B0F0"/>
                </a:solidFill>
              </a:rPr>
              <a:t> IS REF CURSOR;</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abcd</a:t>
            </a:r>
            <a:r>
              <a:rPr lang="en-US" sz="2000" dirty="0">
                <a:ln>
                  <a:solidFill>
                    <a:srgbClr val="00B0F0"/>
                  </a:solidFill>
                </a:ln>
                <a:solidFill>
                  <a:srgbClr val="00B0F0"/>
                </a:solidFill>
              </a:rPr>
              <a:t> </a:t>
            </a:r>
            <a:r>
              <a:rPr lang="en-US" sz="2000" dirty="0" err="1">
                <a:ln>
                  <a:solidFill>
                    <a:srgbClr val="00B0F0"/>
                  </a:solidFill>
                </a:ln>
                <a:solidFill>
                  <a:srgbClr val="00B0F0"/>
                </a:solidFill>
              </a:rPr>
              <a:t>GenCurTyp</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PROCEDURE </a:t>
            </a:r>
            <a:r>
              <a:rPr lang="en-US" sz="2000" dirty="0" err="1">
                <a:ln>
                  <a:solidFill>
                    <a:srgbClr val="00B0F0"/>
                  </a:solidFill>
                </a:ln>
                <a:solidFill>
                  <a:srgbClr val="00B0F0"/>
                </a:solidFill>
              </a:rPr>
              <a:t>open_emp_cv</a:t>
            </a:r>
            <a:r>
              <a:rPr lang="en-US" sz="2000" dirty="0">
                <a:ln>
                  <a:solidFill>
                    <a:srgbClr val="00B0F0"/>
                  </a:solidFill>
                </a:ln>
                <a:solidFill>
                  <a:srgbClr val="00B0F0"/>
                </a:solidFill>
              </a:rPr>
              <a:t> (</a:t>
            </a:r>
            <a:r>
              <a:rPr lang="en-US" sz="2000" dirty="0" err="1">
                <a:ln>
                  <a:solidFill>
                    <a:srgbClr val="00B0F0"/>
                  </a:solidFill>
                </a:ln>
                <a:solidFill>
                  <a:srgbClr val="00B0F0"/>
                </a:solidFill>
              </a:rPr>
              <a:t>emp_cv</a:t>
            </a:r>
            <a:r>
              <a:rPr lang="en-US" sz="2000" dirty="0">
                <a:ln>
                  <a:solidFill>
                    <a:srgbClr val="00B0F0"/>
                  </a:solidFill>
                </a:ln>
                <a:solidFill>
                  <a:srgbClr val="00B0F0"/>
                </a:solidFill>
              </a:rPr>
              <a:t> IN </a:t>
            </a:r>
            <a:r>
              <a:rPr lang="en-US" sz="2000" dirty="0" err="1">
                <a:ln>
                  <a:solidFill>
                    <a:srgbClr val="00B0F0"/>
                  </a:solidFill>
                </a:ln>
                <a:solidFill>
                  <a:srgbClr val="00B0F0"/>
                </a:solidFill>
              </a:rPr>
              <a:t>GenCurTyp</a:t>
            </a:r>
            <a:r>
              <a:rPr lang="en-US" sz="2000" dirty="0">
                <a:ln>
                  <a:solidFill>
                    <a:srgbClr val="00B0F0"/>
                  </a:solidFill>
                </a:ln>
                <a:solidFill>
                  <a:srgbClr val="00B0F0"/>
                </a:solidFill>
              </a:rPr>
              <a:t>) IS</a:t>
            </a:r>
          </a:p>
          <a:p>
            <a:pPr marL="0" indent="0">
              <a:buNone/>
            </a:pPr>
            <a:r>
              <a:rPr lang="en-US" sz="2000" dirty="0">
                <a:ln>
                  <a:solidFill>
                    <a:srgbClr val="00B0F0"/>
                  </a:solidFill>
                </a:ln>
                <a:solidFill>
                  <a:srgbClr val="00B0F0"/>
                </a:solidFill>
              </a:rPr>
              <a:t>	begin</a:t>
            </a:r>
          </a:p>
          <a:p>
            <a:pPr marL="0" indent="0">
              <a:buNone/>
            </a:pPr>
            <a:r>
              <a:rPr lang="en-US" sz="2000" dirty="0">
                <a:ln>
                  <a:solidFill>
                    <a:srgbClr val="00B0F0"/>
                  </a:solidFill>
                </a:ln>
                <a:solidFill>
                  <a:srgbClr val="00B0F0"/>
                </a:solidFill>
              </a:rPr>
              <a:t>    		loop</a:t>
            </a:r>
          </a:p>
          <a:p>
            <a:pPr marL="0" indent="0">
              <a:buNone/>
            </a:pPr>
            <a:r>
              <a:rPr lang="en-US" sz="2000" dirty="0">
                <a:ln>
                  <a:solidFill>
                    <a:srgbClr val="00B0F0"/>
                  </a:solidFill>
                </a:ln>
                <a:solidFill>
                  <a:srgbClr val="00B0F0"/>
                </a:solidFill>
              </a:rPr>
              <a:t>         			fetch </a:t>
            </a:r>
            <a:r>
              <a:rPr lang="en-US" sz="2000" dirty="0" err="1">
                <a:ln>
                  <a:solidFill>
                    <a:srgbClr val="00B0F0"/>
                  </a:solidFill>
                </a:ln>
                <a:solidFill>
                  <a:srgbClr val="00B0F0"/>
                </a:solidFill>
              </a:rPr>
              <a:t>abcd</a:t>
            </a:r>
            <a:r>
              <a:rPr lang="en-US" sz="2000" dirty="0">
                <a:ln>
                  <a:solidFill>
                    <a:srgbClr val="00B0F0"/>
                  </a:solidFill>
                </a:ln>
                <a:solidFill>
                  <a:srgbClr val="00B0F0"/>
                </a:solidFill>
              </a:rPr>
              <a:t> into </a:t>
            </a:r>
            <a:r>
              <a:rPr lang="en-US" sz="2000" dirty="0" err="1">
                <a:ln>
                  <a:solidFill>
                    <a:srgbClr val="00B0F0"/>
                  </a:solidFill>
                </a:ln>
                <a:solidFill>
                  <a:srgbClr val="00B0F0"/>
                </a:solidFill>
              </a:rPr>
              <a:t>a,b</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exit when </a:t>
            </a:r>
            <a:r>
              <a:rPr lang="en-US" sz="2000" dirty="0" err="1">
                <a:ln>
                  <a:solidFill>
                    <a:srgbClr val="00B0F0"/>
                  </a:solidFill>
                </a:ln>
                <a:solidFill>
                  <a:srgbClr val="00B0F0"/>
                </a:solidFill>
              </a:rPr>
              <a:t>abcd%notfound</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dbms_output.put_line</a:t>
            </a:r>
            <a:r>
              <a:rPr lang="en-US" sz="2000" dirty="0">
                <a:ln>
                  <a:solidFill>
                    <a:srgbClr val="00B0F0"/>
                  </a:solidFill>
                </a:ln>
                <a:solidFill>
                  <a:srgbClr val="00B0F0"/>
                </a:solidFill>
              </a:rPr>
              <a:t>('</a:t>
            </a:r>
            <a:r>
              <a:rPr lang="en-US" sz="2000" dirty="0" err="1">
                <a:ln>
                  <a:solidFill>
                    <a:srgbClr val="00B0F0"/>
                  </a:solidFill>
                </a:ln>
                <a:solidFill>
                  <a:srgbClr val="00B0F0"/>
                </a:solidFill>
              </a:rPr>
              <a:t>emp</a:t>
            </a:r>
            <a:r>
              <a:rPr lang="en-US" sz="2000" dirty="0">
                <a:ln>
                  <a:solidFill>
                    <a:srgbClr val="00B0F0"/>
                  </a:solidFill>
                </a:ln>
                <a:solidFill>
                  <a:srgbClr val="00B0F0"/>
                </a:solidFill>
              </a:rPr>
              <a:t> number '||a||' </a:t>
            </a:r>
            <a:r>
              <a:rPr lang="en-US" sz="2000" dirty="0" err="1">
                <a:ln>
                  <a:solidFill>
                    <a:srgbClr val="00B0F0"/>
                  </a:solidFill>
                </a:ln>
                <a:solidFill>
                  <a:srgbClr val="00B0F0"/>
                </a:solidFill>
              </a:rPr>
              <a:t>emp</a:t>
            </a:r>
            <a:r>
              <a:rPr lang="en-US" sz="2000" dirty="0">
                <a:ln>
                  <a:solidFill>
                    <a:srgbClr val="00B0F0"/>
                  </a:solidFill>
                </a:ln>
                <a:solidFill>
                  <a:srgbClr val="00B0F0"/>
                </a:solidFill>
              </a:rPr>
              <a:t> name ' || b);</a:t>
            </a:r>
          </a:p>
          <a:p>
            <a:pPr marL="0" indent="0">
              <a:buNone/>
            </a:pPr>
            <a:r>
              <a:rPr lang="en-US" sz="2000" dirty="0">
                <a:ln>
                  <a:solidFill>
                    <a:srgbClr val="00B0F0"/>
                  </a:solidFill>
                </a:ln>
                <a:solidFill>
                  <a:srgbClr val="00B0F0"/>
                </a:solidFill>
              </a:rPr>
              <a:t>    		end loop;</a:t>
            </a:r>
          </a:p>
          <a:p>
            <a:pPr marL="0" indent="0">
              <a:buNone/>
            </a:pPr>
            <a:r>
              <a:rPr lang="en-US" sz="2000" dirty="0">
                <a:ln>
                  <a:solidFill>
                    <a:srgbClr val="00B0F0"/>
                  </a:solidFill>
                </a:ln>
                <a:solidFill>
                  <a:srgbClr val="00B0F0"/>
                </a:solidFill>
              </a:rPr>
              <a:t>	end;</a:t>
            </a:r>
          </a:p>
          <a:p>
            <a:pPr marL="0" indent="0">
              <a:buNone/>
            </a:pPr>
            <a:endParaRPr lang="en-US" sz="20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4.13: WEAK REF cursor types as IN, OUT and IN OUT parameter modes</a:t>
            </a:r>
            <a:br>
              <a:rPr lang="en-US" sz="1400" b="1" dirty="0">
                <a:latin typeface="Candara"/>
              </a:rPr>
            </a:br>
            <a:r>
              <a:rPr lang="en-US" dirty="0"/>
              <a:t>IN mode for WEAK Ref cursor type 	</a:t>
            </a:r>
            <a:endParaRPr lang="en-US" sz="2400" b="1" dirty="0">
              <a:latin typeface="Candara"/>
            </a:endParaRPr>
          </a:p>
        </p:txBody>
      </p:sp>
    </p:spTree>
    <p:extLst>
      <p:ext uri="{BB962C8B-B14F-4D97-AF65-F5344CB8AC3E}">
        <p14:creationId xmlns:p14="http://schemas.microsoft.com/office/powerpoint/2010/main" val="3349951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801364"/>
            <a:ext cx="8940283" cy="4066673"/>
          </a:xfrm>
        </p:spPr>
        <p:txBody>
          <a:bodyPr>
            <a:normAutofit/>
          </a:bodyPr>
          <a:lstStyle/>
          <a:p>
            <a:pPr marL="0" indent="0" algn="just">
              <a:buNone/>
            </a:pPr>
            <a:endParaRPr lang="en-US" sz="1400" dirty="0"/>
          </a:p>
          <a:p>
            <a:pPr marL="0" indent="0">
              <a:buNone/>
            </a:pPr>
            <a:endParaRPr lang="en-US" sz="2000" dirty="0">
              <a:ln>
                <a:solidFill>
                  <a:srgbClr val="00B0F0"/>
                </a:solidFill>
              </a:ln>
              <a:solidFill>
                <a:srgbClr val="00B0F0"/>
              </a:solidFill>
            </a:endParaRPr>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abcd</a:t>
            </a:r>
            <a:r>
              <a:rPr lang="en-US" sz="1400" dirty="0">
                <a:ln>
                  <a:solidFill>
                    <a:srgbClr val="00B0F0"/>
                  </a:solidFill>
                </a:ln>
                <a:solidFill>
                  <a:srgbClr val="00B0F0"/>
                </a:solidFill>
              </a:rPr>
              <a:t> for select </a:t>
            </a:r>
            <a:r>
              <a:rPr lang="en-US" sz="1400" dirty="0" err="1">
                <a:ln>
                  <a:solidFill>
                    <a:srgbClr val="00B0F0"/>
                  </a:solidFill>
                </a:ln>
                <a:solidFill>
                  <a:srgbClr val="00B0F0"/>
                </a:solidFill>
              </a:rPr>
              <a:t>empno</a:t>
            </a:r>
            <a:r>
              <a:rPr lang="en-US" sz="1400" dirty="0">
                <a:ln>
                  <a:solidFill>
                    <a:srgbClr val="00B0F0"/>
                  </a:solidFill>
                </a:ln>
                <a:solidFill>
                  <a:srgbClr val="00B0F0"/>
                </a:solidFill>
              </a:rPr>
              <a:t>, </a:t>
            </a:r>
            <a:r>
              <a:rPr lang="en-US" sz="1400" dirty="0" err="1">
                <a:ln>
                  <a:solidFill>
                    <a:srgbClr val="00B0F0"/>
                  </a:solidFill>
                </a:ln>
                <a:solidFill>
                  <a:srgbClr val="00B0F0"/>
                </a:solidFill>
              </a:rPr>
              <a:t>ename</a:t>
            </a:r>
            <a:r>
              <a:rPr lang="en-US" sz="1400" dirty="0">
                <a:ln>
                  <a:solidFill>
                    <a:srgbClr val="00B0F0"/>
                  </a:solidFill>
                </a:ln>
                <a:solidFill>
                  <a:srgbClr val="00B0F0"/>
                </a:solidFill>
              </a:rPr>
              <a:t> from emp1;</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open_emp_cv</a:t>
            </a:r>
            <a:r>
              <a:rPr lang="en-US" sz="1400" dirty="0">
                <a:ln>
                  <a:solidFill>
                    <a:srgbClr val="00B0F0"/>
                  </a:solidFill>
                </a:ln>
                <a:solidFill>
                  <a:srgbClr val="00B0F0"/>
                </a:solidFill>
              </a:rPr>
              <a:t>(</a:t>
            </a:r>
            <a:r>
              <a:rPr lang="en-US" sz="1400" dirty="0" err="1">
                <a:ln>
                  <a:solidFill>
                    <a:srgbClr val="00B0F0"/>
                  </a:solidFill>
                </a:ln>
                <a:solidFill>
                  <a:srgbClr val="00B0F0"/>
                </a:solidFill>
              </a:rPr>
              <a:t>abcd</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buNone/>
            </a:pPr>
            <a:endParaRPr lang="en-US" sz="20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4.13: WEAK REF cursor types as IN, OUT and IN OUT parameter modes</a:t>
            </a:r>
            <a:br>
              <a:rPr lang="en-US" sz="1400" b="1" dirty="0">
                <a:latin typeface="Candara"/>
              </a:rPr>
            </a:br>
            <a:r>
              <a:rPr lang="en-US" dirty="0"/>
              <a:t>IN mode for WEAK Ref cursor type 		….</a:t>
            </a:r>
            <a:r>
              <a:rPr lang="en-US" dirty="0" err="1"/>
              <a:t>contd</a:t>
            </a:r>
            <a:endParaRPr lang="en-US" sz="2400" b="1" dirty="0">
              <a:latin typeface="Candara"/>
            </a:endParaRPr>
          </a:p>
        </p:txBody>
      </p:sp>
    </p:spTree>
    <p:extLst>
      <p:ext uri="{BB962C8B-B14F-4D97-AF65-F5344CB8AC3E}">
        <p14:creationId xmlns:p14="http://schemas.microsoft.com/office/powerpoint/2010/main" val="3347236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801364"/>
            <a:ext cx="8940283" cy="4066673"/>
          </a:xfrm>
        </p:spPr>
        <p:txBody>
          <a:bodyPr>
            <a:normAutofit fontScale="47500" lnSpcReduction="20000"/>
          </a:bodyPr>
          <a:lstStyle/>
          <a:p>
            <a:pPr algn="just"/>
            <a:r>
              <a:rPr lang="en-US" sz="2500" dirty="0"/>
              <a:t>Example of OUT mode :</a:t>
            </a:r>
          </a:p>
          <a:p>
            <a:pPr marL="0" indent="0">
              <a:buNone/>
            </a:pPr>
            <a:r>
              <a:rPr lang="en-US" sz="2500" dirty="0">
                <a:ln>
                  <a:solidFill>
                    <a:srgbClr val="00B0F0"/>
                  </a:solidFill>
                </a:ln>
                <a:solidFill>
                  <a:srgbClr val="00B0F0"/>
                </a:solidFill>
              </a:rPr>
              <a:t>Create table emp1 as select </a:t>
            </a:r>
            <a:r>
              <a:rPr lang="en-US" sz="2500" dirty="0" err="1">
                <a:ln>
                  <a:solidFill>
                    <a:srgbClr val="00B0F0"/>
                  </a:solidFill>
                </a:ln>
                <a:solidFill>
                  <a:srgbClr val="00B0F0"/>
                </a:solidFill>
              </a:rPr>
              <a:t>empno</a:t>
            </a:r>
            <a:r>
              <a:rPr lang="en-US" sz="2500" dirty="0">
                <a:ln>
                  <a:solidFill>
                    <a:srgbClr val="00B0F0"/>
                  </a:solidFill>
                </a:ln>
                <a:solidFill>
                  <a:srgbClr val="00B0F0"/>
                </a:solidFill>
              </a:rPr>
              <a:t>, </a:t>
            </a:r>
            <a:r>
              <a:rPr lang="en-US" sz="2500" dirty="0" err="1">
                <a:ln>
                  <a:solidFill>
                    <a:srgbClr val="00B0F0"/>
                  </a:solidFill>
                </a:ln>
                <a:solidFill>
                  <a:srgbClr val="00B0F0"/>
                </a:solidFill>
              </a:rPr>
              <a:t>ename</a:t>
            </a:r>
            <a:r>
              <a:rPr lang="en-US" sz="2500" dirty="0">
                <a:ln>
                  <a:solidFill>
                    <a:srgbClr val="00B0F0"/>
                  </a:solidFill>
                </a:ln>
                <a:solidFill>
                  <a:srgbClr val="00B0F0"/>
                </a:solidFill>
              </a:rPr>
              <a:t> from </a:t>
            </a:r>
            <a:r>
              <a:rPr lang="en-US" sz="2500" dirty="0" err="1">
                <a:ln>
                  <a:solidFill>
                    <a:srgbClr val="00B0F0"/>
                  </a:solidFill>
                </a:ln>
                <a:solidFill>
                  <a:srgbClr val="00B0F0"/>
                </a:solidFill>
              </a:rPr>
              <a:t>emp</a:t>
            </a:r>
            <a:r>
              <a:rPr lang="en-US" sz="2500" dirty="0">
                <a:ln>
                  <a:solidFill>
                    <a:srgbClr val="00B0F0"/>
                  </a:solidFill>
                </a:ln>
                <a:solidFill>
                  <a:srgbClr val="00B0F0"/>
                </a:solidFill>
              </a:rPr>
              <a:t>;</a:t>
            </a:r>
          </a:p>
          <a:p>
            <a:pPr marL="0" indent="0">
              <a:buNone/>
            </a:pPr>
            <a:r>
              <a:rPr lang="en-US" sz="2500" dirty="0">
                <a:ln>
                  <a:solidFill>
                    <a:srgbClr val="00B0F0"/>
                  </a:solidFill>
                </a:ln>
                <a:solidFill>
                  <a:srgbClr val="00B0F0"/>
                </a:solidFill>
              </a:rPr>
              <a:t>Create table dept1 as select </a:t>
            </a:r>
            <a:r>
              <a:rPr lang="en-US" sz="2500" dirty="0" err="1">
                <a:ln>
                  <a:solidFill>
                    <a:srgbClr val="00B0F0"/>
                  </a:solidFill>
                </a:ln>
                <a:solidFill>
                  <a:srgbClr val="00B0F0"/>
                </a:solidFill>
              </a:rPr>
              <a:t>deptno</a:t>
            </a:r>
            <a:r>
              <a:rPr lang="en-US" sz="2500" dirty="0">
                <a:ln>
                  <a:solidFill>
                    <a:srgbClr val="00B0F0"/>
                  </a:solidFill>
                </a:ln>
                <a:solidFill>
                  <a:srgbClr val="00B0F0"/>
                </a:solidFill>
              </a:rPr>
              <a:t>, </a:t>
            </a:r>
            <a:r>
              <a:rPr lang="en-US" sz="2500" dirty="0" err="1">
                <a:ln>
                  <a:solidFill>
                    <a:srgbClr val="00B0F0"/>
                  </a:solidFill>
                </a:ln>
                <a:solidFill>
                  <a:srgbClr val="00B0F0"/>
                </a:solidFill>
              </a:rPr>
              <a:t>dname</a:t>
            </a:r>
            <a:r>
              <a:rPr lang="en-US" sz="2500" dirty="0">
                <a:ln>
                  <a:solidFill>
                    <a:srgbClr val="00B0F0"/>
                  </a:solidFill>
                </a:ln>
                <a:solidFill>
                  <a:srgbClr val="00B0F0"/>
                </a:solidFill>
              </a:rPr>
              <a:t> from </a:t>
            </a:r>
            <a:r>
              <a:rPr lang="en-US" sz="2500" dirty="0" err="1">
                <a:ln>
                  <a:solidFill>
                    <a:srgbClr val="00B0F0"/>
                  </a:solidFill>
                </a:ln>
                <a:solidFill>
                  <a:srgbClr val="00B0F0"/>
                </a:solidFill>
              </a:rPr>
              <a:t>dept</a:t>
            </a:r>
            <a:r>
              <a:rPr lang="en-US" sz="2500" dirty="0">
                <a:ln>
                  <a:solidFill>
                    <a:srgbClr val="00B0F0"/>
                  </a:solidFill>
                </a:ln>
                <a:solidFill>
                  <a:srgbClr val="00B0F0"/>
                </a:solidFill>
              </a:rPr>
              <a:t>;</a:t>
            </a:r>
          </a:p>
          <a:p>
            <a:pPr marL="0" indent="0">
              <a:buNone/>
            </a:pPr>
            <a:endParaRPr lang="en-US" sz="2500" dirty="0">
              <a:ln>
                <a:solidFill>
                  <a:srgbClr val="00B0F0"/>
                </a:solidFill>
              </a:ln>
              <a:solidFill>
                <a:srgbClr val="00B0F0"/>
              </a:solidFill>
            </a:endParaRPr>
          </a:p>
          <a:p>
            <a:pPr marL="0" indent="0">
              <a:buNone/>
            </a:pPr>
            <a:r>
              <a:rPr lang="en-US" sz="2500" dirty="0">
                <a:ln>
                  <a:solidFill>
                    <a:srgbClr val="00B0F0"/>
                  </a:solidFill>
                </a:ln>
                <a:solidFill>
                  <a:srgbClr val="00B0F0"/>
                </a:solidFill>
              </a:rPr>
              <a:t>DECLARE</a:t>
            </a:r>
          </a:p>
          <a:p>
            <a:pPr marL="0" indent="0">
              <a:buNone/>
            </a:pPr>
            <a:r>
              <a:rPr lang="en-US" sz="2500" dirty="0">
                <a:ln>
                  <a:solidFill>
                    <a:srgbClr val="00B0F0"/>
                  </a:solidFill>
                </a:ln>
                <a:solidFill>
                  <a:srgbClr val="00B0F0"/>
                </a:solidFill>
              </a:rPr>
              <a:t>a emp1.empno%type;</a:t>
            </a:r>
          </a:p>
          <a:p>
            <a:pPr marL="0" indent="0">
              <a:buNone/>
            </a:pPr>
            <a:r>
              <a:rPr lang="en-US" sz="2500" dirty="0">
                <a:ln>
                  <a:solidFill>
                    <a:srgbClr val="00B0F0"/>
                  </a:solidFill>
                </a:ln>
                <a:solidFill>
                  <a:srgbClr val="00B0F0"/>
                </a:solidFill>
              </a:rPr>
              <a:t>b emp1.ename%type;</a:t>
            </a:r>
          </a:p>
          <a:p>
            <a:pPr marL="0" indent="0">
              <a:buNone/>
            </a:pPr>
            <a:r>
              <a:rPr lang="en-US" sz="2500" dirty="0">
                <a:ln>
                  <a:solidFill>
                    <a:srgbClr val="00B0F0"/>
                  </a:solidFill>
                </a:ln>
                <a:solidFill>
                  <a:srgbClr val="00B0F0"/>
                </a:solidFill>
              </a:rPr>
              <a:t>c dept1.deptno%type;</a:t>
            </a:r>
          </a:p>
          <a:p>
            <a:pPr marL="0" indent="0">
              <a:buNone/>
            </a:pPr>
            <a:r>
              <a:rPr lang="en-US" sz="2500" dirty="0">
                <a:ln>
                  <a:solidFill>
                    <a:srgbClr val="00B0F0"/>
                  </a:solidFill>
                </a:ln>
                <a:solidFill>
                  <a:srgbClr val="00B0F0"/>
                </a:solidFill>
              </a:rPr>
              <a:t>d dept1.dname%type;</a:t>
            </a:r>
          </a:p>
          <a:p>
            <a:pPr marL="0" indent="0">
              <a:buNone/>
            </a:pPr>
            <a:r>
              <a:rPr lang="en-US" sz="2500" dirty="0">
                <a:ln>
                  <a:solidFill>
                    <a:srgbClr val="00B0F0"/>
                  </a:solidFill>
                </a:ln>
                <a:solidFill>
                  <a:srgbClr val="00B0F0"/>
                </a:solidFill>
              </a:rPr>
              <a:t>choice number;</a:t>
            </a:r>
          </a:p>
          <a:p>
            <a:pPr marL="0" indent="0">
              <a:buNone/>
            </a:pPr>
            <a:r>
              <a:rPr lang="en-US" sz="2500" dirty="0">
                <a:ln>
                  <a:solidFill>
                    <a:srgbClr val="00B0F0"/>
                  </a:solidFill>
                </a:ln>
                <a:solidFill>
                  <a:srgbClr val="00B0F0"/>
                </a:solidFill>
              </a:rPr>
              <a:t>TYPE </a:t>
            </a:r>
            <a:r>
              <a:rPr lang="en-US" sz="2500" dirty="0" err="1">
                <a:ln>
                  <a:solidFill>
                    <a:srgbClr val="00B0F0"/>
                  </a:solidFill>
                </a:ln>
                <a:solidFill>
                  <a:srgbClr val="00B0F0"/>
                </a:solidFill>
              </a:rPr>
              <a:t>GenCurTyp</a:t>
            </a:r>
            <a:r>
              <a:rPr lang="en-US" sz="2500" dirty="0">
                <a:ln>
                  <a:solidFill>
                    <a:srgbClr val="00B0F0"/>
                  </a:solidFill>
                </a:ln>
                <a:solidFill>
                  <a:srgbClr val="00B0F0"/>
                </a:solidFill>
              </a:rPr>
              <a:t> IS REF CURSOR;</a:t>
            </a:r>
          </a:p>
          <a:p>
            <a:pPr marL="0" indent="0">
              <a:buNone/>
            </a:pPr>
            <a:r>
              <a:rPr lang="en-US" sz="2500" dirty="0" err="1">
                <a:ln>
                  <a:solidFill>
                    <a:srgbClr val="00B0F0"/>
                  </a:solidFill>
                </a:ln>
                <a:solidFill>
                  <a:srgbClr val="00B0F0"/>
                </a:solidFill>
              </a:rPr>
              <a:t>abcd</a:t>
            </a:r>
            <a:r>
              <a:rPr lang="en-US" sz="2500" dirty="0">
                <a:ln>
                  <a:solidFill>
                    <a:srgbClr val="00B0F0"/>
                  </a:solidFill>
                </a:ln>
                <a:solidFill>
                  <a:srgbClr val="00B0F0"/>
                </a:solidFill>
              </a:rPr>
              <a:t> </a:t>
            </a:r>
            <a:r>
              <a:rPr lang="en-US" sz="2500" dirty="0" err="1">
                <a:ln>
                  <a:solidFill>
                    <a:srgbClr val="00B0F0"/>
                  </a:solidFill>
                </a:ln>
                <a:solidFill>
                  <a:srgbClr val="00B0F0"/>
                </a:solidFill>
              </a:rPr>
              <a:t>GenCurTyp</a:t>
            </a:r>
            <a:r>
              <a:rPr lang="en-US" sz="2500" dirty="0">
                <a:ln>
                  <a:solidFill>
                    <a:srgbClr val="00B0F0"/>
                  </a:solidFill>
                </a:ln>
                <a:solidFill>
                  <a:srgbClr val="00B0F0"/>
                </a:solidFill>
              </a:rPr>
              <a:t>;</a:t>
            </a:r>
          </a:p>
          <a:p>
            <a:pPr marL="0" indent="0">
              <a:buNone/>
            </a:pPr>
            <a:r>
              <a:rPr lang="en-US" sz="2500" dirty="0">
                <a:ln>
                  <a:solidFill>
                    <a:srgbClr val="00B0F0"/>
                  </a:solidFill>
                </a:ln>
                <a:solidFill>
                  <a:srgbClr val="00B0F0"/>
                </a:solidFill>
              </a:rPr>
              <a:t>PROCEDURE </a:t>
            </a:r>
            <a:r>
              <a:rPr lang="en-US" sz="2500" dirty="0" err="1">
                <a:ln>
                  <a:solidFill>
                    <a:srgbClr val="00B0F0"/>
                  </a:solidFill>
                </a:ln>
                <a:solidFill>
                  <a:srgbClr val="00B0F0"/>
                </a:solidFill>
              </a:rPr>
              <a:t>open_gen</a:t>
            </a:r>
            <a:r>
              <a:rPr lang="en-US" sz="2500" dirty="0">
                <a:ln>
                  <a:solidFill>
                    <a:srgbClr val="00B0F0"/>
                  </a:solidFill>
                </a:ln>
                <a:solidFill>
                  <a:srgbClr val="00B0F0"/>
                </a:solidFill>
              </a:rPr>
              <a:t>(</a:t>
            </a:r>
            <a:r>
              <a:rPr lang="en-US" sz="2500" dirty="0" err="1">
                <a:ln>
                  <a:solidFill>
                    <a:srgbClr val="00B0F0"/>
                  </a:solidFill>
                </a:ln>
                <a:solidFill>
                  <a:srgbClr val="00B0F0"/>
                </a:solidFill>
              </a:rPr>
              <a:t>gen_cv</a:t>
            </a:r>
            <a:r>
              <a:rPr lang="en-US" sz="2500" dirty="0">
                <a:ln>
                  <a:solidFill>
                    <a:srgbClr val="00B0F0"/>
                  </a:solidFill>
                </a:ln>
                <a:solidFill>
                  <a:srgbClr val="00B0F0"/>
                </a:solidFill>
              </a:rPr>
              <a:t> OUT </a:t>
            </a:r>
            <a:r>
              <a:rPr lang="en-US" sz="2500" dirty="0" err="1">
                <a:ln>
                  <a:solidFill>
                    <a:srgbClr val="00B0F0"/>
                  </a:solidFill>
                </a:ln>
                <a:solidFill>
                  <a:srgbClr val="00B0F0"/>
                </a:solidFill>
              </a:rPr>
              <a:t>GenCurTyp</a:t>
            </a:r>
            <a:r>
              <a:rPr lang="en-US" sz="2500" dirty="0">
                <a:ln>
                  <a:solidFill>
                    <a:srgbClr val="00B0F0"/>
                  </a:solidFill>
                </a:ln>
                <a:solidFill>
                  <a:srgbClr val="00B0F0"/>
                </a:solidFill>
              </a:rPr>
              <a:t> , choice in number) IS</a:t>
            </a:r>
          </a:p>
          <a:p>
            <a:pPr marL="0" indent="0">
              <a:buNone/>
            </a:pPr>
            <a:r>
              <a:rPr lang="en-US" sz="2500" dirty="0">
                <a:ln>
                  <a:solidFill>
                    <a:srgbClr val="00B0F0"/>
                  </a:solidFill>
                </a:ln>
                <a:solidFill>
                  <a:srgbClr val="00B0F0"/>
                </a:solidFill>
              </a:rPr>
              <a:t>Begin</a:t>
            </a:r>
          </a:p>
          <a:p>
            <a:pPr marL="0" indent="0">
              <a:buNone/>
            </a:pPr>
            <a:r>
              <a:rPr lang="en-US" sz="2500" dirty="0">
                <a:ln>
                  <a:solidFill>
                    <a:srgbClr val="00B0F0"/>
                  </a:solidFill>
                </a:ln>
                <a:solidFill>
                  <a:srgbClr val="00B0F0"/>
                </a:solidFill>
              </a:rPr>
              <a:t>   		If choice=1 then </a:t>
            </a:r>
          </a:p>
          <a:p>
            <a:pPr marL="0" indent="0">
              <a:buNone/>
            </a:pPr>
            <a:r>
              <a:rPr lang="en-US" sz="2500" dirty="0">
                <a:ln>
                  <a:solidFill>
                    <a:srgbClr val="00B0F0"/>
                  </a:solidFill>
                </a:ln>
                <a:solidFill>
                  <a:srgbClr val="00B0F0"/>
                </a:solidFill>
              </a:rPr>
              <a:t>      			open </a:t>
            </a:r>
            <a:r>
              <a:rPr lang="en-US" sz="2500" dirty="0" err="1">
                <a:ln>
                  <a:solidFill>
                    <a:srgbClr val="00B0F0"/>
                  </a:solidFill>
                </a:ln>
                <a:solidFill>
                  <a:srgbClr val="00B0F0"/>
                </a:solidFill>
              </a:rPr>
              <a:t>gen_cv</a:t>
            </a:r>
            <a:r>
              <a:rPr lang="en-US" sz="2500" dirty="0">
                <a:ln>
                  <a:solidFill>
                    <a:srgbClr val="00B0F0"/>
                  </a:solidFill>
                </a:ln>
                <a:solidFill>
                  <a:srgbClr val="00B0F0"/>
                </a:solidFill>
              </a:rPr>
              <a:t> for select * from emp1;</a:t>
            </a:r>
          </a:p>
          <a:p>
            <a:pPr marL="0" indent="0">
              <a:buNone/>
            </a:pPr>
            <a:r>
              <a:rPr lang="en-US" sz="2500" dirty="0">
                <a:ln>
                  <a:solidFill>
                    <a:srgbClr val="00B0F0"/>
                  </a:solidFill>
                </a:ln>
                <a:solidFill>
                  <a:srgbClr val="00B0F0"/>
                </a:solidFill>
              </a:rPr>
              <a:t>   		</a:t>
            </a:r>
            <a:r>
              <a:rPr lang="en-US" sz="2500" dirty="0" err="1">
                <a:ln>
                  <a:solidFill>
                    <a:srgbClr val="00B0F0"/>
                  </a:solidFill>
                </a:ln>
                <a:solidFill>
                  <a:srgbClr val="00B0F0"/>
                </a:solidFill>
              </a:rPr>
              <a:t>elsif</a:t>
            </a:r>
            <a:r>
              <a:rPr lang="en-US" sz="2500" dirty="0">
                <a:ln>
                  <a:solidFill>
                    <a:srgbClr val="00B0F0"/>
                  </a:solidFill>
                </a:ln>
                <a:solidFill>
                  <a:srgbClr val="00B0F0"/>
                </a:solidFill>
              </a:rPr>
              <a:t> choice=2 then</a:t>
            </a:r>
          </a:p>
          <a:p>
            <a:pPr marL="0" indent="0">
              <a:buNone/>
            </a:pPr>
            <a:r>
              <a:rPr lang="en-US" sz="2500" dirty="0">
                <a:ln>
                  <a:solidFill>
                    <a:srgbClr val="00B0F0"/>
                  </a:solidFill>
                </a:ln>
                <a:solidFill>
                  <a:srgbClr val="00B0F0"/>
                </a:solidFill>
              </a:rPr>
              <a:t>      			open </a:t>
            </a:r>
            <a:r>
              <a:rPr lang="en-US" sz="2500" dirty="0" err="1">
                <a:ln>
                  <a:solidFill>
                    <a:srgbClr val="00B0F0"/>
                  </a:solidFill>
                </a:ln>
                <a:solidFill>
                  <a:srgbClr val="00B0F0"/>
                </a:solidFill>
              </a:rPr>
              <a:t>gen_cv</a:t>
            </a:r>
            <a:r>
              <a:rPr lang="en-US" sz="2500" dirty="0">
                <a:ln>
                  <a:solidFill>
                    <a:srgbClr val="00B0F0"/>
                  </a:solidFill>
                </a:ln>
                <a:solidFill>
                  <a:srgbClr val="00B0F0"/>
                </a:solidFill>
              </a:rPr>
              <a:t> for select * from dept1;</a:t>
            </a:r>
          </a:p>
          <a:p>
            <a:pPr marL="0" indent="0">
              <a:buNone/>
            </a:pPr>
            <a:r>
              <a:rPr lang="en-US" sz="2500" dirty="0">
                <a:ln>
                  <a:solidFill>
                    <a:srgbClr val="00B0F0"/>
                  </a:solidFill>
                </a:ln>
                <a:solidFill>
                  <a:srgbClr val="00B0F0"/>
                </a:solidFill>
              </a:rPr>
              <a:t>   		end if;</a:t>
            </a:r>
          </a:p>
          <a:p>
            <a:pPr marL="0" indent="0">
              <a:buNone/>
            </a:pPr>
            <a:r>
              <a:rPr lang="en-US" sz="2500" dirty="0">
                <a:ln>
                  <a:solidFill>
                    <a:srgbClr val="00B0F0"/>
                  </a:solidFill>
                </a:ln>
                <a:solidFill>
                  <a:srgbClr val="00B0F0"/>
                </a:solidFill>
              </a:rPr>
              <a:t>end;</a:t>
            </a:r>
            <a:endParaRPr lang="en-US" sz="20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4.13: WEAK REF cursor types as IN, OUT and IN OUT parameter modes</a:t>
            </a:r>
            <a:br>
              <a:rPr lang="en-US" sz="1400" b="1" dirty="0">
                <a:latin typeface="Candara"/>
              </a:rPr>
            </a:br>
            <a:r>
              <a:rPr lang="en-US" dirty="0"/>
              <a:t>OUT mode for WEAK Ref cursor type 	</a:t>
            </a:r>
            <a:endParaRPr lang="en-US" sz="2400" b="1" dirty="0">
              <a:latin typeface="Candara"/>
            </a:endParaRPr>
          </a:p>
        </p:txBody>
      </p:sp>
    </p:spTree>
    <p:extLst>
      <p:ext uri="{BB962C8B-B14F-4D97-AF65-F5344CB8AC3E}">
        <p14:creationId xmlns:p14="http://schemas.microsoft.com/office/powerpoint/2010/main" val="2836694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01858" y="801364"/>
            <a:ext cx="8940283" cy="4066673"/>
          </a:xfrm>
        </p:spPr>
        <p:txBody>
          <a:bodyPr>
            <a:normAutofit fontScale="70000" lnSpcReduction="20000"/>
          </a:bodyPr>
          <a:lstStyle/>
          <a:p>
            <a:pPr marL="0" indent="0">
              <a:buNone/>
            </a:pPr>
            <a:endParaRPr lang="en-US" sz="2000" dirty="0">
              <a:ln>
                <a:solidFill>
                  <a:srgbClr val="00B0F0"/>
                </a:solidFill>
              </a:ln>
              <a:solidFill>
                <a:srgbClr val="00B0F0"/>
              </a:solidFill>
            </a:endParaRPr>
          </a:p>
          <a:p>
            <a:pPr marL="0" indent="0">
              <a:buNone/>
            </a:pPr>
            <a:endParaRPr lang="en-US" sz="2000" dirty="0">
              <a:ln>
                <a:solidFill>
                  <a:srgbClr val="00B0F0"/>
                </a:solidFill>
              </a:ln>
              <a:solidFill>
                <a:srgbClr val="00B0F0"/>
              </a:solidFill>
            </a:endParaRPr>
          </a:p>
          <a:p>
            <a:pPr marL="0" indent="0">
              <a:buNone/>
            </a:pPr>
            <a:r>
              <a:rPr lang="en-US" sz="2000" dirty="0">
                <a:ln>
                  <a:solidFill>
                    <a:srgbClr val="00B0F0"/>
                  </a:solidFill>
                </a:ln>
                <a:solidFill>
                  <a:srgbClr val="00B0F0"/>
                </a:solidFill>
              </a:rPr>
              <a:t>begin</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open_gen</a:t>
            </a:r>
            <a:r>
              <a:rPr lang="en-US" sz="2000" dirty="0">
                <a:ln>
                  <a:solidFill>
                    <a:srgbClr val="00B0F0"/>
                  </a:solidFill>
                </a:ln>
                <a:solidFill>
                  <a:srgbClr val="00B0F0"/>
                </a:solidFill>
              </a:rPr>
              <a:t>(abcd,1);</a:t>
            </a:r>
          </a:p>
          <a:p>
            <a:pPr marL="0" indent="0">
              <a:buNone/>
            </a:pPr>
            <a:r>
              <a:rPr lang="en-US" sz="2000" dirty="0">
                <a:ln>
                  <a:solidFill>
                    <a:srgbClr val="00B0F0"/>
                  </a:solidFill>
                </a:ln>
                <a:solidFill>
                  <a:srgbClr val="00B0F0"/>
                </a:solidFill>
              </a:rPr>
              <a:t>    	loop</a:t>
            </a:r>
          </a:p>
          <a:p>
            <a:pPr marL="0" indent="0">
              <a:buNone/>
            </a:pPr>
            <a:r>
              <a:rPr lang="en-US" sz="2000" dirty="0">
                <a:ln>
                  <a:solidFill>
                    <a:srgbClr val="00B0F0"/>
                  </a:solidFill>
                </a:ln>
                <a:solidFill>
                  <a:srgbClr val="00B0F0"/>
                </a:solidFill>
              </a:rPr>
              <a:t>         		fetch </a:t>
            </a:r>
            <a:r>
              <a:rPr lang="en-US" sz="2000" dirty="0" err="1">
                <a:ln>
                  <a:solidFill>
                    <a:srgbClr val="00B0F0"/>
                  </a:solidFill>
                </a:ln>
                <a:solidFill>
                  <a:srgbClr val="00B0F0"/>
                </a:solidFill>
              </a:rPr>
              <a:t>abcd</a:t>
            </a:r>
            <a:r>
              <a:rPr lang="en-US" sz="2000" dirty="0">
                <a:ln>
                  <a:solidFill>
                    <a:srgbClr val="00B0F0"/>
                  </a:solidFill>
                </a:ln>
                <a:solidFill>
                  <a:srgbClr val="00B0F0"/>
                </a:solidFill>
              </a:rPr>
              <a:t> into </a:t>
            </a:r>
            <a:r>
              <a:rPr lang="en-US" sz="2000" dirty="0" err="1">
                <a:ln>
                  <a:solidFill>
                    <a:srgbClr val="00B0F0"/>
                  </a:solidFill>
                </a:ln>
                <a:solidFill>
                  <a:srgbClr val="00B0F0"/>
                </a:solidFill>
              </a:rPr>
              <a:t>a,b</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exit when </a:t>
            </a:r>
            <a:r>
              <a:rPr lang="en-US" sz="2000" dirty="0" err="1">
                <a:ln>
                  <a:solidFill>
                    <a:srgbClr val="00B0F0"/>
                  </a:solidFill>
                </a:ln>
                <a:solidFill>
                  <a:srgbClr val="00B0F0"/>
                </a:solidFill>
              </a:rPr>
              <a:t>abcd%notfound</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dbms_output.put_line</a:t>
            </a:r>
            <a:r>
              <a:rPr lang="en-US" sz="2000" dirty="0">
                <a:ln>
                  <a:solidFill>
                    <a:srgbClr val="00B0F0"/>
                  </a:solidFill>
                </a:ln>
                <a:solidFill>
                  <a:srgbClr val="00B0F0"/>
                </a:solidFill>
              </a:rPr>
              <a:t>('</a:t>
            </a:r>
            <a:r>
              <a:rPr lang="en-US" sz="2000" dirty="0" err="1">
                <a:ln>
                  <a:solidFill>
                    <a:srgbClr val="00B0F0"/>
                  </a:solidFill>
                </a:ln>
                <a:solidFill>
                  <a:srgbClr val="00B0F0"/>
                </a:solidFill>
              </a:rPr>
              <a:t>emp</a:t>
            </a:r>
            <a:r>
              <a:rPr lang="en-US" sz="2000" dirty="0">
                <a:ln>
                  <a:solidFill>
                    <a:srgbClr val="00B0F0"/>
                  </a:solidFill>
                </a:ln>
                <a:solidFill>
                  <a:srgbClr val="00B0F0"/>
                </a:solidFill>
              </a:rPr>
              <a:t> number '||a||' </a:t>
            </a:r>
            <a:r>
              <a:rPr lang="en-US" sz="2000" dirty="0" err="1">
                <a:ln>
                  <a:solidFill>
                    <a:srgbClr val="00B0F0"/>
                  </a:solidFill>
                </a:ln>
                <a:solidFill>
                  <a:srgbClr val="00B0F0"/>
                </a:solidFill>
              </a:rPr>
              <a:t>emp</a:t>
            </a:r>
            <a:r>
              <a:rPr lang="en-US" sz="2000" dirty="0">
                <a:ln>
                  <a:solidFill>
                    <a:srgbClr val="00B0F0"/>
                  </a:solidFill>
                </a:ln>
                <a:solidFill>
                  <a:srgbClr val="00B0F0"/>
                </a:solidFill>
              </a:rPr>
              <a:t> name ' || b);</a:t>
            </a:r>
          </a:p>
          <a:p>
            <a:pPr marL="0" indent="0">
              <a:buNone/>
            </a:pPr>
            <a:r>
              <a:rPr lang="en-US" sz="2000" dirty="0">
                <a:ln>
                  <a:solidFill>
                    <a:srgbClr val="00B0F0"/>
                  </a:solidFill>
                </a:ln>
                <a:solidFill>
                  <a:srgbClr val="00B0F0"/>
                </a:solidFill>
              </a:rPr>
              <a:t>    	end loop;</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dbms_output.put_line</a:t>
            </a:r>
            <a:r>
              <a:rPr lang="en-US" sz="2000" dirty="0">
                <a:ln>
                  <a:solidFill>
                    <a:srgbClr val="00B0F0"/>
                  </a:solidFill>
                </a:ln>
                <a:solidFill>
                  <a:srgbClr val="00B0F0"/>
                </a:solidFill>
              </a:rPr>
              <a:t>('hello’);</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open_gen</a:t>
            </a:r>
            <a:r>
              <a:rPr lang="en-US" sz="2000" dirty="0">
                <a:ln>
                  <a:solidFill>
                    <a:srgbClr val="00B0F0"/>
                  </a:solidFill>
                </a:ln>
                <a:solidFill>
                  <a:srgbClr val="00B0F0"/>
                </a:solidFill>
              </a:rPr>
              <a:t>(abcd,2);</a:t>
            </a:r>
          </a:p>
          <a:p>
            <a:pPr marL="0" indent="0">
              <a:buNone/>
            </a:pPr>
            <a:r>
              <a:rPr lang="en-US" sz="2000" dirty="0">
                <a:ln>
                  <a:solidFill>
                    <a:srgbClr val="00B0F0"/>
                  </a:solidFill>
                </a:ln>
                <a:solidFill>
                  <a:srgbClr val="00B0F0"/>
                </a:solidFill>
              </a:rPr>
              <a:t>    	loop</a:t>
            </a:r>
          </a:p>
          <a:p>
            <a:pPr marL="0" indent="0">
              <a:buNone/>
            </a:pPr>
            <a:r>
              <a:rPr lang="en-US" sz="2000" dirty="0">
                <a:ln>
                  <a:solidFill>
                    <a:srgbClr val="00B0F0"/>
                  </a:solidFill>
                </a:ln>
                <a:solidFill>
                  <a:srgbClr val="00B0F0"/>
                </a:solidFill>
              </a:rPr>
              <a:t>         		fetch </a:t>
            </a:r>
            <a:r>
              <a:rPr lang="en-US" sz="2000" dirty="0" err="1">
                <a:ln>
                  <a:solidFill>
                    <a:srgbClr val="00B0F0"/>
                  </a:solidFill>
                </a:ln>
                <a:solidFill>
                  <a:srgbClr val="00B0F0"/>
                </a:solidFill>
              </a:rPr>
              <a:t>abcd</a:t>
            </a:r>
            <a:r>
              <a:rPr lang="en-US" sz="2000" dirty="0">
                <a:ln>
                  <a:solidFill>
                    <a:srgbClr val="00B0F0"/>
                  </a:solidFill>
                </a:ln>
                <a:solidFill>
                  <a:srgbClr val="00B0F0"/>
                </a:solidFill>
              </a:rPr>
              <a:t> into </a:t>
            </a:r>
            <a:r>
              <a:rPr lang="en-US" sz="2000" dirty="0" err="1">
                <a:ln>
                  <a:solidFill>
                    <a:srgbClr val="00B0F0"/>
                  </a:solidFill>
                </a:ln>
                <a:solidFill>
                  <a:srgbClr val="00B0F0"/>
                </a:solidFill>
              </a:rPr>
              <a:t>c,d</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exit when </a:t>
            </a:r>
            <a:r>
              <a:rPr lang="en-US" sz="2000" dirty="0" err="1">
                <a:ln>
                  <a:solidFill>
                    <a:srgbClr val="00B0F0"/>
                  </a:solidFill>
                </a:ln>
                <a:solidFill>
                  <a:srgbClr val="00B0F0"/>
                </a:solidFill>
              </a:rPr>
              <a:t>abcd%notfound</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dbms_output.put_line</a:t>
            </a:r>
            <a:r>
              <a:rPr lang="en-US" sz="2000" dirty="0">
                <a:ln>
                  <a:solidFill>
                    <a:srgbClr val="00B0F0"/>
                  </a:solidFill>
                </a:ln>
                <a:solidFill>
                  <a:srgbClr val="00B0F0"/>
                </a:solidFill>
              </a:rPr>
              <a:t>('</a:t>
            </a:r>
            <a:r>
              <a:rPr lang="en-US" sz="2000" dirty="0" err="1">
                <a:ln>
                  <a:solidFill>
                    <a:srgbClr val="00B0F0"/>
                  </a:solidFill>
                </a:ln>
                <a:solidFill>
                  <a:srgbClr val="00B0F0"/>
                </a:solidFill>
              </a:rPr>
              <a:t>dept</a:t>
            </a:r>
            <a:r>
              <a:rPr lang="en-US" sz="2000" dirty="0">
                <a:ln>
                  <a:solidFill>
                    <a:srgbClr val="00B0F0"/>
                  </a:solidFill>
                </a:ln>
                <a:solidFill>
                  <a:srgbClr val="00B0F0"/>
                </a:solidFill>
              </a:rPr>
              <a:t> number '||c||' </a:t>
            </a:r>
            <a:r>
              <a:rPr lang="en-US" sz="2000" dirty="0" err="1">
                <a:ln>
                  <a:solidFill>
                    <a:srgbClr val="00B0F0"/>
                  </a:solidFill>
                </a:ln>
                <a:solidFill>
                  <a:srgbClr val="00B0F0"/>
                </a:solidFill>
              </a:rPr>
              <a:t>dept</a:t>
            </a:r>
            <a:r>
              <a:rPr lang="en-US" sz="2000" dirty="0">
                <a:ln>
                  <a:solidFill>
                    <a:srgbClr val="00B0F0"/>
                  </a:solidFill>
                </a:ln>
                <a:solidFill>
                  <a:srgbClr val="00B0F0"/>
                </a:solidFill>
              </a:rPr>
              <a:t> name ' || d);</a:t>
            </a:r>
          </a:p>
          <a:p>
            <a:pPr marL="0" indent="0">
              <a:buNone/>
            </a:pPr>
            <a:r>
              <a:rPr lang="en-US" sz="2000" dirty="0">
                <a:ln>
                  <a:solidFill>
                    <a:srgbClr val="00B0F0"/>
                  </a:solidFill>
                </a:ln>
                <a:solidFill>
                  <a:srgbClr val="00B0F0"/>
                </a:solidFill>
              </a:rPr>
              <a:t>    	end loop;</a:t>
            </a:r>
          </a:p>
          <a:p>
            <a:pPr marL="0" indent="0">
              <a:buNone/>
            </a:pPr>
            <a:r>
              <a:rPr lang="en-US" sz="2000" dirty="0">
                <a:ln>
                  <a:solidFill>
                    <a:srgbClr val="00B0F0"/>
                  </a:solidFill>
                </a:ln>
                <a:solidFill>
                  <a:srgbClr val="00B0F0"/>
                </a:solidFill>
              </a:rPr>
              <a:t>end;</a:t>
            </a:r>
          </a:p>
          <a:p>
            <a:pPr marL="0" indent="0">
              <a:buNone/>
            </a:pPr>
            <a:r>
              <a:rPr lang="en-US" sz="2000" dirty="0">
                <a:ln>
                  <a:solidFill>
                    <a:srgbClr val="00B0F0"/>
                  </a:solidFill>
                </a:ln>
                <a:solidFill>
                  <a:srgbClr val="00B0F0"/>
                </a:solidFill>
              </a:rPr>
              <a:t>/</a:t>
            </a:r>
          </a:p>
          <a:p>
            <a:pPr marL="0" indent="0">
              <a:buNone/>
            </a:pPr>
            <a:endParaRPr lang="en-US" sz="20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4.13: WEAK REF cursor types as IN, OUT and IN OUT parameter modes</a:t>
            </a:r>
            <a:br>
              <a:rPr lang="en-US" sz="1400" b="1" dirty="0">
                <a:latin typeface="Candara"/>
              </a:rPr>
            </a:br>
            <a:r>
              <a:rPr lang="en-US" dirty="0"/>
              <a:t>OUT mode for WEAK Ref cursor type 		….</a:t>
            </a:r>
            <a:r>
              <a:rPr lang="en-US" dirty="0" err="1"/>
              <a:t>contd</a:t>
            </a:r>
            <a:endParaRPr lang="en-US" sz="2400" b="1" dirty="0">
              <a:latin typeface="Candara"/>
            </a:endParaRPr>
          </a:p>
        </p:txBody>
      </p:sp>
    </p:spTree>
    <p:extLst>
      <p:ext uri="{BB962C8B-B14F-4D97-AF65-F5344CB8AC3E}">
        <p14:creationId xmlns:p14="http://schemas.microsoft.com/office/powerpoint/2010/main" val="40789325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25000" lnSpcReduction="20000"/>
          </a:bodyPr>
          <a:lstStyle/>
          <a:p>
            <a:pPr marL="0" indent="0">
              <a:buNone/>
            </a:pPr>
            <a:endParaRPr lang="en-US" sz="2500" dirty="0">
              <a:ln>
                <a:solidFill>
                  <a:srgbClr val="00B0F0"/>
                </a:solidFill>
              </a:ln>
              <a:solidFill>
                <a:srgbClr val="00B0F0"/>
              </a:solidFill>
            </a:endParaRPr>
          </a:p>
          <a:p>
            <a:pPr marL="0" indent="0">
              <a:buNone/>
            </a:pPr>
            <a:r>
              <a:rPr lang="en-US" sz="5600" dirty="0">
                <a:ln>
                  <a:solidFill>
                    <a:srgbClr val="00B0F0"/>
                  </a:solidFill>
                </a:ln>
                <a:solidFill>
                  <a:srgbClr val="00B0F0"/>
                </a:solidFill>
              </a:rPr>
              <a:t>Create or Replace Package </a:t>
            </a:r>
            <a:r>
              <a:rPr lang="en-US" sz="5600" dirty="0" err="1">
                <a:ln>
                  <a:solidFill>
                    <a:srgbClr val="00B0F0"/>
                  </a:solidFill>
                </a:ln>
                <a:solidFill>
                  <a:srgbClr val="00B0F0"/>
                </a:solidFill>
              </a:rPr>
              <a:t>pack_cur</a:t>
            </a:r>
            <a:endParaRPr lang="en-US" sz="5600" dirty="0">
              <a:ln>
                <a:solidFill>
                  <a:srgbClr val="00B0F0"/>
                </a:solidFill>
              </a:ln>
              <a:solidFill>
                <a:srgbClr val="00B0F0"/>
              </a:solidFill>
            </a:endParaRPr>
          </a:p>
          <a:p>
            <a:pPr marL="0" indent="0">
              <a:buNone/>
            </a:pPr>
            <a:r>
              <a:rPr lang="en-US" sz="5600" dirty="0">
                <a:ln>
                  <a:solidFill>
                    <a:srgbClr val="00B0F0"/>
                  </a:solidFill>
                </a:ln>
                <a:solidFill>
                  <a:srgbClr val="00B0F0"/>
                </a:solidFill>
              </a:rPr>
              <a:t>Is</a:t>
            </a:r>
          </a:p>
          <a:p>
            <a:pPr marL="0" indent="0">
              <a:buNone/>
            </a:pPr>
            <a:r>
              <a:rPr lang="en-US" sz="5600" dirty="0">
                <a:ln>
                  <a:solidFill>
                    <a:srgbClr val="00B0F0"/>
                  </a:solidFill>
                </a:ln>
                <a:solidFill>
                  <a:srgbClr val="00B0F0"/>
                </a:solidFill>
              </a:rPr>
              <a:t>	TYPE </a:t>
            </a:r>
            <a:r>
              <a:rPr lang="en-US" sz="5600" dirty="0" err="1">
                <a:ln>
                  <a:solidFill>
                    <a:srgbClr val="00B0F0"/>
                  </a:solidFill>
                </a:ln>
                <a:solidFill>
                  <a:srgbClr val="00B0F0"/>
                </a:solidFill>
              </a:rPr>
              <a:t>GenCurTyp</a:t>
            </a:r>
            <a:r>
              <a:rPr lang="en-US" sz="5600" dirty="0">
                <a:ln>
                  <a:solidFill>
                    <a:srgbClr val="00B0F0"/>
                  </a:solidFill>
                </a:ln>
                <a:solidFill>
                  <a:srgbClr val="00B0F0"/>
                </a:solidFill>
              </a:rPr>
              <a:t> IS REF CURSOR ;</a:t>
            </a:r>
          </a:p>
          <a:p>
            <a:pPr marL="0" indent="0">
              <a:buNone/>
            </a:pPr>
            <a:r>
              <a:rPr lang="en-US" sz="5600" dirty="0">
                <a:ln>
                  <a:solidFill>
                    <a:srgbClr val="00B0F0"/>
                  </a:solidFill>
                </a:ln>
                <a:solidFill>
                  <a:srgbClr val="00B0F0"/>
                </a:solidFill>
              </a:rPr>
              <a:t>	PROCEDURE </a:t>
            </a:r>
            <a:r>
              <a:rPr lang="en-US" sz="5600" dirty="0" err="1">
                <a:ln>
                  <a:solidFill>
                    <a:srgbClr val="00B0F0"/>
                  </a:solidFill>
                </a:ln>
                <a:solidFill>
                  <a:srgbClr val="00B0F0"/>
                </a:solidFill>
              </a:rPr>
              <a:t>open_emp_cv</a:t>
            </a:r>
            <a:r>
              <a:rPr lang="en-US" sz="5600" dirty="0">
                <a:ln>
                  <a:solidFill>
                    <a:srgbClr val="00B0F0"/>
                  </a:solidFill>
                </a:ln>
                <a:solidFill>
                  <a:srgbClr val="00B0F0"/>
                </a:solidFill>
              </a:rPr>
              <a:t>(</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out  </a:t>
            </a:r>
            <a:r>
              <a:rPr lang="en-US" sz="5600" dirty="0" err="1">
                <a:ln>
                  <a:solidFill>
                    <a:srgbClr val="00B0F0"/>
                  </a:solidFill>
                </a:ln>
                <a:solidFill>
                  <a:srgbClr val="00B0F0"/>
                </a:solidFill>
              </a:rPr>
              <a:t>GenCurTyp</a:t>
            </a:r>
            <a:r>
              <a:rPr lang="en-US" sz="5600" dirty="0">
                <a:ln>
                  <a:solidFill>
                    <a:srgbClr val="00B0F0"/>
                  </a:solidFill>
                </a:ln>
                <a:solidFill>
                  <a:srgbClr val="00B0F0"/>
                </a:solidFill>
              </a:rPr>
              <a:t>); </a:t>
            </a:r>
          </a:p>
          <a:p>
            <a:pPr marL="0" indent="0">
              <a:buNone/>
            </a:pPr>
            <a:r>
              <a:rPr lang="en-US" sz="5600" dirty="0">
                <a:ln>
                  <a:solidFill>
                    <a:srgbClr val="00B0F0"/>
                  </a:solidFill>
                </a:ln>
                <a:solidFill>
                  <a:srgbClr val="00B0F0"/>
                </a:solidFill>
              </a:rPr>
              <a:t>	PROCEDURE </a:t>
            </a:r>
            <a:r>
              <a:rPr lang="en-US" sz="5600" dirty="0" err="1">
                <a:ln>
                  <a:solidFill>
                    <a:srgbClr val="00B0F0"/>
                  </a:solidFill>
                </a:ln>
                <a:solidFill>
                  <a:srgbClr val="00B0F0"/>
                </a:solidFill>
              </a:rPr>
              <a:t>open_dept_cv</a:t>
            </a:r>
            <a:r>
              <a:rPr lang="en-US" sz="5600" dirty="0">
                <a:ln>
                  <a:solidFill>
                    <a:srgbClr val="00B0F0"/>
                  </a:solidFill>
                </a:ln>
                <a:solidFill>
                  <a:srgbClr val="00B0F0"/>
                </a:solidFill>
              </a:rPr>
              <a:t>(</a:t>
            </a:r>
            <a:r>
              <a:rPr lang="en-US" sz="5600" dirty="0" err="1">
                <a:ln>
                  <a:solidFill>
                    <a:srgbClr val="00B0F0"/>
                  </a:solidFill>
                </a:ln>
                <a:solidFill>
                  <a:srgbClr val="00B0F0"/>
                </a:solidFill>
              </a:rPr>
              <a:t>dept_cv</a:t>
            </a:r>
            <a:r>
              <a:rPr lang="en-US" sz="5600" dirty="0">
                <a:ln>
                  <a:solidFill>
                    <a:srgbClr val="00B0F0"/>
                  </a:solidFill>
                </a:ln>
                <a:solidFill>
                  <a:srgbClr val="00B0F0"/>
                </a:solidFill>
              </a:rPr>
              <a:t> out  </a:t>
            </a:r>
            <a:r>
              <a:rPr lang="en-US" sz="5600" dirty="0" err="1">
                <a:ln>
                  <a:solidFill>
                    <a:srgbClr val="00B0F0"/>
                  </a:solidFill>
                </a:ln>
                <a:solidFill>
                  <a:srgbClr val="00B0F0"/>
                </a:solidFill>
              </a:rPr>
              <a:t>GenCurTyp</a:t>
            </a:r>
            <a:r>
              <a:rPr lang="en-US" sz="5600" dirty="0">
                <a:ln>
                  <a:solidFill>
                    <a:srgbClr val="00B0F0"/>
                  </a:solidFill>
                </a:ln>
                <a:solidFill>
                  <a:srgbClr val="00B0F0"/>
                </a:solidFill>
              </a:rPr>
              <a:t>); </a:t>
            </a:r>
          </a:p>
          <a:p>
            <a:pPr marL="0" indent="0">
              <a:buNone/>
            </a:pPr>
            <a:r>
              <a:rPr lang="en-US" sz="5600" dirty="0">
                <a:ln>
                  <a:solidFill>
                    <a:srgbClr val="00B0F0"/>
                  </a:solidFill>
                </a:ln>
                <a:solidFill>
                  <a:srgbClr val="00B0F0"/>
                </a:solidFill>
              </a:rPr>
              <a:t>end;</a:t>
            </a:r>
          </a:p>
          <a:p>
            <a:pPr marL="0" indent="0">
              <a:buNone/>
            </a:pP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Create or Replace Package Body </a:t>
            </a:r>
            <a:r>
              <a:rPr lang="en-US" sz="5600" dirty="0" err="1">
                <a:ln>
                  <a:solidFill>
                    <a:srgbClr val="00B0F0"/>
                  </a:solidFill>
                </a:ln>
                <a:solidFill>
                  <a:srgbClr val="00B0F0"/>
                </a:solidFill>
              </a:rPr>
              <a:t>pack_cur</a:t>
            </a:r>
            <a:endParaRPr lang="en-US" sz="5600" dirty="0">
              <a:ln>
                <a:solidFill>
                  <a:srgbClr val="00B0F0"/>
                </a:solidFill>
              </a:ln>
              <a:solidFill>
                <a:srgbClr val="00B0F0"/>
              </a:solidFill>
            </a:endParaRPr>
          </a:p>
          <a:p>
            <a:pPr marL="0" indent="0">
              <a:buNone/>
            </a:pPr>
            <a:r>
              <a:rPr lang="en-US" sz="5600" dirty="0">
                <a:ln>
                  <a:solidFill>
                    <a:srgbClr val="00B0F0"/>
                  </a:solidFill>
                </a:ln>
                <a:solidFill>
                  <a:srgbClr val="00B0F0"/>
                </a:solidFill>
              </a:rPr>
              <a:t>Is</a:t>
            </a:r>
          </a:p>
          <a:p>
            <a:pPr marL="0" indent="0">
              <a:buNone/>
            </a:pPr>
            <a:r>
              <a:rPr lang="en-US" sz="5600" dirty="0">
                <a:ln>
                  <a:solidFill>
                    <a:srgbClr val="00B0F0"/>
                  </a:solidFill>
                </a:ln>
                <a:solidFill>
                  <a:srgbClr val="00B0F0"/>
                </a:solidFill>
              </a:rPr>
              <a:t>PROCEDURE </a:t>
            </a:r>
            <a:r>
              <a:rPr lang="en-US" sz="5600" dirty="0" err="1">
                <a:ln>
                  <a:solidFill>
                    <a:srgbClr val="00B0F0"/>
                  </a:solidFill>
                </a:ln>
                <a:solidFill>
                  <a:srgbClr val="00B0F0"/>
                </a:solidFill>
              </a:rPr>
              <a:t>open_emp_cv</a:t>
            </a:r>
            <a:r>
              <a:rPr lang="en-US" sz="5600" dirty="0">
                <a:ln>
                  <a:solidFill>
                    <a:srgbClr val="00B0F0"/>
                  </a:solidFill>
                </a:ln>
                <a:solidFill>
                  <a:srgbClr val="00B0F0"/>
                </a:solidFill>
              </a:rPr>
              <a:t>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OUT </a:t>
            </a:r>
            <a:r>
              <a:rPr lang="en-US" sz="5600" dirty="0" err="1">
                <a:ln>
                  <a:solidFill>
                    <a:srgbClr val="00B0F0"/>
                  </a:solidFill>
                </a:ln>
                <a:solidFill>
                  <a:srgbClr val="00B0F0"/>
                </a:solidFill>
              </a:rPr>
              <a:t>GenCurTyp</a:t>
            </a:r>
            <a:r>
              <a:rPr lang="en-US" sz="5600" dirty="0">
                <a:ln>
                  <a:solidFill>
                    <a:srgbClr val="00B0F0"/>
                  </a:solidFill>
                </a:ln>
                <a:solidFill>
                  <a:srgbClr val="00B0F0"/>
                </a:solidFill>
              </a:rPr>
              <a:t>) IS</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vdata</a:t>
            </a:r>
            <a:r>
              <a:rPr lang="en-US" sz="5600" dirty="0">
                <a:ln>
                  <a:solidFill>
                    <a:srgbClr val="00B0F0"/>
                  </a:solidFill>
                </a:ln>
                <a:solidFill>
                  <a:srgbClr val="00B0F0"/>
                </a:solidFill>
              </a:rPr>
              <a:t> </a:t>
            </a:r>
            <a:r>
              <a:rPr lang="en-US" sz="5600" dirty="0" err="1">
                <a:ln>
                  <a:solidFill>
                    <a:srgbClr val="00B0F0"/>
                  </a:solidFill>
                </a:ln>
                <a:solidFill>
                  <a:srgbClr val="00B0F0"/>
                </a:solidFill>
              </a:rPr>
              <a:t>emp%rowtype</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Begin</a:t>
            </a:r>
          </a:p>
          <a:p>
            <a:pPr marL="0" indent="0">
              <a:buNone/>
            </a:pPr>
            <a:r>
              <a:rPr lang="en-US" sz="5600" dirty="0">
                <a:ln>
                  <a:solidFill>
                    <a:srgbClr val="00B0F0"/>
                  </a:solidFill>
                </a:ln>
                <a:solidFill>
                  <a:srgbClr val="00B0F0"/>
                </a:solidFill>
              </a:rPr>
              <a:t>    		open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for select * from </a:t>
            </a:r>
            <a:r>
              <a:rPr lang="en-US" sz="5600" dirty="0" err="1">
                <a:ln>
                  <a:solidFill>
                    <a:srgbClr val="00B0F0"/>
                  </a:solidFill>
                </a:ln>
                <a:solidFill>
                  <a:srgbClr val="00B0F0"/>
                </a:solidFill>
              </a:rPr>
              <a:t>emp</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loop</a:t>
            </a:r>
          </a:p>
          <a:p>
            <a:pPr marL="0" indent="0">
              <a:buNone/>
            </a:pPr>
            <a:r>
              <a:rPr lang="en-US" sz="5600" dirty="0">
                <a:ln>
                  <a:solidFill>
                    <a:srgbClr val="00B0F0"/>
                  </a:solidFill>
                </a:ln>
                <a:solidFill>
                  <a:srgbClr val="00B0F0"/>
                </a:solidFill>
              </a:rPr>
              <a:t>         			fetch </a:t>
            </a:r>
            <a:r>
              <a:rPr lang="en-US" sz="5600" dirty="0" err="1">
                <a:ln>
                  <a:solidFill>
                    <a:srgbClr val="00B0F0"/>
                  </a:solidFill>
                </a:ln>
                <a:solidFill>
                  <a:srgbClr val="00B0F0"/>
                </a:solidFill>
              </a:rPr>
              <a:t>emp_cv</a:t>
            </a:r>
            <a:r>
              <a:rPr lang="en-US" sz="5600" dirty="0">
                <a:ln>
                  <a:solidFill>
                    <a:srgbClr val="00B0F0"/>
                  </a:solidFill>
                </a:ln>
                <a:solidFill>
                  <a:srgbClr val="00B0F0"/>
                </a:solidFill>
              </a:rPr>
              <a:t> into </a:t>
            </a:r>
            <a:r>
              <a:rPr lang="en-US" sz="5600" dirty="0" err="1">
                <a:ln>
                  <a:solidFill>
                    <a:srgbClr val="00B0F0"/>
                  </a:solidFill>
                </a:ln>
                <a:solidFill>
                  <a:srgbClr val="00B0F0"/>
                </a:solidFill>
              </a:rPr>
              <a:t>vdata</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exit when </a:t>
            </a:r>
            <a:r>
              <a:rPr lang="en-US" sz="5600" dirty="0" err="1">
                <a:ln>
                  <a:solidFill>
                    <a:srgbClr val="00B0F0"/>
                  </a:solidFill>
                </a:ln>
                <a:solidFill>
                  <a:srgbClr val="00B0F0"/>
                </a:solidFill>
              </a:rPr>
              <a:t>emp_cv%notfound</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a:t>
            </a:r>
            <a:r>
              <a:rPr lang="en-US" sz="5600" dirty="0" err="1">
                <a:ln>
                  <a:solidFill>
                    <a:srgbClr val="00B0F0"/>
                  </a:solidFill>
                </a:ln>
                <a:solidFill>
                  <a:srgbClr val="00B0F0"/>
                </a:solidFill>
              </a:rPr>
              <a:t>emp</a:t>
            </a:r>
            <a:r>
              <a:rPr lang="en-US" sz="5600" dirty="0">
                <a:ln>
                  <a:solidFill>
                    <a:srgbClr val="00B0F0"/>
                  </a:solidFill>
                </a:ln>
                <a:solidFill>
                  <a:srgbClr val="00B0F0"/>
                </a:solidFill>
              </a:rPr>
              <a:t> number '||</a:t>
            </a:r>
            <a:r>
              <a:rPr lang="en-US" sz="5600" dirty="0" err="1">
                <a:ln>
                  <a:solidFill>
                    <a:srgbClr val="00B0F0"/>
                  </a:solidFill>
                </a:ln>
                <a:solidFill>
                  <a:srgbClr val="00B0F0"/>
                </a:solidFill>
              </a:rPr>
              <a:t>vdata.empno</a:t>
            </a:r>
            <a:r>
              <a:rPr lang="en-US" sz="5600" dirty="0">
                <a:ln>
                  <a:solidFill>
                    <a:srgbClr val="00B0F0"/>
                  </a:solidFill>
                </a:ln>
                <a:solidFill>
                  <a:srgbClr val="00B0F0"/>
                </a:solidFill>
              </a:rPr>
              <a:t>||' </a:t>
            </a:r>
            <a:r>
              <a:rPr lang="en-US" sz="5600" dirty="0" err="1">
                <a:ln>
                  <a:solidFill>
                    <a:srgbClr val="00B0F0"/>
                  </a:solidFill>
                </a:ln>
                <a:solidFill>
                  <a:srgbClr val="00B0F0"/>
                </a:solidFill>
              </a:rPr>
              <a:t>emp</a:t>
            </a:r>
            <a:r>
              <a:rPr lang="en-US" sz="5600" dirty="0">
                <a:ln>
                  <a:solidFill>
                    <a:srgbClr val="00B0F0"/>
                  </a:solidFill>
                </a:ln>
                <a:solidFill>
                  <a:srgbClr val="00B0F0"/>
                </a:solidFill>
              </a:rPr>
              <a:t> name ' || </a:t>
            </a:r>
            <a:r>
              <a:rPr lang="en-US" sz="5600" dirty="0" err="1">
                <a:ln>
                  <a:solidFill>
                    <a:srgbClr val="00B0F0"/>
                  </a:solidFill>
                </a:ln>
                <a:solidFill>
                  <a:srgbClr val="00B0F0"/>
                </a:solidFill>
              </a:rPr>
              <a:t>vdata.ename</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end loop;</a:t>
            </a:r>
          </a:p>
          <a:p>
            <a:pPr marL="0" indent="0">
              <a:buNone/>
            </a:pPr>
            <a:r>
              <a:rPr lang="en-US" sz="5600" dirty="0">
                <a:ln>
                  <a:solidFill>
                    <a:srgbClr val="00B0F0"/>
                  </a:solidFill>
                </a:ln>
                <a:solidFill>
                  <a:srgbClr val="00B0F0"/>
                </a:solidFill>
              </a:rPr>
              <a:t>End;  </a:t>
            </a:r>
          </a:p>
          <a:p>
            <a:pPr marL="0" indent="0">
              <a:buNone/>
            </a:pPr>
            <a:endParaRPr lang="en-US" sz="20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WEAK Ref cursor type 		</a:t>
            </a:r>
            <a:endParaRPr lang="en-US" sz="2400" b="1" dirty="0">
              <a:latin typeface="Candara"/>
            </a:endParaRPr>
          </a:p>
        </p:txBody>
      </p:sp>
    </p:spTree>
    <p:extLst>
      <p:ext uri="{BB962C8B-B14F-4D97-AF65-F5344CB8AC3E}">
        <p14:creationId xmlns:p14="http://schemas.microsoft.com/office/powerpoint/2010/main" val="36633274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85000" lnSpcReduction="20000"/>
          </a:bodyPr>
          <a:lstStyle/>
          <a:p>
            <a:pPr marL="0" indent="0">
              <a:buNone/>
            </a:pPr>
            <a:endParaRPr lang="en-US" sz="2500" dirty="0">
              <a:ln>
                <a:solidFill>
                  <a:srgbClr val="00B0F0"/>
                </a:solidFill>
              </a:ln>
              <a:solidFill>
                <a:srgbClr val="00B0F0"/>
              </a:solidFill>
            </a:endParaRPr>
          </a:p>
          <a:p>
            <a:pPr marL="0" indent="0">
              <a:buNone/>
            </a:pPr>
            <a:endParaRPr lang="en-US" sz="1600" dirty="0">
              <a:ln>
                <a:solidFill>
                  <a:srgbClr val="00B0F0"/>
                </a:solidFill>
              </a:ln>
              <a:solidFill>
                <a:srgbClr val="00B0F0"/>
              </a:solidFill>
            </a:endParaRPr>
          </a:p>
          <a:p>
            <a:pPr marL="0" indent="0">
              <a:buNone/>
            </a:pPr>
            <a:r>
              <a:rPr lang="en-US" sz="1600" dirty="0">
                <a:ln>
                  <a:solidFill>
                    <a:srgbClr val="00B0F0"/>
                  </a:solidFill>
                </a:ln>
                <a:solidFill>
                  <a:srgbClr val="00B0F0"/>
                </a:solidFill>
              </a:rPr>
              <a:t>PROCEDURE </a:t>
            </a:r>
            <a:r>
              <a:rPr lang="en-US" sz="1600" dirty="0" err="1">
                <a:ln>
                  <a:solidFill>
                    <a:srgbClr val="00B0F0"/>
                  </a:solidFill>
                </a:ln>
                <a:solidFill>
                  <a:srgbClr val="00B0F0"/>
                </a:solidFill>
              </a:rPr>
              <a:t>open_dept_cv</a:t>
            </a:r>
            <a:r>
              <a:rPr lang="en-US" sz="1600" dirty="0">
                <a:ln>
                  <a:solidFill>
                    <a:srgbClr val="00B0F0"/>
                  </a:solidFill>
                </a:ln>
                <a:solidFill>
                  <a:srgbClr val="00B0F0"/>
                </a:solidFill>
              </a:rPr>
              <a:t>(</a:t>
            </a:r>
            <a:r>
              <a:rPr lang="en-US" sz="1600" dirty="0" err="1">
                <a:ln>
                  <a:solidFill>
                    <a:srgbClr val="00B0F0"/>
                  </a:solidFill>
                </a:ln>
                <a:solidFill>
                  <a:srgbClr val="00B0F0"/>
                </a:solidFill>
              </a:rPr>
              <a:t>dept_cv</a:t>
            </a:r>
            <a:r>
              <a:rPr lang="en-US" sz="1600" dirty="0">
                <a:ln>
                  <a:solidFill>
                    <a:srgbClr val="00B0F0"/>
                  </a:solidFill>
                </a:ln>
                <a:solidFill>
                  <a:srgbClr val="00B0F0"/>
                </a:solidFill>
              </a:rPr>
              <a:t> OUT </a:t>
            </a:r>
            <a:r>
              <a:rPr lang="en-US" sz="1600" dirty="0" err="1">
                <a:ln>
                  <a:solidFill>
                    <a:srgbClr val="00B0F0"/>
                  </a:solidFill>
                </a:ln>
                <a:solidFill>
                  <a:srgbClr val="00B0F0"/>
                </a:solidFill>
              </a:rPr>
              <a:t>GenCurTyp</a:t>
            </a:r>
            <a:r>
              <a:rPr lang="en-US" sz="1600" dirty="0">
                <a:ln>
                  <a:solidFill>
                    <a:srgbClr val="00B0F0"/>
                  </a:solidFill>
                </a:ln>
                <a:solidFill>
                  <a:srgbClr val="00B0F0"/>
                </a:solidFill>
              </a:rPr>
              <a:t>) IS</a:t>
            </a:r>
          </a:p>
          <a:p>
            <a:pPr marL="0" indent="0">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vdata</a:t>
            </a:r>
            <a:r>
              <a:rPr lang="en-US" sz="1600" dirty="0">
                <a:ln>
                  <a:solidFill>
                    <a:srgbClr val="00B0F0"/>
                  </a:solidFill>
                </a:ln>
                <a:solidFill>
                  <a:srgbClr val="00B0F0"/>
                </a:solidFill>
              </a:rPr>
              <a:t> </a:t>
            </a:r>
            <a:r>
              <a:rPr lang="en-US" sz="1600" dirty="0" err="1">
                <a:ln>
                  <a:solidFill>
                    <a:srgbClr val="00B0F0"/>
                  </a:solidFill>
                </a:ln>
                <a:solidFill>
                  <a:srgbClr val="00B0F0"/>
                </a:solidFill>
              </a:rPr>
              <a:t>dept%rowtype</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Begin</a:t>
            </a:r>
          </a:p>
          <a:p>
            <a:pPr marL="0" indent="0">
              <a:buNone/>
            </a:pPr>
            <a:r>
              <a:rPr lang="en-US" sz="1600" dirty="0">
                <a:ln>
                  <a:solidFill>
                    <a:srgbClr val="00B0F0"/>
                  </a:solidFill>
                </a:ln>
                <a:solidFill>
                  <a:srgbClr val="00B0F0"/>
                </a:solidFill>
              </a:rPr>
              <a:t>    		open </a:t>
            </a:r>
            <a:r>
              <a:rPr lang="en-US" sz="1600" dirty="0" err="1">
                <a:ln>
                  <a:solidFill>
                    <a:srgbClr val="00B0F0"/>
                  </a:solidFill>
                </a:ln>
                <a:solidFill>
                  <a:srgbClr val="00B0F0"/>
                </a:solidFill>
              </a:rPr>
              <a:t>dept_cv</a:t>
            </a:r>
            <a:r>
              <a:rPr lang="en-US" sz="1600" dirty="0">
                <a:ln>
                  <a:solidFill>
                    <a:srgbClr val="00B0F0"/>
                  </a:solidFill>
                </a:ln>
                <a:solidFill>
                  <a:srgbClr val="00B0F0"/>
                </a:solidFill>
              </a:rPr>
              <a:t> for select * from </a:t>
            </a:r>
            <a:r>
              <a:rPr lang="en-US" sz="1600" dirty="0" err="1">
                <a:ln>
                  <a:solidFill>
                    <a:srgbClr val="00B0F0"/>
                  </a:solidFill>
                </a:ln>
                <a:solidFill>
                  <a:srgbClr val="00B0F0"/>
                </a:solidFill>
              </a:rPr>
              <a:t>dept</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loop</a:t>
            </a:r>
          </a:p>
          <a:p>
            <a:pPr marL="0" indent="0">
              <a:buNone/>
            </a:pPr>
            <a:r>
              <a:rPr lang="en-US" sz="1600" dirty="0">
                <a:ln>
                  <a:solidFill>
                    <a:srgbClr val="00B0F0"/>
                  </a:solidFill>
                </a:ln>
                <a:solidFill>
                  <a:srgbClr val="00B0F0"/>
                </a:solidFill>
              </a:rPr>
              <a:t>         			fetch </a:t>
            </a:r>
            <a:r>
              <a:rPr lang="en-US" sz="1600" dirty="0" err="1">
                <a:ln>
                  <a:solidFill>
                    <a:srgbClr val="00B0F0"/>
                  </a:solidFill>
                </a:ln>
                <a:solidFill>
                  <a:srgbClr val="00B0F0"/>
                </a:solidFill>
              </a:rPr>
              <a:t>dept_cv</a:t>
            </a:r>
            <a:r>
              <a:rPr lang="en-US" sz="1600" dirty="0">
                <a:ln>
                  <a:solidFill>
                    <a:srgbClr val="00B0F0"/>
                  </a:solidFill>
                </a:ln>
                <a:solidFill>
                  <a:srgbClr val="00B0F0"/>
                </a:solidFill>
              </a:rPr>
              <a:t> into </a:t>
            </a:r>
            <a:r>
              <a:rPr lang="en-US" sz="1600" dirty="0" err="1">
                <a:ln>
                  <a:solidFill>
                    <a:srgbClr val="00B0F0"/>
                  </a:solidFill>
                </a:ln>
                <a:solidFill>
                  <a:srgbClr val="00B0F0"/>
                </a:solidFill>
              </a:rPr>
              <a:t>vdata</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exit when </a:t>
            </a:r>
            <a:r>
              <a:rPr lang="en-US" sz="1600" dirty="0" err="1">
                <a:ln>
                  <a:solidFill>
                    <a:srgbClr val="00B0F0"/>
                  </a:solidFill>
                </a:ln>
                <a:solidFill>
                  <a:srgbClr val="00B0F0"/>
                </a:solidFill>
              </a:rPr>
              <a:t>dept_cv%notfound</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dbms_output.put_line</a:t>
            </a:r>
            <a:r>
              <a:rPr lang="en-US" sz="1600" dirty="0">
                <a:ln>
                  <a:solidFill>
                    <a:srgbClr val="00B0F0"/>
                  </a:solidFill>
                </a:ln>
                <a:solidFill>
                  <a:srgbClr val="00B0F0"/>
                </a:solidFill>
              </a:rPr>
              <a:t>('</a:t>
            </a:r>
            <a:r>
              <a:rPr lang="en-US" sz="1600" dirty="0" err="1">
                <a:ln>
                  <a:solidFill>
                    <a:srgbClr val="00B0F0"/>
                  </a:solidFill>
                </a:ln>
                <a:solidFill>
                  <a:srgbClr val="00B0F0"/>
                </a:solidFill>
              </a:rPr>
              <a:t>dept</a:t>
            </a:r>
            <a:r>
              <a:rPr lang="en-US" sz="1600" dirty="0">
                <a:ln>
                  <a:solidFill>
                    <a:srgbClr val="00B0F0"/>
                  </a:solidFill>
                </a:ln>
                <a:solidFill>
                  <a:srgbClr val="00B0F0"/>
                </a:solidFill>
              </a:rPr>
              <a:t> number '||</a:t>
            </a:r>
            <a:r>
              <a:rPr lang="en-US" sz="1600" dirty="0" err="1">
                <a:ln>
                  <a:solidFill>
                    <a:srgbClr val="00B0F0"/>
                  </a:solidFill>
                </a:ln>
                <a:solidFill>
                  <a:srgbClr val="00B0F0"/>
                </a:solidFill>
              </a:rPr>
              <a:t>vdata.deptno</a:t>
            </a:r>
            <a:r>
              <a:rPr lang="en-US" sz="1600" dirty="0">
                <a:ln>
                  <a:solidFill>
                    <a:srgbClr val="00B0F0"/>
                  </a:solidFill>
                </a:ln>
                <a:solidFill>
                  <a:srgbClr val="00B0F0"/>
                </a:solidFill>
              </a:rPr>
              <a:t>||' </a:t>
            </a:r>
            <a:r>
              <a:rPr lang="en-US" sz="1600" dirty="0" err="1">
                <a:ln>
                  <a:solidFill>
                    <a:srgbClr val="00B0F0"/>
                  </a:solidFill>
                </a:ln>
                <a:solidFill>
                  <a:srgbClr val="00B0F0"/>
                </a:solidFill>
              </a:rPr>
              <a:t>dept</a:t>
            </a:r>
            <a:r>
              <a:rPr lang="en-US" sz="1600" dirty="0">
                <a:ln>
                  <a:solidFill>
                    <a:srgbClr val="00B0F0"/>
                  </a:solidFill>
                </a:ln>
                <a:solidFill>
                  <a:srgbClr val="00B0F0"/>
                </a:solidFill>
              </a:rPr>
              <a:t> name ' || </a:t>
            </a:r>
            <a:r>
              <a:rPr lang="en-US" sz="1600" dirty="0" err="1">
                <a:ln>
                  <a:solidFill>
                    <a:srgbClr val="00B0F0"/>
                  </a:solidFill>
                </a:ln>
                <a:solidFill>
                  <a:srgbClr val="00B0F0"/>
                </a:solidFill>
              </a:rPr>
              <a:t>vdata.dname</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    		end loop;</a:t>
            </a:r>
          </a:p>
          <a:p>
            <a:pPr marL="0" indent="0">
              <a:buNone/>
            </a:pPr>
            <a:r>
              <a:rPr lang="en-US" sz="1600" dirty="0">
                <a:ln>
                  <a:solidFill>
                    <a:srgbClr val="00B0F0"/>
                  </a:solidFill>
                </a:ln>
                <a:solidFill>
                  <a:srgbClr val="00B0F0"/>
                </a:solidFill>
              </a:rPr>
              <a:t>  	end;</a:t>
            </a:r>
          </a:p>
          <a:p>
            <a:pPr marL="0" indent="0">
              <a:buNone/>
            </a:pPr>
            <a:r>
              <a:rPr lang="en-US" sz="1600" dirty="0">
                <a:ln>
                  <a:solidFill>
                    <a:srgbClr val="00B0F0"/>
                  </a:solidFill>
                </a:ln>
                <a:solidFill>
                  <a:srgbClr val="00B0F0"/>
                </a:solidFill>
              </a:rPr>
              <a:t>End </a:t>
            </a:r>
            <a:r>
              <a:rPr lang="en-US" sz="1600" dirty="0" err="1">
                <a:ln>
                  <a:solidFill>
                    <a:srgbClr val="00B0F0"/>
                  </a:solidFill>
                </a:ln>
                <a:solidFill>
                  <a:srgbClr val="00B0F0"/>
                </a:solidFill>
              </a:rPr>
              <a:t>pack_cur</a:t>
            </a:r>
            <a:r>
              <a:rPr lang="en-US" sz="1600" dirty="0">
                <a:ln>
                  <a:solidFill>
                    <a:srgbClr val="00B0F0"/>
                  </a:solidFill>
                </a:ln>
                <a:solidFill>
                  <a:srgbClr val="00B0F0"/>
                </a:solidFill>
              </a:rPr>
              <a:t>;</a:t>
            </a:r>
          </a:p>
          <a:p>
            <a:pPr marL="0" indent="0">
              <a:buNone/>
            </a:pPr>
            <a:r>
              <a:rPr lang="en-US" sz="1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p>
          <a:p>
            <a:pPr marL="0" indent="0">
              <a:buNone/>
            </a:pPr>
            <a:endParaRPr lang="en-US" sz="20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WEAK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3940514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964234"/>
            <a:ext cx="8940283" cy="4066673"/>
          </a:xfrm>
        </p:spPr>
        <p:txBody>
          <a:bodyPr>
            <a:normAutofit fontScale="70000" lnSpcReduction="20000"/>
          </a:bodyPr>
          <a:lstStyle/>
          <a:p>
            <a:pPr algn="just"/>
            <a:r>
              <a:rPr lang="en-US" sz="1400" dirty="0"/>
              <a:t>Here, we have used one common cursor variable ‘a’  which is of type weak. So that we could execute two different procedures </a:t>
            </a:r>
            <a:r>
              <a:rPr lang="en-US" sz="1600" dirty="0"/>
              <a:t>which open result sets of two different types.</a:t>
            </a:r>
          </a:p>
          <a:p>
            <a:pPr marL="0" indent="0">
              <a:buNone/>
            </a:pPr>
            <a:r>
              <a:rPr lang="en-US" sz="1800" dirty="0">
                <a:ln>
                  <a:solidFill>
                    <a:srgbClr val="00B0F0"/>
                  </a:solidFill>
                </a:ln>
                <a:solidFill>
                  <a:srgbClr val="00B0F0"/>
                </a:solidFill>
              </a:rPr>
              <a:t>declare</a:t>
            </a:r>
          </a:p>
          <a:p>
            <a:pPr marL="0" indent="0">
              <a:buNone/>
            </a:pPr>
            <a:r>
              <a:rPr lang="en-US" sz="1800" dirty="0">
                <a:ln>
                  <a:solidFill>
                    <a:srgbClr val="00B0F0"/>
                  </a:solidFill>
                </a:ln>
                <a:solidFill>
                  <a:srgbClr val="00B0F0"/>
                </a:solidFill>
              </a:rPr>
              <a:t>	type t1 is ref cursor;</a:t>
            </a:r>
          </a:p>
          <a:p>
            <a:pPr marL="0" indent="0">
              <a:buNone/>
            </a:pPr>
            <a:r>
              <a:rPr lang="en-US" sz="1800" dirty="0">
                <a:ln>
                  <a:solidFill>
                    <a:srgbClr val="00B0F0"/>
                  </a:solidFill>
                </a:ln>
                <a:solidFill>
                  <a:srgbClr val="00B0F0"/>
                </a:solidFill>
              </a:rPr>
              <a:t>	a t1;</a:t>
            </a:r>
          </a:p>
          <a:p>
            <a:pPr marL="0" indent="0">
              <a:buNone/>
            </a:pPr>
            <a:r>
              <a:rPr lang="en-US" sz="1800" dirty="0">
                <a:ln>
                  <a:solidFill>
                    <a:srgbClr val="00B0F0"/>
                  </a:solidFill>
                </a:ln>
                <a:solidFill>
                  <a:srgbClr val="00B0F0"/>
                </a:solidFill>
              </a:rPr>
              <a:t>begin</a:t>
            </a:r>
          </a:p>
          <a:p>
            <a:pPr marL="0" indent="0">
              <a:buNone/>
            </a:pPr>
            <a:r>
              <a:rPr lang="en-US" sz="1800" dirty="0">
                <a:ln>
                  <a:solidFill>
                    <a:srgbClr val="00B0F0"/>
                  </a:solidFill>
                </a:ln>
                <a:solidFill>
                  <a:srgbClr val="00B0F0"/>
                </a:solidFill>
              </a:rPr>
              <a:t>	</a:t>
            </a:r>
            <a:r>
              <a:rPr lang="en-US" sz="1800" dirty="0" err="1">
                <a:ln>
                  <a:solidFill>
                    <a:srgbClr val="00B0F0"/>
                  </a:solidFill>
                </a:ln>
                <a:solidFill>
                  <a:srgbClr val="00B0F0"/>
                </a:solidFill>
              </a:rPr>
              <a:t>pack_cur.open_emp_cv</a:t>
            </a:r>
            <a:r>
              <a:rPr lang="en-US" sz="1800" dirty="0">
                <a:ln>
                  <a:solidFill>
                    <a:srgbClr val="00B0F0"/>
                  </a:solidFill>
                </a:ln>
                <a:solidFill>
                  <a:srgbClr val="00B0F0"/>
                </a:solidFill>
              </a:rPr>
              <a:t>(a);</a:t>
            </a:r>
          </a:p>
          <a:p>
            <a:pPr marL="0" indent="0">
              <a:buNone/>
            </a:pPr>
            <a:r>
              <a:rPr lang="en-US" sz="1800" dirty="0">
                <a:ln>
                  <a:solidFill>
                    <a:srgbClr val="00B0F0"/>
                  </a:solidFill>
                </a:ln>
                <a:solidFill>
                  <a:srgbClr val="00B0F0"/>
                </a:solidFill>
              </a:rPr>
              <a:t>	</a:t>
            </a:r>
            <a:r>
              <a:rPr lang="en-US" sz="1800" dirty="0" err="1">
                <a:ln>
                  <a:solidFill>
                    <a:srgbClr val="00B0F0"/>
                  </a:solidFill>
                </a:ln>
                <a:solidFill>
                  <a:srgbClr val="00B0F0"/>
                </a:solidFill>
              </a:rPr>
              <a:t>pack_cur.open_dept_cv</a:t>
            </a:r>
            <a:r>
              <a:rPr lang="en-US" sz="1800" dirty="0">
                <a:ln>
                  <a:solidFill>
                    <a:srgbClr val="00B0F0"/>
                  </a:solidFill>
                </a:ln>
                <a:solidFill>
                  <a:srgbClr val="00B0F0"/>
                </a:solidFill>
              </a:rPr>
              <a:t>(a);</a:t>
            </a:r>
          </a:p>
          <a:p>
            <a:pPr marL="0" indent="0">
              <a:buNone/>
            </a:pPr>
            <a:r>
              <a:rPr lang="en-US" sz="1800" dirty="0">
                <a:ln>
                  <a:solidFill>
                    <a:srgbClr val="00B0F0"/>
                  </a:solidFill>
                </a:ln>
                <a:solidFill>
                  <a:srgbClr val="00B0F0"/>
                </a:solidFill>
              </a:rPr>
              <a:t>end;</a:t>
            </a:r>
          </a:p>
          <a:p>
            <a:pPr marL="0" indent="0">
              <a:buNone/>
            </a:pPr>
            <a:r>
              <a:rPr lang="en-US" sz="1800" dirty="0">
                <a:ln>
                  <a:solidFill>
                    <a:srgbClr val="00B0F0"/>
                  </a:solidFill>
                </a:ln>
                <a:solidFill>
                  <a:srgbClr val="00B0F0"/>
                </a:solidFill>
              </a:rPr>
              <a:t>/</a:t>
            </a:r>
          </a:p>
          <a:p>
            <a:pPr algn="just"/>
            <a:endParaRPr lang="en-US" sz="1600" dirty="0"/>
          </a:p>
          <a:p>
            <a:pPr algn="just"/>
            <a:r>
              <a:rPr lang="en-US" sz="1600" dirty="0"/>
              <a:t>Here we have used one cursor variable whose type is strong, as we are going to execute only one procedure.</a:t>
            </a:r>
          </a:p>
          <a:p>
            <a:pPr marL="0" indent="0">
              <a:buNone/>
            </a:pPr>
            <a:r>
              <a:rPr lang="en-US" sz="2000" dirty="0">
                <a:ln>
                  <a:solidFill>
                    <a:srgbClr val="00B0F0"/>
                  </a:solidFill>
                </a:ln>
                <a:solidFill>
                  <a:srgbClr val="00B0F0"/>
                </a:solidFill>
              </a:rPr>
              <a:t>declare</a:t>
            </a:r>
          </a:p>
          <a:p>
            <a:pPr marL="0" indent="0">
              <a:buNone/>
            </a:pPr>
            <a:r>
              <a:rPr lang="en-US" sz="2000" dirty="0">
                <a:ln>
                  <a:solidFill>
                    <a:srgbClr val="00B0F0"/>
                  </a:solidFill>
                </a:ln>
                <a:solidFill>
                  <a:srgbClr val="00B0F0"/>
                </a:solidFill>
              </a:rPr>
              <a:t>	type t1 is ref cursor return </a:t>
            </a:r>
            <a:r>
              <a:rPr lang="en-US" sz="2000" dirty="0" err="1">
                <a:ln>
                  <a:solidFill>
                    <a:srgbClr val="00B0F0"/>
                  </a:solidFill>
                </a:ln>
                <a:solidFill>
                  <a:srgbClr val="00B0F0"/>
                </a:solidFill>
              </a:rPr>
              <a:t>emp%rowtype</a:t>
            </a:r>
            <a:r>
              <a:rPr lang="en-US" sz="2000" dirty="0">
                <a:ln>
                  <a:solidFill>
                    <a:srgbClr val="00B0F0"/>
                  </a:solidFill>
                </a:ln>
                <a:solidFill>
                  <a:srgbClr val="00B0F0"/>
                </a:solidFill>
              </a:rPr>
              <a:t>;</a:t>
            </a:r>
          </a:p>
          <a:p>
            <a:pPr marL="0" indent="0">
              <a:buNone/>
            </a:pPr>
            <a:r>
              <a:rPr lang="en-US" sz="2000" dirty="0">
                <a:ln>
                  <a:solidFill>
                    <a:srgbClr val="00B0F0"/>
                  </a:solidFill>
                </a:ln>
                <a:solidFill>
                  <a:srgbClr val="00B0F0"/>
                </a:solidFill>
              </a:rPr>
              <a:t>	a t1;</a:t>
            </a:r>
          </a:p>
          <a:p>
            <a:pPr marL="0" indent="0">
              <a:buNone/>
            </a:pPr>
            <a:r>
              <a:rPr lang="en-US" sz="2000" dirty="0">
                <a:ln>
                  <a:solidFill>
                    <a:srgbClr val="00B0F0"/>
                  </a:solidFill>
                </a:ln>
                <a:solidFill>
                  <a:srgbClr val="00B0F0"/>
                </a:solidFill>
              </a:rPr>
              <a:t>begin</a:t>
            </a:r>
          </a:p>
          <a:p>
            <a:pPr marL="0" indent="0">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pack_cur.open_emp_cv</a:t>
            </a:r>
            <a:r>
              <a:rPr lang="en-US" sz="2000" dirty="0">
                <a:ln>
                  <a:solidFill>
                    <a:srgbClr val="00B0F0"/>
                  </a:solidFill>
                </a:ln>
                <a:solidFill>
                  <a:srgbClr val="00B0F0"/>
                </a:solidFill>
              </a:rPr>
              <a:t>(a);</a:t>
            </a:r>
          </a:p>
          <a:p>
            <a:pPr marL="0" indent="0">
              <a:buNone/>
            </a:pPr>
            <a:r>
              <a:rPr lang="en-US" sz="2000" dirty="0">
                <a:ln>
                  <a:solidFill>
                    <a:srgbClr val="00B0F0"/>
                  </a:solidFill>
                </a:ln>
                <a:solidFill>
                  <a:srgbClr val="00B0F0"/>
                </a:solidFill>
              </a:rPr>
              <a:t>end;</a:t>
            </a:r>
          </a:p>
          <a:p>
            <a:pPr marL="0" indent="0">
              <a:buNone/>
            </a:pPr>
            <a:r>
              <a:rPr lang="en-US" sz="2000" dirty="0">
                <a:ln>
                  <a:solidFill>
                    <a:srgbClr val="00B0F0"/>
                  </a:solidFill>
                </a:ln>
                <a:solidFill>
                  <a:srgbClr val="00B0F0"/>
                </a:solidFill>
              </a:rPr>
              <a:t>/</a:t>
            </a:r>
          </a:p>
          <a:p>
            <a:pPr marL="0" indent="0">
              <a:buNone/>
            </a:pPr>
            <a:endParaRPr lang="en-US" dirty="0"/>
          </a:p>
          <a:p>
            <a:pPr marL="0" indent="0">
              <a:buNone/>
            </a:pPr>
            <a:endParaRPr lang="en-US" sz="14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WEAK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26767630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lnSpcReduction="10000"/>
          </a:bodyPr>
          <a:lstStyle/>
          <a:p>
            <a:pPr algn="just"/>
            <a:endParaRPr lang="en-US" sz="1400" dirty="0"/>
          </a:p>
          <a:p>
            <a:pPr marL="0" indent="0">
              <a:buNone/>
            </a:pPr>
            <a:r>
              <a:rPr lang="en-US" sz="1400" dirty="0">
                <a:ln>
                  <a:solidFill>
                    <a:srgbClr val="00B0F0"/>
                  </a:solidFill>
                </a:ln>
                <a:solidFill>
                  <a:srgbClr val="00B0F0"/>
                </a:solidFill>
              </a:rPr>
              <a:t>declare</a:t>
            </a:r>
          </a:p>
          <a:p>
            <a:pPr marL="0" indent="0">
              <a:buNone/>
            </a:pPr>
            <a:r>
              <a:rPr lang="en-US" sz="1400" dirty="0">
                <a:ln>
                  <a:solidFill>
                    <a:srgbClr val="00B0F0"/>
                  </a:solidFill>
                </a:ln>
                <a:solidFill>
                  <a:srgbClr val="00B0F0"/>
                </a:solidFill>
              </a:rPr>
              <a:t>	type t1 is ref cursor return </a:t>
            </a:r>
            <a:r>
              <a:rPr lang="en-US" sz="1400" dirty="0" err="1">
                <a:ln>
                  <a:solidFill>
                    <a:srgbClr val="00B0F0"/>
                  </a:solidFill>
                </a:ln>
                <a:solidFill>
                  <a:srgbClr val="00B0F0"/>
                </a:solidFill>
              </a:rPr>
              <a:t>dept%rowtype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 t1;</a:t>
            </a:r>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pack_cur.open_dept_cv</a:t>
            </a:r>
            <a:r>
              <a:rPr lang="en-US" sz="1400" dirty="0">
                <a:ln>
                  <a:solidFill>
                    <a:srgbClr val="00B0F0"/>
                  </a:solidFill>
                </a:ln>
                <a:solidFill>
                  <a:srgbClr val="00B0F0"/>
                </a:solidFill>
              </a:rPr>
              <a:t>(a);</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algn="just">
              <a:lnSpc>
                <a:spcPct val="80000"/>
              </a:lnSpc>
            </a:pPr>
            <a:r>
              <a:rPr lang="en-US" sz="1200" dirty="0"/>
              <a:t>However, the following will give an error, as cursor is of type </a:t>
            </a:r>
            <a:r>
              <a:rPr lang="en-US" sz="1200" dirty="0" err="1"/>
              <a:t>emp%rowtype</a:t>
            </a:r>
            <a:r>
              <a:rPr lang="en-US" sz="1200" dirty="0"/>
              <a:t> and the query is “ select * from </a:t>
            </a:r>
            <a:r>
              <a:rPr lang="en-US" sz="1200" dirty="0" err="1"/>
              <a:t>dept</a:t>
            </a:r>
            <a:r>
              <a:rPr lang="en-US" sz="1200" dirty="0"/>
              <a:t>“:</a:t>
            </a:r>
          </a:p>
          <a:p>
            <a:pPr marL="0" indent="0">
              <a:buNone/>
            </a:pPr>
            <a:r>
              <a:rPr lang="en-US" sz="1400" dirty="0">
                <a:ln>
                  <a:solidFill>
                    <a:srgbClr val="00B0F0"/>
                  </a:solidFill>
                </a:ln>
                <a:solidFill>
                  <a:srgbClr val="00B0F0"/>
                </a:solidFill>
              </a:rPr>
              <a:t>declare</a:t>
            </a:r>
          </a:p>
          <a:p>
            <a:pPr marL="0" indent="0">
              <a:buNone/>
            </a:pPr>
            <a:r>
              <a:rPr lang="en-US" sz="1400" dirty="0">
                <a:ln>
                  <a:solidFill>
                    <a:srgbClr val="00B0F0"/>
                  </a:solidFill>
                </a:ln>
                <a:solidFill>
                  <a:srgbClr val="00B0F0"/>
                </a:solidFill>
              </a:rPr>
              <a:t>	type t1 is ref cursor return </a:t>
            </a:r>
            <a:r>
              <a:rPr lang="en-US" sz="1400" dirty="0" err="1">
                <a:ln>
                  <a:solidFill>
                    <a:srgbClr val="00B0F0"/>
                  </a:solidFill>
                </a:ln>
                <a:solidFill>
                  <a:srgbClr val="00B0F0"/>
                </a:solidFill>
              </a:rPr>
              <a:t>emp%rowtype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 t1;</a:t>
            </a:r>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pack_cur.open_dept_cv</a:t>
            </a:r>
            <a:r>
              <a:rPr lang="en-US" sz="1400" dirty="0">
                <a:ln>
                  <a:solidFill>
                    <a:srgbClr val="00B0F0"/>
                  </a:solidFill>
                </a:ln>
                <a:solidFill>
                  <a:srgbClr val="00B0F0"/>
                </a:solidFill>
              </a:rPr>
              <a:t>(a);</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buNone/>
            </a:pPr>
            <a:r>
              <a:rPr lang="en-US" sz="1200" dirty="0"/>
              <a:t>PL/SQL: Return types of Result Set variables or query do not match</a:t>
            </a:r>
          </a:p>
          <a:p>
            <a:pPr marL="0" indent="0">
              <a:buNone/>
            </a:pPr>
            <a:endParaRPr lang="en-US" sz="14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WEAK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1885348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lnSpcReduction="10000"/>
          </a:bodyPr>
          <a:lstStyle/>
          <a:p>
            <a:pPr marL="0" indent="0">
              <a:buNone/>
            </a:pPr>
            <a:endParaRPr lang="en-US" sz="2500" dirty="0">
              <a:ln>
                <a:solidFill>
                  <a:srgbClr val="00B0F0"/>
                </a:solidFill>
              </a:ln>
              <a:solidFill>
                <a:srgbClr val="00B0F0"/>
              </a:solidFill>
            </a:endParaRPr>
          </a:p>
          <a:p>
            <a:pPr marL="0" indent="0">
              <a:buNone/>
            </a:pPr>
            <a:r>
              <a:rPr lang="en-US" sz="1400" dirty="0">
                <a:ln>
                  <a:solidFill>
                    <a:srgbClr val="00B0F0"/>
                  </a:solidFill>
                </a:ln>
                <a:solidFill>
                  <a:srgbClr val="00B0F0"/>
                </a:solidFill>
              </a:rPr>
              <a:t>Create or Replace Package </a:t>
            </a:r>
            <a:r>
              <a:rPr lang="en-US" sz="1400" dirty="0" err="1">
                <a:ln>
                  <a:solidFill>
                    <a:srgbClr val="00B0F0"/>
                  </a:solidFill>
                </a:ln>
                <a:solidFill>
                  <a:srgbClr val="00B0F0"/>
                </a:solidFill>
              </a:rPr>
              <a:t>pack_cur</a:t>
            </a: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Is</a:t>
            </a:r>
          </a:p>
          <a:p>
            <a:pPr marL="0" indent="0">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IS REF CURSOR return emp1%rowtype ;</a:t>
            </a:r>
          </a:p>
          <a:p>
            <a:pPr marL="0" indent="0">
              <a:buNone/>
            </a:pPr>
            <a:r>
              <a:rPr lang="en-US" sz="1400" dirty="0">
                <a:ln>
                  <a:solidFill>
                    <a:srgbClr val="00B0F0"/>
                  </a:solidFill>
                </a:ln>
                <a:solidFill>
                  <a:srgbClr val="00B0F0"/>
                </a:solidFill>
              </a:rPr>
              <a:t>  	PROCEDURE </a:t>
            </a:r>
            <a:r>
              <a:rPr lang="en-US" sz="1400" dirty="0" err="1">
                <a:ln>
                  <a:solidFill>
                    <a:srgbClr val="00B0F0"/>
                  </a:solidFill>
                </a:ln>
                <a:solidFill>
                  <a:srgbClr val="00B0F0"/>
                </a:solidFill>
              </a:rPr>
              <a:t>open_emp_cv</a:t>
            </a:r>
            <a:r>
              <a:rPr lang="en-US" sz="1400" dirty="0">
                <a:ln>
                  <a:solidFill>
                    <a:srgbClr val="00B0F0"/>
                  </a:solidFill>
                </a:ln>
                <a:solidFill>
                  <a:srgbClr val="00B0F0"/>
                </a:solidFill>
              </a:rPr>
              <a:t>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IN OUT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End </a:t>
            </a:r>
            <a:r>
              <a:rPr lang="en-US" sz="1400" dirty="0" err="1">
                <a:ln>
                  <a:solidFill>
                    <a:srgbClr val="00B0F0"/>
                  </a:solidFill>
                </a:ln>
                <a:solidFill>
                  <a:srgbClr val="00B0F0"/>
                </a:solidFill>
              </a:rPr>
              <a:t>pack_cur</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a:t>
            </a:r>
          </a:p>
          <a:p>
            <a:pPr marL="0" indent="0">
              <a:buNone/>
            </a:pP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Create or Replace Package Body </a:t>
            </a:r>
            <a:r>
              <a:rPr lang="en-US" sz="1400" dirty="0" err="1">
                <a:ln>
                  <a:solidFill>
                    <a:srgbClr val="00B0F0"/>
                  </a:solidFill>
                </a:ln>
                <a:solidFill>
                  <a:srgbClr val="00B0F0"/>
                </a:solidFill>
              </a:rPr>
              <a:t>pack_cur</a:t>
            </a: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Is</a:t>
            </a:r>
          </a:p>
          <a:p>
            <a:pPr marL="0" indent="0">
              <a:buNone/>
            </a:pPr>
            <a:r>
              <a:rPr lang="en-US" sz="1400" dirty="0">
                <a:ln>
                  <a:solidFill>
                    <a:srgbClr val="00B0F0"/>
                  </a:solidFill>
                </a:ln>
                <a:solidFill>
                  <a:srgbClr val="00B0F0"/>
                </a:solidFill>
              </a:rPr>
              <a:t>	PROCEDURE </a:t>
            </a:r>
            <a:r>
              <a:rPr lang="en-US" sz="1400" dirty="0" err="1">
                <a:ln>
                  <a:solidFill>
                    <a:srgbClr val="00B0F0"/>
                  </a:solidFill>
                </a:ln>
                <a:solidFill>
                  <a:srgbClr val="00B0F0"/>
                </a:solidFill>
              </a:rPr>
              <a:t>open_emp_cv</a:t>
            </a:r>
            <a:r>
              <a:rPr lang="en-US" sz="1400" dirty="0">
                <a:ln>
                  <a:solidFill>
                    <a:srgbClr val="00B0F0"/>
                  </a:solidFill>
                </a:ln>
                <a:solidFill>
                  <a:srgbClr val="00B0F0"/>
                </a:solidFill>
              </a:rPr>
              <a:t>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IN OUT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IS</a:t>
            </a:r>
          </a:p>
          <a:p>
            <a:pPr marL="0" indent="0">
              <a:buNone/>
            </a:pPr>
            <a:r>
              <a:rPr lang="en-US" sz="1400" dirty="0">
                <a:ln>
                  <a:solidFill>
                    <a:srgbClr val="00B0F0"/>
                  </a:solidFill>
                </a:ln>
                <a:solidFill>
                  <a:srgbClr val="00B0F0"/>
                </a:solidFill>
              </a:rPr>
              <a:t>		a emp1.empno%type;</a:t>
            </a:r>
          </a:p>
          <a:p>
            <a:pPr marL="0" indent="0">
              <a:buNone/>
            </a:pPr>
            <a:r>
              <a:rPr lang="en-US" sz="1400" dirty="0">
                <a:ln>
                  <a:solidFill>
                    <a:srgbClr val="00B0F0"/>
                  </a:solidFill>
                </a:ln>
                <a:solidFill>
                  <a:srgbClr val="00B0F0"/>
                </a:solidFill>
              </a:rPr>
              <a:t>		b emp1.ename%type;</a:t>
            </a:r>
          </a:p>
          <a:p>
            <a:pPr marL="0" indent="0">
              <a:buNone/>
            </a:pPr>
            <a:r>
              <a:rPr lang="en-US" sz="1400" dirty="0">
                <a:ln>
                  <a:solidFill>
                    <a:srgbClr val="00B0F0"/>
                  </a:solidFill>
                </a:ln>
                <a:solidFill>
                  <a:srgbClr val="00B0F0"/>
                </a:solidFill>
              </a:rPr>
              <a:t>	Begin</a:t>
            </a:r>
          </a:p>
          <a:p>
            <a:pPr marL="0" indent="0">
              <a:buNone/>
            </a:pPr>
            <a:r>
              <a:rPr lang="en-US" sz="2500" dirty="0">
                <a:ln>
                  <a:solidFill>
                    <a:srgbClr val="00B0F0"/>
                  </a:solidFill>
                </a:ln>
                <a:solidFill>
                  <a:srgbClr val="00B0F0"/>
                </a:solidFill>
              </a:rPr>
              <a:t> </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STRONG Ref cursor type 		</a:t>
            </a:r>
            <a:endParaRPr lang="en-US" sz="2400" b="1" dirty="0">
              <a:latin typeface="Candara"/>
            </a:endParaRPr>
          </a:p>
        </p:txBody>
      </p:sp>
    </p:spTree>
    <p:extLst>
      <p:ext uri="{BB962C8B-B14F-4D97-AF65-F5344CB8AC3E}">
        <p14:creationId xmlns:p14="http://schemas.microsoft.com/office/powerpoint/2010/main" val="2856550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92500" lnSpcReduction="20000"/>
          </a:bodyPr>
          <a:lstStyle/>
          <a:p>
            <a:pPr marL="0" indent="0">
              <a:buNone/>
            </a:pPr>
            <a:r>
              <a:rPr lang="en-US" sz="1500" dirty="0">
                <a:ln>
                  <a:solidFill>
                    <a:srgbClr val="00B0F0"/>
                  </a:solidFill>
                </a:ln>
                <a:solidFill>
                  <a:srgbClr val="00B0F0"/>
                </a:solidFill>
              </a:rPr>
              <a:t>	</a:t>
            </a:r>
          </a:p>
          <a:p>
            <a:pPr marL="0" indent="0">
              <a:buNone/>
            </a:pPr>
            <a:r>
              <a:rPr lang="en-US" sz="1500" dirty="0">
                <a:ln>
                  <a:solidFill>
                    <a:srgbClr val="00B0F0"/>
                  </a:solidFill>
                </a:ln>
                <a:solidFill>
                  <a:srgbClr val="00B0F0"/>
                </a:solidFill>
              </a:rPr>
              <a:t>	open </a:t>
            </a:r>
            <a:r>
              <a:rPr lang="en-US" sz="1500" dirty="0" err="1">
                <a:ln>
                  <a:solidFill>
                    <a:srgbClr val="00B0F0"/>
                  </a:solidFill>
                </a:ln>
                <a:solidFill>
                  <a:srgbClr val="00B0F0"/>
                </a:solidFill>
              </a:rPr>
              <a:t>emp_cv</a:t>
            </a:r>
            <a:r>
              <a:rPr lang="en-US" sz="1500" dirty="0">
                <a:ln>
                  <a:solidFill>
                    <a:srgbClr val="00B0F0"/>
                  </a:solidFill>
                </a:ln>
                <a:solidFill>
                  <a:srgbClr val="00B0F0"/>
                </a:solidFill>
              </a:rPr>
              <a:t> for select * from emp1;</a:t>
            </a:r>
          </a:p>
          <a:p>
            <a:pPr marL="0" indent="0">
              <a:buNone/>
            </a:pPr>
            <a:r>
              <a:rPr lang="en-US" sz="1500" dirty="0">
                <a:ln>
                  <a:solidFill>
                    <a:srgbClr val="00B0F0"/>
                  </a:solidFill>
                </a:ln>
                <a:solidFill>
                  <a:srgbClr val="00B0F0"/>
                </a:solidFill>
              </a:rPr>
              <a:t>    		loop</a:t>
            </a:r>
          </a:p>
          <a:p>
            <a:pPr marL="0" indent="0">
              <a:buNone/>
            </a:pPr>
            <a:r>
              <a:rPr lang="en-US" sz="1500" dirty="0">
                <a:ln>
                  <a:solidFill>
                    <a:srgbClr val="00B0F0"/>
                  </a:solidFill>
                </a:ln>
                <a:solidFill>
                  <a:srgbClr val="00B0F0"/>
                </a:solidFill>
              </a:rPr>
              <a:t>         			fetch </a:t>
            </a:r>
            <a:r>
              <a:rPr lang="en-US" sz="1500" dirty="0" err="1">
                <a:ln>
                  <a:solidFill>
                    <a:srgbClr val="00B0F0"/>
                  </a:solidFill>
                </a:ln>
                <a:solidFill>
                  <a:srgbClr val="00B0F0"/>
                </a:solidFill>
              </a:rPr>
              <a:t>emp_cv</a:t>
            </a:r>
            <a:r>
              <a:rPr lang="en-US" sz="1500" dirty="0">
                <a:ln>
                  <a:solidFill>
                    <a:srgbClr val="00B0F0"/>
                  </a:solidFill>
                </a:ln>
                <a:solidFill>
                  <a:srgbClr val="00B0F0"/>
                </a:solidFill>
              </a:rPr>
              <a:t> into </a:t>
            </a:r>
            <a:r>
              <a:rPr lang="en-US" sz="1500" dirty="0" err="1">
                <a:ln>
                  <a:solidFill>
                    <a:srgbClr val="00B0F0"/>
                  </a:solidFill>
                </a:ln>
                <a:solidFill>
                  <a:srgbClr val="00B0F0"/>
                </a:solidFill>
              </a:rPr>
              <a:t>a,b</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exit when </a:t>
            </a:r>
            <a:r>
              <a:rPr lang="en-US" sz="1500" dirty="0" err="1">
                <a:ln>
                  <a:solidFill>
                    <a:srgbClr val="00B0F0"/>
                  </a:solidFill>
                </a:ln>
                <a:solidFill>
                  <a:srgbClr val="00B0F0"/>
                </a:solidFill>
              </a:rPr>
              <a:t>emp_cv%notfound</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a:t>
            </a:r>
            <a:r>
              <a:rPr lang="en-US" sz="1500" dirty="0" err="1">
                <a:ln>
                  <a:solidFill>
                    <a:srgbClr val="00B0F0"/>
                  </a:solidFill>
                </a:ln>
                <a:solidFill>
                  <a:srgbClr val="00B0F0"/>
                </a:solidFill>
              </a:rPr>
              <a:t>emp</a:t>
            </a:r>
            <a:r>
              <a:rPr lang="en-US" sz="1500" dirty="0">
                <a:ln>
                  <a:solidFill>
                    <a:srgbClr val="00B0F0"/>
                  </a:solidFill>
                </a:ln>
                <a:solidFill>
                  <a:srgbClr val="00B0F0"/>
                </a:solidFill>
              </a:rPr>
              <a:t> number '||a||' </a:t>
            </a:r>
            <a:r>
              <a:rPr lang="en-US" sz="1500" dirty="0" err="1">
                <a:ln>
                  <a:solidFill>
                    <a:srgbClr val="00B0F0"/>
                  </a:solidFill>
                </a:ln>
                <a:solidFill>
                  <a:srgbClr val="00B0F0"/>
                </a:solidFill>
              </a:rPr>
              <a:t>emp</a:t>
            </a:r>
            <a:r>
              <a:rPr lang="en-US" sz="1500" dirty="0">
                <a:ln>
                  <a:solidFill>
                    <a:srgbClr val="00B0F0"/>
                  </a:solidFill>
                </a:ln>
                <a:solidFill>
                  <a:srgbClr val="00B0F0"/>
                </a:solidFill>
              </a:rPr>
              <a:t> name ' || b);</a:t>
            </a:r>
          </a:p>
          <a:p>
            <a:pPr marL="0" indent="0">
              <a:buNone/>
            </a:pPr>
            <a:r>
              <a:rPr lang="en-US" sz="1500" dirty="0">
                <a:ln>
                  <a:solidFill>
                    <a:srgbClr val="00B0F0"/>
                  </a:solidFill>
                </a:ln>
                <a:solidFill>
                  <a:srgbClr val="00B0F0"/>
                </a:solidFill>
              </a:rPr>
              <a:t>    		end loop;</a:t>
            </a:r>
          </a:p>
          <a:p>
            <a:pPr marL="0" indent="0">
              <a:buNone/>
            </a:pPr>
            <a:r>
              <a:rPr lang="en-US" sz="1500" dirty="0">
                <a:ln>
                  <a:solidFill>
                    <a:srgbClr val="00B0F0"/>
                  </a:solidFill>
                </a:ln>
                <a:solidFill>
                  <a:srgbClr val="00B0F0"/>
                </a:solidFill>
              </a:rPr>
              <a:t>  	end;</a:t>
            </a:r>
          </a:p>
          <a:p>
            <a:pPr marL="0" indent="0">
              <a:buNone/>
            </a:pPr>
            <a:r>
              <a:rPr lang="en-US" sz="1500" dirty="0">
                <a:ln>
                  <a:solidFill>
                    <a:srgbClr val="00B0F0"/>
                  </a:solidFill>
                </a:ln>
                <a:solidFill>
                  <a:srgbClr val="00B0F0"/>
                </a:solidFill>
              </a:rPr>
              <a:t>End </a:t>
            </a:r>
            <a:r>
              <a:rPr lang="en-US" sz="1500" dirty="0" err="1">
                <a:ln>
                  <a:solidFill>
                    <a:srgbClr val="00B0F0"/>
                  </a:solidFill>
                </a:ln>
                <a:solidFill>
                  <a:srgbClr val="00B0F0"/>
                </a:solidFill>
              </a:rPr>
              <a:t>pack_cur</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a:t>
            </a:r>
          </a:p>
          <a:p>
            <a:pPr marL="0" indent="0">
              <a:buNone/>
            </a:pPr>
            <a:endParaRPr lang="en-US" sz="1500" dirty="0">
              <a:ln>
                <a:solidFill>
                  <a:srgbClr val="00B0F0"/>
                </a:solidFill>
              </a:ln>
              <a:solidFill>
                <a:srgbClr val="00B0F0"/>
              </a:solidFill>
            </a:endParaRPr>
          </a:p>
          <a:p>
            <a:pPr marL="0" indent="0">
              <a:buNone/>
            </a:pPr>
            <a:r>
              <a:rPr lang="en-US" sz="1500" dirty="0">
                <a:ln>
                  <a:solidFill>
                    <a:srgbClr val="00B0F0"/>
                  </a:solidFill>
                </a:ln>
                <a:solidFill>
                  <a:srgbClr val="00B0F0"/>
                </a:solidFill>
              </a:rPr>
              <a:t>declare</a:t>
            </a:r>
          </a:p>
          <a:p>
            <a:pPr marL="0" indent="0">
              <a:buNone/>
            </a:pPr>
            <a:r>
              <a:rPr lang="en-US" sz="1500" dirty="0">
                <a:ln>
                  <a:solidFill>
                    <a:srgbClr val="00B0F0"/>
                  </a:solidFill>
                </a:ln>
                <a:solidFill>
                  <a:srgbClr val="00B0F0"/>
                </a:solidFill>
              </a:rPr>
              <a:t>  	type t1 is ref cursor;</a:t>
            </a:r>
          </a:p>
          <a:p>
            <a:pPr marL="0" indent="0">
              <a:buNone/>
            </a:pPr>
            <a:r>
              <a:rPr lang="en-US" sz="1500" dirty="0">
                <a:ln>
                  <a:solidFill>
                    <a:srgbClr val="00B0F0"/>
                  </a:solidFill>
                </a:ln>
                <a:solidFill>
                  <a:srgbClr val="00B0F0"/>
                </a:solidFill>
              </a:rPr>
              <a:t>  	a t1;</a:t>
            </a:r>
          </a:p>
          <a:p>
            <a:pPr marL="0" indent="0">
              <a:buNone/>
            </a:pPr>
            <a:r>
              <a:rPr lang="en-US" sz="1500" dirty="0">
                <a:ln>
                  <a:solidFill>
                    <a:srgbClr val="00B0F0"/>
                  </a:solidFill>
                </a:ln>
                <a:solidFill>
                  <a:srgbClr val="00B0F0"/>
                </a:solidFill>
              </a:rPr>
              <a:t> begin</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pack_cur.open_emp_cv</a:t>
            </a:r>
            <a:r>
              <a:rPr lang="en-US" sz="1500" dirty="0">
                <a:ln>
                  <a:solidFill>
                    <a:srgbClr val="00B0F0"/>
                  </a:solidFill>
                </a:ln>
                <a:solidFill>
                  <a:srgbClr val="00B0F0"/>
                </a:solidFill>
              </a:rPr>
              <a:t>(a);</a:t>
            </a:r>
          </a:p>
          <a:p>
            <a:pPr marL="0" indent="0">
              <a:buNone/>
            </a:pPr>
            <a:r>
              <a:rPr lang="en-US" sz="1500" dirty="0">
                <a:ln>
                  <a:solidFill>
                    <a:srgbClr val="00B0F0"/>
                  </a:solidFill>
                </a:ln>
                <a:solidFill>
                  <a:srgbClr val="00B0F0"/>
                </a:solidFill>
              </a:rPr>
              <a:t> end;</a:t>
            </a:r>
          </a:p>
          <a:p>
            <a:pPr marL="0" indent="0">
              <a:buNone/>
            </a:pPr>
            <a:r>
              <a:rPr lang="en-US" sz="1500" dirty="0">
                <a:ln>
                  <a:solidFill>
                    <a:srgbClr val="00B0F0"/>
                  </a:solidFill>
                </a:ln>
                <a:solidFill>
                  <a:srgbClr val="00B0F0"/>
                </a:solidFill>
              </a:rPr>
              <a:t>/</a:t>
            </a:r>
          </a:p>
          <a:p>
            <a:pPr marL="0" indent="0">
              <a:buNone/>
            </a:pPr>
            <a:endParaRPr lang="en-US" sz="1500" dirty="0">
              <a:ln>
                <a:solidFill>
                  <a:srgbClr val="00B0F0"/>
                </a:solidFill>
              </a:ln>
              <a:solidFill>
                <a:srgbClr val="00B0F0"/>
              </a:solidFill>
            </a:endParaRPr>
          </a:p>
          <a:p>
            <a:pPr marL="0" indent="0">
              <a:buNone/>
            </a:pPr>
            <a:endParaRPr lang="en-US" sz="2000" dirty="0">
              <a:ln>
                <a:solidFill>
                  <a:srgbClr val="00B0F0"/>
                </a:solidFill>
              </a:ln>
              <a:solidFill>
                <a:srgbClr val="00B0F0"/>
              </a:solidFill>
            </a:endParaRPr>
          </a:p>
          <a:p>
            <a:pPr marL="0" indent="0">
              <a:lnSpc>
                <a:spcPct val="130000"/>
              </a:lnSpc>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STRONG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460540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92500" lnSpcReduction="10000"/>
          </a:bodyPr>
          <a:lstStyle/>
          <a:p>
            <a:endParaRPr lang="en-US" dirty="0"/>
          </a:p>
          <a:p>
            <a:pPr algn="just"/>
            <a:r>
              <a:rPr lang="en-US" sz="1500" dirty="0"/>
              <a:t>The above will work since a cursor variable(t1) is of type weak and when it is passed to the procedure(as an actual value) it’s type becomes strong as the formal parameter </a:t>
            </a:r>
            <a:r>
              <a:rPr lang="en-US" sz="1500" dirty="0" err="1"/>
              <a:t>emp_cv</a:t>
            </a:r>
            <a:r>
              <a:rPr lang="en-US" sz="1500" dirty="0"/>
              <a:t> is based on a cursor type which is of type strong</a:t>
            </a:r>
          </a:p>
          <a:p>
            <a:pPr algn="just"/>
            <a:r>
              <a:rPr lang="en-US" sz="1500" dirty="0"/>
              <a:t> However, the following will give an error, since here, the cursor variable(t1) is of type strong and when it is passed to the procedure it will try to map itself with  the formal parameter </a:t>
            </a:r>
            <a:r>
              <a:rPr lang="en-US" sz="1500" dirty="0" err="1"/>
              <a:t>emp_cv</a:t>
            </a:r>
            <a:r>
              <a:rPr lang="en-US" sz="1500" dirty="0"/>
              <a:t> which is of  type strong again, hence error. This error happens even though t1(in the calling environment) and </a:t>
            </a:r>
            <a:r>
              <a:rPr lang="en-US" sz="1500" dirty="0" err="1"/>
              <a:t>emp_cv</a:t>
            </a:r>
            <a:r>
              <a:rPr lang="en-US" sz="1500" dirty="0"/>
              <a:t>(in the called environment) are, in this case, coincidentally based on the emp1%rowtype. But that need not always be the case.</a:t>
            </a:r>
          </a:p>
          <a:p>
            <a:pPr marL="0" indent="0" algn="just">
              <a:buNone/>
            </a:pPr>
            <a:endParaRPr lang="en-US" sz="1500" dirty="0"/>
          </a:p>
          <a:p>
            <a:pPr marL="0" indent="0">
              <a:buNone/>
            </a:pPr>
            <a:r>
              <a:rPr lang="en-US" sz="1500" dirty="0">
                <a:ln>
                  <a:solidFill>
                    <a:srgbClr val="00B0F0"/>
                  </a:solidFill>
                </a:ln>
                <a:solidFill>
                  <a:srgbClr val="00B0F0"/>
                </a:solidFill>
              </a:rPr>
              <a:t>declare</a:t>
            </a:r>
          </a:p>
          <a:p>
            <a:pPr marL="0" indent="0">
              <a:buNone/>
            </a:pPr>
            <a:r>
              <a:rPr lang="en-US" sz="1500" dirty="0">
                <a:ln>
                  <a:solidFill>
                    <a:srgbClr val="00B0F0"/>
                  </a:solidFill>
                </a:ln>
                <a:solidFill>
                  <a:srgbClr val="00B0F0"/>
                </a:solidFill>
              </a:rPr>
              <a:t>  	type t1 is ref cursor return emp1%rowtype;</a:t>
            </a:r>
          </a:p>
          <a:p>
            <a:pPr marL="0" indent="0">
              <a:buNone/>
            </a:pPr>
            <a:r>
              <a:rPr lang="en-US" sz="1500" dirty="0">
                <a:ln>
                  <a:solidFill>
                    <a:srgbClr val="00B0F0"/>
                  </a:solidFill>
                </a:ln>
                <a:solidFill>
                  <a:srgbClr val="00B0F0"/>
                </a:solidFill>
              </a:rPr>
              <a:t>  	a t1;</a:t>
            </a:r>
          </a:p>
          <a:p>
            <a:pPr marL="0" indent="0">
              <a:buNone/>
            </a:pPr>
            <a:r>
              <a:rPr lang="en-US" sz="1500" dirty="0">
                <a:ln>
                  <a:solidFill>
                    <a:srgbClr val="00B0F0"/>
                  </a:solidFill>
                </a:ln>
                <a:solidFill>
                  <a:srgbClr val="00B0F0"/>
                </a:solidFill>
              </a:rPr>
              <a:t>begin</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pack_cur.open_emp_cv</a:t>
            </a:r>
            <a:r>
              <a:rPr lang="en-US" sz="1500" dirty="0">
                <a:ln>
                  <a:solidFill>
                    <a:srgbClr val="00B0F0"/>
                  </a:solidFill>
                </a:ln>
                <a:solidFill>
                  <a:srgbClr val="00B0F0"/>
                </a:solidFill>
              </a:rPr>
              <a:t>(a);</a:t>
            </a:r>
          </a:p>
          <a:p>
            <a:pPr marL="0" indent="0">
              <a:buNone/>
            </a:pPr>
            <a:r>
              <a:rPr lang="en-US" sz="1500" dirty="0">
                <a:ln>
                  <a:solidFill>
                    <a:srgbClr val="00B0F0"/>
                  </a:solidFill>
                </a:ln>
                <a:solidFill>
                  <a:srgbClr val="00B0F0"/>
                </a:solidFill>
              </a:rPr>
              <a:t>end;</a:t>
            </a:r>
          </a:p>
          <a:p>
            <a:pPr marL="0" indent="0">
              <a:buNone/>
            </a:pPr>
            <a:r>
              <a:rPr lang="en-US" sz="1500" dirty="0">
                <a:ln>
                  <a:solidFill>
                    <a:srgbClr val="00B0F0"/>
                  </a:solidFill>
                </a:ln>
                <a:solidFill>
                  <a:srgbClr val="00B0F0"/>
                </a:solidFill>
              </a:rPr>
              <a:t>/</a:t>
            </a:r>
          </a:p>
          <a:p>
            <a:pPr marL="0" indent="0" algn="just">
              <a:buNone/>
            </a:pPr>
            <a:r>
              <a:rPr lang="en-US" sz="1500" dirty="0"/>
              <a:t>wrong number or types of arguments in call to 'OPEN_EMP_CV'</a:t>
            </a:r>
          </a:p>
          <a:p>
            <a:pPr marL="0" indent="0">
              <a:buNone/>
            </a:pPr>
            <a:endParaRPr lang="en-US" sz="14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Packages and REF cursor types </a:t>
            </a:r>
            <a:br>
              <a:rPr lang="en-US" sz="1400" b="1" dirty="0">
                <a:latin typeface="Candara"/>
              </a:rPr>
            </a:br>
            <a:r>
              <a:rPr lang="en-US" dirty="0"/>
              <a:t>Package with STRONG Ref cursor type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3400232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55000" lnSpcReduction="20000"/>
          </a:bodyPr>
          <a:lstStyle/>
          <a:p>
            <a:endParaRPr lang="en-US" dirty="0"/>
          </a:p>
          <a:p>
            <a:pPr algn="just"/>
            <a:r>
              <a:rPr lang="en-US" sz="3500" dirty="0"/>
              <a:t>Using the BULK COLLECT clause, you can bulk fetch rows from a cursor variable into one or more collections.</a:t>
            </a:r>
          </a:p>
          <a:p>
            <a:pPr marL="0" indent="0">
              <a:buNone/>
            </a:pPr>
            <a:endParaRPr lang="en-US" dirty="0"/>
          </a:p>
          <a:p>
            <a:pPr marL="0" indent="0">
              <a:buNone/>
            </a:pPr>
            <a:r>
              <a:rPr lang="en-US" sz="2900" dirty="0">
                <a:ln>
                  <a:solidFill>
                    <a:srgbClr val="00B0F0"/>
                  </a:solidFill>
                </a:ln>
                <a:solidFill>
                  <a:srgbClr val="00B0F0"/>
                </a:solidFill>
              </a:rPr>
              <a:t>DECLARE</a:t>
            </a:r>
          </a:p>
          <a:p>
            <a:pPr marL="0" indent="0">
              <a:buNone/>
            </a:pPr>
            <a:r>
              <a:rPr lang="en-US" sz="2900" dirty="0">
                <a:ln>
                  <a:solidFill>
                    <a:srgbClr val="00B0F0"/>
                  </a:solidFill>
                </a:ln>
                <a:solidFill>
                  <a:srgbClr val="00B0F0"/>
                </a:solidFill>
              </a:rPr>
              <a:t>	Type </a:t>
            </a:r>
            <a:r>
              <a:rPr lang="en-US" sz="2900" dirty="0" err="1">
                <a:ln>
                  <a:solidFill>
                    <a:srgbClr val="00B0F0"/>
                  </a:solidFill>
                </a:ln>
                <a:solidFill>
                  <a:srgbClr val="00B0F0"/>
                </a:solidFill>
              </a:rPr>
              <a:t>emprec</a:t>
            </a:r>
            <a:r>
              <a:rPr lang="en-US" sz="2900" dirty="0">
                <a:ln>
                  <a:solidFill>
                    <a:srgbClr val="00B0F0"/>
                  </a:solidFill>
                </a:ln>
                <a:solidFill>
                  <a:srgbClr val="00B0F0"/>
                </a:solidFill>
              </a:rPr>
              <a:t> is record(</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empname</a:t>
            </a:r>
            <a:r>
              <a:rPr lang="en-US" sz="2900" dirty="0">
                <a:ln>
                  <a:solidFill>
                    <a:srgbClr val="00B0F0"/>
                  </a:solidFill>
                </a:ln>
                <a:solidFill>
                  <a:srgbClr val="00B0F0"/>
                </a:solidFill>
              </a:rPr>
              <a:t> </a:t>
            </a:r>
            <a:r>
              <a:rPr lang="en-US" sz="2900" dirty="0" err="1">
                <a:ln>
                  <a:solidFill>
                    <a:srgbClr val="00B0F0"/>
                  </a:solidFill>
                </a:ln>
                <a:solidFill>
                  <a:srgbClr val="00B0F0"/>
                </a:solidFill>
              </a:rPr>
              <a:t>emp.ename%type</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Empsal</a:t>
            </a:r>
            <a:r>
              <a:rPr lang="en-US" sz="2900" dirty="0">
                <a:ln>
                  <a:solidFill>
                    <a:srgbClr val="00B0F0"/>
                  </a:solidFill>
                </a:ln>
                <a:solidFill>
                  <a:srgbClr val="00B0F0"/>
                </a:solidFill>
              </a:rPr>
              <a:t> </a:t>
            </a:r>
            <a:r>
              <a:rPr lang="en-US" sz="2900" dirty="0" err="1">
                <a:ln>
                  <a:solidFill>
                    <a:srgbClr val="00B0F0"/>
                  </a:solidFill>
                </a:ln>
                <a:solidFill>
                  <a:srgbClr val="00B0F0"/>
                </a:solidFill>
              </a:rPr>
              <a:t>emp.sal%type</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TYPE </a:t>
            </a:r>
            <a:r>
              <a:rPr lang="en-US" sz="2900" dirty="0" err="1">
                <a:ln>
                  <a:solidFill>
                    <a:srgbClr val="00B0F0"/>
                  </a:solidFill>
                </a:ln>
                <a:solidFill>
                  <a:srgbClr val="00B0F0"/>
                </a:solidFill>
              </a:rPr>
              <a:t>EmpCurTyp</a:t>
            </a:r>
            <a:r>
              <a:rPr lang="en-US" sz="2900" dirty="0">
                <a:ln>
                  <a:solidFill>
                    <a:srgbClr val="00B0F0"/>
                  </a:solidFill>
                </a:ln>
                <a:solidFill>
                  <a:srgbClr val="00B0F0"/>
                </a:solidFill>
              </a:rPr>
              <a:t> IS REF CURSOR RETURN </a:t>
            </a:r>
            <a:r>
              <a:rPr lang="en-US" sz="2900" dirty="0" err="1">
                <a:ln>
                  <a:solidFill>
                    <a:srgbClr val="00B0F0"/>
                  </a:solidFill>
                </a:ln>
                <a:solidFill>
                  <a:srgbClr val="00B0F0"/>
                </a:solidFill>
              </a:rPr>
              <a:t>emprec</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TYPE </a:t>
            </a:r>
            <a:r>
              <a:rPr lang="en-US" sz="2900" dirty="0" err="1">
                <a:ln>
                  <a:solidFill>
                    <a:srgbClr val="00B0F0"/>
                  </a:solidFill>
                </a:ln>
                <a:solidFill>
                  <a:srgbClr val="00B0F0"/>
                </a:solidFill>
              </a:rPr>
              <a:t>NameList</a:t>
            </a:r>
            <a:r>
              <a:rPr lang="en-US" sz="2900" dirty="0">
                <a:ln>
                  <a:solidFill>
                    <a:srgbClr val="00B0F0"/>
                  </a:solidFill>
                </a:ln>
                <a:solidFill>
                  <a:srgbClr val="00B0F0"/>
                </a:solidFill>
              </a:rPr>
              <a:t> IS TABLE OF </a:t>
            </a:r>
            <a:r>
              <a:rPr lang="en-US" sz="2900" dirty="0" err="1">
                <a:ln>
                  <a:solidFill>
                    <a:srgbClr val="00B0F0"/>
                  </a:solidFill>
                </a:ln>
                <a:solidFill>
                  <a:srgbClr val="00B0F0"/>
                </a:solidFill>
              </a:rPr>
              <a:t>emp.ename%TYPE</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TYPE </a:t>
            </a:r>
            <a:r>
              <a:rPr lang="en-US" sz="2900" dirty="0" err="1">
                <a:ln>
                  <a:solidFill>
                    <a:srgbClr val="00B0F0"/>
                  </a:solidFill>
                </a:ln>
                <a:solidFill>
                  <a:srgbClr val="00B0F0"/>
                </a:solidFill>
              </a:rPr>
              <a:t>SalList</a:t>
            </a:r>
            <a:r>
              <a:rPr lang="en-US" sz="2900" dirty="0">
                <a:ln>
                  <a:solidFill>
                    <a:srgbClr val="00B0F0"/>
                  </a:solidFill>
                </a:ln>
                <a:solidFill>
                  <a:srgbClr val="00B0F0"/>
                </a:solidFill>
              </a:rPr>
              <a:t> IS TABLE OF </a:t>
            </a:r>
            <a:r>
              <a:rPr lang="en-US" sz="2900" dirty="0" err="1">
                <a:ln>
                  <a:solidFill>
                    <a:srgbClr val="00B0F0"/>
                  </a:solidFill>
                </a:ln>
                <a:solidFill>
                  <a:srgbClr val="00B0F0"/>
                </a:solidFill>
              </a:rPr>
              <a:t>emp.sal%TYPE</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emp_cv</a:t>
            </a:r>
            <a:r>
              <a:rPr lang="en-US" sz="2900" dirty="0">
                <a:ln>
                  <a:solidFill>
                    <a:srgbClr val="00B0F0"/>
                  </a:solidFill>
                </a:ln>
                <a:solidFill>
                  <a:srgbClr val="00B0F0"/>
                </a:solidFill>
              </a:rPr>
              <a:t> </a:t>
            </a:r>
            <a:r>
              <a:rPr lang="en-US" sz="2900" dirty="0" err="1">
                <a:ln>
                  <a:solidFill>
                    <a:srgbClr val="00B0F0"/>
                  </a:solidFill>
                </a:ln>
                <a:solidFill>
                  <a:srgbClr val="00B0F0"/>
                </a:solidFill>
              </a:rPr>
              <a:t>EmpCurTyp</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names </a:t>
            </a:r>
            <a:r>
              <a:rPr lang="en-US" sz="2900" dirty="0" err="1">
                <a:ln>
                  <a:solidFill>
                    <a:srgbClr val="00B0F0"/>
                  </a:solidFill>
                </a:ln>
                <a:solidFill>
                  <a:srgbClr val="00B0F0"/>
                </a:solidFill>
              </a:rPr>
              <a:t>NameList</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sals</a:t>
            </a:r>
            <a:r>
              <a:rPr lang="en-US" sz="2900" dirty="0">
                <a:ln>
                  <a:solidFill>
                    <a:srgbClr val="00B0F0"/>
                  </a:solidFill>
                </a:ln>
                <a:solidFill>
                  <a:srgbClr val="00B0F0"/>
                </a:solidFill>
              </a:rPr>
              <a:t> </a:t>
            </a:r>
            <a:r>
              <a:rPr lang="en-US" sz="2900" dirty="0" err="1">
                <a:ln>
                  <a:solidFill>
                    <a:srgbClr val="00B0F0"/>
                  </a:solidFill>
                </a:ln>
                <a:solidFill>
                  <a:srgbClr val="00B0F0"/>
                </a:solidFill>
              </a:rPr>
              <a:t>SalList</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 number;</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ctr</a:t>
            </a:r>
            <a:r>
              <a:rPr lang="en-US" sz="2900" dirty="0">
                <a:ln>
                  <a:solidFill>
                    <a:srgbClr val="00B0F0"/>
                  </a:solidFill>
                </a:ln>
                <a:solidFill>
                  <a:srgbClr val="00B0F0"/>
                </a:solidFill>
              </a:rPr>
              <a:t> number :=1;</a:t>
            </a:r>
          </a:p>
          <a:p>
            <a:pPr marL="0" indent="0">
              <a:buNone/>
            </a:pPr>
            <a:endParaRPr lang="en-US" sz="14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REF cursor and Bulk Collect </a:t>
            </a:r>
            <a:br>
              <a:rPr lang="en-US" sz="1400" b="1" dirty="0">
                <a:latin typeface="Candara"/>
              </a:rPr>
            </a:br>
            <a:r>
              <a:rPr lang="en-US" dirty="0"/>
              <a:t>Fetching rows from cursor variable into collection</a:t>
            </a:r>
            <a:endParaRPr lang="en-US" sz="2400" b="1" dirty="0">
              <a:latin typeface="Candara"/>
            </a:endParaRPr>
          </a:p>
        </p:txBody>
      </p:sp>
    </p:spTree>
    <p:extLst>
      <p:ext uri="{BB962C8B-B14F-4D97-AF65-F5344CB8AC3E}">
        <p14:creationId xmlns:p14="http://schemas.microsoft.com/office/powerpoint/2010/main" val="17844414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a:bodyPr>
          <a:lstStyle/>
          <a:p>
            <a:endParaRPr lang="en-US" dirty="0"/>
          </a:p>
          <a:p>
            <a:pPr algn="just"/>
            <a:r>
              <a:rPr lang="en-US" sz="1500" dirty="0"/>
              <a:t>Using the BULK COLLECT clause, you can bulk fetch rows from a cursor variable into one or more collections</a:t>
            </a:r>
            <a:endParaRPr lang="en-US" sz="3500" dirty="0"/>
          </a:p>
          <a:p>
            <a:pPr marL="0" indent="0">
              <a:buNone/>
            </a:pPr>
            <a:endParaRPr lang="en-US" dirty="0"/>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FOR SELECT </a:t>
            </a:r>
            <a:r>
              <a:rPr lang="en-US" sz="1400" dirty="0" err="1">
                <a:ln>
                  <a:solidFill>
                    <a:srgbClr val="00B0F0"/>
                  </a:solidFill>
                </a:ln>
                <a:solidFill>
                  <a:srgbClr val="00B0F0"/>
                </a:solidFill>
              </a:rPr>
              <a:t>ename</a:t>
            </a:r>
            <a:r>
              <a:rPr lang="en-US" sz="1400" dirty="0">
                <a:ln>
                  <a:solidFill>
                    <a:srgbClr val="00B0F0"/>
                  </a:solidFill>
                </a:ln>
                <a:solidFill>
                  <a:srgbClr val="00B0F0"/>
                </a:solidFill>
              </a:rPr>
              <a:t>, </a:t>
            </a:r>
            <a:r>
              <a:rPr lang="en-US" sz="1400" dirty="0" err="1">
                <a:ln>
                  <a:solidFill>
                    <a:srgbClr val="00B0F0"/>
                  </a:solidFill>
                </a:ln>
                <a:solidFill>
                  <a:srgbClr val="00B0F0"/>
                </a:solidFill>
              </a:rPr>
              <a:t>sal</a:t>
            </a:r>
            <a:r>
              <a:rPr lang="en-US" sz="1400" dirty="0">
                <a:ln>
                  <a:solidFill>
                    <a:srgbClr val="00B0F0"/>
                  </a:solidFill>
                </a:ln>
                <a:solidFill>
                  <a:srgbClr val="00B0F0"/>
                </a:solidFill>
              </a:rPr>
              <a:t>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BULK COLLECT INTO names, </a:t>
            </a:r>
            <a:r>
              <a:rPr lang="en-US" sz="1400" dirty="0" err="1">
                <a:ln>
                  <a:solidFill>
                    <a:srgbClr val="00B0F0"/>
                  </a:solidFill>
                </a:ln>
                <a:solidFill>
                  <a:srgbClr val="00B0F0"/>
                </a:solidFill>
              </a:rPr>
              <a:t>sals</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A:=names.count;</a:t>
            </a:r>
          </a:p>
          <a:p>
            <a:pPr marL="0" indent="0">
              <a:buNone/>
            </a:pPr>
            <a:r>
              <a:rPr lang="en-US" sz="1400" dirty="0">
                <a:ln>
                  <a:solidFill>
                    <a:srgbClr val="00B0F0"/>
                  </a:solidFill>
                </a:ln>
                <a:solidFill>
                  <a:srgbClr val="00B0F0"/>
                </a:solidFill>
              </a:rPr>
              <a:t>	While </a:t>
            </a:r>
            <a:r>
              <a:rPr lang="en-US" sz="1400" dirty="0" err="1">
                <a:ln>
                  <a:solidFill>
                    <a:srgbClr val="00B0F0"/>
                  </a:solidFill>
                </a:ln>
                <a:solidFill>
                  <a:srgbClr val="00B0F0"/>
                </a:solidFill>
              </a:rPr>
              <a:t>ctr</a:t>
            </a:r>
            <a:r>
              <a:rPr lang="en-US" sz="1400" dirty="0">
                <a:ln>
                  <a:solidFill>
                    <a:srgbClr val="00B0F0"/>
                  </a:solidFill>
                </a:ln>
                <a:solidFill>
                  <a:srgbClr val="00B0F0"/>
                </a:solidFill>
              </a:rPr>
              <a:t>&lt;=a loop</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(names(</a:t>
            </a:r>
            <a:r>
              <a:rPr lang="en-US" sz="1400" dirty="0" err="1">
                <a:ln>
                  <a:solidFill>
                    <a:srgbClr val="00B0F0"/>
                  </a:solidFill>
                </a:ln>
                <a:solidFill>
                  <a:srgbClr val="00B0F0"/>
                </a:solidFill>
              </a:rPr>
              <a:t>ctr</a:t>
            </a:r>
            <a:r>
              <a:rPr lang="en-US" sz="1400" dirty="0">
                <a:ln>
                  <a:solidFill>
                    <a:srgbClr val="00B0F0"/>
                  </a:solidFill>
                </a:ln>
                <a:solidFill>
                  <a:srgbClr val="00B0F0"/>
                </a:solidFill>
              </a:rPr>
              <a:t>)||</a:t>
            </a:r>
            <a:r>
              <a:rPr lang="en-US" sz="1400" dirty="0" err="1">
                <a:ln>
                  <a:solidFill>
                    <a:srgbClr val="00B0F0"/>
                  </a:solidFill>
                </a:ln>
                <a:solidFill>
                  <a:srgbClr val="00B0F0"/>
                </a:solidFill>
              </a:rPr>
              <a:t>sals</a:t>
            </a:r>
            <a:r>
              <a:rPr lang="en-US" sz="1400" dirty="0">
                <a:ln>
                  <a:solidFill>
                    <a:srgbClr val="00B0F0"/>
                  </a:solidFill>
                </a:ln>
                <a:solidFill>
                  <a:srgbClr val="00B0F0"/>
                </a:solidFill>
              </a:rPr>
              <a:t>(</a:t>
            </a:r>
            <a:r>
              <a:rPr lang="en-US" sz="1400" dirty="0" err="1">
                <a:ln>
                  <a:solidFill>
                    <a:srgbClr val="00B0F0"/>
                  </a:solidFill>
                </a:ln>
                <a:solidFill>
                  <a:srgbClr val="00B0F0"/>
                </a:solidFill>
              </a:rPr>
              <a:t>ctr</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Ctr</a:t>
            </a:r>
            <a:r>
              <a:rPr lang="en-US" sz="1400" dirty="0">
                <a:ln>
                  <a:solidFill>
                    <a:srgbClr val="00B0F0"/>
                  </a:solidFill>
                </a:ln>
                <a:solidFill>
                  <a:srgbClr val="00B0F0"/>
                </a:solidFill>
              </a:rPr>
              <a:t>:=ctr+1;</a:t>
            </a:r>
          </a:p>
          <a:p>
            <a:pPr marL="0" indent="0">
              <a:buNone/>
            </a:pPr>
            <a:r>
              <a:rPr lang="en-US" sz="1400" dirty="0">
                <a:ln>
                  <a:solidFill>
                    <a:srgbClr val="00B0F0"/>
                  </a:solidFill>
                </a:ln>
                <a:solidFill>
                  <a:srgbClr val="00B0F0"/>
                </a:solidFill>
              </a:rPr>
              <a:t>	End loop;</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buNone/>
            </a:pPr>
            <a:endParaRPr lang="en-US" sz="14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4.14: REF cursor and Bulk Collect </a:t>
            </a:r>
            <a:br>
              <a:rPr lang="en-US" sz="1400" b="1" dirty="0">
                <a:latin typeface="Candara"/>
              </a:rPr>
            </a:br>
            <a:r>
              <a:rPr lang="en-US" dirty="0"/>
              <a:t>Fetching rows from cursor variable into collection   ….</a:t>
            </a:r>
            <a:r>
              <a:rPr lang="en-US" dirty="0" err="1"/>
              <a:t>contd</a:t>
            </a:r>
            <a:endParaRPr lang="en-US" sz="2400" b="1" dirty="0">
              <a:latin typeface="Candara"/>
            </a:endParaRPr>
          </a:p>
        </p:txBody>
      </p:sp>
    </p:spTree>
    <p:extLst>
      <p:ext uri="{BB962C8B-B14F-4D97-AF65-F5344CB8AC3E}">
        <p14:creationId xmlns:p14="http://schemas.microsoft.com/office/powerpoint/2010/main" val="17680068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92500" lnSpcReduction="20000"/>
          </a:bodyPr>
          <a:lstStyle/>
          <a:p>
            <a:endParaRPr lang="en-US" dirty="0"/>
          </a:p>
          <a:p>
            <a:r>
              <a:rPr lang="en-US" sz="1500" dirty="0"/>
              <a:t>The </a:t>
            </a:r>
            <a:r>
              <a:rPr lang="en-US" sz="1500" dirty="0" err="1"/>
              <a:t>rowtype_mismatch</a:t>
            </a:r>
            <a:r>
              <a:rPr lang="en-US" sz="1500" dirty="0"/>
              <a:t> error occurs at the time of FETCH, in case of </a:t>
            </a:r>
            <a:r>
              <a:rPr lang="en-US" sz="1500" dirty="0" err="1"/>
              <a:t>refcursors</a:t>
            </a:r>
            <a:r>
              <a:rPr lang="en-US" sz="1500" dirty="0"/>
              <a:t> as follows :</a:t>
            </a:r>
          </a:p>
          <a:p>
            <a:pPr marL="0" indent="0">
              <a:buNone/>
            </a:pPr>
            <a:endParaRPr lang="en-US" dirty="0"/>
          </a:p>
          <a:p>
            <a:pPr marL="0" indent="0">
              <a:buNone/>
            </a:pPr>
            <a:r>
              <a:rPr lang="en-US" sz="1500" dirty="0">
                <a:ln>
                  <a:solidFill>
                    <a:srgbClr val="00B0F0"/>
                  </a:solidFill>
                </a:ln>
                <a:solidFill>
                  <a:srgbClr val="00B0F0"/>
                </a:solidFill>
              </a:rPr>
              <a:t>declare</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curvar</a:t>
            </a:r>
            <a:r>
              <a:rPr lang="en-US" sz="1500" dirty="0">
                <a:ln>
                  <a:solidFill>
                    <a:srgbClr val="00B0F0"/>
                  </a:solidFill>
                </a:ln>
                <a:solidFill>
                  <a:srgbClr val="00B0F0"/>
                </a:solidFill>
              </a:rPr>
              <a:t> </a:t>
            </a:r>
            <a:r>
              <a:rPr lang="en-US" sz="1500" dirty="0" err="1">
                <a:ln>
                  <a:solidFill>
                    <a:srgbClr val="00B0F0"/>
                  </a:solidFill>
                </a:ln>
                <a:solidFill>
                  <a:srgbClr val="00B0F0"/>
                </a:solidFill>
              </a:rPr>
              <a:t>sys_refcursor</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v_emp</a:t>
            </a:r>
            <a:r>
              <a:rPr lang="en-US" sz="1500" dirty="0">
                <a:ln>
                  <a:solidFill>
                    <a:srgbClr val="00B0F0"/>
                  </a:solidFill>
                </a:ln>
                <a:solidFill>
                  <a:srgbClr val="00B0F0"/>
                </a:solidFill>
              </a:rPr>
              <a:t> </a:t>
            </a:r>
            <a:r>
              <a:rPr lang="en-US" sz="1500" dirty="0" err="1">
                <a:ln>
                  <a:solidFill>
                    <a:srgbClr val="00B0F0"/>
                  </a:solidFill>
                </a:ln>
                <a:solidFill>
                  <a:srgbClr val="00B0F0"/>
                </a:solidFill>
              </a:rPr>
              <a:t>emp%rowtype</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v_dept</a:t>
            </a:r>
            <a:r>
              <a:rPr lang="en-US" sz="1500" dirty="0">
                <a:ln>
                  <a:solidFill>
                    <a:srgbClr val="00B0F0"/>
                  </a:solidFill>
                </a:ln>
                <a:solidFill>
                  <a:srgbClr val="00B0F0"/>
                </a:solidFill>
              </a:rPr>
              <a:t> </a:t>
            </a:r>
            <a:r>
              <a:rPr lang="en-US" sz="1500" dirty="0" err="1">
                <a:ln>
                  <a:solidFill>
                    <a:srgbClr val="00B0F0"/>
                  </a:solidFill>
                </a:ln>
                <a:solidFill>
                  <a:srgbClr val="00B0F0"/>
                </a:solidFill>
              </a:rPr>
              <a:t>dept%rowtype</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begin</a:t>
            </a:r>
          </a:p>
          <a:p>
            <a:pPr marL="0" indent="0">
              <a:buNone/>
            </a:pPr>
            <a:r>
              <a:rPr lang="en-US" sz="1500" dirty="0">
                <a:ln>
                  <a:solidFill>
                    <a:srgbClr val="00B0F0"/>
                  </a:solidFill>
                </a:ln>
                <a:solidFill>
                  <a:srgbClr val="00B0F0"/>
                </a:solidFill>
              </a:rPr>
              <a:t>    	open </a:t>
            </a:r>
            <a:r>
              <a:rPr lang="en-US" sz="1500" dirty="0" err="1">
                <a:ln>
                  <a:solidFill>
                    <a:srgbClr val="00B0F0"/>
                  </a:solidFill>
                </a:ln>
                <a:solidFill>
                  <a:srgbClr val="00B0F0"/>
                </a:solidFill>
              </a:rPr>
              <a:t>curvar</a:t>
            </a:r>
            <a:r>
              <a:rPr lang="en-US" sz="1500" dirty="0">
                <a:ln>
                  <a:solidFill>
                    <a:srgbClr val="00B0F0"/>
                  </a:solidFill>
                </a:ln>
                <a:solidFill>
                  <a:srgbClr val="00B0F0"/>
                </a:solidFill>
              </a:rPr>
              <a:t> for select * from </a:t>
            </a:r>
            <a:r>
              <a:rPr lang="en-US" sz="1500" dirty="0" err="1">
                <a:ln>
                  <a:solidFill>
                    <a:srgbClr val="00B0F0"/>
                  </a:solidFill>
                </a:ln>
                <a:solidFill>
                  <a:srgbClr val="00B0F0"/>
                </a:solidFill>
              </a:rPr>
              <a:t>dept</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loop</a:t>
            </a:r>
          </a:p>
          <a:p>
            <a:pPr marL="0" indent="0">
              <a:buNone/>
            </a:pPr>
            <a:r>
              <a:rPr lang="en-US" sz="1500" dirty="0">
                <a:ln>
                  <a:solidFill>
                    <a:srgbClr val="00B0F0"/>
                  </a:solidFill>
                </a:ln>
                <a:solidFill>
                  <a:srgbClr val="00B0F0"/>
                </a:solidFill>
              </a:rPr>
              <a:t>            		fetch </a:t>
            </a:r>
            <a:r>
              <a:rPr lang="en-US" sz="1500" dirty="0" err="1">
                <a:ln>
                  <a:solidFill>
                    <a:srgbClr val="00B0F0"/>
                  </a:solidFill>
                </a:ln>
                <a:solidFill>
                  <a:srgbClr val="00B0F0"/>
                </a:solidFill>
              </a:rPr>
              <a:t>curvar</a:t>
            </a:r>
            <a:r>
              <a:rPr lang="en-US" sz="1500" dirty="0">
                <a:ln>
                  <a:solidFill>
                    <a:srgbClr val="00B0F0"/>
                  </a:solidFill>
                </a:ln>
                <a:solidFill>
                  <a:srgbClr val="00B0F0"/>
                </a:solidFill>
              </a:rPr>
              <a:t> into </a:t>
            </a:r>
            <a:r>
              <a:rPr lang="en-US" sz="1500" dirty="0" err="1">
                <a:ln>
                  <a:solidFill>
                    <a:srgbClr val="00B0F0"/>
                  </a:solidFill>
                </a:ln>
                <a:solidFill>
                  <a:srgbClr val="00B0F0"/>
                </a:solidFill>
              </a:rPr>
              <a:t>v_emp</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exit when </a:t>
            </a:r>
            <a:r>
              <a:rPr lang="en-US" sz="1500" dirty="0" err="1">
                <a:ln>
                  <a:solidFill>
                    <a:srgbClr val="00B0F0"/>
                  </a:solidFill>
                </a:ln>
                <a:solidFill>
                  <a:srgbClr val="00B0F0"/>
                </a:solidFill>
              </a:rPr>
              <a:t>curvar%notfound</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a:t>
            </a:r>
            <a:r>
              <a:rPr lang="en-US" sz="1500" dirty="0" err="1">
                <a:ln>
                  <a:solidFill>
                    <a:srgbClr val="00B0F0"/>
                  </a:solidFill>
                </a:ln>
                <a:solidFill>
                  <a:srgbClr val="00B0F0"/>
                </a:solidFill>
              </a:rPr>
              <a:t>v_emp.empno</a:t>
            </a:r>
            <a:r>
              <a:rPr lang="en-US" sz="1500" dirty="0">
                <a:ln>
                  <a:solidFill>
                    <a:srgbClr val="00B0F0"/>
                  </a:solidFill>
                </a:ln>
                <a:solidFill>
                  <a:srgbClr val="00B0F0"/>
                </a:solidFill>
              </a:rPr>
              <a:t>||</a:t>
            </a:r>
            <a:r>
              <a:rPr lang="en-US" sz="1500" dirty="0" err="1">
                <a:ln>
                  <a:solidFill>
                    <a:srgbClr val="00B0F0"/>
                  </a:solidFill>
                </a:ln>
                <a:solidFill>
                  <a:srgbClr val="00B0F0"/>
                </a:solidFill>
              </a:rPr>
              <a:t>v_emp.ename</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end loop;</a:t>
            </a:r>
          </a:p>
          <a:p>
            <a:pPr marL="0" indent="0">
              <a:buNone/>
            </a:pPr>
            <a:r>
              <a:rPr lang="en-US" sz="1500" dirty="0">
                <a:ln>
                  <a:solidFill>
                    <a:srgbClr val="00B0F0"/>
                  </a:solidFill>
                </a:ln>
                <a:solidFill>
                  <a:srgbClr val="00B0F0"/>
                </a:solidFill>
              </a:rPr>
              <a:t> end;</a:t>
            </a:r>
          </a:p>
          <a:p>
            <a:pPr marL="0" indent="0">
              <a:buNone/>
            </a:pPr>
            <a:r>
              <a:rPr lang="en-US" sz="1500" dirty="0">
                <a:ln>
                  <a:solidFill>
                    <a:srgbClr val="00B0F0"/>
                  </a:solidFill>
                </a:ln>
                <a:solidFill>
                  <a:srgbClr val="00B0F0"/>
                </a:solidFill>
              </a:rPr>
              <a:t>/</a:t>
            </a:r>
          </a:p>
          <a:p>
            <a:pPr marL="0" indent="0">
              <a:buNone/>
            </a:pPr>
            <a:endParaRPr lang="en-US" sz="1500" dirty="0"/>
          </a:p>
          <a:p>
            <a:pPr marL="0" indent="0">
              <a:buNone/>
            </a:pPr>
            <a:r>
              <a:rPr lang="en-US" sz="1500" dirty="0"/>
              <a:t>PL/SQL: Return types of Result Set variables or query do not match</a:t>
            </a: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4.15: ROWTYPE_MISMATCH exception </a:t>
            </a:r>
            <a:br>
              <a:rPr lang="en-US" sz="1400" b="1" dirty="0">
                <a:latin typeface="Candara"/>
              </a:rPr>
            </a:br>
            <a:r>
              <a:rPr lang="en-US" dirty="0"/>
              <a:t>Fetching incompatible data from cursor variable</a:t>
            </a:r>
            <a:endParaRPr lang="en-US" sz="2400" b="1" dirty="0">
              <a:latin typeface="Candara"/>
            </a:endParaRPr>
          </a:p>
        </p:txBody>
      </p:sp>
    </p:spTree>
    <p:extLst>
      <p:ext uri="{BB962C8B-B14F-4D97-AF65-F5344CB8AC3E}">
        <p14:creationId xmlns:p14="http://schemas.microsoft.com/office/powerpoint/2010/main" val="2291054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92500" lnSpcReduction="10000"/>
          </a:bodyPr>
          <a:lstStyle/>
          <a:p>
            <a:endParaRPr lang="en-US" dirty="0"/>
          </a:p>
          <a:p>
            <a:r>
              <a:rPr lang="en-US" sz="2000" dirty="0"/>
              <a:t>The </a:t>
            </a:r>
            <a:r>
              <a:rPr lang="en-US" sz="2000" dirty="0" err="1"/>
              <a:t>rowtype_mismatch</a:t>
            </a:r>
            <a:r>
              <a:rPr lang="en-US" sz="2000" dirty="0"/>
              <a:t> error occurs at the time of FETCH, in case of </a:t>
            </a:r>
            <a:r>
              <a:rPr lang="en-US" sz="2000" dirty="0" err="1"/>
              <a:t>refcursors</a:t>
            </a:r>
            <a:r>
              <a:rPr lang="en-US" sz="2000" dirty="0"/>
              <a:t> as follows :</a:t>
            </a:r>
          </a:p>
          <a:p>
            <a:pPr marL="0" indent="0">
              <a:buNone/>
            </a:pPr>
            <a:r>
              <a:rPr lang="en-US" sz="1500" dirty="0">
                <a:ln>
                  <a:solidFill>
                    <a:srgbClr val="00B0F0"/>
                  </a:solidFill>
                </a:ln>
                <a:solidFill>
                  <a:srgbClr val="00B0F0"/>
                </a:solidFill>
              </a:rPr>
              <a:t>declare</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curvar</a:t>
            </a:r>
            <a:r>
              <a:rPr lang="en-US" sz="1500" dirty="0">
                <a:ln>
                  <a:solidFill>
                    <a:srgbClr val="00B0F0"/>
                  </a:solidFill>
                </a:ln>
                <a:solidFill>
                  <a:srgbClr val="00B0F0"/>
                </a:solidFill>
              </a:rPr>
              <a:t> </a:t>
            </a:r>
            <a:r>
              <a:rPr lang="en-US" sz="1500" dirty="0" err="1">
                <a:ln>
                  <a:solidFill>
                    <a:srgbClr val="00B0F0"/>
                  </a:solidFill>
                </a:ln>
                <a:solidFill>
                  <a:srgbClr val="00B0F0"/>
                </a:solidFill>
              </a:rPr>
              <a:t>sys_refcursor</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v_emp</a:t>
            </a:r>
            <a:r>
              <a:rPr lang="en-US" sz="1500" dirty="0">
                <a:ln>
                  <a:solidFill>
                    <a:srgbClr val="00B0F0"/>
                  </a:solidFill>
                </a:ln>
                <a:solidFill>
                  <a:srgbClr val="00B0F0"/>
                </a:solidFill>
              </a:rPr>
              <a:t> </a:t>
            </a:r>
            <a:r>
              <a:rPr lang="en-US" sz="1500" dirty="0" err="1">
                <a:ln>
                  <a:solidFill>
                    <a:srgbClr val="00B0F0"/>
                  </a:solidFill>
                </a:ln>
                <a:solidFill>
                  <a:srgbClr val="00B0F0"/>
                </a:solidFill>
              </a:rPr>
              <a:t>emp%rowtype</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v_dept</a:t>
            </a:r>
            <a:r>
              <a:rPr lang="en-US" sz="1500" dirty="0">
                <a:ln>
                  <a:solidFill>
                    <a:srgbClr val="00B0F0"/>
                  </a:solidFill>
                </a:ln>
                <a:solidFill>
                  <a:srgbClr val="00B0F0"/>
                </a:solidFill>
              </a:rPr>
              <a:t> </a:t>
            </a:r>
            <a:r>
              <a:rPr lang="en-US" sz="1500" dirty="0" err="1">
                <a:ln>
                  <a:solidFill>
                    <a:srgbClr val="00B0F0"/>
                  </a:solidFill>
                </a:ln>
                <a:solidFill>
                  <a:srgbClr val="00B0F0"/>
                </a:solidFill>
              </a:rPr>
              <a:t>dept%rowtype</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begin</a:t>
            </a:r>
          </a:p>
          <a:p>
            <a:pPr marL="0" indent="0">
              <a:buNone/>
            </a:pPr>
            <a:r>
              <a:rPr lang="en-US" sz="1500" dirty="0">
                <a:ln>
                  <a:solidFill>
                    <a:srgbClr val="00B0F0"/>
                  </a:solidFill>
                </a:ln>
                <a:solidFill>
                  <a:srgbClr val="00B0F0"/>
                </a:solidFill>
              </a:rPr>
              <a:t>    	open </a:t>
            </a:r>
            <a:r>
              <a:rPr lang="en-US" sz="1500" dirty="0" err="1">
                <a:ln>
                  <a:solidFill>
                    <a:srgbClr val="00B0F0"/>
                  </a:solidFill>
                </a:ln>
                <a:solidFill>
                  <a:srgbClr val="00B0F0"/>
                </a:solidFill>
              </a:rPr>
              <a:t>curvar</a:t>
            </a:r>
            <a:r>
              <a:rPr lang="en-US" sz="1500" dirty="0">
                <a:ln>
                  <a:solidFill>
                    <a:srgbClr val="00B0F0"/>
                  </a:solidFill>
                </a:ln>
                <a:solidFill>
                  <a:srgbClr val="00B0F0"/>
                </a:solidFill>
              </a:rPr>
              <a:t> for select * from </a:t>
            </a:r>
            <a:r>
              <a:rPr lang="en-US" sz="1500" dirty="0" err="1">
                <a:ln>
                  <a:solidFill>
                    <a:srgbClr val="00B0F0"/>
                  </a:solidFill>
                </a:ln>
                <a:solidFill>
                  <a:srgbClr val="00B0F0"/>
                </a:solidFill>
              </a:rPr>
              <a:t>dept</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loop</a:t>
            </a:r>
          </a:p>
          <a:p>
            <a:pPr marL="0" indent="0">
              <a:buNone/>
            </a:pPr>
            <a:r>
              <a:rPr lang="en-US" sz="1500" dirty="0">
                <a:ln>
                  <a:solidFill>
                    <a:srgbClr val="00B0F0"/>
                  </a:solidFill>
                </a:ln>
                <a:solidFill>
                  <a:srgbClr val="00B0F0"/>
                </a:solidFill>
              </a:rPr>
              <a:t>            		fetch </a:t>
            </a:r>
            <a:r>
              <a:rPr lang="en-US" sz="1500" dirty="0" err="1">
                <a:ln>
                  <a:solidFill>
                    <a:srgbClr val="00B0F0"/>
                  </a:solidFill>
                </a:ln>
                <a:solidFill>
                  <a:srgbClr val="00B0F0"/>
                </a:solidFill>
              </a:rPr>
              <a:t>curvar</a:t>
            </a:r>
            <a:r>
              <a:rPr lang="en-US" sz="1500" dirty="0">
                <a:ln>
                  <a:solidFill>
                    <a:srgbClr val="00B0F0"/>
                  </a:solidFill>
                </a:ln>
                <a:solidFill>
                  <a:srgbClr val="00B0F0"/>
                </a:solidFill>
              </a:rPr>
              <a:t> into </a:t>
            </a:r>
            <a:r>
              <a:rPr lang="en-US" sz="1500" dirty="0" err="1">
                <a:ln>
                  <a:solidFill>
                    <a:srgbClr val="00B0F0"/>
                  </a:solidFill>
                </a:ln>
                <a:solidFill>
                  <a:srgbClr val="00B0F0"/>
                </a:solidFill>
              </a:rPr>
              <a:t>v_emp</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exit when </a:t>
            </a:r>
            <a:r>
              <a:rPr lang="en-US" sz="1500" dirty="0" err="1">
                <a:ln>
                  <a:solidFill>
                    <a:srgbClr val="00B0F0"/>
                  </a:solidFill>
                </a:ln>
                <a:solidFill>
                  <a:srgbClr val="00B0F0"/>
                </a:solidFill>
              </a:rPr>
              <a:t>curvar%notfound</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a:t>
            </a:r>
            <a:r>
              <a:rPr lang="en-US" sz="1500" dirty="0" err="1">
                <a:ln>
                  <a:solidFill>
                    <a:srgbClr val="00B0F0"/>
                  </a:solidFill>
                </a:ln>
                <a:solidFill>
                  <a:srgbClr val="00B0F0"/>
                </a:solidFill>
              </a:rPr>
              <a:t>v_emp.empno</a:t>
            </a:r>
            <a:r>
              <a:rPr lang="en-US" sz="1500" dirty="0">
                <a:ln>
                  <a:solidFill>
                    <a:srgbClr val="00B0F0"/>
                  </a:solidFill>
                </a:ln>
                <a:solidFill>
                  <a:srgbClr val="00B0F0"/>
                </a:solidFill>
              </a:rPr>
              <a:t>||</a:t>
            </a:r>
            <a:r>
              <a:rPr lang="en-US" sz="1500" dirty="0" err="1">
                <a:ln>
                  <a:solidFill>
                    <a:srgbClr val="00B0F0"/>
                  </a:solidFill>
                </a:ln>
                <a:solidFill>
                  <a:srgbClr val="00B0F0"/>
                </a:solidFill>
              </a:rPr>
              <a:t>v_emp.ename</a:t>
            </a:r>
            <a:r>
              <a:rPr lang="en-US" sz="1500" dirty="0">
                <a:ln>
                  <a:solidFill>
                    <a:srgbClr val="00B0F0"/>
                  </a:solidFill>
                </a:ln>
                <a:solidFill>
                  <a:srgbClr val="00B0F0"/>
                </a:solidFill>
              </a:rPr>
              <a:t>);</a:t>
            </a:r>
          </a:p>
          <a:p>
            <a:pPr marL="0" indent="0">
              <a:buNone/>
            </a:pPr>
            <a:r>
              <a:rPr lang="en-US" sz="1500" dirty="0">
                <a:ln>
                  <a:solidFill>
                    <a:srgbClr val="00B0F0"/>
                  </a:solidFill>
                </a:ln>
                <a:solidFill>
                  <a:srgbClr val="00B0F0"/>
                </a:solidFill>
              </a:rPr>
              <a:t>    	end loop;</a:t>
            </a:r>
          </a:p>
          <a:p>
            <a:pPr marL="0" indent="0">
              <a:buNone/>
            </a:pPr>
            <a:r>
              <a:rPr lang="en-US" sz="2900" dirty="0">
                <a:ln>
                  <a:solidFill>
                    <a:srgbClr val="00B0F0"/>
                  </a:solidFill>
                </a:ln>
                <a:solidFill>
                  <a:srgbClr val="00B0F0"/>
                </a:solidFill>
              </a:rPr>
              <a:t> </a:t>
            </a: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4.15: ROWTYPE_MISMATCH exception </a:t>
            </a:r>
            <a:br>
              <a:rPr lang="en-US" sz="1400" b="1" dirty="0">
                <a:latin typeface="Candara"/>
              </a:rPr>
            </a:br>
            <a:r>
              <a:rPr lang="en-US" dirty="0"/>
              <a:t>Fetching incompatible data from cursor variable   ….</a:t>
            </a:r>
            <a:r>
              <a:rPr lang="en-US" dirty="0" err="1"/>
              <a:t>contd</a:t>
            </a:r>
            <a:endParaRPr lang="en-US" sz="2400" b="1" dirty="0">
              <a:latin typeface="Candara"/>
            </a:endParaRPr>
          </a:p>
        </p:txBody>
      </p:sp>
    </p:spTree>
    <p:extLst>
      <p:ext uri="{BB962C8B-B14F-4D97-AF65-F5344CB8AC3E}">
        <p14:creationId xmlns:p14="http://schemas.microsoft.com/office/powerpoint/2010/main" val="2261399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a:bodyPr>
          <a:lstStyle/>
          <a:p>
            <a:endParaRPr lang="en-US" dirty="0"/>
          </a:p>
          <a:p>
            <a:pPr marL="0" indent="0">
              <a:buNone/>
            </a:pPr>
            <a:r>
              <a:rPr lang="en-US" sz="1400" dirty="0">
                <a:ln>
                  <a:solidFill>
                    <a:srgbClr val="00B0F0"/>
                  </a:solidFill>
                </a:ln>
                <a:solidFill>
                  <a:srgbClr val="00B0F0"/>
                </a:solidFill>
              </a:rPr>
              <a:t>exception</a:t>
            </a:r>
          </a:p>
          <a:p>
            <a:pPr marL="0" indent="0">
              <a:buNone/>
            </a:pPr>
            <a:r>
              <a:rPr lang="en-US" sz="1400" dirty="0">
                <a:ln>
                  <a:solidFill>
                    <a:srgbClr val="00B0F0"/>
                  </a:solidFill>
                </a:ln>
                <a:solidFill>
                  <a:srgbClr val="00B0F0"/>
                </a:solidFill>
              </a:rPr>
              <a:t>    	when </a:t>
            </a:r>
            <a:r>
              <a:rPr lang="en-US" sz="1400" dirty="0" err="1">
                <a:ln>
                  <a:solidFill>
                    <a:srgbClr val="00B0F0"/>
                  </a:solidFill>
                </a:ln>
                <a:solidFill>
                  <a:srgbClr val="00B0F0"/>
                </a:solidFill>
              </a:rPr>
              <a:t>rowtype_mismatch</a:t>
            </a:r>
            <a:r>
              <a:rPr lang="en-US" sz="1400" dirty="0">
                <a:ln>
                  <a:solidFill>
                    <a:srgbClr val="00B0F0"/>
                  </a:solidFill>
                </a:ln>
                <a:solidFill>
                  <a:srgbClr val="00B0F0"/>
                </a:solidFill>
              </a:rPr>
              <a:t> then</a:t>
            </a:r>
          </a:p>
          <a:p>
            <a:pPr marL="0" indent="0">
              <a:buNone/>
            </a:pPr>
            <a:r>
              <a:rPr lang="en-US" sz="1400" dirty="0">
                <a:ln>
                  <a:solidFill>
                    <a:srgbClr val="00B0F0"/>
                  </a:solidFill>
                </a:ln>
                <a:solidFill>
                  <a:srgbClr val="00B0F0"/>
                </a:solidFill>
              </a:rPr>
              <a:t>   	-- open </a:t>
            </a:r>
            <a:r>
              <a:rPr lang="en-US" sz="1400" dirty="0" err="1">
                <a:ln>
                  <a:solidFill>
                    <a:srgbClr val="00B0F0"/>
                  </a:solidFill>
                </a:ln>
                <a:solidFill>
                  <a:srgbClr val="00B0F0"/>
                </a:solidFill>
              </a:rPr>
              <a:t>curvar</a:t>
            </a:r>
            <a:r>
              <a:rPr lang="en-US" sz="1400" dirty="0">
                <a:ln>
                  <a:solidFill>
                    <a:srgbClr val="00B0F0"/>
                  </a:solidFill>
                </a:ln>
                <a:solidFill>
                  <a:srgbClr val="00B0F0"/>
                </a:solidFill>
              </a:rPr>
              <a:t> for select * from </a:t>
            </a:r>
            <a:r>
              <a:rPr lang="en-US" sz="1400" dirty="0" err="1">
                <a:ln>
                  <a:solidFill>
                    <a:srgbClr val="00B0F0"/>
                  </a:solidFill>
                </a:ln>
                <a:solidFill>
                  <a:srgbClr val="00B0F0"/>
                </a:solidFill>
              </a:rPr>
              <a:t>dept</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('hi');</a:t>
            </a:r>
          </a:p>
          <a:p>
            <a:pPr marL="0" indent="0">
              <a:buNone/>
            </a:pPr>
            <a:r>
              <a:rPr lang="en-US" sz="1400" dirty="0">
                <a:ln>
                  <a:solidFill>
                    <a:srgbClr val="00B0F0"/>
                  </a:solidFill>
                </a:ln>
                <a:solidFill>
                  <a:srgbClr val="00B0F0"/>
                </a:solidFill>
              </a:rPr>
              <a:t>	loop</a:t>
            </a:r>
          </a:p>
          <a:p>
            <a:pPr marL="0" indent="0">
              <a:buNone/>
            </a:pPr>
            <a:r>
              <a:rPr lang="en-US" sz="1400" dirty="0">
                <a:ln>
                  <a:solidFill>
                    <a:srgbClr val="00B0F0"/>
                  </a:solidFill>
                </a:ln>
                <a:solidFill>
                  <a:srgbClr val="00B0F0"/>
                </a:solidFill>
              </a:rPr>
              <a:t>            		fetch </a:t>
            </a:r>
            <a:r>
              <a:rPr lang="en-US" sz="1400" dirty="0" err="1">
                <a:ln>
                  <a:solidFill>
                    <a:srgbClr val="00B0F0"/>
                  </a:solidFill>
                </a:ln>
                <a:solidFill>
                  <a:srgbClr val="00B0F0"/>
                </a:solidFill>
              </a:rPr>
              <a:t>curvar</a:t>
            </a:r>
            <a:r>
              <a:rPr lang="en-US" sz="1400" dirty="0">
                <a:ln>
                  <a:solidFill>
                    <a:srgbClr val="00B0F0"/>
                  </a:solidFill>
                </a:ln>
                <a:solidFill>
                  <a:srgbClr val="00B0F0"/>
                </a:solidFill>
              </a:rPr>
              <a:t> into </a:t>
            </a:r>
            <a:r>
              <a:rPr lang="en-US" sz="1400" dirty="0" err="1">
                <a:ln>
                  <a:solidFill>
                    <a:srgbClr val="00B0F0"/>
                  </a:solidFill>
                </a:ln>
                <a:solidFill>
                  <a:srgbClr val="00B0F0"/>
                </a:solidFill>
              </a:rPr>
              <a:t>v_dept</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exit when </a:t>
            </a:r>
            <a:r>
              <a:rPr lang="en-US" sz="1400" dirty="0" err="1">
                <a:ln>
                  <a:solidFill>
                    <a:srgbClr val="00B0F0"/>
                  </a:solidFill>
                </a:ln>
                <a:solidFill>
                  <a:srgbClr val="00B0F0"/>
                </a:solidFill>
              </a:rPr>
              <a:t>curvar%notfound</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dbms_output.put_line</a:t>
            </a:r>
            <a:r>
              <a:rPr lang="en-US" sz="1400" dirty="0">
                <a:ln>
                  <a:solidFill>
                    <a:srgbClr val="00B0F0"/>
                  </a:solidFill>
                </a:ln>
                <a:solidFill>
                  <a:srgbClr val="00B0F0"/>
                </a:solidFill>
              </a:rPr>
              <a:t>(</a:t>
            </a:r>
            <a:r>
              <a:rPr lang="en-US" sz="1400" dirty="0" err="1">
                <a:ln>
                  <a:solidFill>
                    <a:srgbClr val="00B0F0"/>
                  </a:solidFill>
                </a:ln>
                <a:solidFill>
                  <a:srgbClr val="00B0F0"/>
                </a:solidFill>
              </a:rPr>
              <a:t>v_dept.deptno</a:t>
            </a:r>
            <a:r>
              <a:rPr lang="en-US" sz="1400" dirty="0">
                <a:ln>
                  <a:solidFill>
                    <a:srgbClr val="00B0F0"/>
                  </a:solidFill>
                </a:ln>
                <a:solidFill>
                  <a:srgbClr val="00B0F0"/>
                </a:solidFill>
              </a:rPr>
              <a:t>||</a:t>
            </a:r>
            <a:r>
              <a:rPr lang="en-US" sz="1400" dirty="0" err="1">
                <a:ln>
                  <a:solidFill>
                    <a:srgbClr val="00B0F0"/>
                  </a:solidFill>
                </a:ln>
                <a:solidFill>
                  <a:srgbClr val="00B0F0"/>
                </a:solidFill>
              </a:rPr>
              <a:t>v_dept.dname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end loop;</a:t>
            </a:r>
          </a:p>
          <a:p>
            <a:pPr marL="0" indent="0">
              <a:buNone/>
            </a:pPr>
            <a:r>
              <a:rPr lang="en-US" sz="1400" dirty="0">
                <a:ln>
                  <a:solidFill>
                    <a:srgbClr val="00B0F0"/>
                  </a:solidFill>
                </a:ln>
                <a:solidFill>
                  <a:srgbClr val="00B0F0"/>
                </a:solidFill>
              </a:rPr>
              <a:t> end;</a:t>
            </a:r>
          </a:p>
          <a:p>
            <a:pPr marL="0" indent="0">
              <a:buNone/>
            </a:pPr>
            <a:r>
              <a:rPr lang="en-US" sz="1400" dirty="0">
                <a:ln>
                  <a:solidFill>
                    <a:srgbClr val="00B0F0"/>
                  </a:solidFill>
                </a:ln>
                <a:solidFill>
                  <a:srgbClr val="00B0F0"/>
                </a:solidFill>
              </a:rPr>
              <a:t>/</a:t>
            </a: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a:p>
            <a:pPr marL="0" indent="0">
              <a:buNone/>
            </a:pPr>
            <a:endParaRPr lang="en-US" sz="25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4.15: ROWTYPE_MISMATCH exception </a:t>
            </a:r>
            <a:br>
              <a:rPr lang="en-US" sz="1400" b="1" dirty="0">
                <a:latin typeface="Candara"/>
              </a:rPr>
            </a:br>
            <a:r>
              <a:rPr lang="en-US" dirty="0"/>
              <a:t>Fetching incompatible data from cursor variable   ….</a:t>
            </a:r>
            <a:r>
              <a:rPr lang="en-US" dirty="0" err="1"/>
              <a:t>contd</a:t>
            </a:r>
            <a:endParaRPr lang="en-US" sz="2400" b="1" dirty="0">
              <a:latin typeface="Candara"/>
            </a:endParaRPr>
          </a:p>
        </p:txBody>
      </p:sp>
    </p:spTree>
    <p:extLst>
      <p:ext uri="{BB962C8B-B14F-4D97-AF65-F5344CB8AC3E}">
        <p14:creationId xmlns:p14="http://schemas.microsoft.com/office/powerpoint/2010/main" val="7465066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92500" lnSpcReduction="10000"/>
          </a:bodyPr>
          <a:lstStyle/>
          <a:p>
            <a:endParaRPr lang="en-US" sz="1400" dirty="0"/>
          </a:p>
          <a:p>
            <a:r>
              <a:rPr lang="en-US" sz="1400" dirty="0"/>
              <a:t>SQL * PLUS supports host-variable to hold REF CURSOR pointers</a:t>
            </a:r>
          </a:p>
          <a:p>
            <a:pPr marL="0" indent="0">
              <a:buNone/>
            </a:pP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CREATE or Replace PACKAGE </a:t>
            </a:r>
            <a:r>
              <a:rPr lang="en-US" sz="1400" dirty="0" err="1">
                <a:ln>
                  <a:solidFill>
                    <a:srgbClr val="00B0F0"/>
                  </a:solidFill>
                </a:ln>
                <a:solidFill>
                  <a:srgbClr val="00B0F0"/>
                </a:solidFill>
              </a:rPr>
              <a:t>emp_data</a:t>
            </a:r>
            <a:r>
              <a:rPr lang="en-US" sz="1400" dirty="0">
                <a:ln>
                  <a:solidFill>
                    <a:srgbClr val="00B0F0"/>
                  </a:solidFill>
                </a:ln>
                <a:solidFill>
                  <a:srgbClr val="00B0F0"/>
                </a:solidFill>
              </a:rPr>
              <a:t> AS</a:t>
            </a:r>
          </a:p>
          <a:p>
            <a:pPr marL="0" indent="0">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EmpRecTyp</a:t>
            </a:r>
            <a:r>
              <a:rPr lang="en-US" sz="1400" dirty="0">
                <a:ln>
                  <a:solidFill>
                    <a:srgbClr val="00B0F0"/>
                  </a:solidFill>
                </a:ln>
                <a:solidFill>
                  <a:srgbClr val="00B0F0"/>
                </a:solidFill>
              </a:rPr>
              <a:t> </a:t>
            </a:r>
            <a:r>
              <a:rPr lang="en-US" sz="1400" dirty="0" err="1">
                <a:ln>
                  <a:solidFill>
                    <a:srgbClr val="00B0F0"/>
                  </a:solidFill>
                </a:ln>
                <a:solidFill>
                  <a:srgbClr val="00B0F0"/>
                </a:solidFill>
              </a:rPr>
              <a:t>emp%rowtype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TYPE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IS REF CURSOR RETURN </a:t>
            </a:r>
            <a:r>
              <a:rPr lang="en-US" sz="1400" dirty="0" err="1">
                <a:ln>
                  <a:solidFill>
                    <a:srgbClr val="00B0F0"/>
                  </a:solidFill>
                </a:ln>
                <a:solidFill>
                  <a:srgbClr val="00B0F0"/>
                </a:solidFill>
              </a:rPr>
              <a:t>EmpRecTyp%type</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PROCEDURE </a:t>
            </a:r>
            <a:r>
              <a:rPr lang="en-US" sz="1400" dirty="0" err="1">
                <a:ln>
                  <a:solidFill>
                    <a:srgbClr val="00B0F0"/>
                  </a:solidFill>
                </a:ln>
                <a:solidFill>
                  <a:srgbClr val="00B0F0"/>
                </a:solidFill>
              </a:rPr>
              <a:t>get_staff</a:t>
            </a:r>
            <a:r>
              <a:rPr lang="en-US" sz="1400" dirty="0">
                <a:ln>
                  <a:solidFill>
                    <a:srgbClr val="00B0F0"/>
                  </a:solidFill>
                </a:ln>
                <a:solidFill>
                  <a:srgbClr val="00B0F0"/>
                </a:solidFill>
              </a:rPr>
              <a:t> (</a:t>
            </a:r>
            <a:r>
              <a:rPr lang="en-US" sz="1400" dirty="0" err="1">
                <a:ln>
                  <a:solidFill>
                    <a:srgbClr val="00B0F0"/>
                  </a:solidFill>
                </a:ln>
                <a:solidFill>
                  <a:srgbClr val="00B0F0"/>
                </a:solidFill>
              </a:rPr>
              <a:t>dept_no</a:t>
            </a:r>
            <a:r>
              <a:rPr lang="en-US" sz="1400" dirty="0">
                <a:ln>
                  <a:solidFill>
                    <a:srgbClr val="00B0F0"/>
                  </a:solidFill>
                </a:ln>
                <a:solidFill>
                  <a:srgbClr val="00B0F0"/>
                </a:solidFill>
              </a:rPr>
              <a:t> IN NUMBER,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IN OUT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p>
          <a:p>
            <a:pPr marL="0" indent="0">
              <a:buNone/>
            </a:pPr>
            <a:r>
              <a:rPr lang="en-US" sz="1400" dirty="0">
                <a:ln>
                  <a:solidFill>
                    <a:srgbClr val="00B0F0"/>
                  </a:solidFill>
                </a:ln>
                <a:solidFill>
                  <a:srgbClr val="00B0F0"/>
                </a:solidFill>
              </a:rPr>
              <a:t>CREATE or replace PACKAGE BODY </a:t>
            </a:r>
            <a:r>
              <a:rPr lang="en-US" sz="1400" dirty="0" err="1">
                <a:ln>
                  <a:solidFill>
                    <a:srgbClr val="00B0F0"/>
                  </a:solidFill>
                </a:ln>
                <a:solidFill>
                  <a:srgbClr val="00B0F0"/>
                </a:solidFill>
              </a:rPr>
              <a:t>emp_data</a:t>
            </a:r>
            <a:r>
              <a:rPr lang="en-US" sz="1400" dirty="0">
                <a:ln>
                  <a:solidFill>
                    <a:srgbClr val="00B0F0"/>
                  </a:solidFill>
                </a:ln>
                <a:solidFill>
                  <a:srgbClr val="00B0F0"/>
                </a:solidFill>
              </a:rPr>
              <a:t> AS</a:t>
            </a:r>
          </a:p>
          <a:p>
            <a:pPr marL="0" indent="0">
              <a:buNone/>
            </a:pPr>
            <a:r>
              <a:rPr lang="en-US" sz="1400" dirty="0">
                <a:ln>
                  <a:solidFill>
                    <a:srgbClr val="00B0F0"/>
                  </a:solidFill>
                </a:ln>
                <a:solidFill>
                  <a:srgbClr val="00B0F0"/>
                </a:solidFill>
              </a:rPr>
              <a:t>	PROCEDURE </a:t>
            </a:r>
            <a:r>
              <a:rPr lang="en-US" sz="1400" dirty="0" err="1">
                <a:ln>
                  <a:solidFill>
                    <a:srgbClr val="00B0F0"/>
                  </a:solidFill>
                </a:ln>
                <a:solidFill>
                  <a:srgbClr val="00B0F0"/>
                </a:solidFill>
              </a:rPr>
              <a:t>get_staff</a:t>
            </a:r>
            <a:r>
              <a:rPr lang="en-US" sz="1400" dirty="0">
                <a:ln>
                  <a:solidFill>
                    <a:srgbClr val="00B0F0"/>
                  </a:solidFill>
                </a:ln>
                <a:solidFill>
                  <a:srgbClr val="00B0F0"/>
                </a:solidFill>
              </a:rPr>
              <a:t>(</a:t>
            </a:r>
            <a:r>
              <a:rPr lang="en-US" sz="1400" dirty="0" err="1">
                <a:ln>
                  <a:solidFill>
                    <a:srgbClr val="00B0F0"/>
                  </a:solidFill>
                </a:ln>
                <a:solidFill>
                  <a:srgbClr val="00B0F0"/>
                </a:solidFill>
              </a:rPr>
              <a:t>dept_no</a:t>
            </a:r>
            <a:r>
              <a:rPr lang="en-US" sz="1400" dirty="0">
                <a:ln>
                  <a:solidFill>
                    <a:srgbClr val="00B0F0"/>
                  </a:solidFill>
                </a:ln>
                <a:solidFill>
                  <a:srgbClr val="00B0F0"/>
                </a:solidFill>
              </a:rPr>
              <a:t> IN NUMBER,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IN OUT </a:t>
            </a:r>
            <a:r>
              <a:rPr lang="en-US" sz="1400" dirty="0" err="1">
                <a:ln>
                  <a:solidFill>
                    <a:srgbClr val="00B0F0"/>
                  </a:solidFill>
                </a:ln>
                <a:solidFill>
                  <a:srgbClr val="00B0F0"/>
                </a:solidFill>
              </a:rPr>
              <a:t>EmpCurTyp</a:t>
            </a:r>
            <a:r>
              <a:rPr lang="en-US" sz="1400" dirty="0">
                <a:ln>
                  <a:solidFill>
                    <a:srgbClr val="00B0F0"/>
                  </a:solidFill>
                </a:ln>
                <a:solidFill>
                  <a:srgbClr val="00B0F0"/>
                </a:solidFill>
              </a:rPr>
              <a:t>) IS</a:t>
            </a:r>
          </a:p>
          <a:p>
            <a:pPr marL="0" indent="0">
              <a:buNone/>
            </a:pPr>
            <a:r>
              <a:rPr lang="en-US" sz="1400" dirty="0">
                <a:ln>
                  <a:solidFill>
                    <a:srgbClr val="00B0F0"/>
                  </a:solidFill>
                </a:ln>
                <a:solidFill>
                  <a:srgbClr val="00B0F0"/>
                </a:solidFill>
              </a:rPr>
              <a:t>	BEGIN</a:t>
            </a:r>
          </a:p>
          <a:p>
            <a:pPr marL="0" indent="0">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FOR SELECT * FROM emp where </a:t>
            </a:r>
            <a:r>
              <a:rPr lang="en-US" sz="1400" dirty="0" err="1">
                <a:ln>
                  <a:solidFill>
                    <a:srgbClr val="00B0F0"/>
                  </a:solidFill>
                </a:ln>
                <a:solidFill>
                  <a:srgbClr val="00B0F0"/>
                </a:solidFill>
              </a:rPr>
              <a:t>deptno</a:t>
            </a:r>
            <a:r>
              <a:rPr lang="en-US" sz="1400" dirty="0">
                <a:ln>
                  <a:solidFill>
                    <a:srgbClr val="00B0F0"/>
                  </a:solidFill>
                </a:ln>
                <a:solidFill>
                  <a:srgbClr val="00B0F0"/>
                </a:solidFill>
              </a:rPr>
              <a:t>=</a:t>
            </a:r>
            <a:r>
              <a:rPr lang="en-US" sz="1400" dirty="0" err="1">
                <a:ln>
                  <a:solidFill>
                    <a:srgbClr val="00B0F0"/>
                  </a:solidFill>
                </a:ln>
                <a:solidFill>
                  <a:srgbClr val="00B0F0"/>
                </a:solidFill>
              </a:rPr>
              <a:t>dept_no</a:t>
            </a: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		ORDER BY </a:t>
            </a:r>
            <a:r>
              <a:rPr lang="en-US" sz="1400" dirty="0" err="1">
                <a:ln>
                  <a:solidFill>
                    <a:srgbClr val="00B0F0"/>
                  </a:solidFill>
                </a:ln>
                <a:solidFill>
                  <a:srgbClr val="00B0F0"/>
                </a:solidFill>
              </a:rPr>
              <a:t>empno</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END;</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4.16: SQL PLUS datatype REFCURSOR </a:t>
            </a:r>
            <a:br>
              <a:rPr lang="en-US" sz="1400" b="1" dirty="0">
                <a:latin typeface="Candara"/>
              </a:rPr>
            </a:br>
            <a:r>
              <a:rPr lang="en-US" dirty="0"/>
              <a:t>Host variable for REF CURSOR</a:t>
            </a:r>
            <a:endParaRPr lang="en-US" sz="2400" b="1" dirty="0">
              <a:latin typeface="Candara"/>
            </a:endParaRPr>
          </a:p>
        </p:txBody>
      </p:sp>
    </p:spTree>
    <p:extLst>
      <p:ext uri="{BB962C8B-B14F-4D97-AF65-F5344CB8AC3E}">
        <p14:creationId xmlns:p14="http://schemas.microsoft.com/office/powerpoint/2010/main" val="29952039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a:bodyPr>
          <a:lstStyle/>
          <a:p>
            <a:endParaRPr lang="en-US" sz="1400" dirty="0"/>
          </a:p>
          <a:p>
            <a:r>
              <a:rPr lang="en-US" sz="1400" dirty="0"/>
              <a:t>If AUTOPRINT is OFF, the  use the </a:t>
            </a:r>
            <a:r>
              <a:rPr lang="en-US" sz="1400" dirty="0" err="1"/>
              <a:t>sql</a:t>
            </a:r>
            <a:r>
              <a:rPr lang="en-US" sz="1400" dirty="0"/>
              <a:t> plus command PRINT variable to see the record-set as follows : </a:t>
            </a:r>
          </a:p>
          <a:p>
            <a:pPr marL="0" indent="0">
              <a:buNone/>
            </a:pPr>
            <a:endParaRPr lang="en-US" sz="1400" dirty="0">
              <a:ln>
                <a:solidFill>
                  <a:srgbClr val="00B0F0"/>
                </a:solidFill>
              </a:ln>
              <a:solidFill>
                <a:srgbClr val="00B0F0"/>
              </a:solidFill>
            </a:endParaRPr>
          </a:p>
          <a:p>
            <a:pPr marL="0" indent="0">
              <a:buNone/>
            </a:pPr>
            <a:r>
              <a:rPr lang="en-US" sz="1400" dirty="0">
                <a:ln>
                  <a:solidFill>
                    <a:srgbClr val="00B0F0"/>
                  </a:solidFill>
                </a:ln>
                <a:solidFill>
                  <a:srgbClr val="00B0F0"/>
                </a:solidFill>
              </a:rPr>
              <a:t>VARIABLE cv REFCURSOR;</a:t>
            </a:r>
          </a:p>
          <a:p>
            <a:pPr marL="0" indent="0">
              <a:buNone/>
            </a:pPr>
            <a:r>
              <a:rPr lang="en-US" sz="1400" dirty="0">
                <a:ln>
                  <a:solidFill>
                    <a:srgbClr val="00B0F0"/>
                  </a:solidFill>
                </a:ln>
                <a:solidFill>
                  <a:srgbClr val="00B0F0"/>
                </a:solidFill>
              </a:rPr>
              <a:t>EXECUTE </a:t>
            </a:r>
            <a:r>
              <a:rPr lang="en-US" sz="1400" dirty="0" err="1">
                <a:ln>
                  <a:solidFill>
                    <a:srgbClr val="00B0F0"/>
                  </a:solidFill>
                </a:ln>
                <a:solidFill>
                  <a:srgbClr val="00B0F0"/>
                </a:solidFill>
              </a:rPr>
              <a:t>emp_data.get_staff</a:t>
            </a:r>
            <a:r>
              <a:rPr lang="en-US" sz="1400" dirty="0">
                <a:ln>
                  <a:solidFill>
                    <a:srgbClr val="00B0F0"/>
                  </a:solidFill>
                </a:ln>
                <a:solidFill>
                  <a:srgbClr val="00B0F0"/>
                </a:solidFill>
              </a:rPr>
              <a:t>(30, :cv)</a:t>
            </a:r>
          </a:p>
          <a:p>
            <a:pPr marL="0" indent="0">
              <a:buNone/>
            </a:pPr>
            <a:r>
              <a:rPr lang="en-US" sz="1400" dirty="0">
                <a:ln>
                  <a:solidFill>
                    <a:srgbClr val="00B0F0"/>
                  </a:solidFill>
                </a:ln>
                <a:solidFill>
                  <a:srgbClr val="00B0F0"/>
                </a:solidFill>
              </a:rPr>
              <a:t>PRINT cv or print</a:t>
            </a:r>
          </a:p>
          <a:p>
            <a:pPr marL="0" indent="0">
              <a:buNone/>
            </a:pPr>
            <a:endParaRPr lang="en-US" sz="1400" dirty="0">
              <a:ln>
                <a:solidFill>
                  <a:srgbClr val="00B0F0"/>
                </a:solidFill>
              </a:ln>
              <a:solidFill>
                <a:srgbClr val="00B0F0"/>
              </a:solidFill>
            </a:endParaRPr>
          </a:p>
          <a:p>
            <a:r>
              <a:rPr lang="en-US" sz="1400" dirty="0"/>
              <a:t>If AUTOPRINT is ON, the record-set is shown immediately on executing the above packaged-procedure :</a:t>
            </a:r>
          </a:p>
          <a:p>
            <a:pPr marL="0" indent="0">
              <a:buNone/>
            </a:pPr>
            <a:r>
              <a:rPr lang="en-US" sz="1400" dirty="0">
                <a:ln>
                  <a:solidFill>
                    <a:srgbClr val="00B0F0"/>
                  </a:solidFill>
                </a:ln>
                <a:solidFill>
                  <a:srgbClr val="00B0F0"/>
                </a:solidFill>
              </a:rPr>
              <a:t>VARIABLE cv REFCURSOR;</a:t>
            </a:r>
          </a:p>
          <a:p>
            <a:pPr marL="0" indent="0">
              <a:buNone/>
            </a:pPr>
            <a:r>
              <a:rPr lang="en-US" sz="1400" dirty="0">
                <a:ln>
                  <a:solidFill>
                    <a:srgbClr val="00B0F0"/>
                  </a:solidFill>
                </a:ln>
                <a:solidFill>
                  <a:srgbClr val="00B0F0"/>
                </a:solidFill>
              </a:rPr>
              <a:t>EXECUTE </a:t>
            </a:r>
            <a:r>
              <a:rPr lang="en-US" sz="1400" dirty="0" err="1">
                <a:ln>
                  <a:solidFill>
                    <a:srgbClr val="00B0F0"/>
                  </a:solidFill>
                </a:ln>
                <a:solidFill>
                  <a:srgbClr val="00B0F0"/>
                </a:solidFill>
              </a:rPr>
              <a:t>emp_data.get_staff</a:t>
            </a:r>
            <a:r>
              <a:rPr lang="en-US" sz="1400" dirty="0">
                <a:ln>
                  <a:solidFill>
                    <a:srgbClr val="00B0F0"/>
                  </a:solidFill>
                </a:ln>
                <a:solidFill>
                  <a:srgbClr val="00B0F0"/>
                </a:solidFill>
              </a:rPr>
              <a:t>(30, :cv)</a:t>
            </a:r>
          </a:p>
          <a:p>
            <a:pPr marL="0" indent="0">
              <a:buNone/>
            </a:pPr>
            <a:endParaRPr lang="en-US" sz="1400" dirty="0">
              <a:ln>
                <a:solidFill>
                  <a:srgbClr val="00B0F0"/>
                </a:solidFill>
              </a:ln>
              <a:solidFill>
                <a:srgbClr val="00B0F0"/>
              </a:solidFill>
            </a:endParaRPr>
          </a:p>
          <a:p>
            <a:pPr marL="0" indent="0">
              <a:buNone/>
            </a:pPr>
            <a:endParaRPr lang="en-US" sz="1400" dirty="0">
              <a:ln>
                <a:solidFill>
                  <a:srgbClr val="00B0F0"/>
                </a:solidFill>
              </a:ln>
              <a:solidFill>
                <a:srgbClr val="00B0F0"/>
              </a:solidFill>
            </a:endParaRPr>
          </a:p>
          <a:p>
            <a:pPr marL="0" indent="0">
              <a:buNone/>
            </a:pPr>
            <a:endParaRPr lang="en-US" sz="1400" dirty="0"/>
          </a:p>
          <a:p>
            <a:pPr marL="0" indent="0">
              <a:buNone/>
            </a:pP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4.16: SQL PLUS datatype REFCURSOR </a:t>
            </a:r>
            <a:br>
              <a:rPr lang="en-US" sz="1400" b="1" dirty="0">
                <a:latin typeface="Candara"/>
              </a:rPr>
            </a:br>
            <a:r>
              <a:rPr lang="en-US" dirty="0"/>
              <a:t>Host variable for REF CURSOR				…..</a:t>
            </a:r>
            <a:r>
              <a:rPr lang="en-US" dirty="0" err="1"/>
              <a:t>contd</a:t>
            </a:r>
            <a:endParaRPr lang="en-US" sz="2400" b="1" dirty="0">
              <a:latin typeface="Candara"/>
            </a:endParaRPr>
          </a:p>
        </p:txBody>
      </p:sp>
    </p:spTree>
    <p:extLst>
      <p:ext uri="{BB962C8B-B14F-4D97-AF65-F5344CB8AC3E}">
        <p14:creationId xmlns:p14="http://schemas.microsoft.com/office/powerpoint/2010/main" val="956422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673768"/>
            <a:ext cx="8940283" cy="4066673"/>
          </a:xfrm>
        </p:spPr>
        <p:txBody>
          <a:bodyPr>
            <a:normAutofit fontScale="92500" lnSpcReduction="10000"/>
          </a:bodyPr>
          <a:lstStyle/>
          <a:p>
            <a:endParaRPr lang="en-US" sz="1400" dirty="0"/>
          </a:p>
          <a:p>
            <a:pPr algn="just"/>
            <a:r>
              <a:rPr lang="en-US" sz="1400" dirty="0"/>
              <a:t>If </a:t>
            </a:r>
            <a:r>
              <a:rPr lang="en-US" sz="1400" dirty="0" err="1"/>
              <a:t>autoprint</a:t>
            </a:r>
            <a:r>
              <a:rPr lang="en-US" sz="1400" dirty="0"/>
              <a:t> is on, execution of the following block will print contents of all the cursor variables. And all the cursor pointers will reach their respective EOFs.</a:t>
            </a:r>
          </a:p>
          <a:p>
            <a:pPr algn="just"/>
            <a:endParaRPr lang="en-US" sz="1400" dirty="0"/>
          </a:p>
          <a:p>
            <a:pPr marL="0" indent="0">
              <a:buNone/>
            </a:pPr>
            <a:r>
              <a:rPr lang="en-US" sz="1400" dirty="0">
                <a:ln>
                  <a:solidFill>
                    <a:srgbClr val="00B0F0"/>
                  </a:solidFill>
                </a:ln>
                <a:solidFill>
                  <a:srgbClr val="00B0F0"/>
                </a:solidFill>
              </a:rPr>
              <a:t>Variable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a:t>
            </a:r>
            <a:r>
              <a:rPr lang="en-US" sz="1400" dirty="0" err="1">
                <a:ln>
                  <a:solidFill>
                    <a:srgbClr val="00B0F0"/>
                  </a:solidFill>
                </a:ln>
                <a:solidFill>
                  <a:srgbClr val="00B0F0"/>
                </a:solidFill>
              </a:rPr>
              <a:t>refcursor</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Variable </a:t>
            </a:r>
            <a:r>
              <a:rPr lang="en-US" sz="1400" dirty="0" err="1">
                <a:ln>
                  <a:solidFill>
                    <a:srgbClr val="00B0F0"/>
                  </a:solidFill>
                </a:ln>
                <a:solidFill>
                  <a:srgbClr val="00B0F0"/>
                </a:solidFill>
              </a:rPr>
              <a:t>dept_cv</a:t>
            </a:r>
            <a:r>
              <a:rPr lang="en-US" sz="1400" dirty="0">
                <a:ln>
                  <a:solidFill>
                    <a:srgbClr val="00B0F0"/>
                  </a:solidFill>
                </a:ln>
                <a:solidFill>
                  <a:srgbClr val="00B0F0"/>
                </a:solidFill>
              </a:rPr>
              <a:t> </a:t>
            </a:r>
            <a:r>
              <a:rPr lang="en-US" sz="1400" dirty="0" err="1">
                <a:ln>
                  <a:solidFill>
                    <a:srgbClr val="00B0F0"/>
                  </a:solidFill>
                </a:ln>
                <a:solidFill>
                  <a:srgbClr val="00B0F0"/>
                </a:solidFill>
              </a:rPr>
              <a:t>refcursor</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a:t>
            </a:r>
          </a:p>
          <a:p>
            <a:pPr marL="0" indent="0">
              <a:buNone/>
            </a:pPr>
            <a:r>
              <a:rPr lang="en-US" sz="1400" dirty="0">
                <a:ln>
                  <a:solidFill>
                    <a:srgbClr val="00B0F0"/>
                  </a:solidFill>
                </a:ln>
                <a:solidFill>
                  <a:srgbClr val="00B0F0"/>
                </a:solidFill>
              </a:rPr>
              <a:t>BEGIN</a:t>
            </a:r>
          </a:p>
          <a:p>
            <a:pPr marL="0" indent="0">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emp_cv</a:t>
            </a:r>
            <a:r>
              <a:rPr lang="en-US" sz="1400" dirty="0">
                <a:ln>
                  <a:solidFill>
                    <a:srgbClr val="00B0F0"/>
                  </a:solidFill>
                </a:ln>
                <a:solidFill>
                  <a:srgbClr val="00B0F0"/>
                </a:solidFill>
              </a:rPr>
              <a:t> FOR SELECT * FROM </a:t>
            </a:r>
            <a:r>
              <a:rPr lang="en-US" sz="1400" dirty="0" err="1">
                <a:ln>
                  <a:solidFill>
                    <a:srgbClr val="00B0F0"/>
                  </a:solidFill>
                </a:ln>
                <a:solidFill>
                  <a:srgbClr val="00B0F0"/>
                </a:solidFill>
              </a:rPr>
              <a:t>emp</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	OPEN :</a:t>
            </a:r>
            <a:r>
              <a:rPr lang="en-US" sz="1400" dirty="0" err="1">
                <a:ln>
                  <a:solidFill>
                    <a:srgbClr val="00B0F0"/>
                  </a:solidFill>
                </a:ln>
                <a:solidFill>
                  <a:srgbClr val="00B0F0"/>
                </a:solidFill>
              </a:rPr>
              <a:t>dept_cv</a:t>
            </a:r>
            <a:r>
              <a:rPr lang="en-US" sz="1400" dirty="0">
                <a:ln>
                  <a:solidFill>
                    <a:srgbClr val="00B0F0"/>
                  </a:solidFill>
                </a:ln>
                <a:solidFill>
                  <a:srgbClr val="00B0F0"/>
                </a:solidFill>
              </a:rPr>
              <a:t> FOR SELECT * FROM </a:t>
            </a:r>
            <a:r>
              <a:rPr lang="en-US" sz="1400" dirty="0" err="1">
                <a:ln>
                  <a:solidFill>
                    <a:srgbClr val="00B0F0"/>
                  </a:solidFill>
                </a:ln>
                <a:solidFill>
                  <a:srgbClr val="00B0F0"/>
                </a:solidFill>
              </a:rPr>
              <a:t>dept</a:t>
            </a:r>
            <a:r>
              <a:rPr lang="en-US" sz="1400" dirty="0">
                <a:ln>
                  <a:solidFill>
                    <a:srgbClr val="00B0F0"/>
                  </a:solidFill>
                </a:ln>
                <a:solidFill>
                  <a:srgbClr val="00B0F0"/>
                </a:solidFill>
              </a:rPr>
              <a:t>;</a:t>
            </a:r>
          </a:p>
          <a:p>
            <a:pPr marL="0" indent="0">
              <a:buNone/>
            </a:pPr>
            <a:r>
              <a:rPr lang="en-US" sz="1400" dirty="0">
                <a:ln>
                  <a:solidFill>
                    <a:srgbClr val="00B0F0"/>
                  </a:solidFill>
                </a:ln>
                <a:solidFill>
                  <a:srgbClr val="00B0F0"/>
                </a:solidFill>
              </a:rPr>
              <a:t>End;</a:t>
            </a:r>
          </a:p>
          <a:p>
            <a:pPr marL="0" indent="0">
              <a:buNone/>
            </a:pPr>
            <a:r>
              <a:rPr lang="en-US" sz="1400" dirty="0">
                <a:ln>
                  <a:solidFill>
                    <a:srgbClr val="00B0F0"/>
                  </a:solidFill>
                </a:ln>
                <a:solidFill>
                  <a:srgbClr val="00B0F0"/>
                </a:solidFill>
              </a:rPr>
              <a:t>/</a:t>
            </a:r>
          </a:p>
          <a:p>
            <a:pPr marL="0" indent="0" algn="just">
              <a:buNone/>
            </a:pPr>
            <a:endParaRPr lang="en-US" sz="1400" dirty="0"/>
          </a:p>
          <a:p>
            <a:pPr algn="just"/>
            <a:r>
              <a:rPr lang="en-US" sz="1400" dirty="0"/>
              <a:t>Hence, if you try to print again using the print command, you will get an error :</a:t>
            </a:r>
          </a:p>
          <a:p>
            <a:pPr marL="0" indent="0">
              <a:buNone/>
            </a:pPr>
            <a:r>
              <a:rPr lang="en-US" sz="1400" dirty="0">
                <a:ln>
                  <a:solidFill>
                    <a:srgbClr val="00B0F0"/>
                  </a:solidFill>
                </a:ln>
                <a:solidFill>
                  <a:srgbClr val="00B0F0"/>
                </a:solidFill>
              </a:rPr>
              <a:t>Print </a:t>
            </a:r>
            <a:r>
              <a:rPr lang="en-US" sz="1400" dirty="0" err="1">
                <a:ln>
                  <a:solidFill>
                    <a:srgbClr val="00B0F0"/>
                  </a:solidFill>
                </a:ln>
                <a:solidFill>
                  <a:srgbClr val="00B0F0"/>
                </a:solidFill>
              </a:rPr>
              <a:t>emp_cv</a:t>
            </a:r>
            <a:endParaRPr lang="en-US" sz="1400" dirty="0">
              <a:ln>
                <a:solidFill>
                  <a:srgbClr val="00B0F0"/>
                </a:solidFill>
              </a:ln>
              <a:solidFill>
                <a:srgbClr val="00B0F0"/>
              </a:solidFill>
            </a:endParaRPr>
          </a:p>
          <a:p>
            <a:pPr marL="0" indent="0">
              <a:buNone/>
            </a:pPr>
            <a:endParaRPr lang="en-US" sz="1400" dirty="0"/>
          </a:p>
          <a:p>
            <a:pPr marL="0" indent="0">
              <a:buNone/>
            </a:pPr>
            <a:r>
              <a:rPr lang="es-ES" sz="1400" dirty="0"/>
              <a:t>Error </a:t>
            </a:r>
            <a:r>
              <a:rPr lang="es-ES" sz="1400" dirty="0" err="1"/>
              <a:t>printing</a:t>
            </a:r>
            <a:r>
              <a:rPr lang="es-ES" sz="1400" dirty="0"/>
              <a:t> variable "</a:t>
            </a:r>
            <a:r>
              <a:rPr lang="es-ES" sz="1400" dirty="0" err="1"/>
              <a:t>emp_cv</a:t>
            </a:r>
            <a:r>
              <a:rPr lang="es-ES" sz="1400" dirty="0"/>
              <a:t>"</a:t>
            </a:r>
            <a:endParaRPr lang="en-US" sz="1400" dirty="0"/>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4.16: SQL PLUS datatype REFCURSOR </a:t>
            </a:r>
            <a:br>
              <a:rPr lang="en-US" sz="1400" b="1" dirty="0">
                <a:latin typeface="Candara"/>
              </a:rPr>
            </a:br>
            <a:r>
              <a:rPr lang="en-US" dirty="0"/>
              <a:t>Host variable for REF CURSOR				…..</a:t>
            </a:r>
            <a:r>
              <a:rPr lang="en-US" dirty="0" err="1"/>
              <a:t>contd</a:t>
            </a:r>
            <a:endParaRPr lang="en-US" sz="2400" b="1" dirty="0">
              <a:latin typeface="Candara"/>
            </a:endParaRPr>
          </a:p>
        </p:txBody>
      </p:sp>
    </p:spTree>
    <p:extLst>
      <p:ext uri="{BB962C8B-B14F-4D97-AF65-F5344CB8AC3E}">
        <p14:creationId xmlns:p14="http://schemas.microsoft.com/office/powerpoint/2010/main" val="29988254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40000" lnSpcReduction="20000"/>
          </a:bodyPr>
          <a:lstStyle/>
          <a:p>
            <a:pPr algn="just">
              <a:buNone/>
            </a:pPr>
            <a:endParaRPr lang="en-US" sz="1400" dirty="0"/>
          </a:p>
          <a:p>
            <a:pPr algn="just">
              <a:buNone/>
            </a:pPr>
            <a:r>
              <a:rPr lang="en-US" sz="3500" dirty="0"/>
              <a:t>Unlike Static Cursors, Cursor variables are not compatible  with CURSOR FOR LOOP :</a:t>
            </a:r>
          </a:p>
          <a:p>
            <a:pPr marL="0" indent="0">
              <a:buNone/>
            </a:pPr>
            <a:endParaRPr lang="en-US" dirty="0">
              <a:ln>
                <a:solidFill>
                  <a:srgbClr val="00B0F0"/>
                </a:solidFill>
              </a:ln>
              <a:solidFill>
                <a:srgbClr val="00B0F0"/>
              </a:solidFill>
            </a:endParaRPr>
          </a:p>
          <a:p>
            <a:pPr marL="0" indent="0">
              <a:buNone/>
            </a:pPr>
            <a:r>
              <a:rPr lang="en-US" sz="2900" dirty="0">
                <a:ln>
                  <a:solidFill>
                    <a:srgbClr val="00B0F0"/>
                  </a:solidFill>
                </a:ln>
                <a:solidFill>
                  <a:srgbClr val="00B0F0"/>
                </a:solidFill>
              </a:rPr>
              <a:t>DECLARE</a:t>
            </a:r>
          </a:p>
          <a:p>
            <a:pPr marL="0" indent="0">
              <a:buNone/>
            </a:pPr>
            <a:r>
              <a:rPr lang="en-US" sz="2900" dirty="0">
                <a:ln>
                  <a:solidFill>
                    <a:srgbClr val="00B0F0"/>
                  </a:solidFill>
                </a:ln>
                <a:solidFill>
                  <a:srgbClr val="00B0F0"/>
                </a:solidFill>
              </a:rPr>
              <a:t>	TYPE </a:t>
            </a:r>
            <a:r>
              <a:rPr lang="en-US" sz="2900" dirty="0" err="1">
                <a:ln>
                  <a:solidFill>
                    <a:srgbClr val="00B0F0"/>
                  </a:solidFill>
                </a:ln>
                <a:solidFill>
                  <a:srgbClr val="00B0F0"/>
                </a:solidFill>
              </a:rPr>
              <a:t>EmpCurTyp</a:t>
            </a:r>
            <a:r>
              <a:rPr lang="en-US" sz="2900" dirty="0">
                <a:ln>
                  <a:solidFill>
                    <a:srgbClr val="00B0F0"/>
                  </a:solidFill>
                </a:ln>
                <a:solidFill>
                  <a:srgbClr val="00B0F0"/>
                </a:solidFill>
              </a:rPr>
              <a:t> IS REF CURSOR RETURN </a:t>
            </a:r>
            <a:r>
              <a:rPr lang="en-US" sz="2900" dirty="0" err="1">
                <a:ln>
                  <a:solidFill>
                    <a:srgbClr val="00B0F0"/>
                  </a:solidFill>
                </a:ln>
                <a:solidFill>
                  <a:srgbClr val="00B0F0"/>
                </a:solidFill>
              </a:rPr>
              <a:t>emp%ROWTYPE</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emp_cv1 </a:t>
            </a:r>
            <a:r>
              <a:rPr lang="en-US" sz="2900" dirty="0" err="1">
                <a:ln>
                  <a:solidFill>
                    <a:srgbClr val="00B0F0"/>
                  </a:solidFill>
                </a:ln>
                <a:solidFill>
                  <a:srgbClr val="00B0F0"/>
                </a:solidFill>
              </a:rPr>
              <a:t>EmpCurTyp</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emp_cv2 </a:t>
            </a:r>
            <a:r>
              <a:rPr lang="en-US" sz="2900" dirty="0" err="1">
                <a:ln>
                  <a:solidFill>
                    <a:srgbClr val="00B0F0"/>
                  </a:solidFill>
                </a:ln>
                <a:solidFill>
                  <a:srgbClr val="00B0F0"/>
                </a:solidFill>
              </a:rPr>
              <a:t>EmpCurTyp</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emp_rec</a:t>
            </a:r>
            <a:r>
              <a:rPr lang="en-US" sz="2900" dirty="0">
                <a:ln>
                  <a:solidFill>
                    <a:srgbClr val="00B0F0"/>
                  </a:solidFill>
                </a:ln>
                <a:solidFill>
                  <a:srgbClr val="00B0F0"/>
                </a:solidFill>
              </a:rPr>
              <a:t> </a:t>
            </a:r>
            <a:r>
              <a:rPr lang="en-US" sz="2900" dirty="0" err="1">
                <a:ln>
                  <a:solidFill>
                    <a:srgbClr val="00B0F0"/>
                  </a:solidFill>
                </a:ln>
                <a:solidFill>
                  <a:srgbClr val="00B0F0"/>
                </a:solidFill>
              </a:rPr>
              <a:t>emp%ROWTYPE</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BEGIN</a:t>
            </a:r>
          </a:p>
          <a:p>
            <a:pPr marL="0" indent="0">
              <a:buNone/>
            </a:pPr>
            <a:r>
              <a:rPr lang="en-US" sz="2900" dirty="0">
                <a:ln>
                  <a:solidFill>
                    <a:srgbClr val="00B0F0"/>
                  </a:solidFill>
                </a:ln>
                <a:solidFill>
                  <a:srgbClr val="00B0F0"/>
                </a:solidFill>
              </a:rPr>
              <a:t>	/* The following assignment is useless because emp_cv1 does not point to a query work area yet. */</a:t>
            </a:r>
          </a:p>
          <a:p>
            <a:pPr marL="0" indent="0">
              <a:buNone/>
            </a:pPr>
            <a:r>
              <a:rPr lang="en-US" sz="2900" dirty="0">
                <a:ln>
                  <a:solidFill>
                    <a:srgbClr val="00B0F0"/>
                  </a:solidFill>
                </a:ln>
                <a:solidFill>
                  <a:srgbClr val="00B0F0"/>
                </a:solidFill>
              </a:rPr>
              <a:t>	emp_cv2 := emp_cv1; -- useless</a:t>
            </a:r>
          </a:p>
          <a:p>
            <a:pPr marL="0" indent="0">
              <a:buNone/>
            </a:pPr>
            <a:r>
              <a:rPr lang="en-US" sz="2900" dirty="0">
                <a:ln>
                  <a:solidFill>
                    <a:srgbClr val="00B0F0"/>
                  </a:solidFill>
                </a:ln>
                <a:solidFill>
                  <a:srgbClr val="00B0F0"/>
                </a:solidFill>
              </a:rPr>
              <a:t> </a:t>
            </a:r>
          </a:p>
          <a:p>
            <a:pPr marL="0" indent="0">
              <a:buNone/>
            </a:pPr>
            <a:r>
              <a:rPr lang="en-US" sz="2900" dirty="0">
                <a:ln>
                  <a:solidFill>
                    <a:srgbClr val="00B0F0"/>
                  </a:solidFill>
                </a:ln>
                <a:solidFill>
                  <a:srgbClr val="00B0F0"/>
                </a:solidFill>
              </a:rPr>
              <a:t>	/* Make emp_cv1 point to a query work area. */</a:t>
            </a:r>
          </a:p>
          <a:p>
            <a:pPr marL="0" indent="0">
              <a:buNone/>
            </a:pPr>
            <a:r>
              <a:rPr lang="en-US" sz="2900" dirty="0">
                <a:ln>
                  <a:solidFill>
                    <a:srgbClr val="00B0F0"/>
                  </a:solidFill>
                </a:ln>
                <a:solidFill>
                  <a:srgbClr val="00B0F0"/>
                </a:solidFill>
              </a:rPr>
              <a:t>	OPEN emp_cv1 FOR SELECT * FROM </a:t>
            </a:r>
            <a:r>
              <a:rPr lang="en-US" sz="2900" dirty="0" err="1">
                <a:ln>
                  <a:solidFill>
                    <a:srgbClr val="00B0F0"/>
                  </a:solidFill>
                </a:ln>
                <a:solidFill>
                  <a:srgbClr val="00B0F0"/>
                </a:solidFill>
              </a:rPr>
              <a:t>emp</a:t>
            </a:r>
            <a:r>
              <a:rPr lang="en-US" sz="2900" dirty="0">
                <a:ln>
                  <a:solidFill>
                    <a:srgbClr val="00B0F0"/>
                  </a:solidFill>
                </a:ln>
                <a:solidFill>
                  <a:srgbClr val="00B0F0"/>
                </a:solidFill>
              </a:rPr>
              <a:t> order by </a:t>
            </a:r>
            <a:r>
              <a:rPr lang="en-US" sz="2900" dirty="0" err="1">
                <a:ln>
                  <a:solidFill>
                    <a:srgbClr val="00B0F0"/>
                  </a:solidFill>
                </a:ln>
                <a:solidFill>
                  <a:srgbClr val="00B0F0"/>
                </a:solidFill>
              </a:rPr>
              <a:t>empno</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t>
            </a:r>
          </a:p>
          <a:p>
            <a:pPr marL="0" indent="0">
              <a:buNone/>
            </a:pPr>
            <a:r>
              <a:rPr lang="en-US" sz="2900" dirty="0">
                <a:ln>
                  <a:solidFill>
                    <a:srgbClr val="00B0F0"/>
                  </a:solidFill>
                </a:ln>
                <a:solidFill>
                  <a:srgbClr val="00B0F0"/>
                </a:solidFill>
              </a:rPr>
              <a:t>	/* Use emp_cv1 to fetch first row from </a:t>
            </a:r>
            <a:r>
              <a:rPr lang="en-US" sz="2900" dirty="0" err="1">
                <a:ln>
                  <a:solidFill>
                    <a:srgbClr val="00B0F0"/>
                  </a:solidFill>
                </a:ln>
                <a:solidFill>
                  <a:srgbClr val="00B0F0"/>
                </a:solidFill>
              </a:rPr>
              <a:t>emp</a:t>
            </a:r>
            <a:r>
              <a:rPr lang="en-US" sz="2900" dirty="0">
                <a:ln>
                  <a:solidFill>
                    <a:srgbClr val="00B0F0"/>
                  </a:solidFill>
                </a:ln>
                <a:solidFill>
                  <a:srgbClr val="00B0F0"/>
                </a:solidFill>
              </a:rPr>
              <a:t> table. */</a:t>
            </a:r>
          </a:p>
          <a:p>
            <a:pPr marL="0" indent="0">
              <a:buNone/>
            </a:pPr>
            <a:r>
              <a:rPr lang="en-US" sz="2900" dirty="0">
                <a:ln>
                  <a:solidFill>
                    <a:srgbClr val="00B0F0"/>
                  </a:solidFill>
                </a:ln>
                <a:solidFill>
                  <a:srgbClr val="00B0F0"/>
                </a:solidFill>
              </a:rPr>
              <a:t>	FETCH emp_cv1 INTO </a:t>
            </a:r>
            <a:r>
              <a:rPr lang="en-US" sz="2900" dirty="0" err="1">
                <a:ln>
                  <a:solidFill>
                    <a:srgbClr val="00B0F0"/>
                  </a:solidFill>
                </a:ln>
                <a:solidFill>
                  <a:srgbClr val="00B0F0"/>
                </a:solidFill>
              </a:rPr>
              <a:t>emp_rec</a:t>
            </a:r>
            <a:r>
              <a:rPr lang="en-US" sz="2900" dirty="0">
                <a:ln>
                  <a:solidFill>
                    <a:srgbClr val="00B0F0"/>
                  </a:solidFill>
                </a:ln>
                <a:solidFill>
                  <a:srgbClr val="00B0F0"/>
                </a:solidFill>
              </a:rPr>
              <a:t>;</a:t>
            </a:r>
          </a:p>
          <a:p>
            <a:pPr marL="0" indent="0">
              <a:buNone/>
            </a:pPr>
            <a:r>
              <a:rPr lang="en-US" sz="2900" dirty="0">
                <a:ln>
                  <a:solidFill>
                    <a:srgbClr val="00B0F0"/>
                  </a:solidFill>
                </a:ln>
                <a:solidFill>
                  <a:srgbClr val="00B0F0"/>
                </a:solidFill>
              </a:rPr>
              <a:t>	</a:t>
            </a:r>
            <a:r>
              <a:rPr lang="en-US" sz="2900" dirty="0" err="1">
                <a:ln>
                  <a:solidFill>
                    <a:srgbClr val="00B0F0"/>
                  </a:solidFill>
                </a:ln>
                <a:solidFill>
                  <a:srgbClr val="00B0F0"/>
                </a:solidFill>
              </a:rPr>
              <a:t>Dbms_output.put_line</a:t>
            </a:r>
            <a:r>
              <a:rPr lang="en-US" sz="2900" dirty="0">
                <a:ln>
                  <a:solidFill>
                    <a:srgbClr val="00B0F0"/>
                  </a:solidFill>
                </a:ln>
                <a:solidFill>
                  <a:srgbClr val="00B0F0"/>
                </a:solidFill>
              </a:rPr>
              <a:t>(</a:t>
            </a:r>
            <a:r>
              <a:rPr lang="en-US" sz="2900" dirty="0" err="1">
                <a:ln>
                  <a:solidFill>
                    <a:srgbClr val="00B0F0"/>
                  </a:solidFill>
                </a:ln>
                <a:solidFill>
                  <a:srgbClr val="00B0F0"/>
                </a:solidFill>
              </a:rPr>
              <a:t>emp_rec.empno</a:t>
            </a:r>
            <a:r>
              <a:rPr lang="en-US" sz="2900" dirty="0">
                <a:ln>
                  <a:solidFill>
                    <a:srgbClr val="00B0F0"/>
                  </a:solidFill>
                </a:ln>
                <a:solidFill>
                  <a:srgbClr val="00B0F0"/>
                </a:solidFill>
              </a:rPr>
              <a:t>);</a:t>
            </a:r>
          </a:p>
          <a:p>
            <a:pPr marL="0" indent="0">
              <a:buNone/>
            </a:pPr>
            <a:r>
              <a:rPr lang="en-US" dirty="0"/>
              <a:t> </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4.17: Assigning Cursor Variables  						</a:t>
            </a:r>
            <a:br>
              <a:rPr lang="en-US" sz="1400" b="1" dirty="0">
                <a:latin typeface="Candara"/>
              </a:rPr>
            </a:br>
            <a:r>
              <a:rPr lang="en-US" dirty="0">
                <a:latin typeface="Candara"/>
              </a:rPr>
              <a:t>Assigning one cursor variable to another</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505639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727632" cy="4066673"/>
          </a:xfrm>
        </p:spPr>
        <p:txBody>
          <a:bodyPr>
            <a:normAutofit fontScale="25000" lnSpcReduction="20000"/>
          </a:bodyPr>
          <a:lstStyle/>
          <a:p>
            <a:pPr algn="just">
              <a:buNone/>
            </a:pPr>
            <a:endParaRPr lang="en-US" sz="1400" dirty="0"/>
          </a:p>
          <a:p>
            <a:pPr marL="0" indent="0">
              <a:buNone/>
            </a:pPr>
            <a:r>
              <a:rPr lang="en-US" sz="5600" dirty="0">
                <a:ln>
                  <a:solidFill>
                    <a:srgbClr val="00B0F0"/>
                  </a:solidFill>
                </a:ln>
                <a:solidFill>
                  <a:srgbClr val="00B0F0"/>
                </a:solidFill>
              </a:rPr>
              <a:t>/* The following fetch raises an exception because emp_cv2 does not point to a query work area yet. */</a:t>
            </a:r>
          </a:p>
          <a:p>
            <a:pPr marL="0" indent="0">
              <a:buNone/>
            </a:pPr>
            <a:r>
              <a:rPr lang="en-US" sz="5600" dirty="0">
                <a:ln>
                  <a:solidFill>
                    <a:srgbClr val="00B0F0"/>
                  </a:solidFill>
                </a:ln>
                <a:solidFill>
                  <a:srgbClr val="00B0F0"/>
                </a:solidFill>
              </a:rPr>
              <a:t>	FETCH emp_cv2 INTO </a:t>
            </a:r>
            <a:r>
              <a:rPr lang="en-US" sz="5600" dirty="0" err="1">
                <a:ln>
                  <a:solidFill>
                    <a:srgbClr val="00B0F0"/>
                  </a:solidFill>
                </a:ln>
                <a:solidFill>
                  <a:srgbClr val="00B0F0"/>
                </a:solidFill>
              </a:rPr>
              <a:t>emp_rec</a:t>
            </a:r>
            <a:r>
              <a:rPr lang="en-US" sz="5600" dirty="0">
                <a:ln>
                  <a:solidFill>
                    <a:srgbClr val="00B0F0"/>
                  </a:solidFill>
                </a:ln>
                <a:solidFill>
                  <a:srgbClr val="00B0F0"/>
                </a:solidFill>
              </a:rPr>
              <a:t>; -- raises INVALID_CURSOR</a:t>
            </a:r>
          </a:p>
          <a:p>
            <a:pPr marL="0" indent="0">
              <a:buNone/>
            </a:pPr>
            <a:r>
              <a:rPr lang="en-US" sz="5600" dirty="0">
                <a:ln>
                  <a:solidFill>
                    <a:srgbClr val="00B0F0"/>
                  </a:solidFill>
                </a:ln>
                <a:solidFill>
                  <a:srgbClr val="00B0F0"/>
                </a:solidFill>
              </a:rPr>
              <a:t>EXCEPTION</a:t>
            </a:r>
          </a:p>
          <a:p>
            <a:pPr marL="0" indent="0">
              <a:buNone/>
            </a:pPr>
            <a:r>
              <a:rPr lang="en-US" sz="5600" dirty="0">
                <a:ln>
                  <a:solidFill>
                    <a:srgbClr val="00B0F0"/>
                  </a:solidFill>
                </a:ln>
                <a:solidFill>
                  <a:srgbClr val="00B0F0"/>
                </a:solidFill>
              </a:rPr>
              <a:t>	WHEN INVALID_CURSOR THEN</a:t>
            </a:r>
          </a:p>
          <a:p>
            <a:pPr marL="0" indent="0">
              <a:buNone/>
            </a:pPr>
            <a:r>
              <a:rPr lang="en-US" sz="5600" dirty="0">
                <a:ln>
                  <a:solidFill>
                    <a:srgbClr val="00B0F0"/>
                  </a:solidFill>
                </a:ln>
                <a:solidFill>
                  <a:srgbClr val="00B0F0"/>
                </a:solidFill>
              </a:rPr>
              <a:t> 	/* Make emp_cv1 and emp_cv2 point to same work area. */</a:t>
            </a:r>
          </a:p>
          <a:p>
            <a:pPr marL="0" indent="0">
              <a:buNone/>
            </a:pPr>
            <a:r>
              <a:rPr lang="en-US" sz="5600" dirty="0">
                <a:ln>
                  <a:solidFill>
                    <a:srgbClr val="00B0F0"/>
                  </a:solidFill>
                </a:ln>
                <a:solidFill>
                  <a:srgbClr val="00B0F0"/>
                </a:solidFill>
              </a:rPr>
              <a:t>	emp_cv2 := emp_cv1;</a:t>
            </a:r>
          </a:p>
          <a:p>
            <a:pPr marL="0" indent="0">
              <a:buNone/>
            </a:pPr>
            <a:r>
              <a:rPr lang="en-US" sz="5600" dirty="0">
                <a:ln>
                  <a:solidFill>
                    <a:srgbClr val="00B0F0"/>
                  </a:solidFill>
                </a:ln>
                <a:solidFill>
                  <a:srgbClr val="00B0F0"/>
                </a:solidFill>
              </a:rPr>
              <a:t> 	/* Use emp_cv2 to fetch second row from </a:t>
            </a:r>
            <a:r>
              <a:rPr lang="en-US" sz="5600" dirty="0" err="1">
                <a:ln>
                  <a:solidFill>
                    <a:srgbClr val="00B0F0"/>
                  </a:solidFill>
                </a:ln>
                <a:solidFill>
                  <a:srgbClr val="00B0F0"/>
                </a:solidFill>
              </a:rPr>
              <a:t>emp</a:t>
            </a:r>
            <a:r>
              <a:rPr lang="en-US" sz="5600" dirty="0">
                <a:ln>
                  <a:solidFill>
                    <a:srgbClr val="00B0F0"/>
                  </a:solidFill>
                </a:ln>
                <a:solidFill>
                  <a:srgbClr val="00B0F0"/>
                </a:solidFill>
              </a:rPr>
              <a:t> table. */</a:t>
            </a:r>
          </a:p>
          <a:p>
            <a:pPr marL="0" indent="0">
              <a:buNone/>
            </a:pPr>
            <a:r>
              <a:rPr lang="en-US" sz="5600" dirty="0">
                <a:ln>
                  <a:solidFill>
                    <a:srgbClr val="00B0F0"/>
                  </a:solidFill>
                </a:ln>
                <a:solidFill>
                  <a:srgbClr val="00B0F0"/>
                </a:solidFill>
              </a:rPr>
              <a:t>	FETCH emp_cv2 INTO </a:t>
            </a:r>
            <a:r>
              <a:rPr lang="en-US" sz="5600" dirty="0" err="1">
                <a:ln>
                  <a:solidFill>
                    <a:srgbClr val="00B0F0"/>
                  </a:solidFill>
                </a:ln>
                <a:solidFill>
                  <a:srgbClr val="00B0F0"/>
                </a:solidFill>
              </a:rPr>
              <a:t>emp_rec</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a:t>
            </a:r>
            <a:r>
              <a:rPr lang="en-US" sz="5600" dirty="0" err="1">
                <a:ln>
                  <a:solidFill>
                    <a:srgbClr val="00B0F0"/>
                  </a:solidFill>
                </a:ln>
                <a:solidFill>
                  <a:srgbClr val="00B0F0"/>
                </a:solidFill>
              </a:rPr>
              <a:t>emp_rec.empno</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 Reuse work area for another query. */</a:t>
            </a:r>
          </a:p>
          <a:p>
            <a:pPr marL="0" indent="0">
              <a:buNone/>
            </a:pPr>
            <a:r>
              <a:rPr lang="en-US" sz="5600" dirty="0">
                <a:ln>
                  <a:solidFill>
                    <a:srgbClr val="00B0F0"/>
                  </a:solidFill>
                </a:ln>
                <a:solidFill>
                  <a:srgbClr val="00B0F0"/>
                </a:solidFill>
              </a:rPr>
              <a:t>	OPEN emp_cv2 FOR SELECT * FROM </a:t>
            </a:r>
            <a:r>
              <a:rPr lang="en-US" sz="5600" dirty="0" err="1">
                <a:ln>
                  <a:solidFill>
                    <a:srgbClr val="00B0F0"/>
                  </a:solidFill>
                </a:ln>
                <a:solidFill>
                  <a:srgbClr val="00B0F0"/>
                </a:solidFill>
              </a:rPr>
              <a:t>old_emp</a:t>
            </a:r>
            <a:r>
              <a:rPr lang="en-US" sz="5600" dirty="0">
                <a:ln>
                  <a:solidFill>
                    <a:srgbClr val="00B0F0"/>
                  </a:solidFill>
                </a:ln>
                <a:solidFill>
                  <a:srgbClr val="00B0F0"/>
                </a:solidFill>
              </a:rPr>
              <a:t> order by </a:t>
            </a:r>
            <a:r>
              <a:rPr lang="en-US" sz="5600" dirty="0" err="1">
                <a:ln>
                  <a:solidFill>
                    <a:srgbClr val="00B0F0"/>
                  </a:solidFill>
                </a:ln>
                <a:solidFill>
                  <a:srgbClr val="00B0F0"/>
                </a:solidFill>
              </a:rPr>
              <a:t>ename</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 Use emp_cv1 to fetch first row from </a:t>
            </a:r>
            <a:r>
              <a:rPr lang="en-US" sz="5600" dirty="0" err="1">
                <a:ln>
                  <a:solidFill>
                    <a:srgbClr val="00B0F0"/>
                  </a:solidFill>
                </a:ln>
                <a:solidFill>
                  <a:srgbClr val="00B0F0"/>
                </a:solidFill>
              </a:rPr>
              <a:t>old_emp</a:t>
            </a:r>
            <a:r>
              <a:rPr lang="en-US" sz="5600" dirty="0">
                <a:ln>
                  <a:solidFill>
                    <a:srgbClr val="00B0F0"/>
                  </a:solidFill>
                </a:ln>
                <a:solidFill>
                  <a:srgbClr val="00B0F0"/>
                </a:solidFill>
              </a:rPr>
              <a:t> table.</a:t>
            </a:r>
          </a:p>
          <a:p>
            <a:pPr marL="0" indent="0">
              <a:buNone/>
            </a:pPr>
            <a:r>
              <a:rPr lang="en-US" sz="5600" dirty="0">
                <a:ln>
                  <a:solidFill>
                    <a:srgbClr val="00B0F0"/>
                  </a:solidFill>
                </a:ln>
                <a:solidFill>
                  <a:srgbClr val="00B0F0"/>
                </a:solidFill>
              </a:rPr>
              <a:t>	The following fetch succeeds because emp_cv1 and mp_cv2 point to the same query work area. */</a:t>
            </a:r>
          </a:p>
          <a:p>
            <a:pPr marL="0" indent="0">
              <a:buNone/>
            </a:pPr>
            <a:r>
              <a:rPr lang="en-US" sz="5600" dirty="0">
                <a:ln>
                  <a:solidFill>
                    <a:srgbClr val="00B0F0"/>
                  </a:solidFill>
                </a:ln>
                <a:solidFill>
                  <a:srgbClr val="00B0F0"/>
                </a:solidFill>
              </a:rPr>
              <a:t>	FETCH emp_cv1 INTO </a:t>
            </a:r>
            <a:r>
              <a:rPr lang="en-US" sz="5600" dirty="0" err="1">
                <a:ln>
                  <a:solidFill>
                    <a:srgbClr val="00B0F0"/>
                  </a:solidFill>
                </a:ln>
                <a:solidFill>
                  <a:srgbClr val="00B0F0"/>
                </a:solidFill>
              </a:rPr>
              <a:t>emp_rec</a:t>
            </a:r>
            <a:r>
              <a:rPr lang="en-US" sz="5600" dirty="0">
                <a:ln>
                  <a:solidFill>
                    <a:srgbClr val="00B0F0"/>
                  </a:solidFill>
                </a:ln>
                <a:solidFill>
                  <a:srgbClr val="00B0F0"/>
                </a:solidFill>
              </a:rPr>
              <a:t>; -- succeeds</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a:t>
            </a:r>
            <a:r>
              <a:rPr lang="en-US" sz="5600" dirty="0" err="1">
                <a:ln>
                  <a:solidFill>
                    <a:srgbClr val="00B0F0"/>
                  </a:solidFill>
                </a:ln>
                <a:solidFill>
                  <a:srgbClr val="00B0F0"/>
                </a:solidFill>
              </a:rPr>
              <a:t>emp_rec.empno</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--following will fetch the 2nd row of </a:t>
            </a:r>
            <a:r>
              <a:rPr lang="en-US" sz="5600" dirty="0" err="1">
                <a:ln>
                  <a:solidFill>
                    <a:srgbClr val="00B0F0"/>
                  </a:solidFill>
                </a:ln>
                <a:solidFill>
                  <a:srgbClr val="00B0F0"/>
                </a:solidFill>
              </a:rPr>
              <a:t>old_emp</a:t>
            </a:r>
            <a:endParaRPr lang="en-US" sz="5600" dirty="0">
              <a:ln>
                <a:solidFill>
                  <a:srgbClr val="00B0F0"/>
                </a:solidFill>
              </a:ln>
              <a:solidFill>
                <a:srgbClr val="00B0F0"/>
              </a:solidFill>
            </a:endParaRPr>
          </a:p>
          <a:p>
            <a:pPr marL="0" indent="0">
              <a:buNone/>
            </a:pPr>
            <a:r>
              <a:rPr lang="en-US" sz="5600" dirty="0">
                <a:ln>
                  <a:solidFill>
                    <a:srgbClr val="00B0F0"/>
                  </a:solidFill>
                </a:ln>
                <a:solidFill>
                  <a:srgbClr val="00B0F0"/>
                </a:solidFill>
              </a:rPr>
              <a:t>	FETCH emp_cv2 INTO </a:t>
            </a:r>
            <a:r>
              <a:rPr lang="en-US" sz="5600" dirty="0" err="1">
                <a:ln>
                  <a:solidFill>
                    <a:srgbClr val="00B0F0"/>
                  </a:solidFill>
                </a:ln>
                <a:solidFill>
                  <a:srgbClr val="00B0F0"/>
                </a:solidFill>
              </a:rPr>
              <a:t>emp_rec</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	</a:t>
            </a:r>
            <a:r>
              <a:rPr lang="en-US" sz="5600" dirty="0" err="1">
                <a:ln>
                  <a:solidFill>
                    <a:srgbClr val="00B0F0"/>
                  </a:solidFill>
                </a:ln>
                <a:solidFill>
                  <a:srgbClr val="00B0F0"/>
                </a:solidFill>
              </a:rPr>
              <a:t>Dbms_output.put_line</a:t>
            </a:r>
            <a:r>
              <a:rPr lang="en-US" sz="5600" dirty="0">
                <a:ln>
                  <a:solidFill>
                    <a:srgbClr val="00B0F0"/>
                  </a:solidFill>
                </a:ln>
                <a:solidFill>
                  <a:srgbClr val="00B0F0"/>
                </a:solidFill>
              </a:rPr>
              <a:t>(</a:t>
            </a:r>
            <a:r>
              <a:rPr lang="en-US" sz="5600" dirty="0" err="1">
                <a:ln>
                  <a:solidFill>
                    <a:srgbClr val="00B0F0"/>
                  </a:solidFill>
                </a:ln>
                <a:solidFill>
                  <a:srgbClr val="00B0F0"/>
                </a:solidFill>
              </a:rPr>
              <a:t>emp_rec.empno</a:t>
            </a:r>
            <a:r>
              <a:rPr lang="en-US" sz="5600" dirty="0">
                <a:ln>
                  <a:solidFill>
                    <a:srgbClr val="00B0F0"/>
                  </a:solidFill>
                </a:ln>
                <a:solidFill>
                  <a:srgbClr val="00B0F0"/>
                </a:solidFill>
              </a:rPr>
              <a:t>);</a:t>
            </a:r>
          </a:p>
          <a:p>
            <a:pPr marL="0" indent="0">
              <a:buNone/>
            </a:pPr>
            <a:r>
              <a:rPr lang="en-US" sz="5600" dirty="0">
                <a:ln>
                  <a:solidFill>
                    <a:srgbClr val="00B0F0"/>
                  </a:solidFill>
                </a:ln>
                <a:solidFill>
                  <a:srgbClr val="00B0F0"/>
                </a:solidFill>
              </a:rPr>
              <a:t>END;</a:t>
            </a:r>
          </a:p>
          <a:p>
            <a:pPr marL="0" indent="0">
              <a:buNone/>
            </a:pPr>
            <a:r>
              <a:rPr lang="en-US" sz="56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4.17: Assigning Cursor Variables  						</a:t>
            </a:r>
            <a:br>
              <a:rPr lang="en-US" sz="1400" b="1" dirty="0">
                <a:latin typeface="Candara"/>
              </a:rPr>
            </a:br>
            <a:r>
              <a:rPr lang="en-US" dirty="0">
                <a:latin typeface="Candara"/>
              </a:rPr>
              <a:t>Assigning one cursor variable to another</a:t>
            </a:r>
            <a:r>
              <a:rPr lang="en-US" b="1" dirty="0">
                <a:latin typeface="Candara"/>
              </a:rPr>
              <a:t>	 		…..</a:t>
            </a:r>
            <a:r>
              <a:rPr lang="en-US" b="1" dirty="0" err="1">
                <a:latin typeface="Candara"/>
              </a:rPr>
              <a:t>cont</a:t>
            </a:r>
            <a:endParaRPr lang="en-US" sz="2400" b="1" dirty="0">
              <a:latin typeface="Candara"/>
            </a:endParaRPr>
          </a:p>
        </p:txBody>
      </p:sp>
    </p:spTree>
    <p:extLst>
      <p:ext uri="{BB962C8B-B14F-4D97-AF65-F5344CB8AC3E}">
        <p14:creationId xmlns:p14="http://schemas.microsoft.com/office/powerpoint/2010/main" val="16558333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heme/theme1.xml><?xml version="1.0" encoding="utf-8"?>
<a:theme xmlns:a="http://schemas.openxmlformats.org/drawingml/2006/main" name="ClassBook-LessonXX-Template Capgemini">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losing slides">
  <a:themeElements>
    <a:clrScheme name="Capgemini Palette">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4F2559C04AE4488E94205E47398A2E" ma:contentTypeVersion="1" ma:contentTypeDescription="Create a new document." ma:contentTypeScope="" ma:versionID="bb2d9302acd88bfb40288f9de05848d0">
  <xsd:schema xmlns:xsd="http://www.w3.org/2001/XMLSchema" xmlns:xs="http://www.w3.org/2001/XMLSchema" xmlns:p="http://schemas.microsoft.com/office/2006/metadata/properties" xmlns:ns2="a85eb2a3-840f-4054-86f6-d41d0c1cba4b" xmlns:ns3="952a6df7-b138-4f89-9bc4-e7a874ea3254" targetNamespace="http://schemas.microsoft.com/office/2006/metadata/properties" ma:root="true" ma:fieldsID="2d7d6362be7cac7839ee051b71b7ca70" ns2:_="" ns3:_="">
    <xsd:import namespace="a85eb2a3-840f-4054-86f6-d41d0c1cba4b"/>
    <xsd:import namespace="952a6df7-b138-4f89-9bc4-e7a874ea3254"/>
    <xsd:element name="properties">
      <xsd:complexType>
        <xsd:sequence>
          <xsd:element name="documentManagement">
            <xsd:complexType>
              <xsd:all>
                <xsd:element ref="ns2:Material_x0020_Type"/>
                <xsd:element ref="ns3:Folder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eb2a3-840f-4054-86f6-d41d0c1cba4b" elementFormDefault="qualified">
    <xsd:import namespace="http://schemas.microsoft.com/office/2006/documentManagement/types"/>
    <xsd:import namespace="http://schemas.microsoft.com/office/infopath/2007/PartnerControls"/>
    <xsd:element name="Material_x0020_Type" ma:index="8" ma:displayName="Material Type" ma:default="Template" ma:format="Dropdown" ma:internalName="Material_x0020_Type">
      <xsd:simpleType>
        <xsd:restriction base="dms:Choice">
          <xsd:enumeration value="Procedure"/>
          <xsd:enumeration value="Guideline"/>
          <xsd:enumeration value="Form"/>
          <xsd:enumeration value="Format"/>
          <xsd:enumeration value="General"/>
          <xsd:enumeration value="Template"/>
        </xsd:restriction>
      </xsd:simple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9" nillable="true" ma:displayName="FolderName" ma:internalName="FolderNam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aterial_x0020_Type xmlns="a85eb2a3-840f-4054-86f6-d41d0c1cba4b">Template</Material_x0020_Type>
    <FolderName xmlns="952a6df7-b138-4f89-9bc4-e7a874ea3254" xsi:nil="true"/>
  </documentManagement>
</p:properties>
</file>

<file path=customXml/itemProps1.xml><?xml version="1.0" encoding="utf-8"?>
<ds:datastoreItem xmlns:ds="http://schemas.openxmlformats.org/officeDocument/2006/customXml" ds:itemID="{813D12F9-4C52-4333-958E-73B490CD8B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eb2a3-840f-4054-86f6-d41d0c1cba4b"/>
    <ds:schemaRef ds:uri="952a6df7-b138-4f89-9bc4-e7a874ea3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a85eb2a3-840f-4054-86f6-d41d0c1cba4b"/>
    <ds:schemaRef ds:uri="952a6df7-b138-4f89-9bc4-e7a874ea3254"/>
  </ds:schemaRefs>
</ds:datastoreItem>
</file>

<file path=docProps/app.xml><?xml version="1.0" encoding="utf-8"?>
<Properties xmlns="http://schemas.openxmlformats.org/officeDocument/2006/extended-properties" xmlns:vt="http://schemas.openxmlformats.org/officeDocument/2006/docPropsVTypes">
  <Template>ClassBook-LessonXX-Template Capgemini</Template>
  <TotalTime>76031</TotalTime>
  <Words>1431</Words>
  <Application>Microsoft Office PowerPoint</Application>
  <PresentationFormat>On-screen Show (16:9)</PresentationFormat>
  <Paragraphs>914</Paragraphs>
  <Slides>60</Slides>
  <Notes>60</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60</vt:i4>
      </vt:variant>
    </vt:vector>
  </HeadingPairs>
  <TitlesOfParts>
    <vt:vector size="71" baseType="lpstr">
      <vt:lpstr>Arial</vt:lpstr>
      <vt:lpstr>Calibri</vt:lpstr>
      <vt:lpstr>Candara</vt:lpstr>
      <vt:lpstr>Courier</vt:lpstr>
      <vt:lpstr>Trebuchet MS</vt:lpstr>
      <vt:lpstr>Wingdings</vt:lpstr>
      <vt:lpstr>ClassBook-LessonXX-Template Capgemini</vt:lpstr>
      <vt:lpstr>2_Office Theme</vt:lpstr>
      <vt:lpstr>1_Office Theme</vt:lpstr>
      <vt:lpstr>Closing slides</vt:lpstr>
      <vt:lpstr>think-cell Slide</vt:lpstr>
      <vt:lpstr>Advanced PLSQL</vt:lpstr>
      <vt:lpstr>PowerPoint Presentation</vt:lpstr>
      <vt:lpstr>4.1: Introduction to REF Cursors What is a REF Cursor</vt:lpstr>
      <vt:lpstr>4.2: Cursors versus REF Cursors How are Cursors different from REF cursors</vt:lpstr>
      <vt:lpstr>4.3: Defining REF cursors How to define a REF cursor type and a Cursor Variable</vt:lpstr>
      <vt:lpstr>4.4: Advantages of a Cursor Variable Dynamically deciding the query </vt:lpstr>
      <vt:lpstr>4.5: REF Cursor Types STRONG and WEAK REF Cursor type</vt:lpstr>
      <vt:lpstr>4.5: REF Cursor Types STRONG and WEAK REF Cursor type  ….contd </vt:lpstr>
      <vt:lpstr>4.6: STRONG REF Cursor Type STRONG REF Cursor type : Example 1 </vt:lpstr>
      <vt:lpstr>4.6: STRONG REF Cursor Type      …..contd STRONG REF Cursor type : Example 2 </vt:lpstr>
      <vt:lpstr>4.7:  WEAK REF Cursor Type  WEAK REF Cursor type : Example 1 </vt:lpstr>
      <vt:lpstr>4.8: Cursor Variables as Parameters  Cursor variables can be passed a parameters   </vt:lpstr>
      <vt:lpstr>4.8: Cursor Variables as Parameters  Cursor variables can be passed a parameters ……contd </vt:lpstr>
      <vt:lpstr> 4.9: Limitations of Cursor Variables   Cursor variables cannot be compared like other scalar variables   </vt:lpstr>
      <vt:lpstr> 4.9: Limitations of Cursor Variables        ……contd. Cursor variables cannot be compared like other scalar variables   </vt:lpstr>
      <vt:lpstr> 4.9: Limitations of Cursor Variables        ……contd. CURSOR FOR LOOP cannot be used for cursor variables  </vt:lpstr>
      <vt:lpstr> 4.9: Limitations of Cursor Variables        ……contd. CURSOR FOR LOOP cannot be used for cursor variables  </vt:lpstr>
      <vt:lpstr> 4.9: Limitations of Cursor Variables        ……contd. Cannot fetch from a non-open cursor variable  </vt:lpstr>
      <vt:lpstr> 4.9: Limitations of Cursor Variables        ……contd. You cannot declare cursor variables in a package </vt:lpstr>
      <vt:lpstr> 4.9: Limitations of Cursor Variables        ……contd. You cannot declare cursor variables in a package </vt:lpstr>
      <vt:lpstr> 4.10: Declaring STRONG REF cursor types Using %ROWTYPE</vt:lpstr>
      <vt:lpstr> 4.10: Declaring STRONG REF cursor types      …contd Using %TYPE</vt:lpstr>
      <vt:lpstr> 4.10: Declaring STRONG REF cursor types Using %TYPE       ….contd</vt:lpstr>
      <vt:lpstr> 4.10: Declaring STRONG REF cursor types Using %TYPE       ….contd</vt:lpstr>
      <vt:lpstr> 4.10: Declaring STRONG REF cursor types Using %TYPE       ….contd</vt:lpstr>
      <vt:lpstr> 4.10: Declaring STRONG REF cursor types Using user-defined Record-type </vt:lpstr>
      <vt:lpstr> 4.11: STRONNG REF cursor types as IN, OUT and IN OUT parameter modes IN OUT mode for Strong Ref cursor type  </vt:lpstr>
      <vt:lpstr> 4.11: STRONG REF cursor types as IN, OUT and IN OUT parameter modes IN OUT mode for Strong Ref cursor type  …..contd  </vt:lpstr>
      <vt:lpstr> 4.11: STRONG REF cursor types as IN, OUT and IN OUT parameter modes IN OUT mode for Strong Ref cursor type   …..contd</vt:lpstr>
      <vt:lpstr> 4.11: STRONG REF cursor types as IN, OUT and IN OUT parameter modes IN OUT mode for Strong Ref cursor type   …..contd</vt:lpstr>
      <vt:lpstr> 4.11: STRONG REF cursor types as IN, OUT and IN OUT parameter modes IN mode for Strong Ref cursor type  </vt:lpstr>
      <vt:lpstr> 4.11: STRONG REF cursor types as IN, OUT and IN OUT parameter modes IN mode for Strong Ref cursor type   ….contd  </vt:lpstr>
      <vt:lpstr> 4.11: STRONG REF cursor types as IN, OUT and IN OUT parameter modes OUT mode for Strong Ref cursor type  </vt:lpstr>
      <vt:lpstr> 4.11: STRONG REF cursor types as IN, OUT and IN OUT parameter modes OUT mode for Strong Ref cursor type   ….contd </vt:lpstr>
      <vt:lpstr> 4.12: REF cursor do not support parameter  No parametererized REF Cursors</vt:lpstr>
      <vt:lpstr> 4.12: REF cursor do not support parameter  No parametererized REF Cursors   …..contd</vt:lpstr>
      <vt:lpstr> 4.12: REF cursor do not support parameter  No parametererized REF Cursors   …..contd</vt:lpstr>
      <vt:lpstr> 4.13: WEAK REF cursor types as IN, OUT and IN OUT parameter modes IN OUT mode for WEAK Ref cursor type  </vt:lpstr>
      <vt:lpstr> 4.13: WEAK REF cursor types as IN, OUT and IN OUT parameter modes IN OUT mode for Strong Ref cursor type  …..contd  </vt:lpstr>
      <vt:lpstr> 4.13: WEAK REF cursor types as IN, OUT and IN OUT parameter modes IN mode for WEAK Ref cursor type  </vt:lpstr>
      <vt:lpstr> 4.13: WEAK REF cursor types as IN, OUT and IN OUT parameter modes IN mode for WEAK Ref cursor type   ….contd</vt:lpstr>
      <vt:lpstr> 4.13: WEAK REF cursor types as IN, OUT and IN OUT parameter modes OUT mode for WEAK Ref cursor type  </vt:lpstr>
      <vt:lpstr> 4.13: WEAK REF cursor types as IN, OUT and IN OUT parameter modes OUT mode for WEAK Ref cursor type   ….contd</vt:lpstr>
      <vt:lpstr> 4.14: Packages and REF cursor types  Package with WEAK Ref cursor type   </vt:lpstr>
      <vt:lpstr> 4.14: Packages and REF cursor types  Package with WEAK Ref cursor type    ….contd </vt:lpstr>
      <vt:lpstr> 4.14: Packages and REF cursor types  Package with WEAK Ref cursor type    ….contd </vt:lpstr>
      <vt:lpstr> 4.14: Packages and REF cursor types  Package with WEAK Ref cursor type    ….contd </vt:lpstr>
      <vt:lpstr> 4.14: Packages and REF cursor types  Package with STRONG Ref cursor type   </vt:lpstr>
      <vt:lpstr> 4.14: Packages and REF cursor types  Package with STRONG Ref cursor type   ….contd </vt:lpstr>
      <vt:lpstr> 4.14: Packages and REF cursor types  Package with STRONG Ref cursor type   ….contd </vt:lpstr>
      <vt:lpstr> 4.14: REF cursor and Bulk Collect  Fetching rows from cursor variable into collection</vt:lpstr>
      <vt:lpstr> 4.14: REF cursor and Bulk Collect  Fetching rows from cursor variable into collection   ….contd</vt:lpstr>
      <vt:lpstr> 4.15: ROWTYPE_MISMATCH exception  Fetching incompatible data from cursor variable</vt:lpstr>
      <vt:lpstr> 4.15: ROWTYPE_MISMATCH exception  Fetching incompatible data from cursor variable   ….contd</vt:lpstr>
      <vt:lpstr> 4.15: ROWTYPE_MISMATCH exception  Fetching incompatible data from cursor variable   ….contd</vt:lpstr>
      <vt:lpstr> 4.16: SQL PLUS datatype REFCURSOR  Host variable for REF CURSOR</vt:lpstr>
      <vt:lpstr> 4.16: SQL PLUS datatype REFCURSOR  Host variable for REF CURSOR    …..contd</vt:lpstr>
      <vt:lpstr> 4.16: SQL PLUS datatype REFCURSOR  Host variable for REF CURSOR    …..contd</vt:lpstr>
      <vt:lpstr> 4.17: Assigning Cursor Variables         Assigning one cursor variable to another  </vt:lpstr>
      <vt:lpstr> 4.17: Assigning Cursor Variables         Assigning one cursor variable to another    …..cont</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hpangam</dc:creator>
  <cp:lastModifiedBy>Pangam, Hemant</cp:lastModifiedBy>
  <cp:revision>1900</cp:revision>
  <dcterms:created xsi:type="dcterms:W3CDTF">2016-10-27T07:09:48Z</dcterms:created>
  <dcterms:modified xsi:type="dcterms:W3CDTF">2019-11-22T07:32:06Z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0x010100A64F2559C04AE4488E94205E47398A2E</vt:lpwstr>
  </property>
</Properties>
</file>